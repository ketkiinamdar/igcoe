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77" r:id="rId13"/>
    <p:sldId id="278" r:id="rId14"/>
    <p:sldId id="280" r:id="rId15"/>
    <p:sldId id="266" r:id="rId16"/>
    <p:sldId id="267" r:id="rId17"/>
    <p:sldId id="283" r:id="rId18"/>
    <p:sldId id="268" r:id="rId19"/>
    <p:sldId id="269" r:id="rId20"/>
    <p:sldId id="270" r:id="rId21"/>
    <p:sldId id="272" r:id="rId22"/>
    <p:sldId id="273" r:id="rId23"/>
    <p:sldId id="274" r:id="rId24"/>
    <p:sldId id="275" r:id="rId25"/>
    <p:sldId id="279" r:id="rId26"/>
    <p:sldId id="281" r:id="rId27"/>
    <p:sldId id="282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143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1E293B"/>
                </a:solidFill>
              </a:rPr>
              <a:t>From Code to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>
                <a:solidFill>
                  <a:srgbClr val="2563EB"/>
                </a:solidFill>
              </a:rPr>
              <a:t>CI Flow • CD Flow • Infrastructure as Code • Containerization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</a:defRPr>
            </a:pPr>
            <a:r>
              <a:t>Explain CI and CD using a simple software delivery example.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</a:defRPr>
            </a:pPr>
            <a:r>
              <a:t>Draw the journey: Developer → Git → Build/Test → Package → Deploy.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</a:defRPr>
            </a:pPr>
            <a:r>
              <a:t>Explain why Infrastructure as Code (IaC) is better than manual setup.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</a:defRPr>
            </a:pPr>
            <a:r>
              <a:t>Explain containerization and write a basic Dockerfile.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</a:defRPr>
            </a:pPr>
            <a:r>
              <a:t>Connect all four concepts into one end-to-end DevOps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Warm-up: Imagine a Food-Delivery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459908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475569"/>
                </a:solidFill>
              </a:rPr>
              <a:t>“What happens after a developer changes the payment button?”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1645920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Code Change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2491740"/>
            <a:ext cx="45720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51760" y="2011680"/>
            <a:ext cx="1645920" cy="9601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Check / Test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0" y="2491740"/>
            <a:ext cx="45720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54879" y="2011680"/>
            <a:ext cx="1645920" cy="9601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799" y="2491740"/>
            <a:ext cx="45720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7999" y="2011680"/>
            <a:ext cx="1645920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Deploy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19" y="2491740"/>
            <a:ext cx="45720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61119" y="2011680"/>
            <a:ext cx="1645920" cy="9601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977639"/>
            <a:ext cx="7498079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Question: Which steps should be automatic?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1. Continuous Integration (CI)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CI = frequently integrate code + automatically build and test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1828800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Developer
pushes 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77440" y="2446020"/>
            <a:ext cx="41148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1965960"/>
            <a:ext cx="1828800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Git repository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17720" y="2446020"/>
            <a:ext cx="41148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0" y="1965960"/>
            <a:ext cx="1828800" cy="9601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2446020"/>
            <a:ext cx="41148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69480" y="1965960"/>
            <a:ext cx="1828800" cy="9601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Automated tests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98280" y="2446020"/>
            <a:ext cx="411479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09760" y="1965960"/>
            <a:ext cx="1828800" cy="9601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0F172A"/>
                </a:solidFill>
              </a:defRPr>
            </a:pPr>
            <a:r>
              <a:t>Goal: find integration/build/test problems early.</a:t>
            </a:r>
          </a:p>
          <a:p>
            <a:pPr>
              <a:spcAft>
                <a:spcPts val="900"/>
              </a:spcAft>
              <a:defRPr sz="1800" b="0">
                <a:solidFill>
                  <a:srgbClr val="0F172A"/>
                </a:solidFill>
              </a:defRPr>
            </a:pPr>
            <a:r>
              <a:t>Typical trigger: git push or pull request.</a:t>
            </a:r>
          </a:p>
          <a:p>
            <a:pPr>
              <a:spcAft>
                <a:spcPts val="900"/>
              </a:spcAft>
              <a:defRPr sz="1800" b="0">
                <a:solidFill>
                  <a:srgbClr val="0F172A"/>
                </a:solidFill>
              </a:defRPr>
            </a:pPr>
            <a:r>
              <a:t>Result: fast feedback — pass or fail.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CI Example: Simple Python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Every push runs the same checks on a clean machine.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486400" cy="4480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r>
              <a:rPr sz="1400" dirty="0">
                <a:solidFill>
                  <a:srgbClr val="E2E8F0"/>
                </a:solidFill>
                <a:latin typeface="Consolas"/>
              </a:rPr>
              <a:t>calculator.py
def add(a, b):
    return a + b
test_calculator.py
from calculator import add
def </a:t>
            </a:r>
            <a:r>
              <a:rPr sz="1400" dirty="0" err="1">
                <a:solidFill>
                  <a:srgbClr val="E2E8F0"/>
                </a:solidFill>
                <a:latin typeface="Consolas"/>
              </a:rPr>
              <a:t>test_add</a:t>
            </a:r>
            <a:r>
              <a:rPr sz="1400" dirty="0">
                <a:solidFill>
                  <a:srgbClr val="E2E8F0"/>
                </a:solidFill>
                <a:latin typeface="Consolas"/>
              </a:rPr>
              <a:t>():
    assert add(2, 3) == 5
# Developer
git add .
git commit -m "Add calculator"
git push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508760"/>
            <a:ext cx="18288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CI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423160"/>
            <a:ext cx="1828800" cy="6400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3337560"/>
            <a:ext cx="1828800" cy="6400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pytest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423160"/>
            <a:ext cx="22860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PASS ✓ / FAIL ✗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Sample CI Pipeline — GitHub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A minimal workflow that runs Python tests on every push.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63442" y="1303020"/>
            <a:ext cx="4912196" cy="4526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r>
              <a:rPr sz="1400" dirty="0">
                <a:solidFill>
                  <a:srgbClr val="E2E8F0"/>
                </a:solidFill>
                <a:latin typeface="Consolas"/>
              </a:rPr>
              <a:t># .</a:t>
            </a:r>
            <a:r>
              <a:rPr sz="1400" dirty="0" err="1">
                <a:solidFill>
                  <a:srgbClr val="E2E8F0"/>
                </a:solidFill>
                <a:latin typeface="Consolas"/>
              </a:rPr>
              <a:t>github</a:t>
            </a:r>
            <a:r>
              <a:rPr sz="1400" dirty="0">
                <a:solidFill>
                  <a:srgbClr val="E2E8F0"/>
                </a:solidFill>
                <a:latin typeface="Consolas"/>
              </a:rPr>
              <a:t>/workflows/</a:t>
            </a:r>
            <a:r>
              <a:rPr sz="1400" dirty="0" err="1">
                <a:solidFill>
                  <a:srgbClr val="E2E8F0"/>
                </a:solidFill>
                <a:latin typeface="Consolas"/>
              </a:rPr>
              <a:t>ci.yml</a:t>
            </a:r>
            <a:r>
              <a:rPr sz="1400" dirty="0">
                <a:solidFill>
                  <a:srgbClr val="E2E8F0"/>
                </a:solidFill>
                <a:latin typeface="Consolas"/>
              </a:rPr>
              <a:t>
name: Python CI
on: [push, </a:t>
            </a:r>
            <a:r>
              <a:rPr sz="1400" dirty="0" err="1">
                <a:solidFill>
                  <a:srgbClr val="E2E8F0"/>
                </a:solidFill>
                <a:latin typeface="Consolas"/>
              </a:rPr>
              <a:t>pull_request</a:t>
            </a:r>
            <a:r>
              <a:rPr sz="1400" dirty="0">
                <a:solidFill>
                  <a:srgbClr val="E2E8F0"/>
                </a:solidFill>
                <a:latin typeface="Consolas"/>
              </a:rPr>
              <a:t>]
jobs:
  test:
    runs-on: ubuntu-latest
    steps:
      - uses: actions/checkout@v4
      - uses: actions/setup-python@v5
        with:
          python-version: "3.12"
      - run: pip install </a:t>
            </a:r>
            <a:r>
              <a:rPr sz="1400" dirty="0" err="1">
                <a:solidFill>
                  <a:srgbClr val="E2E8F0"/>
                </a:solidFill>
                <a:latin typeface="Consolas"/>
              </a:rPr>
              <a:t>pytest</a:t>
            </a:r>
            <a:r>
              <a:rPr sz="1400" dirty="0">
                <a:solidFill>
                  <a:srgbClr val="E2E8F0"/>
                </a:solidFill>
                <a:latin typeface="Consolas"/>
              </a:rPr>
              <a:t>
      - run: </a:t>
            </a:r>
            <a:r>
              <a:rPr sz="1400" dirty="0" err="1">
                <a:solidFill>
                  <a:srgbClr val="E2E8F0"/>
                </a:solidFill>
                <a:latin typeface="Consolas"/>
              </a:rPr>
              <a:t>pytest</a:t>
            </a:r>
            <a:endParaRPr sz="140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2. Continuous Delivery vs Continuous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08760"/>
            <a:ext cx="365760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3657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Software is always kept release-ready.</a:t>
            </a:r>
          </a:p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Deployment to production usually needs an approval/manual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08760"/>
            <a:ext cx="365760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CONTINUOUS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2514600"/>
            <a:ext cx="3657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Every change that passes the pipeline can automatically reach production.</a:t>
            </a:r>
          </a:p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No manual production approval in the ideal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4892040"/>
            <a:ext cx="83210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Easy memory: Delivery = ready • Deployment = released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CD Flow: From Commit to Running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CD extends CI by taking a tested artifact toward an environment.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1508760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57400" y="2537460"/>
            <a:ext cx="32004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77440" y="2057400"/>
            <a:ext cx="1508760" cy="9601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CI Build + Test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2537460"/>
            <a:ext cx="32004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06240" y="2057400"/>
            <a:ext cx="1508760" cy="9601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Package
Artifact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2537460"/>
            <a:ext cx="32004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35040" y="2057400"/>
            <a:ext cx="1508760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Deploy to
Staging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43800" y="2537460"/>
            <a:ext cx="32004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63840" y="2057400"/>
            <a:ext cx="150876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Approval / Auto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72600" y="2537460"/>
            <a:ext cx="32004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92640" y="2057400"/>
            <a:ext cx="1508760" cy="9601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4160520"/>
            <a:ext cx="8046720" cy="658368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Artifact = versioned output such as .jar, .zip, Docker image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Sample CD — Deploy a Python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Conceptual GitHub Actions flow; the same pattern works with cloud platforms.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86295" y="1280160"/>
            <a:ext cx="7819103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r>
              <a:rPr sz="1400" dirty="0">
                <a:solidFill>
                  <a:srgbClr val="E2E8F0"/>
                </a:solidFill>
                <a:latin typeface="Consolas"/>
              </a:rPr>
              <a:t>jobs:
  deploy:
    needs: test
    runs-on: ubuntu-latest
    steps:
      - uses: actions/checkout@v4
      - name: Build package
        run: zip -r app.zip . -x ".git/*"
      - name: Deploy to staging
        run: echo "Deploying app.zip to STAGING"
      # Production can be gated by an approval
      - name: Deploy to production
        run: echo "Deploying to PRODUCTION"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5715000"/>
            <a:ext cx="740664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CI proves it works → CD moves the proven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3. Infrastructure as Code (IaC)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Instead of clicking 20 settings in a portal, describe infrastructure in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743200" cy="6858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Click portal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Remember settings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Repeat for each environment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Hard to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508760"/>
            <a:ext cx="2743200" cy="685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242316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Write configuration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Version in Git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Review changes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Repeat consistently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508760"/>
            <a:ext cx="274320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42316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Consistency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Automation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Traceability</a:t>
            </a:r>
          </a:p>
          <a:p>
            <a:pPr>
              <a:spcAft>
                <a:spcPts val="900"/>
              </a:spcAft>
              <a:defRPr sz="1600" b="0">
                <a:solidFill>
                  <a:srgbClr val="0F172A"/>
                </a:solidFill>
              </a:defRPr>
            </a:pPr>
            <a:r>
              <a:t>Faster provisioning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IaC Deep Dive: What Problem Does It Solve?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</a:rPr>
              <a:t>Think of infrastructure like setting up the same computer lab every semester.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834640" cy="5943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MANUAL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Open cloud portal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Create VM/network/database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Choose sizes &amp; settings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Repeat for DEV / TEST / PROD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Human errors are possible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325880"/>
            <a:ext cx="2834640" cy="5943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INFRASTRUCTURE AS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05740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Write desired configuration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Store files in Git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Review changes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Run automation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Re-create consistently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325880"/>
            <a:ext cx="28346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KEY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5740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Infrastructure becomes versioned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Repeatable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Auditable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Automatable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Less configuration drift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5257800"/>
            <a:ext cx="841248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IaC = “Infrastructure setup described as code, not clicks.”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IaC Lifecycle: Write → Plan → Apply → Manage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</a:rPr>
              <a:t>Terraform is one popular IaC tool.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5740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1. WRITE
.tf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828800"/>
            <a:ext cx="205740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2. INIT
Download providers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828800"/>
            <a:ext cx="2057400" cy="10058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3. PLAN
Preview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28800"/>
            <a:ext cx="2057400" cy="10058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4. APPLY
Create/update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828800"/>
            <a:ext cx="20574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5. MANAGE
Track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Write: describe the desired infrastructure.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Plan: see what Terraform intends to create, change, or destroy.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Apply: Terraform communicates with the provider/API and performs the changes.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State: Terraform tracks what it manages so it can compare desired vs current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Terraform Example: Creating a Development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</a:rPr>
              <a:t>Start with a tiny example before showing real cloud resources.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5577840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tlCol="0" anchor="ctr"/>
          <a:lstStyle/>
          <a:p>
            <a:r>
              <a:rPr sz="1300" dirty="0">
                <a:solidFill>
                  <a:srgbClr val="E2E8F0"/>
                </a:solidFill>
                <a:latin typeface="Consolas"/>
              </a:rPr>
              <a:t># main.tf
variable "environment" {
  default = "dev"
}
resource "</a:t>
            </a:r>
            <a:r>
              <a:rPr sz="1300" dirty="0" err="1">
                <a:solidFill>
                  <a:srgbClr val="E2E8F0"/>
                </a:solidFill>
                <a:latin typeface="Consolas"/>
              </a:rPr>
              <a:t>local_file</a:t>
            </a:r>
            <a:r>
              <a:rPr sz="1300" dirty="0">
                <a:solidFill>
                  <a:srgbClr val="E2E8F0"/>
                </a:solidFill>
                <a:latin typeface="Consolas"/>
              </a:rPr>
              <a:t>" "config" {
  filename = "${</a:t>
            </a:r>
            <a:r>
              <a:rPr sz="1300" dirty="0" err="1">
                <a:solidFill>
                  <a:srgbClr val="E2E8F0"/>
                </a:solidFill>
                <a:latin typeface="Consolas"/>
              </a:rPr>
              <a:t>var.environment</a:t>
            </a:r>
            <a:r>
              <a:rPr sz="1300" dirty="0">
                <a:solidFill>
                  <a:srgbClr val="E2E8F0"/>
                </a:solidFill>
                <a:latin typeface="Consolas"/>
              </a:rPr>
              <a:t>}-config.txt"
  content  = "Environment = ${</a:t>
            </a:r>
            <a:r>
              <a:rPr sz="1300" dirty="0" err="1">
                <a:solidFill>
                  <a:srgbClr val="E2E8F0"/>
                </a:solidFill>
                <a:latin typeface="Consolas"/>
              </a:rPr>
              <a:t>var.environment</a:t>
            </a:r>
            <a:r>
              <a:rPr sz="1300" dirty="0">
                <a:solidFill>
                  <a:srgbClr val="E2E8F0"/>
                </a:solidFill>
                <a:latin typeface="Consolas"/>
              </a:rPr>
              <a:t>}"
}
output "message" {
  value = "Created ${</a:t>
            </a:r>
            <a:r>
              <a:rPr sz="1300" dirty="0" err="1">
                <a:solidFill>
                  <a:srgbClr val="E2E8F0"/>
                </a:solidFill>
                <a:latin typeface="Consolas"/>
              </a:rPr>
              <a:t>var.environment</a:t>
            </a:r>
            <a:r>
              <a:rPr sz="1300" dirty="0">
                <a:solidFill>
                  <a:srgbClr val="E2E8F0"/>
                </a:solidFill>
                <a:latin typeface="Consolas"/>
              </a:rPr>
              <a:t>} environment"
}
# Run:
terraform </a:t>
            </a:r>
            <a:r>
              <a:rPr sz="1300" dirty="0" err="1">
                <a:solidFill>
                  <a:srgbClr val="E2E8F0"/>
                </a:solidFill>
                <a:latin typeface="Consolas"/>
              </a:rPr>
              <a:t>init</a:t>
            </a:r>
            <a:r>
              <a:rPr sz="1300" dirty="0">
                <a:solidFill>
                  <a:srgbClr val="E2E8F0"/>
                </a:solidFill>
                <a:latin typeface="Consolas"/>
              </a:rPr>
              <a:t>
terraform plan
terraform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5087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resource → what should exist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variable → value that can change between environments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output → useful information returned after apply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Git can store main.tf so changes can be reviewed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Real projects use cloud providers such as Azure/AWS/GCP.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4709160"/>
            <a:ext cx="114300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4709160"/>
            <a:ext cx="1143000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4709160"/>
            <a:ext cx="114300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Containerization Deep Dive: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</a:rPr>
              <a:t>Example: a Python app works on the developer laptop but fails on another machine.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37744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DEVELOPER LAPTOP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Python 3.12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Flask 3.x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Package A v1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Package B v2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417320"/>
            <a:ext cx="2377440" cy="6858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31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Python 3.10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Flask older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Package A v0.x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Missing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417320"/>
            <a:ext cx="2377440" cy="685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331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App code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Runtime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Dependencies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</a:defRPr>
            </a:pPr>
            <a:r>
              <a:t>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212848"/>
            <a:ext cx="2331720" cy="11887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Same package → predictable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4572000"/>
            <a:ext cx="7955279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Container = isolated, portable runtime environment for an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IaC Example — Terraform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Terraform configuration is declarative: describe the desired state.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40080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r>
              <a:rPr sz="1300" dirty="0">
                <a:solidFill>
                  <a:srgbClr val="E2E8F0"/>
                </a:solidFill>
                <a:latin typeface="Consolas"/>
              </a:rPr>
              <a:t># main.tf
terraform {
  </a:t>
            </a:r>
            <a:r>
              <a:rPr sz="1300" dirty="0" err="1">
                <a:solidFill>
                  <a:srgbClr val="E2E8F0"/>
                </a:solidFill>
                <a:latin typeface="Consolas"/>
              </a:rPr>
              <a:t>required_providers</a:t>
            </a:r>
            <a:r>
              <a:rPr sz="1300" dirty="0">
                <a:solidFill>
                  <a:srgbClr val="E2E8F0"/>
                </a:solidFill>
                <a:latin typeface="Consolas"/>
              </a:rPr>
              <a:t> {
    local = {
      source  = "</a:t>
            </a:r>
            <a:r>
              <a:rPr sz="1300" dirty="0" err="1">
                <a:solidFill>
                  <a:srgbClr val="E2E8F0"/>
                </a:solidFill>
                <a:latin typeface="Consolas"/>
              </a:rPr>
              <a:t>hashicorp</a:t>
            </a:r>
            <a:r>
              <a:rPr sz="1300" dirty="0">
                <a:solidFill>
                  <a:srgbClr val="E2E8F0"/>
                </a:solidFill>
                <a:latin typeface="Consolas"/>
              </a:rPr>
              <a:t>/local"
      version = "~&gt; 2.5"
    }
  }
}
resource "</a:t>
            </a:r>
            <a:r>
              <a:rPr sz="1300" dirty="0" err="1">
                <a:solidFill>
                  <a:srgbClr val="E2E8F0"/>
                </a:solidFill>
                <a:latin typeface="Consolas"/>
              </a:rPr>
              <a:t>local_file</a:t>
            </a:r>
            <a:r>
              <a:rPr sz="1300" dirty="0">
                <a:solidFill>
                  <a:srgbClr val="E2E8F0"/>
                </a:solidFill>
                <a:latin typeface="Consolas"/>
              </a:rPr>
              <a:t>" "hello" {
  filename = "hello.txt"
  content  = "Infrastructure created by code!"
}
# Commands:
terraform </a:t>
            </a:r>
            <a:r>
              <a:rPr sz="1300" dirty="0" err="1">
                <a:solidFill>
                  <a:srgbClr val="E2E8F0"/>
                </a:solidFill>
                <a:latin typeface="Consolas"/>
              </a:rPr>
              <a:t>init</a:t>
            </a:r>
            <a:r>
              <a:rPr sz="1300" dirty="0">
                <a:solidFill>
                  <a:srgbClr val="E2E8F0"/>
                </a:solidFill>
                <a:latin typeface="Consolas"/>
              </a:rPr>
              <a:t>
terraform plan
terraform apply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00200"/>
            <a:ext cx="2560320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Desired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560320"/>
            <a:ext cx="2560320" cy="6858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terraform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3520440"/>
            <a:ext cx="2560320" cy="685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terraform 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572000"/>
            <a:ext cx="301752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Git + Review + Repeat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4. 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A container packages the application + dependencies so it behaves consistently across environments.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749039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“It works on my laptop!”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417320"/>
            <a:ext cx="274320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Container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417320"/>
            <a:ext cx="347472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Same app +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</a:defRPr>
            </a:pPr>
            <a:r>
              <a:t>Image = packaged blueprint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</a:defRPr>
            </a:pPr>
            <a:r>
              <a:t>Container = running instance of an image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</a:defRPr>
            </a:pPr>
            <a:r>
              <a:t>Docker is a popular container platform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</a:defRPr>
            </a:pPr>
            <a:r>
              <a:t>Containers are lightweight and portable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Basic Docker Commands — Student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49834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tlCol="0" anchor="ctr"/>
          <a:lstStyle/>
          <a:p>
            <a:r>
              <a:rPr sz="1500" dirty="0">
                <a:solidFill>
                  <a:srgbClr val="E2E8F0"/>
                </a:solidFill>
                <a:latin typeface="Consolas"/>
              </a:rPr>
              <a:t># Build an image
docker build -t attendance-app .
# List images
docker images
# Run a container
docker run -d -p 5000:5000 --name attendance attendance-app
# See running containers
docker </a:t>
            </a:r>
            <a:r>
              <a:rPr sz="1500" dirty="0" err="1">
                <a:solidFill>
                  <a:srgbClr val="E2E8F0"/>
                </a:solidFill>
                <a:latin typeface="Consolas"/>
              </a:rPr>
              <a:t>ps</a:t>
            </a:r>
            <a:r>
              <a:rPr sz="1500" dirty="0">
                <a:solidFill>
                  <a:srgbClr val="E2E8F0"/>
                </a:solidFill>
                <a:latin typeface="Consolas"/>
              </a:rPr>
              <a:t>
# View logs
docker logs attendance
# Stop the container
docker stop attendance
# Remove it
docker rm attendance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Container Example — Python Web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A Dockerfile tells Docker how to build the application image.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81360" cy="46177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# Dockerfile
FROM python:3.12-slim
WORKDIR /app
COPY requirements.txt .
RUN pip install --no-cache-dir -r requirements.txt
COPY app.py .
EXPOSE 5000
CMD ["python", "app.py"]
# Build + run
docker build -t my-python-app .
docker run -p 5000:5000 my-python-app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940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Agile Software Development &amp; DevOps • 3rd Year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Image vs Container — Simple Mental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508760"/>
            <a:ext cx="292608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DOCKER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2606040"/>
            <a:ext cx="2468880" cy="68580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Recipe / Blueprint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3657600"/>
            <a:ext cx="2468880" cy="6858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docker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508760"/>
            <a:ext cx="292608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2606040"/>
            <a:ext cx="2468880" cy="68580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Running instance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3657600"/>
            <a:ext cx="2468880" cy="685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docker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4983480"/>
            <a:ext cx="466344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One image → many containers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Putting It All Together — DevOps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One change travels through CI, CD, IaC and containers.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417320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Developer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65960" y="2308860"/>
            <a:ext cx="256031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21992" y="1828800"/>
            <a:ext cx="1417320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GitHub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39312" y="2308860"/>
            <a:ext cx="256032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95344" y="1828800"/>
            <a:ext cx="1417320" cy="9601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CI
Build/Test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12664" y="2308860"/>
            <a:ext cx="256032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68696" y="1828800"/>
            <a:ext cx="1417320" cy="9601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Docker
Image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86016" y="2308860"/>
            <a:ext cx="256032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42048" y="1828800"/>
            <a:ext cx="1417320" cy="9601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CD
Deploy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9368" y="2308860"/>
            <a:ext cx="256032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15400" y="1828800"/>
            <a:ext cx="1417320" cy="9601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IaC
Provision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32720" y="2308860"/>
            <a:ext cx="256032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588752" y="1828800"/>
            <a:ext cx="1417320" cy="960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Cloud
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CI answers: “Is the change safe to integrate?”</a:t>
            </a:r>
          </a:p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CD answers: “Can we release this tested version?”</a:t>
            </a:r>
          </a:p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IaC answers: “Can we create the environment consistently?”</a:t>
            </a:r>
          </a:p>
          <a:p>
            <a:pPr>
              <a:spcAft>
                <a:spcPts val="900"/>
              </a:spcAft>
              <a:defRPr sz="1700" b="0">
                <a:solidFill>
                  <a:srgbClr val="0F172A"/>
                </a:solidFill>
              </a:defRPr>
            </a:pPr>
            <a:r>
              <a:t>Containers answer: “Can we package and run the app consistently?”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Common Mistakes to Watch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</a:defRPr>
            </a:pPr>
            <a:r>
              <a:t>CI ≠ only “build” — automated tests are a key part of CI.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</a:defRPr>
            </a:pPr>
            <a:r>
              <a:t>CD is not the same as CI — CD takes a verified version toward release.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</a:defRPr>
            </a:pPr>
            <a:r>
              <a:t>IaC ≠ a shell script only — IaC commonly describes desired infrastructure state.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</a:defRPr>
            </a:pPr>
            <a:r>
              <a:t>Docker image ≠ container — image is the package; container is the running instance.</a:t>
            </a:r>
          </a:p>
          <a:p>
            <a:pPr>
              <a:spcAft>
                <a:spcPts val="900"/>
              </a:spcAft>
              <a:defRPr sz="1900" b="0">
                <a:solidFill>
                  <a:srgbClr val="0F172A"/>
                </a:solidFill>
              </a:defRPr>
            </a:pPr>
            <a:r>
              <a:t>Never put passwords/API keys directly in Git or Dockerfiles — use secrets management.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5-Minute Recap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Ask students to answer verbally or in chat.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</a:defRPr>
            </a:pPr>
            <a:r>
              <a:t>Q1. A developer pushes code and tests run automatically. Which concept? → CI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</a:defRPr>
            </a:pPr>
            <a:r>
              <a:t>Q2. A tested version is automatically deployed to production. Which concept? → Continuous Deployment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</a:defRPr>
            </a:pPr>
            <a:r>
              <a:t>Q3. Server configuration is stored as .tf files in Git. Which concept? → IaC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</a:defRPr>
            </a:pPr>
            <a:r>
              <a:t>Q4. “Package once, run consistently anywhere.” Which concept? → Containerization</a:t>
            </a:r>
          </a:p>
          <a:p>
            <a:pPr>
              <a:spcAft>
                <a:spcPts val="900"/>
              </a:spcAft>
              <a:defRPr sz="2000" b="0">
                <a:solidFill>
                  <a:srgbClr val="0F172A"/>
                </a:solidFill>
              </a:defRPr>
            </a:pPr>
            <a:r>
              <a:t>Q5. What happens if CI tests fail? → CD should not promote that 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One-Slide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Remember the four ideas using four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2860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31720"/>
            <a:ext cx="1920240" cy="6400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“Does the code work?”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286000" cy="6400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2331720"/>
            <a:ext cx="1920240" cy="6400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“Can we release it?”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2286000" cy="6400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31720"/>
            <a:ext cx="2103120" cy="8686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“Can we create it consistently?”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417320"/>
            <a:ext cx="246888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Containers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331720"/>
            <a:ext cx="2011680" cy="8686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“Will it run the same way?”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4343400"/>
            <a:ext cx="91440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</a:rPr>
              <a:t>Code → Test → Package → Provision → Deploy →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Before leaving, write one sentence for each: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</a:defRPr>
            </a:pPr>
            <a:r>
              <a:t>CI is important because ________________________________.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</a:defRPr>
            </a:pPr>
            <a:r>
              <a:t>CD is different from CI because ________________________.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</a:defRPr>
            </a:pPr>
            <a:r>
              <a:t>IaC helps teams by ____________________________________.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</a:defRPr>
            </a:pPr>
            <a:r>
              <a:t>Containers solve the problem of ________________________.</a:t>
            </a:r>
          </a:p>
          <a:p>
            <a:pPr>
              <a:spcAft>
                <a:spcPts val="900"/>
              </a:spcAft>
              <a:defRPr sz="2100" b="0">
                <a:solidFill>
                  <a:srgbClr val="0F172A"/>
                </a:solidFill>
              </a:defRPr>
            </a:pPr>
            <a:r>
              <a:t>One DevOps tool I want to try next is __________________.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5166360"/>
            <a:ext cx="804672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Next Lab: Python app → GitHub → CI → Docker → CD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Important IaC Concepts Students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3911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Declarative: </a:t>
            </a:r>
            <a:r>
              <a:rPr dirty="0"/>
              <a:t>describe WHAT you want, rather than every manual step for HOW to create it.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Idempotent/repeatable: </a:t>
            </a:r>
            <a:r>
              <a:rPr dirty="0"/>
              <a:t>running the same desired configuration should converge toward the same state.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Version control: </a:t>
            </a:r>
            <a:r>
              <a:rPr dirty="0"/>
              <a:t>infrastructure changes can be committed, reviewed, compared and rolled back.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Configuration drift: </a:t>
            </a:r>
            <a:r>
              <a:rPr dirty="0"/>
              <a:t>actual infrastructure can slowly differ from the approved configuration; </a:t>
            </a:r>
            <a:r>
              <a:rPr dirty="0" err="1"/>
              <a:t>IaC</a:t>
            </a:r>
            <a:r>
              <a:rPr dirty="0"/>
              <a:t> helps detect and correct it.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Environment consistency: </a:t>
            </a:r>
            <a:r>
              <a:rPr dirty="0"/>
              <a:t>DEV, TEST and PROD can use the same template with different variables.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State: </a:t>
            </a:r>
            <a:r>
              <a:rPr dirty="0" err="1"/>
              <a:t>IaC</a:t>
            </a:r>
            <a:r>
              <a:rPr dirty="0"/>
              <a:t> tools often maintain state/metadata to understand resources they manage.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rPr b="1" dirty="0"/>
              <a:t>Secrets: </a:t>
            </a:r>
            <a:r>
              <a:rPr dirty="0"/>
              <a:t>passwords, tokens and keys should not be hard-coded in </a:t>
            </a:r>
            <a:r>
              <a:rPr dirty="0" err="1"/>
              <a:t>IaC</a:t>
            </a:r>
            <a:r>
              <a:rPr dirty="0"/>
              <a:t> files.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Docker Lifecycle: Dockerfile → Image →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</a:rPr>
              <a:t>Three terms students often confuse.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468880" cy="7315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Dockerfile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508760"/>
            <a:ext cx="1828800" cy="7315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docker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508760"/>
            <a:ext cx="205740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08760"/>
            <a:ext cx="1828800" cy="7315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docker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12680" y="1508760"/>
            <a:ext cx="155448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t>Dockerfile = instructions/recipe used to build an image.</a:t>
            </a:r>
          </a:p>
          <a:p>
            <a:pPr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t>Image = immutable package/template containing application and required files.</a:t>
            </a:r>
          </a:p>
          <a:p>
            <a:pPr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t>Container = running instance created from an image.</a:t>
            </a:r>
          </a:p>
          <a:p>
            <a:pPr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t>One image can be used to start multiple containers.</a:t>
            </a:r>
          </a:p>
          <a:p>
            <a:pPr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t>Container registries store and distribute images.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Dockerfile Explained Line by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</a:rPr>
              <a:t>Use this slide while live-coding with students.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40080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tlCol="0" anchor="ctr"/>
          <a:lstStyle/>
          <a:p>
            <a:r>
              <a:rPr sz="1350" dirty="0">
                <a:solidFill>
                  <a:srgbClr val="E2E8F0"/>
                </a:solidFill>
                <a:latin typeface="Consolas"/>
              </a:rPr>
              <a:t>FROM python:3.12-slim     # Base image
WORKDIR /app              # Working folder
COPY requirements.txt .   # Copy dependencies
RUN pip install -r requirements.txt
COPY app.py .             # Copy application
EXPOSE 5000               # Document app port
CMD ["python", "app.py"]  # Start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FROM: starting point / base image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WORKDIR: where commands/files operate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COPY: moves files into image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RUN: executes a build-time command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EXPOSE: documents the port used by the app</a:t>
            </a:r>
          </a:p>
          <a:p>
            <a:pPr>
              <a:spcAft>
                <a:spcPts val="700"/>
              </a:spcAft>
              <a:defRPr sz="1600">
                <a:solidFill>
                  <a:srgbClr val="0F172A"/>
                </a:solidFill>
              </a:defRPr>
            </a:pPr>
            <a:r>
              <a:t>CMD: default command when container starts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Containers vs Virtual Machines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</a:rPr>
              <a:t>A useful conceptual comparison — not “containers replace VMs” in every case.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4389120" cy="6858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VIRTUAL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Each VM includes a guest OS.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Strong isolation boundary.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Usually heavier and slower to start.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Good for different OS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25880"/>
            <a:ext cx="4389120" cy="685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33172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Containers share the host OS kernel.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Usually lightweight and fast to start.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Package app + dependencies.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Great for microservices and CI/CD.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4800600"/>
            <a:ext cx="722376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Both can be used together: containers may run inside VMs.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Where Does the Container Image Go?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160020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Developer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1828800"/>
            <a:ext cx="1737360" cy="7315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Docker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228600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Container Registry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192024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Cloud /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828800"/>
            <a:ext cx="18288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Running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t>1. Build image from Dockerfile.</a:t>
            </a:r>
          </a:p>
          <a:p>
            <a:pPr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t>2. Tag image with a version, e.g. attendance-app:1.0.</a:t>
            </a:r>
          </a:p>
          <a:p>
            <a:pPr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t>3. Push image to a registry.</a:t>
            </a:r>
          </a:p>
          <a:p>
            <a:pPr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t>4. Deployment platform pulls the image.</a:t>
            </a:r>
          </a:p>
          <a:p>
            <a:pPr>
              <a:spcAft>
                <a:spcPts val="700"/>
              </a:spcAft>
              <a:defRPr sz="1800">
                <a:solidFill>
                  <a:srgbClr val="0F172A"/>
                </a:solidFill>
              </a:defRPr>
            </a:pPr>
            <a:r>
              <a:t>5. Platform starts one or more containers from that image.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Agile Software Development &amp; DevOps • 3rd Year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How IaC and Containers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</a:rPr>
              <a:t>This is the key connection to emphasize in class.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286000" cy="7315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IaC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14600"/>
            <a:ext cx="2560320" cy="8686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Creates / configures
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463040"/>
            <a:ext cx="246888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Container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2514600"/>
            <a:ext cx="2560320" cy="8686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Packages application
+ dependencies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463040"/>
            <a:ext cx="228600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514600"/>
            <a:ext cx="2560320" cy="8686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Builds, tests and
deploys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463040"/>
            <a:ext cx="228600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Cloud 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2514600"/>
            <a:ext cx="2560320" cy="8686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Runs containers on
provisioned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663440"/>
            <a:ext cx="996696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IaC = build the stage • Containers = package the actors • CI/CD = move the show forward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93B"/>
                </a:solidFill>
              </a:rPr>
              <a:t>Mini Lab Extension: Python → Docker → CI/CD → IaC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</a:rPr>
              <a:t>A practical path students can perform in small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1. Write a simple Python application.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2. Create a test and verify it locally.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3. Push code to GitHub.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4. Add GitHub Actions to run pytest (CI).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5. Write a Dockerfile and build the image.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6. Run the container locally and test the application.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7. Push the image to a container registry.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8. Use Terraform to describe the target environment.</a:t>
            </a:r>
          </a:p>
          <a:p>
            <a:pPr>
              <a:spcAft>
                <a:spcPts val="700"/>
              </a:spcAft>
              <a:defRPr sz="1700">
                <a:solidFill>
                  <a:srgbClr val="0F172A"/>
                </a:solidFill>
              </a:defRPr>
            </a:pPr>
            <a:r>
              <a:t>9. Extend CD to deploy the container to a cloud/container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2460</Words>
  <Application>Microsoft Office PowerPoint</Application>
  <PresentationFormat>Widescreen</PresentationFormat>
  <Paragraphs>287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Aruna Inamdar</cp:lastModifiedBy>
  <cp:revision>10</cp:revision>
  <dcterms:created xsi:type="dcterms:W3CDTF">2013-01-27T09:14:16Z</dcterms:created>
  <dcterms:modified xsi:type="dcterms:W3CDTF">2026-08-31T14:50:42Z</dcterms:modified>
  <cp:category/>
</cp:coreProperties>
</file>