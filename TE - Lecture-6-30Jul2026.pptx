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25"/>
  </p:notesMasterIdLst>
  <p:handoutMasterIdLst>
    <p:handoutMasterId r:id="rId26"/>
  </p:handoutMasterIdLst>
  <p:sldIdLst>
    <p:sldId id="257"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182" autoAdjust="0"/>
  </p:normalViewPr>
  <p:slideViewPr>
    <p:cSldViewPr showGuides="1">
      <p:cViewPr varScale="1">
        <p:scale>
          <a:sx n="82" d="100"/>
          <a:sy n="82" d="100"/>
        </p:scale>
        <p:origin x="720" y="72"/>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7/30/2026</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7/30/2026</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7/30/2026</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7/30/2026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7/30/2026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7/30/2026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7/30/2026</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7/30/2026</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7/30/2026</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7/30/2026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7/30/2026</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7/30/2026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7/30/2026</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7/30/2026</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Agile Planning &amp; Estimation</a:t>
            </a:r>
            <a:endParaRPr lang="en-US" dirty="0"/>
          </a:p>
        </p:txBody>
      </p:sp>
      <p:sp>
        <p:nvSpPr>
          <p:cNvPr id="5" name="Subtitle 4"/>
          <p:cNvSpPr>
            <a:spLocks noGrp="1"/>
          </p:cNvSpPr>
          <p:nvPr>
            <p:ph type="subTitle" idx="1"/>
          </p:nvPr>
        </p:nvSpPr>
        <p:spPr>
          <a:xfrm>
            <a:off x="4879346" y="4941168"/>
            <a:ext cx="7008574" cy="1244600"/>
          </a:xfrm>
        </p:spPr>
        <p:txBody>
          <a:bodyPr/>
          <a:lstStyle/>
          <a:p>
            <a:r>
              <a:rPr lang="en-US" dirty="0"/>
              <a:t>Aruna Kumbhar</a:t>
            </a:r>
          </a:p>
        </p:txBody>
      </p:sp>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A3744-82BD-18CD-BD9F-BA4F2D7917BD}"/>
              </a:ext>
            </a:extLst>
          </p:cNvPr>
          <p:cNvSpPr>
            <a:spLocks noGrp="1"/>
          </p:cNvSpPr>
          <p:nvPr>
            <p:ph type="title"/>
          </p:nvPr>
        </p:nvSpPr>
        <p:spPr>
          <a:xfrm>
            <a:off x="1117309" y="76200"/>
            <a:ext cx="10157354" cy="904528"/>
          </a:xfrm>
        </p:spPr>
        <p:txBody>
          <a:bodyPr/>
          <a:lstStyle/>
          <a:p>
            <a:r>
              <a:rPr lang="en-IN" dirty="0"/>
              <a:t>Revise</a:t>
            </a:r>
          </a:p>
        </p:txBody>
      </p:sp>
      <p:sp>
        <p:nvSpPr>
          <p:cNvPr id="3" name="Content Placeholder 2">
            <a:extLst>
              <a:ext uri="{FF2B5EF4-FFF2-40B4-BE49-F238E27FC236}">
                <a16:creationId xmlns:a16="http://schemas.microsoft.com/office/drawing/2014/main" id="{2D861C79-8EB4-E7B5-84F2-09F2C4AB619D}"/>
              </a:ext>
            </a:extLst>
          </p:cNvPr>
          <p:cNvSpPr>
            <a:spLocks noGrp="1"/>
          </p:cNvSpPr>
          <p:nvPr>
            <p:ph idx="1"/>
          </p:nvPr>
        </p:nvSpPr>
        <p:spPr>
          <a:xfrm>
            <a:off x="909836" y="1193800"/>
            <a:ext cx="10157354" cy="4470400"/>
          </a:xfrm>
        </p:spPr>
        <p:txBody>
          <a:bodyPr>
            <a:normAutofit/>
          </a:bodyPr>
          <a:lstStyle/>
          <a:p>
            <a:r>
              <a:rPr lang="en-IN" dirty="0"/>
              <a:t>Classification of Agile Methods</a:t>
            </a:r>
          </a:p>
          <a:p>
            <a:r>
              <a:rPr lang="en-IN" dirty="0"/>
              <a:t>Agile Teams</a:t>
            </a:r>
          </a:p>
          <a:p>
            <a:r>
              <a:rPr lang="en-IN" dirty="0"/>
              <a:t>Agile Team Meetings</a:t>
            </a:r>
          </a:p>
          <a:p>
            <a:r>
              <a:rPr lang="en-IN" dirty="0"/>
              <a:t>Agile Methodologies – Scrum, XP, FDD, Crystal, Kanban,  Adaptive Software Development (ASD), Lean</a:t>
            </a:r>
          </a:p>
          <a:p>
            <a:endParaRPr lang="en-IN" dirty="0"/>
          </a:p>
        </p:txBody>
      </p:sp>
    </p:spTree>
    <p:extLst>
      <p:ext uri="{BB962C8B-B14F-4D97-AF65-F5344CB8AC3E}">
        <p14:creationId xmlns:p14="http://schemas.microsoft.com/office/powerpoint/2010/main" val="310294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873FEFB-86DD-3442-00E0-4275B748B591}"/>
              </a:ext>
            </a:extLst>
          </p:cNvPr>
          <p:cNvSpPr txBox="1"/>
          <p:nvPr/>
        </p:nvSpPr>
        <p:spPr>
          <a:xfrm>
            <a:off x="549796" y="332656"/>
            <a:ext cx="10641055" cy="413959"/>
          </a:xfrm>
          <a:prstGeom prst="rect">
            <a:avLst/>
          </a:prstGeom>
          <a:noFill/>
        </p:spPr>
        <p:txBody>
          <a:bodyPr wrap="none" rtlCol="0">
            <a:spAutoFit/>
          </a:bodyPr>
          <a:lstStyle/>
          <a:p>
            <a:pPr>
              <a:lnSpc>
                <a:spcPct val="95000"/>
              </a:lnSpc>
            </a:pPr>
            <a:r>
              <a:rPr lang="en-US" sz="2200" dirty="0"/>
              <a:t>"If our class is planning a Goa trip, do we decide everything on the first day?"</a:t>
            </a:r>
            <a:endParaRPr lang="en-IN" sz="2200" dirty="0"/>
          </a:p>
        </p:txBody>
      </p:sp>
      <p:sp>
        <p:nvSpPr>
          <p:cNvPr id="6" name="TextBox 5">
            <a:extLst>
              <a:ext uri="{FF2B5EF4-FFF2-40B4-BE49-F238E27FC236}">
                <a16:creationId xmlns:a16="http://schemas.microsoft.com/office/drawing/2014/main" id="{006FA94D-CC1C-E0E2-4220-F186929FBF63}"/>
              </a:ext>
            </a:extLst>
          </p:cNvPr>
          <p:cNvSpPr txBox="1"/>
          <p:nvPr/>
        </p:nvSpPr>
        <p:spPr>
          <a:xfrm>
            <a:off x="621805" y="908720"/>
            <a:ext cx="5328592" cy="3122393"/>
          </a:xfrm>
          <a:prstGeom prst="rect">
            <a:avLst/>
          </a:prstGeom>
          <a:noFill/>
        </p:spPr>
        <p:txBody>
          <a:bodyPr wrap="square" rtlCol="0">
            <a:spAutoFit/>
          </a:bodyPr>
          <a:lstStyle/>
          <a:p>
            <a:r>
              <a:rPr lang="en-US" sz="2200" dirty="0"/>
              <a:t>The planning happens in stages:</a:t>
            </a:r>
          </a:p>
          <a:p>
            <a:pPr>
              <a:buFont typeface="Arial" panose="020B0604020202020204" pitchFamily="34" charset="0"/>
              <a:buChar char="•"/>
            </a:pPr>
            <a:r>
              <a:rPr lang="en-US" sz="2200" dirty="0"/>
              <a:t>First decide </a:t>
            </a:r>
            <a:r>
              <a:rPr lang="en-US" sz="2200" b="1" dirty="0"/>
              <a:t>where to go</a:t>
            </a:r>
            <a:r>
              <a:rPr lang="en-US" sz="2200" dirty="0"/>
              <a:t> </a:t>
            </a:r>
          </a:p>
          <a:p>
            <a:pPr>
              <a:buFont typeface="Arial" panose="020B0604020202020204" pitchFamily="34" charset="0"/>
              <a:buChar char="•"/>
            </a:pPr>
            <a:r>
              <a:rPr lang="en-US" sz="2200" dirty="0"/>
              <a:t>Then decide </a:t>
            </a:r>
            <a:r>
              <a:rPr lang="en-US" sz="2200" b="1" dirty="0"/>
              <a:t>how to travel</a:t>
            </a:r>
            <a:r>
              <a:rPr lang="en-US" sz="2200" dirty="0"/>
              <a:t> </a:t>
            </a:r>
          </a:p>
          <a:p>
            <a:pPr>
              <a:buFont typeface="Arial" panose="020B0604020202020204" pitchFamily="34" charset="0"/>
              <a:buChar char="•"/>
            </a:pPr>
            <a:r>
              <a:rPr lang="en-US" sz="2200" dirty="0"/>
              <a:t>Then decide </a:t>
            </a:r>
            <a:r>
              <a:rPr lang="en-US" sz="2200" b="1" dirty="0"/>
              <a:t>what to pack</a:t>
            </a:r>
            <a:r>
              <a:rPr lang="en-US" sz="2200" dirty="0"/>
              <a:t> </a:t>
            </a:r>
          </a:p>
          <a:p>
            <a:pPr>
              <a:buFont typeface="Arial" panose="020B0604020202020204" pitchFamily="34" charset="0"/>
              <a:buChar char="•"/>
            </a:pPr>
            <a:r>
              <a:rPr lang="en-US" sz="2200" dirty="0"/>
              <a:t>Finally decide </a:t>
            </a:r>
            <a:r>
              <a:rPr lang="en-US" sz="2200" b="1" dirty="0"/>
              <a:t>what to do today</a:t>
            </a:r>
          </a:p>
          <a:p>
            <a:r>
              <a:rPr lang="en-US" sz="2200" dirty="0"/>
              <a:t> </a:t>
            </a:r>
          </a:p>
          <a:p>
            <a:r>
              <a:rPr lang="en-US" sz="2200" dirty="0"/>
              <a:t>Software projects work exactly the same way</a:t>
            </a:r>
          </a:p>
          <a:p>
            <a:pPr>
              <a:lnSpc>
                <a:spcPct val="95000"/>
              </a:lnSpc>
            </a:pPr>
            <a:endParaRPr lang="en-IN" sz="2200" dirty="0"/>
          </a:p>
        </p:txBody>
      </p:sp>
      <p:sp>
        <p:nvSpPr>
          <p:cNvPr id="7" name="TextBox 6">
            <a:extLst>
              <a:ext uri="{FF2B5EF4-FFF2-40B4-BE49-F238E27FC236}">
                <a16:creationId xmlns:a16="http://schemas.microsoft.com/office/drawing/2014/main" id="{EE69347E-5883-7902-25AB-AC5054993B0D}"/>
              </a:ext>
            </a:extLst>
          </p:cNvPr>
          <p:cNvSpPr txBox="1"/>
          <p:nvPr/>
        </p:nvSpPr>
        <p:spPr>
          <a:xfrm>
            <a:off x="621805" y="4031113"/>
            <a:ext cx="4824536" cy="735586"/>
          </a:xfrm>
          <a:prstGeom prst="rect">
            <a:avLst/>
          </a:prstGeom>
          <a:noFill/>
        </p:spPr>
        <p:txBody>
          <a:bodyPr wrap="square" rtlCol="0">
            <a:spAutoFit/>
          </a:bodyPr>
          <a:lstStyle/>
          <a:p>
            <a:pPr>
              <a:lnSpc>
                <a:spcPct val="95000"/>
              </a:lnSpc>
            </a:pPr>
            <a:r>
              <a:rPr lang="en-US" sz="2200" dirty="0">
                <a:solidFill>
                  <a:srgbClr val="FF0000"/>
                </a:solidFill>
              </a:rPr>
              <a:t>Agile follows </a:t>
            </a:r>
            <a:r>
              <a:rPr lang="en-US" sz="2200" b="1" dirty="0">
                <a:solidFill>
                  <a:srgbClr val="FF0000"/>
                </a:solidFill>
              </a:rPr>
              <a:t>multiple levels of planning</a:t>
            </a:r>
            <a:r>
              <a:rPr lang="en-US" sz="2200" dirty="0">
                <a:solidFill>
                  <a:srgbClr val="FF0000"/>
                </a:solidFill>
              </a:rPr>
              <a:t>, not one huge plan</a:t>
            </a:r>
            <a:endParaRPr lang="en-IN" sz="2200" dirty="0">
              <a:solidFill>
                <a:srgbClr val="FF0000"/>
              </a:solidFill>
            </a:endParaRPr>
          </a:p>
        </p:txBody>
      </p:sp>
      <p:pic>
        <p:nvPicPr>
          <p:cNvPr id="1026" name="Picture 2" descr="Estimating And Planning in Agile Project Management">
            <a:extLst>
              <a:ext uri="{FF2B5EF4-FFF2-40B4-BE49-F238E27FC236}">
                <a16:creationId xmlns:a16="http://schemas.microsoft.com/office/drawing/2014/main" id="{2CFDEC44-A9C7-53A8-4937-8A8B426790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6341" y="1138942"/>
            <a:ext cx="6413784" cy="4810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878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176EFF-F6AD-73FF-62F6-3D0BCEA29018}"/>
              </a:ext>
            </a:extLst>
          </p:cNvPr>
          <p:cNvSpPr txBox="1"/>
          <p:nvPr/>
        </p:nvSpPr>
        <p:spPr>
          <a:xfrm>
            <a:off x="693812" y="260648"/>
            <a:ext cx="5208477" cy="443198"/>
          </a:xfrm>
          <a:prstGeom prst="rect">
            <a:avLst/>
          </a:prstGeom>
          <a:noFill/>
        </p:spPr>
        <p:txBody>
          <a:bodyPr wrap="none" rtlCol="0">
            <a:spAutoFit/>
          </a:bodyPr>
          <a:lstStyle/>
          <a:p>
            <a:pPr>
              <a:lnSpc>
                <a:spcPct val="95000"/>
              </a:lnSpc>
            </a:pPr>
            <a:r>
              <a:rPr lang="en-US" b="1" dirty="0">
                <a:solidFill>
                  <a:srgbClr val="FF0000"/>
                </a:solidFill>
              </a:rPr>
              <a:t>1. Vision Planning (The Big Dream)</a:t>
            </a:r>
            <a:endParaRPr lang="en-IN" b="1" dirty="0">
              <a:solidFill>
                <a:srgbClr val="FF0000"/>
              </a:solidFill>
            </a:endParaRPr>
          </a:p>
        </p:txBody>
      </p:sp>
      <p:sp>
        <p:nvSpPr>
          <p:cNvPr id="5" name="TextBox 4">
            <a:extLst>
              <a:ext uri="{FF2B5EF4-FFF2-40B4-BE49-F238E27FC236}">
                <a16:creationId xmlns:a16="http://schemas.microsoft.com/office/drawing/2014/main" id="{7802D1C7-6C76-3E93-E7AB-C771A376E0C5}"/>
              </a:ext>
            </a:extLst>
          </p:cNvPr>
          <p:cNvSpPr txBox="1"/>
          <p:nvPr/>
        </p:nvSpPr>
        <p:spPr>
          <a:xfrm>
            <a:off x="693812" y="980728"/>
            <a:ext cx="6550191" cy="413959"/>
          </a:xfrm>
          <a:prstGeom prst="rect">
            <a:avLst/>
          </a:prstGeom>
          <a:noFill/>
        </p:spPr>
        <p:txBody>
          <a:bodyPr wrap="none" rtlCol="0">
            <a:spAutoFit/>
          </a:bodyPr>
          <a:lstStyle/>
          <a:p>
            <a:pPr>
              <a:lnSpc>
                <a:spcPct val="95000"/>
              </a:lnSpc>
            </a:pPr>
            <a:r>
              <a:rPr lang="en-US" sz="2200" dirty="0"/>
              <a:t>What are we building? Why are we building it?</a:t>
            </a:r>
            <a:endParaRPr lang="en-IN" sz="2200" dirty="0"/>
          </a:p>
        </p:txBody>
      </p:sp>
      <p:sp>
        <p:nvSpPr>
          <p:cNvPr id="6" name="TextBox 5">
            <a:extLst>
              <a:ext uri="{FF2B5EF4-FFF2-40B4-BE49-F238E27FC236}">
                <a16:creationId xmlns:a16="http://schemas.microsoft.com/office/drawing/2014/main" id="{C73FA17C-792D-7D6C-60C0-014CF4B9540F}"/>
              </a:ext>
            </a:extLst>
          </p:cNvPr>
          <p:cNvSpPr txBox="1"/>
          <p:nvPr/>
        </p:nvSpPr>
        <p:spPr>
          <a:xfrm>
            <a:off x="645705" y="1556792"/>
            <a:ext cx="10513168" cy="735586"/>
          </a:xfrm>
          <a:prstGeom prst="rect">
            <a:avLst/>
          </a:prstGeom>
          <a:noFill/>
        </p:spPr>
        <p:txBody>
          <a:bodyPr wrap="square" rtlCol="0">
            <a:spAutoFit/>
          </a:bodyPr>
          <a:lstStyle/>
          <a:p>
            <a:pPr>
              <a:lnSpc>
                <a:spcPct val="95000"/>
              </a:lnSpc>
            </a:pPr>
            <a:r>
              <a:rPr lang="en-IN" sz="2200" dirty="0"/>
              <a:t>College Management System – We are developing a system where students can register, pay fees, check attendance and view results</a:t>
            </a:r>
          </a:p>
        </p:txBody>
      </p:sp>
      <p:sp>
        <p:nvSpPr>
          <p:cNvPr id="7" name="TextBox 6">
            <a:extLst>
              <a:ext uri="{FF2B5EF4-FFF2-40B4-BE49-F238E27FC236}">
                <a16:creationId xmlns:a16="http://schemas.microsoft.com/office/drawing/2014/main" id="{88140803-682F-7EFE-E7A9-5D7089388930}"/>
              </a:ext>
            </a:extLst>
          </p:cNvPr>
          <p:cNvSpPr txBox="1"/>
          <p:nvPr/>
        </p:nvSpPr>
        <p:spPr>
          <a:xfrm>
            <a:off x="765820" y="2708920"/>
            <a:ext cx="5514651"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US" dirty="0"/>
              <a:t>2. Roadmap Planning (The Journey)</a:t>
            </a:r>
            <a:endParaRPr lang="en-IN" dirty="0"/>
          </a:p>
        </p:txBody>
      </p:sp>
      <p:sp>
        <p:nvSpPr>
          <p:cNvPr id="8" name="TextBox 7">
            <a:extLst>
              <a:ext uri="{FF2B5EF4-FFF2-40B4-BE49-F238E27FC236}">
                <a16:creationId xmlns:a16="http://schemas.microsoft.com/office/drawing/2014/main" id="{E8D04474-4D46-66B1-F04A-73E80B09AD93}"/>
              </a:ext>
            </a:extLst>
          </p:cNvPr>
          <p:cNvSpPr txBox="1"/>
          <p:nvPr/>
        </p:nvSpPr>
        <p:spPr>
          <a:xfrm>
            <a:off x="765820" y="3429000"/>
            <a:ext cx="8135560" cy="413959"/>
          </a:xfrm>
          <a:prstGeom prst="rect">
            <a:avLst/>
          </a:prstGeom>
          <a:noFill/>
        </p:spPr>
        <p:txBody>
          <a:bodyPr wrap="none" rtlCol="0">
            <a:spAutoFit/>
          </a:bodyPr>
          <a:lstStyle/>
          <a:p>
            <a:pPr>
              <a:lnSpc>
                <a:spcPct val="95000"/>
              </a:lnSpc>
            </a:pPr>
            <a:r>
              <a:rPr lang="en-US" sz="2200" dirty="0"/>
              <a:t>What major features will be built over the coming months?</a:t>
            </a:r>
            <a:endParaRPr lang="en-IN" sz="2200" dirty="0"/>
          </a:p>
        </p:txBody>
      </p:sp>
      <p:graphicFrame>
        <p:nvGraphicFramePr>
          <p:cNvPr id="10" name="Table 9">
            <a:extLst>
              <a:ext uri="{FF2B5EF4-FFF2-40B4-BE49-F238E27FC236}">
                <a16:creationId xmlns:a16="http://schemas.microsoft.com/office/drawing/2014/main" id="{87F0A2F9-428A-87EC-B978-983F497B7922}"/>
              </a:ext>
            </a:extLst>
          </p:cNvPr>
          <p:cNvGraphicFramePr>
            <a:graphicFrameLocks noGrp="1"/>
          </p:cNvGraphicFramePr>
          <p:nvPr>
            <p:extLst>
              <p:ext uri="{D42A27DB-BD31-4B8C-83A1-F6EECF244321}">
                <p14:modId xmlns:p14="http://schemas.microsoft.com/office/powerpoint/2010/main" val="3300246812"/>
              </p:ext>
            </p:extLst>
          </p:nvPr>
        </p:nvGraphicFramePr>
        <p:xfrm>
          <a:off x="765820" y="3977478"/>
          <a:ext cx="10156824" cy="2286000"/>
        </p:xfrm>
        <a:graphic>
          <a:graphicData uri="http://schemas.openxmlformats.org/drawingml/2006/table">
            <a:tbl>
              <a:tblPr/>
              <a:tblGrid>
                <a:gridCol w="5078412">
                  <a:extLst>
                    <a:ext uri="{9D8B030D-6E8A-4147-A177-3AD203B41FA5}">
                      <a16:colId xmlns:a16="http://schemas.microsoft.com/office/drawing/2014/main" val="4156724052"/>
                    </a:ext>
                  </a:extLst>
                </a:gridCol>
                <a:gridCol w="5078412">
                  <a:extLst>
                    <a:ext uri="{9D8B030D-6E8A-4147-A177-3AD203B41FA5}">
                      <a16:colId xmlns:a16="http://schemas.microsoft.com/office/drawing/2014/main" val="3000522110"/>
                    </a:ext>
                  </a:extLst>
                </a:gridCol>
              </a:tblGrid>
              <a:tr h="457200">
                <a:tc>
                  <a:txBody>
                    <a:bodyPr/>
                    <a:lstStyle/>
                    <a:p>
                      <a:r>
                        <a:rPr lang="en-IN" sz="2200" b="1"/>
                        <a:t>Month</a:t>
                      </a:r>
                    </a:p>
                  </a:txBody>
                  <a:tcPr anchor="ctr">
                    <a:lnL>
                      <a:noFill/>
                    </a:lnL>
                    <a:lnR>
                      <a:noFill/>
                    </a:lnR>
                    <a:lnT>
                      <a:noFill/>
                    </a:lnT>
                    <a:lnB>
                      <a:noFill/>
                    </a:lnB>
                    <a:noFill/>
                  </a:tcPr>
                </a:tc>
                <a:tc>
                  <a:txBody>
                    <a:bodyPr/>
                    <a:lstStyle/>
                    <a:p>
                      <a:r>
                        <a:rPr lang="en-IN" sz="2200" b="1" dirty="0"/>
                        <a:t>Feature</a:t>
                      </a:r>
                    </a:p>
                  </a:txBody>
                  <a:tcPr anchor="ctr">
                    <a:lnL>
                      <a:noFill/>
                    </a:lnL>
                    <a:lnR>
                      <a:noFill/>
                    </a:lnR>
                    <a:lnT>
                      <a:noFill/>
                    </a:lnT>
                    <a:lnB>
                      <a:noFill/>
                    </a:lnB>
                    <a:noFill/>
                  </a:tcPr>
                </a:tc>
                <a:extLst>
                  <a:ext uri="{0D108BD9-81ED-4DB2-BD59-A6C34878D82A}">
                    <a16:rowId xmlns:a16="http://schemas.microsoft.com/office/drawing/2014/main" val="1735602909"/>
                  </a:ext>
                </a:extLst>
              </a:tr>
              <a:tr h="457200">
                <a:tc>
                  <a:txBody>
                    <a:bodyPr/>
                    <a:lstStyle/>
                    <a:p>
                      <a:r>
                        <a:rPr lang="en-IN" sz="2200"/>
                        <a:t>Month 1</a:t>
                      </a:r>
                    </a:p>
                  </a:txBody>
                  <a:tcPr anchor="ctr">
                    <a:lnL>
                      <a:noFill/>
                    </a:lnL>
                    <a:lnR>
                      <a:noFill/>
                    </a:lnR>
                    <a:lnT>
                      <a:noFill/>
                    </a:lnT>
                    <a:lnB>
                      <a:noFill/>
                    </a:lnB>
                    <a:noFill/>
                  </a:tcPr>
                </a:tc>
                <a:tc>
                  <a:txBody>
                    <a:bodyPr/>
                    <a:lstStyle/>
                    <a:p>
                      <a:r>
                        <a:rPr lang="en-IN" sz="2200"/>
                        <a:t>Student Login</a:t>
                      </a:r>
                    </a:p>
                  </a:txBody>
                  <a:tcPr anchor="ctr">
                    <a:lnL>
                      <a:noFill/>
                    </a:lnL>
                    <a:lnR>
                      <a:noFill/>
                    </a:lnR>
                    <a:lnT>
                      <a:noFill/>
                    </a:lnT>
                    <a:lnB>
                      <a:noFill/>
                    </a:lnB>
                    <a:noFill/>
                  </a:tcPr>
                </a:tc>
                <a:extLst>
                  <a:ext uri="{0D108BD9-81ED-4DB2-BD59-A6C34878D82A}">
                    <a16:rowId xmlns:a16="http://schemas.microsoft.com/office/drawing/2014/main" val="1265242113"/>
                  </a:ext>
                </a:extLst>
              </a:tr>
              <a:tr h="457200">
                <a:tc>
                  <a:txBody>
                    <a:bodyPr/>
                    <a:lstStyle/>
                    <a:p>
                      <a:r>
                        <a:rPr lang="en-IN" sz="2200"/>
                        <a:t>Month 2</a:t>
                      </a:r>
                    </a:p>
                  </a:txBody>
                  <a:tcPr anchor="ctr">
                    <a:lnL>
                      <a:noFill/>
                    </a:lnL>
                    <a:lnR>
                      <a:noFill/>
                    </a:lnR>
                    <a:lnT>
                      <a:noFill/>
                    </a:lnT>
                    <a:lnB>
                      <a:noFill/>
                    </a:lnB>
                    <a:noFill/>
                  </a:tcPr>
                </a:tc>
                <a:tc>
                  <a:txBody>
                    <a:bodyPr/>
                    <a:lstStyle/>
                    <a:p>
                      <a:r>
                        <a:rPr lang="en-IN" sz="2200"/>
                        <a:t>Attendance</a:t>
                      </a:r>
                    </a:p>
                  </a:txBody>
                  <a:tcPr anchor="ctr">
                    <a:lnL>
                      <a:noFill/>
                    </a:lnL>
                    <a:lnR>
                      <a:noFill/>
                    </a:lnR>
                    <a:lnT>
                      <a:noFill/>
                    </a:lnT>
                    <a:lnB>
                      <a:noFill/>
                    </a:lnB>
                    <a:noFill/>
                  </a:tcPr>
                </a:tc>
                <a:extLst>
                  <a:ext uri="{0D108BD9-81ED-4DB2-BD59-A6C34878D82A}">
                    <a16:rowId xmlns:a16="http://schemas.microsoft.com/office/drawing/2014/main" val="3183835430"/>
                  </a:ext>
                </a:extLst>
              </a:tr>
              <a:tr h="457200">
                <a:tc>
                  <a:txBody>
                    <a:bodyPr/>
                    <a:lstStyle/>
                    <a:p>
                      <a:r>
                        <a:rPr lang="en-IN" sz="2200"/>
                        <a:t>Month 3</a:t>
                      </a:r>
                    </a:p>
                  </a:txBody>
                  <a:tcPr anchor="ctr">
                    <a:lnL>
                      <a:noFill/>
                    </a:lnL>
                    <a:lnR>
                      <a:noFill/>
                    </a:lnR>
                    <a:lnT>
                      <a:noFill/>
                    </a:lnT>
                    <a:lnB>
                      <a:noFill/>
                    </a:lnB>
                    <a:noFill/>
                  </a:tcPr>
                </a:tc>
                <a:tc>
                  <a:txBody>
                    <a:bodyPr/>
                    <a:lstStyle/>
                    <a:p>
                      <a:r>
                        <a:rPr lang="en-IN" sz="2200"/>
                        <a:t>Fee Payment</a:t>
                      </a:r>
                    </a:p>
                  </a:txBody>
                  <a:tcPr anchor="ctr">
                    <a:lnL>
                      <a:noFill/>
                    </a:lnL>
                    <a:lnR>
                      <a:noFill/>
                    </a:lnR>
                    <a:lnT>
                      <a:noFill/>
                    </a:lnT>
                    <a:lnB>
                      <a:noFill/>
                    </a:lnB>
                    <a:noFill/>
                  </a:tcPr>
                </a:tc>
                <a:extLst>
                  <a:ext uri="{0D108BD9-81ED-4DB2-BD59-A6C34878D82A}">
                    <a16:rowId xmlns:a16="http://schemas.microsoft.com/office/drawing/2014/main" val="2600715704"/>
                  </a:ext>
                </a:extLst>
              </a:tr>
              <a:tr h="457200">
                <a:tc>
                  <a:txBody>
                    <a:bodyPr/>
                    <a:lstStyle/>
                    <a:p>
                      <a:r>
                        <a:rPr lang="en-IN" sz="2200"/>
                        <a:t>Month 4</a:t>
                      </a:r>
                    </a:p>
                  </a:txBody>
                  <a:tcPr anchor="ctr">
                    <a:lnL>
                      <a:noFill/>
                    </a:lnL>
                    <a:lnR>
                      <a:noFill/>
                    </a:lnR>
                    <a:lnT>
                      <a:noFill/>
                    </a:lnT>
                    <a:lnB>
                      <a:noFill/>
                    </a:lnB>
                    <a:noFill/>
                  </a:tcPr>
                </a:tc>
                <a:tc>
                  <a:txBody>
                    <a:bodyPr/>
                    <a:lstStyle/>
                    <a:p>
                      <a:r>
                        <a:rPr lang="en-IN" sz="2200" dirty="0"/>
                        <a:t>Examination Module</a:t>
                      </a:r>
                    </a:p>
                  </a:txBody>
                  <a:tcPr anchor="ctr">
                    <a:lnL>
                      <a:noFill/>
                    </a:lnL>
                    <a:lnR>
                      <a:noFill/>
                    </a:lnR>
                    <a:lnT>
                      <a:noFill/>
                    </a:lnT>
                    <a:lnB>
                      <a:noFill/>
                    </a:lnB>
                    <a:noFill/>
                  </a:tcPr>
                </a:tc>
                <a:extLst>
                  <a:ext uri="{0D108BD9-81ED-4DB2-BD59-A6C34878D82A}">
                    <a16:rowId xmlns:a16="http://schemas.microsoft.com/office/drawing/2014/main" val="3649417971"/>
                  </a:ext>
                </a:extLst>
              </a:tr>
            </a:tbl>
          </a:graphicData>
        </a:graphic>
      </p:graphicFrame>
    </p:spTree>
    <p:extLst>
      <p:ext uri="{BB962C8B-B14F-4D97-AF65-F5344CB8AC3E}">
        <p14:creationId xmlns:p14="http://schemas.microsoft.com/office/powerpoint/2010/main" val="450250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914511E-B2CE-B94D-E973-0B06D8AB03F4}"/>
              </a:ext>
            </a:extLst>
          </p:cNvPr>
          <p:cNvSpPr txBox="1"/>
          <p:nvPr/>
        </p:nvSpPr>
        <p:spPr>
          <a:xfrm>
            <a:off x="909836" y="404664"/>
            <a:ext cx="3073277"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IN" dirty="0"/>
              <a:t>3. Release Planning</a:t>
            </a:r>
          </a:p>
        </p:txBody>
      </p:sp>
      <p:sp>
        <p:nvSpPr>
          <p:cNvPr id="6" name="TextBox 5">
            <a:extLst>
              <a:ext uri="{FF2B5EF4-FFF2-40B4-BE49-F238E27FC236}">
                <a16:creationId xmlns:a16="http://schemas.microsoft.com/office/drawing/2014/main" id="{151C5B76-B766-4D01-8A84-69BDFE4B4D25}"/>
              </a:ext>
            </a:extLst>
          </p:cNvPr>
          <p:cNvSpPr txBox="1"/>
          <p:nvPr/>
        </p:nvSpPr>
        <p:spPr>
          <a:xfrm>
            <a:off x="909836" y="949513"/>
            <a:ext cx="8430513" cy="413959"/>
          </a:xfrm>
          <a:prstGeom prst="rect">
            <a:avLst/>
          </a:prstGeom>
          <a:noFill/>
        </p:spPr>
        <p:txBody>
          <a:bodyPr wrap="none" rtlCol="0">
            <a:spAutoFit/>
          </a:bodyPr>
          <a:lstStyle/>
          <a:p>
            <a:pPr>
              <a:lnSpc>
                <a:spcPct val="95000"/>
              </a:lnSpc>
            </a:pPr>
            <a:r>
              <a:rPr lang="en-US" sz="2200" dirty="0"/>
              <a:t>Which features will be included in the next software release?</a:t>
            </a:r>
            <a:endParaRPr lang="en-IN" sz="2200" dirty="0"/>
          </a:p>
        </p:txBody>
      </p:sp>
      <p:sp>
        <p:nvSpPr>
          <p:cNvPr id="7" name="TextBox 6">
            <a:extLst>
              <a:ext uri="{FF2B5EF4-FFF2-40B4-BE49-F238E27FC236}">
                <a16:creationId xmlns:a16="http://schemas.microsoft.com/office/drawing/2014/main" id="{BBE91E6C-47D7-950B-BAC4-C28472E5FCD9}"/>
              </a:ext>
            </a:extLst>
          </p:cNvPr>
          <p:cNvSpPr txBox="1"/>
          <p:nvPr/>
        </p:nvSpPr>
        <p:spPr>
          <a:xfrm>
            <a:off x="926773" y="1505407"/>
            <a:ext cx="3063659" cy="1768176"/>
          </a:xfrm>
          <a:prstGeom prst="rect">
            <a:avLst/>
          </a:prstGeom>
          <a:noFill/>
        </p:spPr>
        <p:txBody>
          <a:bodyPr wrap="none" rtlCol="0">
            <a:spAutoFit/>
          </a:bodyPr>
          <a:lstStyle/>
          <a:p>
            <a:r>
              <a:rPr lang="en-IN" sz="2200" dirty="0"/>
              <a:t>Example: Release 1.0</a:t>
            </a:r>
          </a:p>
          <a:p>
            <a:pPr>
              <a:buFont typeface="Arial" panose="020B0604020202020204" pitchFamily="34" charset="0"/>
              <a:buChar char="•"/>
            </a:pPr>
            <a:r>
              <a:rPr lang="en-IN" sz="2200" dirty="0"/>
              <a:t>Login </a:t>
            </a:r>
          </a:p>
          <a:p>
            <a:pPr>
              <a:buFont typeface="Arial" panose="020B0604020202020204" pitchFamily="34" charset="0"/>
              <a:buChar char="•"/>
            </a:pPr>
            <a:r>
              <a:rPr lang="en-IN" sz="2200" dirty="0"/>
              <a:t>Registration </a:t>
            </a:r>
          </a:p>
          <a:p>
            <a:pPr>
              <a:buFont typeface="Arial" panose="020B0604020202020204" pitchFamily="34" charset="0"/>
              <a:buChar char="•"/>
            </a:pPr>
            <a:r>
              <a:rPr lang="en-IN" sz="2200" dirty="0"/>
              <a:t>Attendance</a:t>
            </a:r>
          </a:p>
          <a:p>
            <a:pPr>
              <a:lnSpc>
                <a:spcPct val="95000"/>
              </a:lnSpc>
            </a:pPr>
            <a:endParaRPr lang="en-IN" sz="2200" dirty="0"/>
          </a:p>
        </p:txBody>
      </p:sp>
      <p:sp>
        <p:nvSpPr>
          <p:cNvPr id="8" name="TextBox 7">
            <a:extLst>
              <a:ext uri="{FF2B5EF4-FFF2-40B4-BE49-F238E27FC236}">
                <a16:creationId xmlns:a16="http://schemas.microsoft.com/office/drawing/2014/main" id="{A05299D5-6F5D-8C4B-45C0-44DCEA8120E9}"/>
              </a:ext>
            </a:extLst>
          </p:cNvPr>
          <p:cNvSpPr txBox="1"/>
          <p:nvPr/>
        </p:nvSpPr>
        <p:spPr>
          <a:xfrm>
            <a:off x="950607" y="3141220"/>
            <a:ext cx="2702984"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IN" dirty="0"/>
              <a:t>4. Sprint Planning</a:t>
            </a:r>
          </a:p>
        </p:txBody>
      </p:sp>
      <p:sp>
        <p:nvSpPr>
          <p:cNvPr id="9" name="TextBox 8">
            <a:extLst>
              <a:ext uri="{FF2B5EF4-FFF2-40B4-BE49-F238E27FC236}">
                <a16:creationId xmlns:a16="http://schemas.microsoft.com/office/drawing/2014/main" id="{88A90B79-953B-1F19-8347-C6C80C65CE77}"/>
              </a:ext>
            </a:extLst>
          </p:cNvPr>
          <p:cNvSpPr txBox="1"/>
          <p:nvPr/>
        </p:nvSpPr>
        <p:spPr>
          <a:xfrm>
            <a:off x="950607" y="3672970"/>
            <a:ext cx="6285695" cy="413959"/>
          </a:xfrm>
          <a:prstGeom prst="rect">
            <a:avLst/>
          </a:prstGeom>
          <a:noFill/>
        </p:spPr>
        <p:txBody>
          <a:bodyPr wrap="none" rtlCol="0">
            <a:spAutoFit/>
          </a:bodyPr>
          <a:lstStyle/>
          <a:p>
            <a:pPr>
              <a:lnSpc>
                <a:spcPct val="95000"/>
              </a:lnSpc>
            </a:pPr>
            <a:r>
              <a:rPr lang="en-US" sz="2200" dirty="0"/>
              <a:t>What can we complete in the next 2 weeks?</a:t>
            </a:r>
            <a:endParaRPr lang="en-IN" sz="2200" dirty="0"/>
          </a:p>
        </p:txBody>
      </p:sp>
      <p:sp>
        <p:nvSpPr>
          <p:cNvPr id="10" name="TextBox 9">
            <a:extLst>
              <a:ext uri="{FF2B5EF4-FFF2-40B4-BE49-F238E27FC236}">
                <a16:creationId xmlns:a16="http://schemas.microsoft.com/office/drawing/2014/main" id="{0818AA29-BE9B-C5EC-B16E-D4B6FE9C8633}"/>
              </a:ext>
            </a:extLst>
          </p:cNvPr>
          <p:cNvSpPr txBox="1"/>
          <p:nvPr/>
        </p:nvSpPr>
        <p:spPr>
          <a:xfrm>
            <a:off x="994698" y="4097477"/>
            <a:ext cx="5474576" cy="2445285"/>
          </a:xfrm>
          <a:prstGeom prst="rect">
            <a:avLst/>
          </a:prstGeom>
          <a:noFill/>
        </p:spPr>
        <p:txBody>
          <a:bodyPr wrap="none" rtlCol="0">
            <a:spAutoFit/>
          </a:bodyPr>
          <a:lstStyle/>
          <a:p>
            <a:r>
              <a:rPr lang="en-US" sz="2200" dirty="0"/>
              <a:t>Suppose the Product Backlog contains</a:t>
            </a:r>
          </a:p>
          <a:p>
            <a:pPr>
              <a:buFont typeface="Arial" panose="020B0604020202020204" pitchFamily="34" charset="0"/>
              <a:buChar char="•"/>
            </a:pPr>
            <a:r>
              <a:rPr lang="en-US" sz="2200" dirty="0"/>
              <a:t>Login </a:t>
            </a:r>
          </a:p>
          <a:p>
            <a:pPr>
              <a:buFont typeface="Arial" panose="020B0604020202020204" pitchFamily="34" charset="0"/>
              <a:buChar char="•"/>
            </a:pPr>
            <a:r>
              <a:rPr lang="en-US" sz="2200" dirty="0"/>
              <a:t>Attendance </a:t>
            </a:r>
          </a:p>
          <a:p>
            <a:pPr>
              <a:buFont typeface="Arial" panose="020B0604020202020204" pitchFamily="34" charset="0"/>
              <a:buChar char="•"/>
            </a:pPr>
            <a:r>
              <a:rPr lang="en-US" sz="2200" dirty="0"/>
              <a:t>Reports </a:t>
            </a:r>
          </a:p>
          <a:p>
            <a:pPr>
              <a:buFont typeface="Arial" panose="020B0604020202020204" pitchFamily="34" charset="0"/>
              <a:buChar char="•"/>
            </a:pPr>
            <a:r>
              <a:rPr lang="en-US" sz="2200" dirty="0"/>
              <a:t>AI Chatbot </a:t>
            </a:r>
          </a:p>
          <a:p>
            <a:pPr>
              <a:buFont typeface="Arial" panose="020B0604020202020204" pitchFamily="34" charset="0"/>
              <a:buChar char="•"/>
            </a:pPr>
            <a:r>
              <a:rPr lang="en-US" sz="2200" dirty="0"/>
              <a:t>Fee Payment </a:t>
            </a:r>
          </a:p>
          <a:p>
            <a:pPr>
              <a:lnSpc>
                <a:spcPct val="95000"/>
              </a:lnSpc>
            </a:pPr>
            <a:endParaRPr lang="en-IN" sz="2200" dirty="0"/>
          </a:p>
        </p:txBody>
      </p:sp>
      <p:sp>
        <p:nvSpPr>
          <p:cNvPr id="11" name="TextBox 10">
            <a:extLst>
              <a:ext uri="{FF2B5EF4-FFF2-40B4-BE49-F238E27FC236}">
                <a16:creationId xmlns:a16="http://schemas.microsoft.com/office/drawing/2014/main" id="{883E6697-D09E-615A-AA61-5355A2D113D1}"/>
              </a:ext>
            </a:extLst>
          </p:cNvPr>
          <p:cNvSpPr txBox="1"/>
          <p:nvPr/>
        </p:nvSpPr>
        <p:spPr>
          <a:xfrm>
            <a:off x="5125092" y="4653136"/>
            <a:ext cx="3382657" cy="1551194"/>
          </a:xfrm>
          <a:prstGeom prst="rect">
            <a:avLst/>
          </a:prstGeom>
          <a:noFill/>
        </p:spPr>
        <p:txBody>
          <a:bodyPr wrap="none" rtlCol="0">
            <a:spAutoFit/>
          </a:bodyPr>
          <a:lstStyle/>
          <a:p>
            <a:r>
              <a:rPr lang="en-US" sz="2400" dirty="0"/>
              <a:t>The team selects only</a:t>
            </a:r>
          </a:p>
          <a:p>
            <a:pPr>
              <a:buFont typeface="Arial" panose="020B0604020202020204" pitchFamily="34" charset="0"/>
              <a:buChar char="•"/>
            </a:pPr>
            <a:r>
              <a:rPr lang="en-US" sz="2400" dirty="0"/>
              <a:t>Login </a:t>
            </a:r>
          </a:p>
          <a:p>
            <a:pPr>
              <a:buFont typeface="Arial" panose="020B0604020202020204" pitchFamily="34" charset="0"/>
              <a:buChar char="•"/>
            </a:pPr>
            <a:r>
              <a:rPr lang="en-US" sz="2400" dirty="0"/>
              <a:t>Attendance</a:t>
            </a:r>
          </a:p>
          <a:p>
            <a:pPr>
              <a:lnSpc>
                <a:spcPct val="95000"/>
              </a:lnSpc>
            </a:pPr>
            <a:endParaRPr lang="en-IN" dirty="0"/>
          </a:p>
        </p:txBody>
      </p:sp>
    </p:spTree>
    <p:extLst>
      <p:ext uri="{BB962C8B-B14F-4D97-AF65-F5344CB8AC3E}">
        <p14:creationId xmlns:p14="http://schemas.microsoft.com/office/powerpoint/2010/main" val="1895562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350453-B780-4172-4D9F-FEC8190A1CBD}"/>
              </a:ext>
            </a:extLst>
          </p:cNvPr>
          <p:cNvSpPr txBox="1"/>
          <p:nvPr/>
        </p:nvSpPr>
        <p:spPr>
          <a:xfrm>
            <a:off x="981844" y="332656"/>
            <a:ext cx="4665060"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US" dirty="0"/>
              <a:t>5. Daily Planning (Daily Scrum)</a:t>
            </a:r>
            <a:endParaRPr lang="en-IN" dirty="0"/>
          </a:p>
        </p:txBody>
      </p:sp>
      <p:sp>
        <p:nvSpPr>
          <p:cNvPr id="5" name="TextBox 4">
            <a:extLst>
              <a:ext uri="{FF2B5EF4-FFF2-40B4-BE49-F238E27FC236}">
                <a16:creationId xmlns:a16="http://schemas.microsoft.com/office/drawing/2014/main" id="{292FE5EF-74F5-1E59-4130-3075CBAE5C44}"/>
              </a:ext>
            </a:extLst>
          </p:cNvPr>
          <p:cNvSpPr txBox="1"/>
          <p:nvPr/>
        </p:nvSpPr>
        <p:spPr>
          <a:xfrm>
            <a:off x="1125860" y="980728"/>
            <a:ext cx="9211176" cy="2106731"/>
          </a:xfrm>
          <a:prstGeom prst="rect">
            <a:avLst/>
          </a:prstGeom>
          <a:noFill/>
        </p:spPr>
        <p:txBody>
          <a:bodyPr wrap="none" rtlCol="0">
            <a:spAutoFit/>
          </a:bodyPr>
          <a:lstStyle/>
          <a:p>
            <a:r>
              <a:rPr lang="en-US" sz="2200" dirty="0"/>
              <a:t>Every morning, the team meets for about </a:t>
            </a:r>
            <a:r>
              <a:rPr lang="en-US" sz="2200" b="1" dirty="0"/>
              <a:t>15 minutes</a:t>
            </a:r>
            <a:r>
              <a:rPr lang="en-US" sz="2200" dirty="0"/>
              <a:t> and answers:</a:t>
            </a:r>
          </a:p>
          <a:p>
            <a:endParaRPr lang="en-US" sz="2200" dirty="0"/>
          </a:p>
          <a:p>
            <a:pPr>
              <a:buFont typeface="Arial" panose="020B0604020202020204" pitchFamily="34" charset="0"/>
              <a:buChar char="•"/>
            </a:pPr>
            <a:r>
              <a:rPr lang="en-US" sz="2200" dirty="0"/>
              <a:t>What did I complete yesterday? </a:t>
            </a:r>
          </a:p>
          <a:p>
            <a:pPr>
              <a:buFont typeface="Arial" panose="020B0604020202020204" pitchFamily="34" charset="0"/>
              <a:buChar char="•"/>
            </a:pPr>
            <a:r>
              <a:rPr lang="en-US" sz="2200" dirty="0"/>
              <a:t>What will I do today? </a:t>
            </a:r>
          </a:p>
          <a:p>
            <a:pPr>
              <a:buFont typeface="Arial" panose="020B0604020202020204" pitchFamily="34" charset="0"/>
              <a:buChar char="•"/>
            </a:pPr>
            <a:r>
              <a:rPr lang="en-US" sz="2200" dirty="0"/>
              <a:t>Is there any blocker?</a:t>
            </a:r>
          </a:p>
          <a:p>
            <a:pPr>
              <a:lnSpc>
                <a:spcPct val="95000"/>
              </a:lnSpc>
            </a:pPr>
            <a:endParaRPr lang="en-IN" sz="2200" dirty="0"/>
          </a:p>
        </p:txBody>
      </p:sp>
      <p:sp>
        <p:nvSpPr>
          <p:cNvPr id="7" name="TextBox 6">
            <a:extLst>
              <a:ext uri="{FF2B5EF4-FFF2-40B4-BE49-F238E27FC236}">
                <a16:creationId xmlns:a16="http://schemas.microsoft.com/office/drawing/2014/main" id="{6AFE320D-B786-B5B9-6430-4033F511E09C}"/>
              </a:ext>
            </a:extLst>
          </p:cNvPr>
          <p:cNvSpPr txBox="1"/>
          <p:nvPr/>
        </p:nvSpPr>
        <p:spPr>
          <a:xfrm>
            <a:off x="6526460" y="2708920"/>
            <a:ext cx="6097554" cy="3416320"/>
          </a:xfrm>
          <a:prstGeom prst="rect">
            <a:avLst/>
          </a:prstGeom>
          <a:noFill/>
        </p:spPr>
        <p:txBody>
          <a:bodyPr wrap="square">
            <a:spAutoFit/>
          </a:bodyPr>
          <a:lstStyle/>
          <a:p>
            <a:r>
              <a:rPr lang="en-IN" dirty="0"/>
              <a:t>               Vision</a:t>
            </a:r>
          </a:p>
          <a:p>
            <a:r>
              <a:rPr lang="en-IN" dirty="0"/>
              <a:t>                   │</a:t>
            </a:r>
          </a:p>
          <a:p>
            <a:r>
              <a:rPr lang="en-IN" dirty="0"/>
              <a:t>              Roadmap</a:t>
            </a:r>
          </a:p>
          <a:p>
            <a:r>
              <a:rPr lang="en-IN" dirty="0"/>
              <a:t>                   │</a:t>
            </a:r>
          </a:p>
          <a:p>
            <a:r>
              <a:rPr lang="en-IN" dirty="0"/>
              <a:t>              Release Plan</a:t>
            </a:r>
          </a:p>
          <a:p>
            <a:r>
              <a:rPr lang="en-IN" dirty="0"/>
              <a:t>                   │</a:t>
            </a:r>
          </a:p>
          <a:p>
            <a:r>
              <a:rPr lang="en-IN" dirty="0"/>
              <a:t>            Sprint Planning</a:t>
            </a:r>
          </a:p>
          <a:p>
            <a:r>
              <a:rPr lang="en-IN" dirty="0"/>
              <a:t>                   │</a:t>
            </a:r>
          </a:p>
          <a:p>
            <a:r>
              <a:rPr lang="en-IN" dirty="0"/>
              <a:t>             Daily Planning</a:t>
            </a:r>
          </a:p>
        </p:txBody>
      </p:sp>
    </p:spTree>
    <p:extLst>
      <p:ext uri="{BB962C8B-B14F-4D97-AF65-F5344CB8AC3E}">
        <p14:creationId xmlns:p14="http://schemas.microsoft.com/office/powerpoint/2010/main" val="2947400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F348DA-0861-09D8-978A-5EC40229C83A}"/>
              </a:ext>
            </a:extLst>
          </p:cNvPr>
          <p:cNvSpPr txBox="1"/>
          <p:nvPr/>
        </p:nvSpPr>
        <p:spPr>
          <a:xfrm>
            <a:off x="621804" y="260648"/>
            <a:ext cx="4169731" cy="413959"/>
          </a:xfrm>
          <a:prstGeom prst="rect">
            <a:avLst/>
          </a:prstGeom>
          <a:noFill/>
        </p:spPr>
        <p:txBody>
          <a:bodyPr wrap="none" rtlCol="0">
            <a:spAutoFit/>
          </a:bodyPr>
          <a:lstStyle/>
          <a:p>
            <a:pPr>
              <a:lnSpc>
                <a:spcPct val="95000"/>
              </a:lnSpc>
            </a:pPr>
            <a:r>
              <a:rPr lang="en-IN" sz="2200" b="1" dirty="0">
                <a:solidFill>
                  <a:srgbClr val="FF0000"/>
                </a:solidFill>
              </a:rPr>
              <a:t>Estimation Technique in Agile</a:t>
            </a:r>
          </a:p>
        </p:txBody>
      </p:sp>
      <p:sp>
        <p:nvSpPr>
          <p:cNvPr id="5" name="TextBox 4">
            <a:extLst>
              <a:ext uri="{FF2B5EF4-FFF2-40B4-BE49-F238E27FC236}">
                <a16:creationId xmlns:a16="http://schemas.microsoft.com/office/drawing/2014/main" id="{AB5BB9B7-F9CC-7812-B676-06BE67D91F57}"/>
              </a:ext>
            </a:extLst>
          </p:cNvPr>
          <p:cNvSpPr txBox="1"/>
          <p:nvPr/>
        </p:nvSpPr>
        <p:spPr>
          <a:xfrm>
            <a:off x="621804" y="836712"/>
            <a:ext cx="10369152" cy="736740"/>
          </a:xfrm>
          <a:prstGeom prst="rect">
            <a:avLst/>
          </a:prstGeom>
          <a:noFill/>
        </p:spPr>
        <p:txBody>
          <a:bodyPr wrap="square" rtlCol="0">
            <a:spAutoFit/>
          </a:bodyPr>
          <a:lstStyle/>
          <a:p>
            <a:pPr>
              <a:lnSpc>
                <a:spcPct val="95000"/>
              </a:lnSpc>
            </a:pPr>
            <a:r>
              <a:rPr lang="en-US" sz="2200" b="0" i="0" dirty="0">
                <a:solidFill>
                  <a:srgbClr val="273239"/>
                </a:solidFill>
                <a:effectLst/>
                <a:latin typeface="Nunito" panose="020F0502020204030204" pitchFamily="2" charset="0"/>
              </a:rPr>
              <a:t>Estimation is the process of finding an estimate, or approximation. It is an Art of guessing.</a:t>
            </a:r>
            <a:endParaRPr lang="en-IN" sz="2200" dirty="0"/>
          </a:p>
        </p:txBody>
      </p:sp>
      <p:sp>
        <p:nvSpPr>
          <p:cNvPr id="6" name="TextBox 5">
            <a:extLst>
              <a:ext uri="{FF2B5EF4-FFF2-40B4-BE49-F238E27FC236}">
                <a16:creationId xmlns:a16="http://schemas.microsoft.com/office/drawing/2014/main" id="{CC0E6920-2FB2-023E-F145-EF7146AB82B8}"/>
              </a:ext>
            </a:extLst>
          </p:cNvPr>
          <p:cNvSpPr txBox="1"/>
          <p:nvPr/>
        </p:nvSpPr>
        <p:spPr>
          <a:xfrm>
            <a:off x="621804" y="1735557"/>
            <a:ext cx="10513168" cy="736740"/>
          </a:xfrm>
          <a:prstGeom prst="rect">
            <a:avLst/>
          </a:prstGeom>
          <a:noFill/>
        </p:spPr>
        <p:txBody>
          <a:bodyPr wrap="square" rtlCol="0">
            <a:spAutoFit/>
          </a:bodyPr>
          <a:lstStyle/>
          <a:p>
            <a:pPr>
              <a:lnSpc>
                <a:spcPct val="95000"/>
              </a:lnSpc>
            </a:pPr>
            <a:r>
              <a:rPr lang="en-US" sz="2200" b="0" i="0" dirty="0">
                <a:solidFill>
                  <a:srgbClr val="273239"/>
                </a:solidFill>
                <a:effectLst/>
                <a:latin typeface="Nunito" pitchFamily="2" charset="0"/>
              </a:rPr>
              <a:t>Estimation includes four main factors - money, effort, resources, and time needed to build a specific system or product.</a:t>
            </a:r>
            <a:endParaRPr lang="en-IN" sz="2200" dirty="0"/>
          </a:p>
        </p:txBody>
      </p:sp>
      <p:sp>
        <p:nvSpPr>
          <p:cNvPr id="7" name="TextBox 6">
            <a:extLst>
              <a:ext uri="{FF2B5EF4-FFF2-40B4-BE49-F238E27FC236}">
                <a16:creationId xmlns:a16="http://schemas.microsoft.com/office/drawing/2014/main" id="{9441884E-7B0A-4352-5AA4-1359CC71C312}"/>
              </a:ext>
            </a:extLst>
          </p:cNvPr>
          <p:cNvSpPr txBox="1"/>
          <p:nvPr/>
        </p:nvSpPr>
        <p:spPr>
          <a:xfrm>
            <a:off x="669893" y="2634402"/>
            <a:ext cx="5712551" cy="418191"/>
          </a:xfrm>
          <a:prstGeom prst="rect">
            <a:avLst/>
          </a:prstGeom>
          <a:noFill/>
        </p:spPr>
        <p:txBody>
          <a:bodyPr wrap="square" rtlCol="0">
            <a:spAutoFit/>
          </a:bodyPr>
          <a:lstStyle>
            <a:defPPr>
              <a:defRPr lang="en-US"/>
            </a:defPPr>
            <a:lvl1pPr>
              <a:lnSpc>
                <a:spcPct val="95000"/>
              </a:lnSpc>
              <a:defRPr sz="2200" b="0" i="0">
                <a:solidFill>
                  <a:srgbClr val="273239"/>
                </a:solidFill>
                <a:effectLst/>
                <a:latin typeface="Nunito" pitchFamily="2" charset="0"/>
              </a:defRPr>
            </a:lvl1pPr>
          </a:lstStyle>
          <a:p>
            <a:r>
              <a:rPr lang="en-IN" dirty="0"/>
              <a:t>Agile Uses Relative Estimation Technique</a:t>
            </a:r>
          </a:p>
        </p:txBody>
      </p:sp>
      <p:sp>
        <p:nvSpPr>
          <p:cNvPr id="8" name="TextBox 7">
            <a:extLst>
              <a:ext uri="{FF2B5EF4-FFF2-40B4-BE49-F238E27FC236}">
                <a16:creationId xmlns:a16="http://schemas.microsoft.com/office/drawing/2014/main" id="{908CBD1F-259F-2B6C-6EDB-8310F5F50845}"/>
              </a:ext>
            </a:extLst>
          </p:cNvPr>
          <p:cNvSpPr txBox="1"/>
          <p:nvPr/>
        </p:nvSpPr>
        <p:spPr>
          <a:xfrm>
            <a:off x="638757" y="3284984"/>
            <a:ext cx="2730235" cy="413959"/>
          </a:xfrm>
          <a:prstGeom prst="rect">
            <a:avLst/>
          </a:prstGeom>
          <a:noFill/>
        </p:spPr>
        <p:txBody>
          <a:bodyPr wrap="none" rtlCol="0">
            <a:spAutoFit/>
          </a:bodyPr>
          <a:lstStyle>
            <a:defPPr>
              <a:defRPr lang="en-US"/>
            </a:defPPr>
            <a:lvl1pPr>
              <a:lnSpc>
                <a:spcPct val="95000"/>
              </a:lnSpc>
              <a:defRPr sz="2200" b="1">
                <a:solidFill>
                  <a:srgbClr val="FF0000"/>
                </a:solidFill>
              </a:defRPr>
            </a:lvl1pPr>
          </a:lstStyle>
          <a:p>
            <a:r>
              <a:rPr lang="en-IN" dirty="0"/>
              <a:t>Relative Estimation</a:t>
            </a:r>
          </a:p>
        </p:txBody>
      </p:sp>
      <p:sp>
        <p:nvSpPr>
          <p:cNvPr id="9" name="TextBox 8">
            <a:extLst>
              <a:ext uri="{FF2B5EF4-FFF2-40B4-BE49-F238E27FC236}">
                <a16:creationId xmlns:a16="http://schemas.microsoft.com/office/drawing/2014/main" id="{D1EC34ED-EB39-C8DD-E54B-356AD8F0D1BB}"/>
              </a:ext>
            </a:extLst>
          </p:cNvPr>
          <p:cNvSpPr txBox="1"/>
          <p:nvPr/>
        </p:nvSpPr>
        <p:spPr>
          <a:xfrm>
            <a:off x="621804" y="3865280"/>
            <a:ext cx="10657184" cy="794064"/>
          </a:xfrm>
          <a:prstGeom prst="rect">
            <a:avLst/>
          </a:prstGeom>
          <a:noFill/>
        </p:spPr>
        <p:txBody>
          <a:bodyPr wrap="square" rtlCol="0">
            <a:spAutoFit/>
          </a:bodyPr>
          <a:lstStyle>
            <a:defPPr>
              <a:defRPr lang="en-US"/>
            </a:defPPr>
            <a:lvl1pPr>
              <a:lnSpc>
                <a:spcPct val="95000"/>
              </a:lnSpc>
              <a:defRPr sz="2200" b="0" i="0">
                <a:solidFill>
                  <a:srgbClr val="273239"/>
                </a:solidFill>
                <a:effectLst/>
                <a:latin typeface="Nunito" pitchFamily="2" charset="0"/>
              </a:defRPr>
            </a:lvl1pPr>
          </a:lstStyle>
          <a:p>
            <a:r>
              <a:rPr lang="en-US" dirty="0"/>
              <a:t>Relative Estimation means comparing one task with another to estimate its effort, instead of predicting the exact time required</a:t>
            </a:r>
            <a:endParaRPr lang="en-IN" dirty="0"/>
          </a:p>
        </p:txBody>
      </p:sp>
      <p:sp>
        <p:nvSpPr>
          <p:cNvPr id="10" name="TextBox 9">
            <a:extLst>
              <a:ext uri="{FF2B5EF4-FFF2-40B4-BE49-F238E27FC236}">
                <a16:creationId xmlns:a16="http://schemas.microsoft.com/office/drawing/2014/main" id="{08A459A9-8AB7-529B-6438-923508D512EE}"/>
              </a:ext>
            </a:extLst>
          </p:cNvPr>
          <p:cNvSpPr txBox="1"/>
          <p:nvPr/>
        </p:nvSpPr>
        <p:spPr>
          <a:xfrm>
            <a:off x="645848" y="4722017"/>
            <a:ext cx="10465079" cy="1061444"/>
          </a:xfrm>
          <a:prstGeom prst="rect">
            <a:avLst/>
          </a:prstGeom>
          <a:noFill/>
        </p:spPr>
        <p:txBody>
          <a:bodyPr wrap="square" rtlCol="0">
            <a:spAutoFit/>
          </a:bodyPr>
          <a:lstStyle>
            <a:defPPr>
              <a:defRPr lang="en-US"/>
            </a:defPPr>
            <a:lvl1pPr>
              <a:lnSpc>
                <a:spcPct val="95000"/>
              </a:lnSpc>
              <a:defRPr sz="2200" b="0" i="0">
                <a:solidFill>
                  <a:srgbClr val="273239"/>
                </a:solidFill>
                <a:effectLst/>
                <a:latin typeface="Nunito" pitchFamily="2" charset="0"/>
              </a:defRPr>
            </a:lvl1pPr>
          </a:lstStyle>
          <a:p>
            <a:r>
              <a:rPr lang="en-US" dirty="0"/>
              <a:t>How many minutes will it take you to travel to college tomorrow? </a:t>
            </a:r>
            <a:r>
              <a:rPr lang="en-IN" dirty="0"/>
              <a:t>Can you answer exactly? But if asked, </a:t>
            </a:r>
            <a:r>
              <a:rPr lang="en-US" dirty="0"/>
              <a:t>"Is going to Pune more difficult than going to the nearby market?“ then the answer is exactly yes</a:t>
            </a:r>
            <a:endParaRPr lang="en-IN" dirty="0"/>
          </a:p>
        </p:txBody>
      </p:sp>
      <p:sp>
        <p:nvSpPr>
          <p:cNvPr id="12" name="TextBox 11">
            <a:extLst>
              <a:ext uri="{FF2B5EF4-FFF2-40B4-BE49-F238E27FC236}">
                <a16:creationId xmlns:a16="http://schemas.microsoft.com/office/drawing/2014/main" id="{9957D0FE-ABF3-CE9A-2537-70178B9073BA}"/>
              </a:ext>
            </a:extLst>
          </p:cNvPr>
          <p:cNvSpPr txBox="1"/>
          <p:nvPr/>
        </p:nvSpPr>
        <p:spPr>
          <a:xfrm>
            <a:off x="686222" y="5900786"/>
            <a:ext cx="5569153" cy="418191"/>
          </a:xfrm>
          <a:prstGeom prst="rect">
            <a:avLst/>
          </a:prstGeom>
          <a:noFill/>
        </p:spPr>
        <p:txBody>
          <a:bodyPr wrap="square" rtlCol="0">
            <a:spAutoFit/>
          </a:bodyPr>
          <a:lstStyle>
            <a:defPPr>
              <a:defRPr lang="en-US"/>
            </a:defPPr>
            <a:lvl1pPr>
              <a:lnSpc>
                <a:spcPct val="95000"/>
              </a:lnSpc>
              <a:defRPr sz="2200" b="0" i="0">
                <a:solidFill>
                  <a:srgbClr val="273239"/>
                </a:solidFill>
                <a:effectLst/>
                <a:latin typeface="Nunito" pitchFamily="2" charset="0"/>
              </a:defRPr>
            </a:lvl1pPr>
          </a:lstStyle>
          <a:p>
            <a:r>
              <a:rPr lang="en-US" dirty="0"/>
              <a:t>That's the idea </a:t>
            </a:r>
            <a:r>
              <a:rPr lang="en-US"/>
              <a:t>behind Relative Estimation</a:t>
            </a:r>
            <a:r>
              <a:rPr lang="en-US" dirty="0"/>
              <a:t>.</a:t>
            </a:r>
            <a:endParaRPr lang="en-IN" dirty="0"/>
          </a:p>
        </p:txBody>
      </p:sp>
    </p:spTree>
    <p:extLst>
      <p:ext uri="{BB962C8B-B14F-4D97-AF65-F5344CB8AC3E}">
        <p14:creationId xmlns:p14="http://schemas.microsoft.com/office/powerpoint/2010/main" val="697868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76E1D4-CA82-D8A6-ACEB-CF99520292D7}"/>
              </a:ext>
            </a:extLst>
          </p:cNvPr>
          <p:cNvSpPr txBox="1"/>
          <p:nvPr/>
        </p:nvSpPr>
        <p:spPr>
          <a:xfrm>
            <a:off x="621804" y="404664"/>
            <a:ext cx="1813317" cy="326243"/>
          </a:xfrm>
          <a:prstGeom prst="rect">
            <a:avLst/>
          </a:prstGeom>
          <a:noFill/>
        </p:spPr>
        <p:txBody>
          <a:bodyPr wrap="square" rtlCol="0">
            <a:spAutoFit/>
          </a:bodyPr>
          <a:lstStyle>
            <a:defPPr>
              <a:defRPr lang="en-US"/>
            </a:defPPr>
            <a:lvl1pPr>
              <a:defRPr sz="2200"/>
            </a:lvl1pPr>
          </a:lstStyle>
          <a:p>
            <a:r>
              <a:rPr lang="en-IN" b="1" dirty="0">
                <a:solidFill>
                  <a:srgbClr val="FF0000"/>
                </a:solidFill>
              </a:rPr>
              <a:t>1. Dot Voting </a:t>
            </a:r>
            <a:r>
              <a:rPr lang="en-IN" dirty="0"/>
              <a:t>🟢</a:t>
            </a:r>
          </a:p>
        </p:txBody>
      </p:sp>
      <p:sp>
        <p:nvSpPr>
          <p:cNvPr id="3" name="TextBox 2">
            <a:extLst>
              <a:ext uri="{FF2B5EF4-FFF2-40B4-BE49-F238E27FC236}">
                <a16:creationId xmlns:a16="http://schemas.microsoft.com/office/drawing/2014/main" id="{C8E0A8E1-5B24-864D-1B4E-7CD0B80DE8E0}"/>
              </a:ext>
            </a:extLst>
          </p:cNvPr>
          <p:cNvSpPr txBox="1"/>
          <p:nvPr/>
        </p:nvSpPr>
        <p:spPr>
          <a:xfrm>
            <a:off x="657808" y="908720"/>
            <a:ext cx="10873208" cy="1768176"/>
          </a:xfrm>
          <a:prstGeom prst="rect">
            <a:avLst/>
          </a:prstGeom>
          <a:noFill/>
        </p:spPr>
        <p:txBody>
          <a:bodyPr wrap="square" rtlCol="0">
            <a:spAutoFit/>
          </a:bodyPr>
          <a:lstStyle/>
          <a:p>
            <a:r>
              <a:rPr lang="en-US" sz="2200" dirty="0"/>
              <a:t>Dot Voting is a simple technique where </a:t>
            </a:r>
            <a:r>
              <a:rPr lang="en-US" sz="2200" b="1" dirty="0"/>
              <a:t>each team member gets a few dots (votes)</a:t>
            </a:r>
            <a:r>
              <a:rPr lang="en-US" sz="2200" dirty="0"/>
              <a:t> and votes for the stories they believe are most important or need discussion.</a:t>
            </a:r>
          </a:p>
          <a:p>
            <a:r>
              <a:rPr lang="en-US" sz="2200" dirty="0"/>
              <a:t>It is often used during </a:t>
            </a:r>
            <a:r>
              <a:rPr lang="en-US" sz="2200" b="1" dirty="0"/>
              <a:t>Backlog Refinement</a:t>
            </a:r>
            <a:r>
              <a:rPr lang="en-US" sz="2200" dirty="0"/>
              <a:t> or </a:t>
            </a:r>
            <a:r>
              <a:rPr lang="en-US" sz="2200" b="1" dirty="0"/>
              <a:t>Sprint Planning</a:t>
            </a:r>
            <a:endParaRPr lang="en-US" sz="2200" dirty="0"/>
          </a:p>
          <a:p>
            <a:pPr>
              <a:lnSpc>
                <a:spcPct val="95000"/>
              </a:lnSpc>
            </a:pPr>
            <a:endParaRPr lang="en-IN" sz="2200" dirty="0"/>
          </a:p>
        </p:txBody>
      </p:sp>
      <p:sp>
        <p:nvSpPr>
          <p:cNvPr id="5" name="TextBox 4">
            <a:extLst>
              <a:ext uri="{FF2B5EF4-FFF2-40B4-BE49-F238E27FC236}">
                <a16:creationId xmlns:a16="http://schemas.microsoft.com/office/drawing/2014/main" id="{C3E2E413-8A41-14D9-160A-C8ECBE233A13}"/>
              </a:ext>
            </a:extLst>
          </p:cNvPr>
          <p:cNvSpPr txBox="1"/>
          <p:nvPr/>
        </p:nvSpPr>
        <p:spPr>
          <a:xfrm>
            <a:off x="669066" y="2564904"/>
            <a:ext cx="6097554" cy="3139321"/>
          </a:xfrm>
          <a:prstGeom prst="rect">
            <a:avLst/>
          </a:prstGeom>
          <a:noFill/>
        </p:spPr>
        <p:txBody>
          <a:bodyPr wrap="square">
            <a:spAutoFit/>
          </a:bodyPr>
          <a:lstStyle/>
          <a:p>
            <a:r>
              <a:rPr lang="en-IN" sz="2200" dirty="0"/>
              <a:t>Student Login     ●●●●●</a:t>
            </a:r>
          </a:p>
          <a:p>
            <a:endParaRPr lang="en-IN" sz="2200" dirty="0"/>
          </a:p>
          <a:p>
            <a:r>
              <a:rPr lang="en-IN" sz="2200" dirty="0"/>
              <a:t>Attendance        ●●●●</a:t>
            </a:r>
          </a:p>
          <a:p>
            <a:endParaRPr lang="en-IN" sz="2200" dirty="0"/>
          </a:p>
          <a:p>
            <a:r>
              <a:rPr lang="en-IN" sz="2200" dirty="0"/>
              <a:t>Fee Payment       ●●●</a:t>
            </a:r>
          </a:p>
          <a:p>
            <a:endParaRPr lang="en-IN" sz="2200" dirty="0"/>
          </a:p>
          <a:p>
            <a:r>
              <a:rPr lang="en-IN" sz="2200" dirty="0"/>
              <a:t>Reports           ●●</a:t>
            </a:r>
          </a:p>
          <a:p>
            <a:endParaRPr lang="en-IN" sz="2200" dirty="0"/>
          </a:p>
          <a:p>
            <a:r>
              <a:rPr lang="en-IN" sz="2200" dirty="0"/>
              <a:t>AI Chatbot        ●</a:t>
            </a:r>
          </a:p>
        </p:txBody>
      </p:sp>
      <p:sp>
        <p:nvSpPr>
          <p:cNvPr id="6" name="TextBox 5">
            <a:extLst>
              <a:ext uri="{FF2B5EF4-FFF2-40B4-BE49-F238E27FC236}">
                <a16:creationId xmlns:a16="http://schemas.microsoft.com/office/drawing/2014/main" id="{C1CC772A-EA04-32DA-7510-7D71CA340DC3}"/>
              </a:ext>
            </a:extLst>
          </p:cNvPr>
          <p:cNvSpPr txBox="1"/>
          <p:nvPr/>
        </p:nvSpPr>
        <p:spPr>
          <a:xfrm>
            <a:off x="4726260" y="2676896"/>
            <a:ext cx="6480720" cy="735586"/>
          </a:xfrm>
          <a:prstGeom prst="rect">
            <a:avLst/>
          </a:prstGeom>
          <a:noFill/>
        </p:spPr>
        <p:txBody>
          <a:bodyPr wrap="square" rtlCol="0">
            <a:spAutoFit/>
          </a:bodyPr>
          <a:lstStyle/>
          <a:p>
            <a:pPr>
              <a:lnSpc>
                <a:spcPct val="95000"/>
              </a:lnSpc>
            </a:pPr>
            <a:r>
              <a:rPr lang="en-US" sz="2200" dirty="0"/>
              <a:t>The story with the most dots gets higher priority or is discussed first</a:t>
            </a:r>
            <a:endParaRPr lang="en-IN" sz="2200" dirty="0"/>
          </a:p>
        </p:txBody>
      </p:sp>
      <p:sp>
        <p:nvSpPr>
          <p:cNvPr id="8" name="TextBox 7">
            <a:extLst>
              <a:ext uri="{FF2B5EF4-FFF2-40B4-BE49-F238E27FC236}">
                <a16:creationId xmlns:a16="http://schemas.microsoft.com/office/drawing/2014/main" id="{B13AB8A3-4A0E-CFDE-8316-CD90E0CBA1C0}"/>
              </a:ext>
            </a:extLst>
          </p:cNvPr>
          <p:cNvSpPr txBox="1"/>
          <p:nvPr/>
        </p:nvSpPr>
        <p:spPr>
          <a:xfrm>
            <a:off x="4582244" y="3628947"/>
            <a:ext cx="7463903" cy="1768176"/>
          </a:xfrm>
          <a:prstGeom prst="rect">
            <a:avLst/>
          </a:prstGeom>
          <a:noFill/>
        </p:spPr>
        <p:txBody>
          <a:bodyPr wrap="none" rtlCol="0">
            <a:spAutoFit/>
          </a:bodyPr>
          <a:lstStyle/>
          <a:p>
            <a:r>
              <a:rPr lang="en-US" sz="2200" dirty="0"/>
              <a:t>Your class is deciding which place to visit on a picnic.</a:t>
            </a:r>
          </a:p>
          <a:p>
            <a:r>
              <a:rPr lang="en-US" sz="2200" dirty="0"/>
              <a:t>Everyone gets three votes.</a:t>
            </a:r>
          </a:p>
          <a:p>
            <a:r>
              <a:rPr lang="en-US" sz="2200" dirty="0"/>
              <a:t>Destination with the highest votes wins.</a:t>
            </a:r>
          </a:p>
          <a:p>
            <a:r>
              <a:rPr lang="en-US" sz="2200" dirty="0"/>
              <a:t>That's Dot Voting</a:t>
            </a:r>
          </a:p>
          <a:p>
            <a:pPr>
              <a:lnSpc>
                <a:spcPct val="95000"/>
              </a:lnSpc>
            </a:pPr>
            <a:endParaRPr lang="en-IN" sz="2200" dirty="0"/>
          </a:p>
        </p:txBody>
      </p:sp>
    </p:spTree>
    <p:extLst>
      <p:ext uri="{BB962C8B-B14F-4D97-AF65-F5344CB8AC3E}">
        <p14:creationId xmlns:p14="http://schemas.microsoft.com/office/powerpoint/2010/main" val="4102869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B92B5F-D1C4-CE5C-623F-81005550DBD0}"/>
              </a:ext>
            </a:extLst>
          </p:cNvPr>
          <p:cNvSpPr txBox="1"/>
          <p:nvPr/>
        </p:nvSpPr>
        <p:spPr>
          <a:xfrm>
            <a:off x="765820" y="404664"/>
            <a:ext cx="2497800" cy="443198"/>
          </a:xfrm>
          <a:prstGeom prst="rect">
            <a:avLst/>
          </a:prstGeom>
          <a:noFill/>
        </p:spPr>
        <p:txBody>
          <a:bodyPr wrap="square" rtlCol="0">
            <a:spAutoFit/>
          </a:bodyPr>
          <a:lstStyle>
            <a:defPPr>
              <a:defRPr lang="en-US"/>
            </a:defPPr>
            <a:lvl1pPr>
              <a:defRPr sz="2200" b="1">
                <a:solidFill>
                  <a:srgbClr val="FF0000"/>
                </a:solidFill>
              </a:defRPr>
            </a:lvl1pPr>
          </a:lstStyle>
          <a:p>
            <a:r>
              <a:rPr lang="en-IN" dirty="0"/>
              <a:t>2. T-Shirt Size 👕</a:t>
            </a:r>
          </a:p>
        </p:txBody>
      </p:sp>
      <p:sp>
        <p:nvSpPr>
          <p:cNvPr id="5" name="TextBox 4">
            <a:extLst>
              <a:ext uri="{FF2B5EF4-FFF2-40B4-BE49-F238E27FC236}">
                <a16:creationId xmlns:a16="http://schemas.microsoft.com/office/drawing/2014/main" id="{20950BE8-A749-77BA-DCA6-16AB7282FF49}"/>
              </a:ext>
            </a:extLst>
          </p:cNvPr>
          <p:cNvSpPr txBox="1"/>
          <p:nvPr/>
        </p:nvSpPr>
        <p:spPr>
          <a:xfrm>
            <a:off x="837828" y="1052736"/>
            <a:ext cx="9977411" cy="413959"/>
          </a:xfrm>
          <a:prstGeom prst="rect">
            <a:avLst/>
          </a:prstGeom>
          <a:noFill/>
        </p:spPr>
        <p:txBody>
          <a:bodyPr wrap="none" rtlCol="0">
            <a:spAutoFit/>
          </a:bodyPr>
          <a:lstStyle/>
          <a:p>
            <a:pPr>
              <a:lnSpc>
                <a:spcPct val="95000"/>
              </a:lnSpc>
            </a:pPr>
            <a:r>
              <a:rPr lang="en-US" sz="2200" dirty="0"/>
              <a:t>Instead of numbers, Agile teams sometimes estimate using clothing sizes</a:t>
            </a:r>
            <a:endParaRPr lang="en-IN" sz="2200" dirty="0"/>
          </a:p>
        </p:txBody>
      </p:sp>
      <p:graphicFrame>
        <p:nvGraphicFramePr>
          <p:cNvPr id="7" name="Table 6">
            <a:extLst>
              <a:ext uri="{FF2B5EF4-FFF2-40B4-BE49-F238E27FC236}">
                <a16:creationId xmlns:a16="http://schemas.microsoft.com/office/drawing/2014/main" id="{D57EB96E-5A28-795E-B2E3-BA7F52F46655}"/>
              </a:ext>
            </a:extLst>
          </p:cNvPr>
          <p:cNvGraphicFramePr>
            <a:graphicFrameLocks noGrp="1"/>
          </p:cNvGraphicFramePr>
          <p:nvPr>
            <p:extLst>
              <p:ext uri="{D42A27DB-BD31-4B8C-83A1-F6EECF244321}">
                <p14:modId xmlns:p14="http://schemas.microsoft.com/office/powerpoint/2010/main" val="922414305"/>
              </p:ext>
            </p:extLst>
          </p:nvPr>
        </p:nvGraphicFramePr>
        <p:xfrm>
          <a:off x="909836" y="1690573"/>
          <a:ext cx="5058259" cy="2743200"/>
        </p:xfrm>
        <a:graphic>
          <a:graphicData uri="http://schemas.openxmlformats.org/drawingml/2006/table">
            <a:tbl>
              <a:tblPr/>
              <a:tblGrid>
                <a:gridCol w="753084">
                  <a:extLst>
                    <a:ext uri="{9D8B030D-6E8A-4147-A177-3AD203B41FA5}">
                      <a16:colId xmlns:a16="http://schemas.microsoft.com/office/drawing/2014/main" val="3765391794"/>
                    </a:ext>
                  </a:extLst>
                </a:gridCol>
                <a:gridCol w="4305175">
                  <a:extLst>
                    <a:ext uri="{9D8B030D-6E8A-4147-A177-3AD203B41FA5}">
                      <a16:colId xmlns:a16="http://schemas.microsoft.com/office/drawing/2014/main" val="756737700"/>
                    </a:ext>
                  </a:extLst>
                </a:gridCol>
              </a:tblGrid>
              <a:tr h="457200">
                <a:tc>
                  <a:txBody>
                    <a:bodyPr/>
                    <a:lstStyle/>
                    <a:p>
                      <a:r>
                        <a:rPr lang="en-IN" sz="2200" b="1" dirty="0"/>
                        <a:t>Size</a:t>
                      </a:r>
                    </a:p>
                  </a:txBody>
                  <a:tcPr anchor="ctr">
                    <a:lnL>
                      <a:noFill/>
                    </a:lnL>
                    <a:lnR>
                      <a:noFill/>
                    </a:lnR>
                    <a:lnT>
                      <a:noFill/>
                    </a:lnT>
                    <a:lnB>
                      <a:noFill/>
                    </a:lnB>
                    <a:noFill/>
                  </a:tcPr>
                </a:tc>
                <a:tc>
                  <a:txBody>
                    <a:bodyPr/>
                    <a:lstStyle/>
                    <a:p>
                      <a:r>
                        <a:rPr lang="en-IN" sz="2200" b="1" dirty="0"/>
                        <a:t>Meaning</a:t>
                      </a:r>
                    </a:p>
                  </a:txBody>
                  <a:tcPr anchor="ctr">
                    <a:lnL>
                      <a:noFill/>
                    </a:lnL>
                    <a:lnR>
                      <a:noFill/>
                    </a:lnR>
                    <a:lnT>
                      <a:noFill/>
                    </a:lnT>
                    <a:lnB>
                      <a:noFill/>
                    </a:lnB>
                    <a:noFill/>
                  </a:tcPr>
                </a:tc>
                <a:extLst>
                  <a:ext uri="{0D108BD9-81ED-4DB2-BD59-A6C34878D82A}">
                    <a16:rowId xmlns:a16="http://schemas.microsoft.com/office/drawing/2014/main" val="4225374694"/>
                  </a:ext>
                </a:extLst>
              </a:tr>
              <a:tr h="457200">
                <a:tc>
                  <a:txBody>
                    <a:bodyPr/>
                    <a:lstStyle/>
                    <a:p>
                      <a:r>
                        <a:rPr lang="en-IN" sz="2200"/>
                        <a:t>XS</a:t>
                      </a:r>
                    </a:p>
                  </a:txBody>
                  <a:tcPr anchor="ctr">
                    <a:lnL>
                      <a:noFill/>
                    </a:lnL>
                    <a:lnR>
                      <a:noFill/>
                    </a:lnR>
                    <a:lnT>
                      <a:noFill/>
                    </a:lnT>
                    <a:lnB>
                      <a:noFill/>
                    </a:lnB>
                    <a:noFill/>
                  </a:tcPr>
                </a:tc>
                <a:tc>
                  <a:txBody>
                    <a:bodyPr/>
                    <a:lstStyle/>
                    <a:p>
                      <a:r>
                        <a:rPr lang="en-IN" sz="2200" dirty="0"/>
                        <a:t>Very Easy</a:t>
                      </a:r>
                    </a:p>
                  </a:txBody>
                  <a:tcPr anchor="ctr">
                    <a:lnL>
                      <a:noFill/>
                    </a:lnL>
                    <a:lnR>
                      <a:noFill/>
                    </a:lnR>
                    <a:lnT>
                      <a:noFill/>
                    </a:lnT>
                    <a:lnB>
                      <a:noFill/>
                    </a:lnB>
                    <a:noFill/>
                  </a:tcPr>
                </a:tc>
                <a:extLst>
                  <a:ext uri="{0D108BD9-81ED-4DB2-BD59-A6C34878D82A}">
                    <a16:rowId xmlns:a16="http://schemas.microsoft.com/office/drawing/2014/main" val="2858141252"/>
                  </a:ext>
                </a:extLst>
              </a:tr>
              <a:tr h="457200">
                <a:tc>
                  <a:txBody>
                    <a:bodyPr/>
                    <a:lstStyle/>
                    <a:p>
                      <a:r>
                        <a:rPr lang="en-IN" sz="2200"/>
                        <a:t>S</a:t>
                      </a:r>
                    </a:p>
                  </a:txBody>
                  <a:tcPr anchor="ctr">
                    <a:lnL>
                      <a:noFill/>
                    </a:lnL>
                    <a:lnR>
                      <a:noFill/>
                    </a:lnR>
                    <a:lnT>
                      <a:noFill/>
                    </a:lnT>
                    <a:lnB>
                      <a:noFill/>
                    </a:lnB>
                    <a:noFill/>
                  </a:tcPr>
                </a:tc>
                <a:tc>
                  <a:txBody>
                    <a:bodyPr/>
                    <a:lstStyle/>
                    <a:p>
                      <a:r>
                        <a:rPr lang="en-IN" sz="2200"/>
                        <a:t>Easy</a:t>
                      </a:r>
                    </a:p>
                  </a:txBody>
                  <a:tcPr anchor="ctr">
                    <a:lnL>
                      <a:noFill/>
                    </a:lnL>
                    <a:lnR>
                      <a:noFill/>
                    </a:lnR>
                    <a:lnT>
                      <a:noFill/>
                    </a:lnT>
                    <a:lnB>
                      <a:noFill/>
                    </a:lnB>
                    <a:noFill/>
                  </a:tcPr>
                </a:tc>
                <a:extLst>
                  <a:ext uri="{0D108BD9-81ED-4DB2-BD59-A6C34878D82A}">
                    <a16:rowId xmlns:a16="http://schemas.microsoft.com/office/drawing/2014/main" val="1130706422"/>
                  </a:ext>
                </a:extLst>
              </a:tr>
              <a:tr h="457200">
                <a:tc>
                  <a:txBody>
                    <a:bodyPr/>
                    <a:lstStyle/>
                    <a:p>
                      <a:r>
                        <a:rPr lang="en-IN" sz="2200" dirty="0"/>
                        <a:t>M</a:t>
                      </a:r>
                    </a:p>
                  </a:txBody>
                  <a:tcPr anchor="ctr">
                    <a:lnL>
                      <a:noFill/>
                    </a:lnL>
                    <a:lnR>
                      <a:noFill/>
                    </a:lnR>
                    <a:lnT>
                      <a:noFill/>
                    </a:lnT>
                    <a:lnB>
                      <a:noFill/>
                    </a:lnB>
                    <a:noFill/>
                  </a:tcPr>
                </a:tc>
                <a:tc>
                  <a:txBody>
                    <a:bodyPr/>
                    <a:lstStyle/>
                    <a:p>
                      <a:r>
                        <a:rPr lang="en-IN" sz="2200"/>
                        <a:t>Medium</a:t>
                      </a:r>
                    </a:p>
                  </a:txBody>
                  <a:tcPr anchor="ctr">
                    <a:lnL>
                      <a:noFill/>
                    </a:lnL>
                    <a:lnR>
                      <a:noFill/>
                    </a:lnR>
                    <a:lnT>
                      <a:noFill/>
                    </a:lnT>
                    <a:lnB>
                      <a:noFill/>
                    </a:lnB>
                    <a:noFill/>
                  </a:tcPr>
                </a:tc>
                <a:extLst>
                  <a:ext uri="{0D108BD9-81ED-4DB2-BD59-A6C34878D82A}">
                    <a16:rowId xmlns:a16="http://schemas.microsoft.com/office/drawing/2014/main" val="2960077050"/>
                  </a:ext>
                </a:extLst>
              </a:tr>
              <a:tr h="457200">
                <a:tc>
                  <a:txBody>
                    <a:bodyPr/>
                    <a:lstStyle/>
                    <a:p>
                      <a:r>
                        <a:rPr lang="en-IN" sz="2200" dirty="0"/>
                        <a:t>L</a:t>
                      </a:r>
                    </a:p>
                  </a:txBody>
                  <a:tcPr anchor="ctr">
                    <a:lnL>
                      <a:noFill/>
                    </a:lnL>
                    <a:lnR>
                      <a:noFill/>
                    </a:lnR>
                    <a:lnT>
                      <a:noFill/>
                    </a:lnT>
                    <a:lnB>
                      <a:noFill/>
                    </a:lnB>
                    <a:noFill/>
                  </a:tcPr>
                </a:tc>
                <a:tc>
                  <a:txBody>
                    <a:bodyPr/>
                    <a:lstStyle/>
                    <a:p>
                      <a:r>
                        <a:rPr lang="en-IN" sz="2200"/>
                        <a:t>Difficult</a:t>
                      </a:r>
                    </a:p>
                  </a:txBody>
                  <a:tcPr anchor="ctr">
                    <a:lnL>
                      <a:noFill/>
                    </a:lnL>
                    <a:lnR>
                      <a:noFill/>
                    </a:lnR>
                    <a:lnT>
                      <a:noFill/>
                    </a:lnT>
                    <a:lnB>
                      <a:noFill/>
                    </a:lnB>
                    <a:noFill/>
                  </a:tcPr>
                </a:tc>
                <a:extLst>
                  <a:ext uri="{0D108BD9-81ED-4DB2-BD59-A6C34878D82A}">
                    <a16:rowId xmlns:a16="http://schemas.microsoft.com/office/drawing/2014/main" val="1551885295"/>
                  </a:ext>
                </a:extLst>
              </a:tr>
              <a:tr h="457200">
                <a:tc>
                  <a:txBody>
                    <a:bodyPr/>
                    <a:lstStyle/>
                    <a:p>
                      <a:r>
                        <a:rPr lang="en-IN" sz="2200"/>
                        <a:t>XL</a:t>
                      </a:r>
                    </a:p>
                  </a:txBody>
                  <a:tcPr anchor="ctr">
                    <a:lnL>
                      <a:noFill/>
                    </a:lnL>
                    <a:lnR>
                      <a:noFill/>
                    </a:lnR>
                    <a:lnT>
                      <a:noFill/>
                    </a:lnT>
                    <a:lnB>
                      <a:noFill/>
                    </a:lnB>
                    <a:noFill/>
                  </a:tcPr>
                </a:tc>
                <a:tc>
                  <a:txBody>
                    <a:bodyPr/>
                    <a:lstStyle/>
                    <a:p>
                      <a:r>
                        <a:rPr lang="en-IN" sz="2200" dirty="0"/>
                        <a:t>Very Difficult</a:t>
                      </a:r>
                    </a:p>
                  </a:txBody>
                  <a:tcPr anchor="ctr">
                    <a:lnL>
                      <a:noFill/>
                    </a:lnL>
                    <a:lnR>
                      <a:noFill/>
                    </a:lnR>
                    <a:lnT>
                      <a:noFill/>
                    </a:lnT>
                    <a:lnB>
                      <a:noFill/>
                    </a:lnB>
                    <a:noFill/>
                  </a:tcPr>
                </a:tc>
                <a:extLst>
                  <a:ext uri="{0D108BD9-81ED-4DB2-BD59-A6C34878D82A}">
                    <a16:rowId xmlns:a16="http://schemas.microsoft.com/office/drawing/2014/main" val="3562763174"/>
                  </a:ext>
                </a:extLst>
              </a:tr>
            </a:tbl>
          </a:graphicData>
        </a:graphic>
      </p:graphicFrame>
      <p:graphicFrame>
        <p:nvGraphicFramePr>
          <p:cNvPr id="8" name="Table 7">
            <a:extLst>
              <a:ext uri="{FF2B5EF4-FFF2-40B4-BE49-F238E27FC236}">
                <a16:creationId xmlns:a16="http://schemas.microsoft.com/office/drawing/2014/main" id="{AF0088EF-0F25-415A-0FD6-36547301FECB}"/>
              </a:ext>
            </a:extLst>
          </p:cNvPr>
          <p:cNvGraphicFramePr>
            <a:graphicFrameLocks noGrp="1"/>
          </p:cNvGraphicFramePr>
          <p:nvPr>
            <p:extLst>
              <p:ext uri="{D42A27DB-BD31-4B8C-83A1-F6EECF244321}">
                <p14:modId xmlns:p14="http://schemas.microsoft.com/office/powerpoint/2010/main" val="3881006911"/>
              </p:ext>
            </p:extLst>
          </p:nvPr>
        </p:nvGraphicFramePr>
        <p:xfrm>
          <a:off x="5158308" y="1772816"/>
          <a:ext cx="6188124" cy="2743200"/>
        </p:xfrm>
        <a:graphic>
          <a:graphicData uri="http://schemas.openxmlformats.org/drawingml/2006/table">
            <a:tbl>
              <a:tblPr/>
              <a:tblGrid>
                <a:gridCol w="3094062">
                  <a:extLst>
                    <a:ext uri="{9D8B030D-6E8A-4147-A177-3AD203B41FA5}">
                      <a16:colId xmlns:a16="http://schemas.microsoft.com/office/drawing/2014/main" val="2275568551"/>
                    </a:ext>
                  </a:extLst>
                </a:gridCol>
                <a:gridCol w="3094062">
                  <a:extLst>
                    <a:ext uri="{9D8B030D-6E8A-4147-A177-3AD203B41FA5}">
                      <a16:colId xmlns:a16="http://schemas.microsoft.com/office/drawing/2014/main" val="1860291892"/>
                    </a:ext>
                  </a:extLst>
                </a:gridCol>
              </a:tblGrid>
              <a:tr h="457200">
                <a:tc>
                  <a:txBody>
                    <a:bodyPr/>
                    <a:lstStyle/>
                    <a:p>
                      <a:r>
                        <a:rPr lang="en-IN" sz="2200" b="1" dirty="0"/>
                        <a:t>Feature</a:t>
                      </a:r>
                    </a:p>
                  </a:txBody>
                  <a:tcPr anchor="ctr">
                    <a:lnL>
                      <a:noFill/>
                    </a:lnL>
                    <a:lnR>
                      <a:noFill/>
                    </a:lnR>
                    <a:lnT>
                      <a:noFill/>
                    </a:lnT>
                    <a:lnB>
                      <a:noFill/>
                    </a:lnB>
                    <a:noFill/>
                  </a:tcPr>
                </a:tc>
                <a:tc>
                  <a:txBody>
                    <a:bodyPr/>
                    <a:lstStyle/>
                    <a:p>
                      <a:r>
                        <a:rPr lang="en-IN" sz="2200" b="1" dirty="0"/>
                        <a:t>Size</a:t>
                      </a:r>
                    </a:p>
                  </a:txBody>
                  <a:tcPr anchor="ctr">
                    <a:lnL>
                      <a:noFill/>
                    </a:lnL>
                    <a:lnR>
                      <a:noFill/>
                    </a:lnR>
                    <a:lnT>
                      <a:noFill/>
                    </a:lnT>
                    <a:lnB>
                      <a:noFill/>
                    </a:lnB>
                    <a:noFill/>
                  </a:tcPr>
                </a:tc>
                <a:extLst>
                  <a:ext uri="{0D108BD9-81ED-4DB2-BD59-A6C34878D82A}">
                    <a16:rowId xmlns:a16="http://schemas.microsoft.com/office/drawing/2014/main" val="2993182831"/>
                  </a:ext>
                </a:extLst>
              </a:tr>
              <a:tr h="457200">
                <a:tc>
                  <a:txBody>
                    <a:bodyPr/>
                    <a:lstStyle/>
                    <a:p>
                      <a:r>
                        <a:rPr lang="en-IN" sz="2200"/>
                        <a:t>Login</a:t>
                      </a:r>
                    </a:p>
                  </a:txBody>
                  <a:tcPr anchor="ctr">
                    <a:lnL>
                      <a:noFill/>
                    </a:lnL>
                    <a:lnR>
                      <a:noFill/>
                    </a:lnR>
                    <a:lnT>
                      <a:noFill/>
                    </a:lnT>
                    <a:lnB>
                      <a:noFill/>
                    </a:lnB>
                    <a:noFill/>
                  </a:tcPr>
                </a:tc>
                <a:tc>
                  <a:txBody>
                    <a:bodyPr/>
                    <a:lstStyle/>
                    <a:p>
                      <a:r>
                        <a:rPr lang="en-IN" sz="2200"/>
                        <a:t>S</a:t>
                      </a:r>
                    </a:p>
                  </a:txBody>
                  <a:tcPr anchor="ctr">
                    <a:lnL>
                      <a:noFill/>
                    </a:lnL>
                    <a:lnR>
                      <a:noFill/>
                    </a:lnR>
                    <a:lnT>
                      <a:noFill/>
                    </a:lnT>
                    <a:lnB>
                      <a:noFill/>
                    </a:lnB>
                    <a:noFill/>
                  </a:tcPr>
                </a:tc>
                <a:extLst>
                  <a:ext uri="{0D108BD9-81ED-4DB2-BD59-A6C34878D82A}">
                    <a16:rowId xmlns:a16="http://schemas.microsoft.com/office/drawing/2014/main" val="1612224942"/>
                  </a:ext>
                </a:extLst>
              </a:tr>
              <a:tr h="457200">
                <a:tc>
                  <a:txBody>
                    <a:bodyPr/>
                    <a:lstStyle/>
                    <a:p>
                      <a:r>
                        <a:rPr lang="en-IN" sz="2200"/>
                        <a:t>Registration</a:t>
                      </a:r>
                    </a:p>
                  </a:txBody>
                  <a:tcPr anchor="ctr">
                    <a:lnL>
                      <a:noFill/>
                    </a:lnL>
                    <a:lnR>
                      <a:noFill/>
                    </a:lnR>
                    <a:lnT>
                      <a:noFill/>
                    </a:lnT>
                    <a:lnB>
                      <a:noFill/>
                    </a:lnB>
                    <a:noFill/>
                  </a:tcPr>
                </a:tc>
                <a:tc>
                  <a:txBody>
                    <a:bodyPr/>
                    <a:lstStyle/>
                    <a:p>
                      <a:r>
                        <a:rPr lang="en-IN" sz="2200"/>
                        <a:t>M</a:t>
                      </a:r>
                    </a:p>
                  </a:txBody>
                  <a:tcPr anchor="ctr">
                    <a:lnL>
                      <a:noFill/>
                    </a:lnL>
                    <a:lnR>
                      <a:noFill/>
                    </a:lnR>
                    <a:lnT>
                      <a:noFill/>
                    </a:lnT>
                    <a:lnB>
                      <a:noFill/>
                    </a:lnB>
                    <a:noFill/>
                  </a:tcPr>
                </a:tc>
                <a:extLst>
                  <a:ext uri="{0D108BD9-81ED-4DB2-BD59-A6C34878D82A}">
                    <a16:rowId xmlns:a16="http://schemas.microsoft.com/office/drawing/2014/main" val="2364117778"/>
                  </a:ext>
                </a:extLst>
              </a:tr>
              <a:tr h="457200">
                <a:tc>
                  <a:txBody>
                    <a:bodyPr/>
                    <a:lstStyle/>
                    <a:p>
                      <a:r>
                        <a:rPr lang="en-IN" sz="2200"/>
                        <a:t>Attendance</a:t>
                      </a:r>
                    </a:p>
                  </a:txBody>
                  <a:tcPr anchor="ctr">
                    <a:lnL>
                      <a:noFill/>
                    </a:lnL>
                    <a:lnR>
                      <a:noFill/>
                    </a:lnR>
                    <a:lnT>
                      <a:noFill/>
                    </a:lnT>
                    <a:lnB>
                      <a:noFill/>
                    </a:lnB>
                    <a:noFill/>
                  </a:tcPr>
                </a:tc>
                <a:tc>
                  <a:txBody>
                    <a:bodyPr/>
                    <a:lstStyle/>
                    <a:p>
                      <a:r>
                        <a:rPr lang="en-IN" sz="2200"/>
                        <a:t>M</a:t>
                      </a:r>
                    </a:p>
                  </a:txBody>
                  <a:tcPr anchor="ctr">
                    <a:lnL>
                      <a:noFill/>
                    </a:lnL>
                    <a:lnR>
                      <a:noFill/>
                    </a:lnR>
                    <a:lnT>
                      <a:noFill/>
                    </a:lnT>
                    <a:lnB>
                      <a:noFill/>
                    </a:lnB>
                    <a:noFill/>
                  </a:tcPr>
                </a:tc>
                <a:extLst>
                  <a:ext uri="{0D108BD9-81ED-4DB2-BD59-A6C34878D82A}">
                    <a16:rowId xmlns:a16="http://schemas.microsoft.com/office/drawing/2014/main" val="336548820"/>
                  </a:ext>
                </a:extLst>
              </a:tr>
              <a:tr h="457200">
                <a:tc>
                  <a:txBody>
                    <a:bodyPr/>
                    <a:lstStyle/>
                    <a:p>
                      <a:r>
                        <a:rPr lang="en-IN" sz="2200"/>
                        <a:t>Fee Payment</a:t>
                      </a:r>
                    </a:p>
                  </a:txBody>
                  <a:tcPr anchor="ctr">
                    <a:lnL>
                      <a:noFill/>
                    </a:lnL>
                    <a:lnR>
                      <a:noFill/>
                    </a:lnR>
                    <a:lnT>
                      <a:noFill/>
                    </a:lnT>
                    <a:lnB>
                      <a:noFill/>
                    </a:lnB>
                    <a:noFill/>
                  </a:tcPr>
                </a:tc>
                <a:tc>
                  <a:txBody>
                    <a:bodyPr/>
                    <a:lstStyle/>
                    <a:p>
                      <a:r>
                        <a:rPr lang="en-IN" sz="2200"/>
                        <a:t>L</a:t>
                      </a:r>
                    </a:p>
                  </a:txBody>
                  <a:tcPr anchor="ctr">
                    <a:lnL>
                      <a:noFill/>
                    </a:lnL>
                    <a:lnR>
                      <a:noFill/>
                    </a:lnR>
                    <a:lnT>
                      <a:noFill/>
                    </a:lnT>
                    <a:lnB>
                      <a:noFill/>
                    </a:lnB>
                    <a:noFill/>
                  </a:tcPr>
                </a:tc>
                <a:extLst>
                  <a:ext uri="{0D108BD9-81ED-4DB2-BD59-A6C34878D82A}">
                    <a16:rowId xmlns:a16="http://schemas.microsoft.com/office/drawing/2014/main" val="1906953050"/>
                  </a:ext>
                </a:extLst>
              </a:tr>
              <a:tr h="457200">
                <a:tc>
                  <a:txBody>
                    <a:bodyPr/>
                    <a:lstStyle/>
                    <a:p>
                      <a:r>
                        <a:rPr lang="en-IN" sz="2200"/>
                        <a:t>AI Chatbot</a:t>
                      </a:r>
                    </a:p>
                  </a:txBody>
                  <a:tcPr anchor="ctr">
                    <a:lnL>
                      <a:noFill/>
                    </a:lnL>
                    <a:lnR>
                      <a:noFill/>
                    </a:lnR>
                    <a:lnT>
                      <a:noFill/>
                    </a:lnT>
                    <a:lnB>
                      <a:noFill/>
                    </a:lnB>
                    <a:noFill/>
                  </a:tcPr>
                </a:tc>
                <a:tc>
                  <a:txBody>
                    <a:bodyPr/>
                    <a:lstStyle/>
                    <a:p>
                      <a:r>
                        <a:rPr lang="en-IN" sz="2200" dirty="0"/>
                        <a:t>XL</a:t>
                      </a:r>
                    </a:p>
                  </a:txBody>
                  <a:tcPr anchor="ctr">
                    <a:lnL>
                      <a:noFill/>
                    </a:lnL>
                    <a:lnR>
                      <a:noFill/>
                    </a:lnR>
                    <a:lnT>
                      <a:noFill/>
                    </a:lnT>
                    <a:lnB>
                      <a:noFill/>
                    </a:lnB>
                    <a:noFill/>
                  </a:tcPr>
                </a:tc>
                <a:extLst>
                  <a:ext uri="{0D108BD9-81ED-4DB2-BD59-A6C34878D82A}">
                    <a16:rowId xmlns:a16="http://schemas.microsoft.com/office/drawing/2014/main" val="3804941695"/>
                  </a:ext>
                </a:extLst>
              </a:tr>
            </a:tbl>
          </a:graphicData>
        </a:graphic>
      </p:graphicFrame>
    </p:spTree>
    <p:extLst>
      <p:ext uri="{BB962C8B-B14F-4D97-AF65-F5344CB8AC3E}">
        <p14:creationId xmlns:p14="http://schemas.microsoft.com/office/powerpoint/2010/main" val="3770417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CD6325-9411-0C41-A9BA-F4D3D6EBE9F0}"/>
              </a:ext>
            </a:extLst>
          </p:cNvPr>
          <p:cNvSpPr txBox="1"/>
          <p:nvPr/>
        </p:nvSpPr>
        <p:spPr>
          <a:xfrm>
            <a:off x="765820" y="332656"/>
            <a:ext cx="3233578" cy="443198"/>
          </a:xfrm>
          <a:prstGeom prst="rect">
            <a:avLst/>
          </a:prstGeom>
          <a:noFill/>
        </p:spPr>
        <p:txBody>
          <a:bodyPr wrap="square" rtlCol="0">
            <a:spAutoFit/>
          </a:bodyPr>
          <a:lstStyle>
            <a:defPPr>
              <a:defRPr lang="en-US"/>
            </a:defPPr>
            <a:lvl1pPr>
              <a:defRPr sz="2200" b="1">
                <a:solidFill>
                  <a:srgbClr val="FF0000"/>
                </a:solidFill>
              </a:defRPr>
            </a:lvl1pPr>
          </a:lstStyle>
          <a:p>
            <a:r>
              <a:rPr lang="en-IN" dirty="0"/>
              <a:t>3. Planning Poker 🃏</a:t>
            </a:r>
          </a:p>
        </p:txBody>
      </p:sp>
      <p:sp>
        <p:nvSpPr>
          <p:cNvPr id="5" name="TextBox 4">
            <a:extLst>
              <a:ext uri="{FF2B5EF4-FFF2-40B4-BE49-F238E27FC236}">
                <a16:creationId xmlns:a16="http://schemas.microsoft.com/office/drawing/2014/main" id="{6BCC3044-72C6-D6C7-75E4-5923E9019654}"/>
              </a:ext>
            </a:extLst>
          </p:cNvPr>
          <p:cNvSpPr txBox="1"/>
          <p:nvPr/>
        </p:nvSpPr>
        <p:spPr>
          <a:xfrm>
            <a:off x="765820" y="877995"/>
            <a:ext cx="8674169" cy="413959"/>
          </a:xfrm>
          <a:prstGeom prst="rect">
            <a:avLst/>
          </a:prstGeom>
          <a:noFill/>
        </p:spPr>
        <p:txBody>
          <a:bodyPr wrap="none" rtlCol="0">
            <a:spAutoFit/>
          </a:bodyPr>
          <a:lstStyle/>
          <a:p>
            <a:pPr>
              <a:lnSpc>
                <a:spcPct val="95000"/>
              </a:lnSpc>
            </a:pPr>
            <a:r>
              <a:rPr lang="en-US" sz="2200" dirty="0"/>
              <a:t>Planning Poker is the </a:t>
            </a:r>
            <a:r>
              <a:rPr lang="en-US" sz="2200" b="1" dirty="0"/>
              <a:t>most popular Agile estimation technique</a:t>
            </a:r>
            <a:r>
              <a:rPr lang="en-US" sz="2200" dirty="0"/>
              <a:t>.</a:t>
            </a:r>
            <a:endParaRPr lang="en-IN" sz="2200" dirty="0"/>
          </a:p>
        </p:txBody>
      </p:sp>
      <p:sp>
        <p:nvSpPr>
          <p:cNvPr id="6" name="TextBox 5">
            <a:extLst>
              <a:ext uri="{FF2B5EF4-FFF2-40B4-BE49-F238E27FC236}">
                <a16:creationId xmlns:a16="http://schemas.microsoft.com/office/drawing/2014/main" id="{743576B0-A599-6DB5-4726-4157A5E277E9}"/>
              </a:ext>
            </a:extLst>
          </p:cNvPr>
          <p:cNvSpPr txBox="1"/>
          <p:nvPr/>
        </p:nvSpPr>
        <p:spPr>
          <a:xfrm>
            <a:off x="737524" y="1396158"/>
            <a:ext cx="7677102" cy="413959"/>
          </a:xfrm>
          <a:prstGeom prst="rect">
            <a:avLst/>
          </a:prstGeom>
          <a:noFill/>
        </p:spPr>
        <p:txBody>
          <a:bodyPr wrap="none" rtlCol="0">
            <a:spAutoFit/>
          </a:bodyPr>
          <a:lstStyle/>
          <a:p>
            <a:pPr>
              <a:lnSpc>
                <a:spcPct val="95000"/>
              </a:lnSpc>
            </a:pPr>
            <a:r>
              <a:rPr lang="en-US" sz="2200" dirty="0"/>
              <a:t>"Estimate how difficult preparing for semester exams is."</a:t>
            </a:r>
            <a:endParaRPr lang="en-IN" sz="2200" dirty="0"/>
          </a:p>
        </p:txBody>
      </p:sp>
      <p:sp>
        <p:nvSpPr>
          <p:cNvPr id="7" name="TextBox 6">
            <a:extLst>
              <a:ext uri="{FF2B5EF4-FFF2-40B4-BE49-F238E27FC236}">
                <a16:creationId xmlns:a16="http://schemas.microsoft.com/office/drawing/2014/main" id="{BF02ADDA-2DEB-87F5-497E-0861C5D58425}"/>
              </a:ext>
            </a:extLst>
          </p:cNvPr>
          <p:cNvSpPr txBox="1"/>
          <p:nvPr/>
        </p:nvSpPr>
        <p:spPr>
          <a:xfrm>
            <a:off x="765820" y="1935672"/>
            <a:ext cx="11179664" cy="413959"/>
          </a:xfrm>
          <a:prstGeom prst="rect">
            <a:avLst/>
          </a:prstGeom>
          <a:noFill/>
        </p:spPr>
        <p:txBody>
          <a:bodyPr wrap="none" rtlCol="0">
            <a:spAutoFit/>
          </a:bodyPr>
          <a:lstStyle/>
          <a:p>
            <a:pPr>
              <a:lnSpc>
                <a:spcPct val="95000"/>
              </a:lnSpc>
            </a:pPr>
            <a:r>
              <a:rPr lang="en-US" sz="2200" dirty="0"/>
              <a:t>Every team member gets cards with Fibonacci numbers on it 0,1,1,2,3,5,8,13,21….</a:t>
            </a:r>
            <a:endParaRPr lang="en-IN" sz="2200" dirty="0"/>
          </a:p>
        </p:txBody>
      </p:sp>
      <p:sp>
        <p:nvSpPr>
          <p:cNvPr id="9" name="TextBox 8">
            <a:extLst>
              <a:ext uri="{FF2B5EF4-FFF2-40B4-BE49-F238E27FC236}">
                <a16:creationId xmlns:a16="http://schemas.microsoft.com/office/drawing/2014/main" id="{0A2CC429-4142-06FD-82A0-5D37508A8E8B}"/>
              </a:ext>
            </a:extLst>
          </p:cNvPr>
          <p:cNvSpPr txBox="1"/>
          <p:nvPr/>
        </p:nvSpPr>
        <p:spPr>
          <a:xfrm>
            <a:off x="765820" y="2453835"/>
            <a:ext cx="10866867" cy="1057212"/>
          </a:xfrm>
          <a:prstGeom prst="rect">
            <a:avLst/>
          </a:prstGeom>
          <a:noFill/>
        </p:spPr>
        <p:txBody>
          <a:bodyPr wrap="square" rtlCol="0">
            <a:spAutoFit/>
          </a:bodyPr>
          <a:lstStyle>
            <a:defPPr>
              <a:defRPr lang="en-US"/>
            </a:defPPr>
            <a:lvl1pPr>
              <a:lnSpc>
                <a:spcPct val="95000"/>
              </a:lnSpc>
              <a:defRPr sz="2200"/>
            </a:lvl1pPr>
          </a:lstStyle>
          <a:p>
            <a:r>
              <a:rPr lang="en-US" dirty="0"/>
              <a:t>One of the team members is selected as the Moderator. The moderator reads the description of the user story for which estimation is being made. If the estimators have any questions, product owner answers them</a:t>
            </a:r>
            <a:endParaRPr lang="en-IN" dirty="0"/>
          </a:p>
        </p:txBody>
      </p:sp>
      <p:sp>
        <p:nvSpPr>
          <p:cNvPr id="10" name="TextBox 9">
            <a:extLst>
              <a:ext uri="{FF2B5EF4-FFF2-40B4-BE49-F238E27FC236}">
                <a16:creationId xmlns:a16="http://schemas.microsoft.com/office/drawing/2014/main" id="{3F8515D4-356B-4DCB-AB82-0E423AD28826}"/>
              </a:ext>
            </a:extLst>
          </p:cNvPr>
          <p:cNvSpPr txBox="1"/>
          <p:nvPr/>
        </p:nvSpPr>
        <p:spPr>
          <a:xfrm>
            <a:off x="837828" y="3625499"/>
            <a:ext cx="9796272" cy="413959"/>
          </a:xfrm>
          <a:prstGeom prst="rect">
            <a:avLst/>
          </a:prstGeom>
          <a:noFill/>
        </p:spPr>
        <p:txBody>
          <a:bodyPr wrap="square" rtlCol="0">
            <a:spAutoFit/>
          </a:bodyPr>
          <a:lstStyle>
            <a:defPPr>
              <a:defRPr lang="en-US"/>
            </a:defPPr>
            <a:lvl1pPr>
              <a:lnSpc>
                <a:spcPct val="95000"/>
              </a:lnSpc>
              <a:defRPr sz="2200"/>
            </a:lvl1pPr>
          </a:lstStyle>
          <a:p>
            <a:r>
              <a:rPr lang="en-US" dirty="0"/>
              <a:t>Each estimator privately selects a card representing his or her estimate</a:t>
            </a:r>
            <a:endParaRPr lang="en-IN" dirty="0"/>
          </a:p>
        </p:txBody>
      </p:sp>
      <p:sp>
        <p:nvSpPr>
          <p:cNvPr id="11" name="TextBox 10">
            <a:extLst>
              <a:ext uri="{FF2B5EF4-FFF2-40B4-BE49-F238E27FC236}">
                <a16:creationId xmlns:a16="http://schemas.microsoft.com/office/drawing/2014/main" id="{099F087F-4BE6-EE0F-1275-B0DB62FFEE8E}"/>
              </a:ext>
            </a:extLst>
          </p:cNvPr>
          <p:cNvSpPr txBox="1"/>
          <p:nvPr/>
        </p:nvSpPr>
        <p:spPr>
          <a:xfrm>
            <a:off x="837828" y="4153910"/>
            <a:ext cx="10513168" cy="735586"/>
          </a:xfrm>
          <a:prstGeom prst="rect">
            <a:avLst/>
          </a:prstGeom>
          <a:noFill/>
        </p:spPr>
        <p:txBody>
          <a:bodyPr wrap="square" rtlCol="0">
            <a:spAutoFit/>
          </a:bodyPr>
          <a:lstStyle>
            <a:defPPr>
              <a:defRPr lang="en-US"/>
            </a:defPPr>
            <a:lvl1pPr>
              <a:lnSpc>
                <a:spcPct val="95000"/>
              </a:lnSpc>
              <a:defRPr sz="2200"/>
            </a:lvl1pPr>
          </a:lstStyle>
          <a:p>
            <a:r>
              <a:rPr lang="en-US" dirty="0"/>
              <a:t>In the first round, it is very likely that the estimations vary. The high and low estimators explain the reason for their estimates</a:t>
            </a:r>
            <a:endParaRPr lang="en-IN" dirty="0"/>
          </a:p>
        </p:txBody>
      </p:sp>
      <p:sp>
        <p:nvSpPr>
          <p:cNvPr id="12" name="TextBox 11">
            <a:extLst>
              <a:ext uri="{FF2B5EF4-FFF2-40B4-BE49-F238E27FC236}">
                <a16:creationId xmlns:a16="http://schemas.microsoft.com/office/drawing/2014/main" id="{D74C4B9B-C07B-0AEF-3291-F228104B69F2}"/>
              </a:ext>
            </a:extLst>
          </p:cNvPr>
          <p:cNvSpPr txBox="1"/>
          <p:nvPr/>
        </p:nvSpPr>
        <p:spPr>
          <a:xfrm>
            <a:off x="837828" y="5003948"/>
            <a:ext cx="10230686" cy="413959"/>
          </a:xfrm>
          <a:prstGeom prst="rect">
            <a:avLst/>
          </a:prstGeom>
          <a:noFill/>
        </p:spPr>
        <p:txBody>
          <a:bodyPr wrap="square" rtlCol="0">
            <a:spAutoFit/>
          </a:bodyPr>
          <a:lstStyle>
            <a:defPPr>
              <a:defRPr lang="en-US"/>
            </a:defPPr>
            <a:lvl1pPr>
              <a:lnSpc>
                <a:spcPct val="95000"/>
              </a:lnSpc>
              <a:defRPr sz="2200"/>
            </a:lvl1pPr>
          </a:lstStyle>
          <a:p>
            <a:r>
              <a:rPr lang="en-US" dirty="0"/>
              <a:t>The team can discuss the story and their estimates for a few more minutes</a:t>
            </a:r>
            <a:endParaRPr lang="en-IN" dirty="0"/>
          </a:p>
        </p:txBody>
      </p:sp>
      <p:sp>
        <p:nvSpPr>
          <p:cNvPr id="13" name="TextBox 12">
            <a:extLst>
              <a:ext uri="{FF2B5EF4-FFF2-40B4-BE49-F238E27FC236}">
                <a16:creationId xmlns:a16="http://schemas.microsoft.com/office/drawing/2014/main" id="{A66B9E00-4A14-89A0-F105-7B0B184B4DE6}"/>
              </a:ext>
            </a:extLst>
          </p:cNvPr>
          <p:cNvSpPr txBox="1"/>
          <p:nvPr/>
        </p:nvSpPr>
        <p:spPr>
          <a:xfrm>
            <a:off x="836307" y="5504570"/>
            <a:ext cx="10365338" cy="413959"/>
          </a:xfrm>
          <a:prstGeom prst="rect">
            <a:avLst/>
          </a:prstGeom>
          <a:noFill/>
        </p:spPr>
        <p:txBody>
          <a:bodyPr wrap="square" rtlCol="0">
            <a:spAutoFit/>
          </a:bodyPr>
          <a:lstStyle>
            <a:defPPr>
              <a:defRPr lang="en-US"/>
            </a:defPPr>
            <a:lvl1pPr>
              <a:lnSpc>
                <a:spcPct val="95000"/>
              </a:lnSpc>
              <a:defRPr sz="2200"/>
            </a:lvl1pPr>
          </a:lstStyle>
          <a:p>
            <a:r>
              <a:rPr lang="en-US" dirty="0"/>
              <a:t>After the discussion, each estimator re-estimates by again selecting a card</a:t>
            </a:r>
            <a:endParaRPr lang="en-IN" dirty="0"/>
          </a:p>
        </p:txBody>
      </p:sp>
      <p:sp>
        <p:nvSpPr>
          <p:cNvPr id="14" name="TextBox 13">
            <a:extLst>
              <a:ext uri="{FF2B5EF4-FFF2-40B4-BE49-F238E27FC236}">
                <a16:creationId xmlns:a16="http://schemas.microsoft.com/office/drawing/2014/main" id="{D9A849AE-95CC-77EF-5154-C66013F3EF7B}"/>
              </a:ext>
            </a:extLst>
          </p:cNvPr>
          <p:cNvSpPr txBox="1"/>
          <p:nvPr/>
        </p:nvSpPr>
        <p:spPr>
          <a:xfrm>
            <a:off x="793913" y="6109154"/>
            <a:ext cx="10989131" cy="735586"/>
          </a:xfrm>
          <a:prstGeom prst="rect">
            <a:avLst/>
          </a:prstGeom>
          <a:noFill/>
        </p:spPr>
        <p:txBody>
          <a:bodyPr wrap="square" rtlCol="0">
            <a:spAutoFit/>
          </a:bodyPr>
          <a:lstStyle>
            <a:defPPr>
              <a:defRPr lang="en-US"/>
            </a:defPPr>
            <a:lvl1pPr>
              <a:lnSpc>
                <a:spcPct val="95000"/>
              </a:lnSpc>
              <a:defRPr sz="2200"/>
            </a:lvl1pPr>
          </a:lstStyle>
          <a:p>
            <a:r>
              <a:rPr lang="en-US" dirty="0"/>
              <a:t>Repeat the process till the estimates converge to a single estimate that can be used for the story</a:t>
            </a:r>
            <a:endParaRPr lang="en-IN" dirty="0"/>
          </a:p>
        </p:txBody>
      </p:sp>
    </p:spTree>
    <p:extLst>
      <p:ext uri="{BB962C8B-B14F-4D97-AF65-F5344CB8AC3E}">
        <p14:creationId xmlns:p14="http://schemas.microsoft.com/office/powerpoint/2010/main" val="3477863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A88215-205D-B2CF-DAAA-F999A02E391C}"/>
              </a:ext>
            </a:extLst>
          </p:cNvPr>
          <p:cNvSpPr txBox="1"/>
          <p:nvPr/>
        </p:nvSpPr>
        <p:spPr>
          <a:xfrm>
            <a:off x="621804" y="260648"/>
            <a:ext cx="3171061" cy="443198"/>
          </a:xfrm>
          <a:prstGeom prst="rect">
            <a:avLst/>
          </a:prstGeom>
          <a:noFill/>
        </p:spPr>
        <p:txBody>
          <a:bodyPr wrap="square" rtlCol="0">
            <a:spAutoFit/>
          </a:bodyPr>
          <a:lstStyle>
            <a:defPPr>
              <a:defRPr lang="en-US"/>
            </a:defPPr>
            <a:lvl1pPr>
              <a:defRPr sz="2200" b="1">
                <a:solidFill>
                  <a:srgbClr val="FF0000"/>
                </a:solidFill>
              </a:defRPr>
            </a:lvl1pPr>
          </a:lstStyle>
          <a:p>
            <a:r>
              <a:rPr lang="en-IN" dirty="0"/>
              <a:t>4. Bucket System 🪣</a:t>
            </a:r>
          </a:p>
        </p:txBody>
      </p:sp>
      <p:sp>
        <p:nvSpPr>
          <p:cNvPr id="5" name="TextBox 4">
            <a:extLst>
              <a:ext uri="{FF2B5EF4-FFF2-40B4-BE49-F238E27FC236}">
                <a16:creationId xmlns:a16="http://schemas.microsoft.com/office/drawing/2014/main" id="{DAD3059E-3CD6-F120-0DB0-3AF5E3524E1B}"/>
              </a:ext>
            </a:extLst>
          </p:cNvPr>
          <p:cNvSpPr txBox="1"/>
          <p:nvPr/>
        </p:nvSpPr>
        <p:spPr>
          <a:xfrm>
            <a:off x="621804" y="836712"/>
            <a:ext cx="10296408" cy="1091068"/>
          </a:xfrm>
          <a:prstGeom prst="rect">
            <a:avLst/>
          </a:prstGeom>
          <a:noFill/>
        </p:spPr>
        <p:txBody>
          <a:bodyPr wrap="none" rtlCol="0">
            <a:spAutoFit/>
          </a:bodyPr>
          <a:lstStyle/>
          <a:p>
            <a:r>
              <a:rPr lang="en-US" sz="2200" dirty="0"/>
              <a:t>Suppose you have </a:t>
            </a:r>
            <a:r>
              <a:rPr lang="en-US" sz="2200" b="1" dirty="0"/>
              <a:t>100 User Stories, </a:t>
            </a:r>
            <a:r>
              <a:rPr lang="en-US" sz="2200" dirty="0"/>
              <a:t>Planning Poker would take a long time.</a:t>
            </a:r>
          </a:p>
          <a:p>
            <a:r>
              <a:rPr lang="en-US" sz="2200" dirty="0"/>
              <a:t>Instead, Agile teams use the Bucket System</a:t>
            </a:r>
          </a:p>
          <a:p>
            <a:pPr>
              <a:lnSpc>
                <a:spcPct val="95000"/>
              </a:lnSpc>
            </a:pPr>
            <a:endParaRPr lang="en-IN" sz="2200" dirty="0"/>
          </a:p>
        </p:txBody>
      </p:sp>
      <p:sp>
        <p:nvSpPr>
          <p:cNvPr id="6" name="TextBox 5">
            <a:extLst>
              <a:ext uri="{FF2B5EF4-FFF2-40B4-BE49-F238E27FC236}">
                <a16:creationId xmlns:a16="http://schemas.microsoft.com/office/drawing/2014/main" id="{6348CBA0-EA9B-39E2-E864-6638691095E8}"/>
              </a:ext>
            </a:extLst>
          </p:cNvPr>
          <p:cNvSpPr txBox="1"/>
          <p:nvPr/>
        </p:nvSpPr>
        <p:spPr>
          <a:xfrm>
            <a:off x="604461" y="1772816"/>
            <a:ext cx="8427307" cy="752514"/>
          </a:xfrm>
          <a:prstGeom prst="rect">
            <a:avLst/>
          </a:prstGeom>
          <a:noFill/>
        </p:spPr>
        <p:txBody>
          <a:bodyPr wrap="none" rtlCol="0">
            <a:spAutoFit/>
          </a:bodyPr>
          <a:lstStyle/>
          <a:p>
            <a:r>
              <a:rPr lang="en-US" sz="2200" dirty="0"/>
              <a:t>Pick one story at a time. Place it into the appropriate bucket.</a:t>
            </a:r>
          </a:p>
          <a:p>
            <a:pPr>
              <a:lnSpc>
                <a:spcPct val="95000"/>
              </a:lnSpc>
            </a:pPr>
            <a:endParaRPr lang="en-IN" sz="2200" dirty="0"/>
          </a:p>
        </p:txBody>
      </p:sp>
      <p:sp>
        <p:nvSpPr>
          <p:cNvPr id="7" name="TextBox 6">
            <a:extLst>
              <a:ext uri="{FF2B5EF4-FFF2-40B4-BE49-F238E27FC236}">
                <a16:creationId xmlns:a16="http://schemas.microsoft.com/office/drawing/2014/main" id="{7A9111B8-5094-7D9A-35D5-75E6438AA4B7}"/>
              </a:ext>
            </a:extLst>
          </p:cNvPr>
          <p:cNvSpPr txBox="1"/>
          <p:nvPr/>
        </p:nvSpPr>
        <p:spPr>
          <a:xfrm>
            <a:off x="621804" y="2525330"/>
            <a:ext cx="2520280" cy="1378839"/>
          </a:xfrm>
          <a:prstGeom prst="rect">
            <a:avLst/>
          </a:prstGeom>
          <a:noFill/>
        </p:spPr>
        <p:txBody>
          <a:bodyPr wrap="square" rtlCol="0">
            <a:spAutoFit/>
          </a:bodyPr>
          <a:lstStyle/>
          <a:p>
            <a:pPr>
              <a:lnSpc>
                <a:spcPct val="95000"/>
              </a:lnSpc>
            </a:pPr>
            <a:r>
              <a:rPr lang="en-US" sz="2200" dirty="0"/>
              <a:t>Bucket 2</a:t>
            </a:r>
          </a:p>
          <a:p>
            <a:pPr>
              <a:lnSpc>
                <a:spcPct val="95000"/>
              </a:lnSpc>
            </a:pPr>
            <a:r>
              <a:rPr lang="en-US" sz="2200" dirty="0"/>
              <a:t>Student Login</a:t>
            </a:r>
          </a:p>
          <a:p>
            <a:pPr>
              <a:lnSpc>
                <a:spcPct val="95000"/>
              </a:lnSpc>
            </a:pPr>
            <a:r>
              <a:rPr lang="en-US" sz="2200" dirty="0"/>
              <a:t>Faculty Login</a:t>
            </a:r>
          </a:p>
          <a:p>
            <a:pPr>
              <a:lnSpc>
                <a:spcPct val="95000"/>
              </a:lnSpc>
            </a:pPr>
            <a:endParaRPr lang="en-US" sz="2200" dirty="0"/>
          </a:p>
        </p:txBody>
      </p:sp>
      <p:sp>
        <p:nvSpPr>
          <p:cNvPr id="8" name="TextBox 7">
            <a:extLst>
              <a:ext uri="{FF2B5EF4-FFF2-40B4-BE49-F238E27FC236}">
                <a16:creationId xmlns:a16="http://schemas.microsoft.com/office/drawing/2014/main" id="{177CB149-ECF4-061A-1587-781209DDEA37}"/>
              </a:ext>
            </a:extLst>
          </p:cNvPr>
          <p:cNvSpPr txBox="1"/>
          <p:nvPr/>
        </p:nvSpPr>
        <p:spPr>
          <a:xfrm>
            <a:off x="3188688" y="2525330"/>
            <a:ext cx="1941557" cy="1057212"/>
          </a:xfrm>
          <a:prstGeom prst="rect">
            <a:avLst/>
          </a:prstGeom>
          <a:noFill/>
        </p:spPr>
        <p:txBody>
          <a:bodyPr wrap="square" rtlCol="0">
            <a:spAutoFit/>
          </a:bodyPr>
          <a:lstStyle>
            <a:defPPr>
              <a:defRPr lang="en-US"/>
            </a:defPPr>
            <a:lvl1pPr>
              <a:lnSpc>
                <a:spcPct val="95000"/>
              </a:lnSpc>
              <a:defRPr sz="2200"/>
            </a:lvl1pPr>
          </a:lstStyle>
          <a:p>
            <a:r>
              <a:rPr lang="en-IN" dirty="0"/>
              <a:t>Bucket 5 </a:t>
            </a:r>
          </a:p>
          <a:p>
            <a:r>
              <a:rPr lang="en-IN" dirty="0"/>
              <a:t>Attendance </a:t>
            </a:r>
          </a:p>
          <a:p>
            <a:r>
              <a:rPr lang="en-IN" dirty="0"/>
              <a:t>Reports</a:t>
            </a:r>
          </a:p>
        </p:txBody>
      </p:sp>
      <p:sp>
        <p:nvSpPr>
          <p:cNvPr id="9" name="TextBox 8">
            <a:extLst>
              <a:ext uri="{FF2B5EF4-FFF2-40B4-BE49-F238E27FC236}">
                <a16:creationId xmlns:a16="http://schemas.microsoft.com/office/drawing/2014/main" id="{46D6AA00-5989-7E9E-2BCE-1C527FDCE651}"/>
              </a:ext>
            </a:extLst>
          </p:cNvPr>
          <p:cNvSpPr txBox="1"/>
          <p:nvPr/>
        </p:nvSpPr>
        <p:spPr>
          <a:xfrm>
            <a:off x="5590356" y="2540725"/>
            <a:ext cx="1989647" cy="735586"/>
          </a:xfrm>
          <a:prstGeom prst="rect">
            <a:avLst/>
          </a:prstGeom>
          <a:noFill/>
        </p:spPr>
        <p:txBody>
          <a:bodyPr wrap="square" rtlCol="0">
            <a:spAutoFit/>
          </a:bodyPr>
          <a:lstStyle>
            <a:defPPr>
              <a:defRPr lang="en-US"/>
            </a:defPPr>
            <a:lvl1pPr>
              <a:lnSpc>
                <a:spcPct val="95000"/>
              </a:lnSpc>
              <a:defRPr sz="2200"/>
            </a:lvl1pPr>
          </a:lstStyle>
          <a:p>
            <a:r>
              <a:rPr lang="en-IN" dirty="0"/>
              <a:t>Bucket 13 </a:t>
            </a:r>
          </a:p>
          <a:p>
            <a:r>
              <a:rPr lang="en-IN" dirty="0"/>
              <a:t>Fee Payment</a:t>
            </a:r>
          </a:p>
        </p:txBody>
      </p:sp>
      <p:sp>
        <p:nvSpPr>
          <p:cNvPr id="10" name="TextBox 9">
            <a:extLst>
              <a:ext uri="{FF2B5EF4-FFF2-40B4-BE49-F238E27FC236}">
                <a16:creationId xmlns:a16="http://schemas.microsoft.com/office/drawing/2014/main" id="{D92FBE9A-7C32-EE6B-A3DF-27A385BE43C0}"/>
              </a:ext>
            </a:extLst>
          </p:cNvPr>
          <p:cNvSpPr txBox="1"/>
          <p:nvPr/>
        </p:nvSpPr>
        <p:spPr>
          <a:xfrm>
            <a:off x="8040114" y="2525330"/>
            <a:ext cx="4035079" cy="735586"/>
          </a:xfrm>
          <a:prstGeom prst="rect">
            <a:avLst/>
          </a:prstGeom>
          <a:noFill/>
        </p:spPr>
        <p:txBody>
          <a:bodyPr wrap="square" rtlCol="0">
            <a:spAutoFit/>
          </a:bodyPr>
          <a:lstStyle>
            <a:defPPr>
              <a:defRPr lang="en-US"/>
            </a:defPPr>
            <a:lvl1pPr>
              <a:lnSpc>
                <a:spcPct val="95000"/>
              </a:lnSpc>
              <a:defRPr sz="2200"/>
            </a:lvl1pPr>
          </a:lstStyle>
          <a:p>
            <a:r>
              <a:rPr lang="fr-FR" dirty="0" err="1"/>
              <a:t>Bucket</a:t>
            </a:r>
            <a:r>
              <a:rPr lang="fr-FR" dirty="0"/>
              <a:t> 40 </a:t>
            </a:r>
          </a:p>
          <a:p>
            <a:r>
              <a:rPr lang="fr-FR" dirty="0"/>
              <a:t>AI </a:t>
            </a:r>
            <a:r>
              <a:rPr lang="fr-FR" dirty="0" err="1"/>
              <a:t>Recommendation</a:t>
            </a:r>
            <a:r>
              <a:rPr lang="fr-FR" dirty="0"/>
              <a:t> Engine</a:t>
            </a:r>
            <a:endParaRPr lang="en-IN" dirty="0"/>
          </a:p>
        </p:txBody>
      </p:sp>
    </p:spTree>
    <p:extLst>
      <p:ext uri="{BB962C8B-B14F-4D97-AF65-F5344CB8AC3E}">
        <p14:creationId xmlns:p14="http://schemas.microsoft.com/office/powerpoint/2010/main" val="2992808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7306C5A-B86F-A155-ED1E-6A20974F1A44}"/>
              </a:ext>
            </a:extLst>
          </p:cNvPr>
          <p:cNvSpPr txBox="1"/>
          <p:nvPr/>
        </p:nvSpPr>
        <p:spPr>
          <a:xfrm>
            <a:off x="765820" y="404664"/>
            <a:ext cx="5016117" cy="443198"/>
          </a:xfrm>
          <a:prstGeom prst="rect">
            <a:avLst/>
          </a:prstGeom>
          <a:noFill/>
        </p:spPr>
        <p:txBody>
          <a:bodyPr wrap="square" rtlCol="0">
            <a:spAutoFit/>
          </a:bodyPr>
          <a:lstStyle>
            <a:defPPr>
              <a:defRPr lang="en-US"/>
            </a:defPPr>
            <a:lvl1pPr>
              <a:defRPr sz="2200" b="1">
                <a:solidFill>
                  <a:srgbClr val="FF0000"/>
                </a:solidFill>
              </a:defRPr>
            </a:lvl1pPr>
          </a:lstStyle>
          <a:p>
            <a:r>
              <a:rPr lang="en-US" dirty="0"/>
              <a:t>5. Large / Uncertain / Small (LUS)</a:t>
            </a:r>
            <a:endParaRPr lang="en-IN" dirty="0"/>
          </a:p>
        </p:txBody>
      </p:sp>
      <p:sp>
        <p:nvSpPr>
          <p:cNvPr id="5" name="TextBox 4">
            <a:extLst>
              <a:ext uri="{FF2B5EF4-FFF2-40B4-BE49-F238E27FC236}">
                <a16:creationId xmlns:a16="http://schemas.microsoft.com/office/drawing/2014/main" id="{9E799417-43F2-3A81-51D7-F96B88BA11B3}"/>
              </a:ext>
            </a:extLst>
          </p:cNvPr>
          <p:cNvSpPr txBox="1"/>
          <p:nvPr/>
        </p:nvSpPr>
        <p:spPr>
          <a:xfrm>
            <a:off x="776266" y="1052736"/>
            <a:ext cx="10801200" cy="1091068"/>
          </a:xfrm>
          <a:prstGeom prst="rect">
            <a:avLst/>
          </a:prstGeom>
          <a:noFill/>
        </p:spPr>
        <p:txBody>
          <a:bodyPr wrap="square" rtlCol="0">
            <a:spAutoFit/>
          </a:bodyPr>
          <a:lstStyle/>
          <a:p>
            <a:r>
              <a:rPr lang="en-US" sz="2200" dirty="0"/>
              <a:t>Sometimes teams don't need exact numbers. Instead they classify stories into three categories.</a:t>
            </a:r>
          </a:p>
          <a:p>
            <a:pPr>
              <a:lnSpc>
                <a:spcPct val="95000"/>
              </a:lnSpc>
            </a:pPr>
            <a:endParaRPr lang="en-IN" sz="2200" dirty="0"/>
          </a:p>
        </p:txBody>
      </p:sp>
      <p:graphicFrame>
        <p:nvGraphicFramePr>
          <p:cNvPr id="7" name="Table 6">
            <a:extLst>
              <a:ext uri="{FF2B5EF4-FFF2-40B4-BE49-F238E27FC236}">
                <a16:creationId xmlns:a16="http://schemas.microsoft.com/office/drawing/2014/main" id="{FF694303-21F1-EE9D-C37C-FBB634BA898D}"/>
              </a:ext>
            </a:extLst>
          </p:cNvPr>
          <p:cNvGraphicFramePr>
            <a:graphicFrameLocks noGrp="1"/>
          </p:cNvGraphicFramePr>
          <p:nvPr>
            <p:extLst>
              <p:ext uri="{D42A27DB-BD31-4B8C-83A1-F6EECF244321}">
                <p14:modId xmlns:p14="http://schemas.microsoft.com/office/powerpoint/2010/main" val="1269600625"/>
              </p:ext>
            </p:extLst>
          </p:nvPr>
        </p:nvGraphicFramePr>
        <p:xfrm>
          <a:off x="801824" y="1916832"/>
          <a:ext cx="10156824" cy="2286000"/>
        </p:xfrm>
        <a:graphic>
          <a:graphicData uri="http://schemas.openxmlformats.org/drawingml/2006/table">
            <a:tbl>
              <a:tblPr/>
              <a:tblGrid>
                <a:gridCol w="5078412">
                  <a:extLst>
                    <a:ext uri="{9D8B030D-6E8A-4147-A177-3AD203B41FA5}">
                      <a16:colId xmlns:a16="http://schemas.microsoft.com/office/drawing/2014/main" val="2126672934"/>
                    </a:ext>
                  </a:extLst>
                </a:gridCol>
                <a:gridCol w="5078412">
                  <a:extLst>
                    <a:ext uri="{9D8B030D-6E8A-4147-A177-3AD203B41FA5}">
                      <a16:colId xmlns:a16="http://schemas.microsoft.com/office/drawing/2014/main" val="3859580632"/>
                    </a:ext>
                  </a:extLst>
                </a:gridCol>
              </a:tblGrid>
              <a:tr h="457200">
                <a:tc>
                  <a:txBody>
                    <a:bodyPr/>
                    <a:lstStyle/>
                    <a:p>
                      <a:r>
                        <a:rPr lang="en-IN" sz="2200" b="1" dirty="0"/>
                        <a:t>User Story</a:t>
                      </a:r>
                    </a:p>
                  </a:txBody>
                  <a:tcPr anchor="ctr">
                    <a:lnL>
                      <a:noFill/>
                    </a:lnL>
                    <a:lnR>
                      <a:noFill/>
                    </a:lnR>
                    <a:lnT>
                      <a:noFill/>
                    </a:lnT>
                    <a:lnB>
                      <a:noFill/>
                    </a:lnB>
                    <a:noFill/>
                  </a:tcPr>
                </a:tc>
                <a:tc>
                  <a:txBody>
                    <a:bodyPr/>
                    <a:lstStyle/>
                    <a:p>
                      <a:r>
                        <a:rPr lang="en-IN" sz="2200" b="1" dirty="0"/>
                        <a:t>Category</a:t>
                      </a:r>
                    </a:p>
                  </a:txBody>
                  <a:tcPr anchor="ctr">
                    <a:lnL>
                      <a:noFill/>
                    </a:lnL>
                    <a:lnR>
                      <a:noFill/>
                    </a:lnR>
                    <a:lnT>
                      <a:noFill/>
                    </a:lnT>
                    <a:lnB>
                      <a:noFill/>
                    </a:lnB>
                    <a:noFill/>
                  </a:tcPr>
                </a:tc>
                <a:extLst>
                  <a:ext uri="{0D108BD9-81ED-4DB2-BD59-A6C34878D82A}">
                    <a16:rowId xmlns:a16="http://schemas.microsoft.com/office/drawing/2014/main" val="1824531034"/>
                  </a:ext>
                </a:extLst>
              </a:tr>
              <a:tr h="457200">
                <a:tc>
                  <a:txBody>
                    <a:bodyPr/>
                    <a:lstStyle/>
                    <a:p>
                      <a:r>
                        <a:rPr lang="en-IN" sz="2200" dirty="0"/>
                        <a:t>Login</a:t>
                      </a:r>
                    </a:p>
                  </a:txBody>
                  <a:tcPr anchor="ctr">
                    <a:lnL>
                      <a:noFill/>
                    </a:lnL>
                    <a:lnR>
                      <a:noFill/>
                    </a:lnR>
                    <a:lnT>
                      <a:noFill/>
                    </a:lnT>
                    <a:lnB>
                      <a:noFill/>
                    </a:lnB>
                    <a:noFill/>
                  </a:tcPr>
                </a:tc>
                <a:tc>
                  <a:txBody>
                    <a:bodyPr/>
                    <a:lstStyle/>
                    <a:p>
                      <a:r>
                        <a:rPr lang="en-IN" sz="2200"/>
                        <a:t>Small</a:t>
                      </a:r>
                    </a:p>
                  </a:txBody>
                  <a:tcPr anchor="ctr">
                    <a:lnL>
                      <a:noFill/>
                    </a:lnL>
                    <a:lnR>
                      <a:noFill/>
                    </a:lnR>
                    <a:lnT>
                      <a:noFill/>
                    </a:lnT>
                    <a:lnB>
                      <a:noFill/>
                    </a:lnB>
                    <a:noFill/>
                  </a:tcPr>
                </a:tc>
                <a:extLst>
                  <a:ext uri="{0D108BD9-81ED-4DB2-BD59-A6C34878D82A}">
                    <a16:rowId xmlns:a16="http://schemas.microsoft.com/office/drawing/2014/main" val="1447456800"/>
                  </a:ext>
                </a:extLst>
              </a:tr>
              <a:tr h="457200">
                <a:tc>
                  <a:txBody>
                    <a:bodyPr/>
                    <a:lstStyle/>
                    <a:p>
                      <a:r>
                        <a:rPr lang="en-IN" sz="2200"/>
                        <a:t>Attendance</a:t>
                      </a:r>
                    </a:p>
                  </a:txBody>
                  <a:tcPr anchor="ctr">
                    <a:lnL>
                      <a:noFill/>
                    </a:lnL>
                    <a:lnR>
                      <a:noFill/>
                    </a:lnR>
                    <a:lnT>
                      <a:noFill/>
                    </a:lnT>
                    <a:lnB>
                      <a:noFill/>
                    </a:lnB>
                    <a:noFill/>
                  </a:tcPr>
                </a:tc>
                <a:tc>
                  <a:txBody>
                    <a:bodyPr/>
                    <a:lstStyle/>
                    <a:p>
                      <a:r>
                        <a:rPr lang="en-IN" sz="2200"/>
                        <a:t>Small</a:t>
                      </a:r>
                    </a:p>
                  </a:txBody>
                  <a:tcPr anchor="ctr">
                    <a:lnL>
                      <a:noFill/>
                    </a:lnL>
                    <a:lnR>
                      <a:noFill/>
                    </a:lnR>
                    <a:lnT>
                      <a:noFill/>
                    </a:lnT>
                    <a:lnB>
                      <a:noFill/>
                    </a:lnB>
                    <a:noFill/>
                  </a:tcPr>
                </a:tc>
                <a:extLst>
                  <a:ext uri="{0D108BD9-81ED-4DB2-BD59-A6C34878D82A}">
                    <a16:rowId xmlns:a16="http://schemas.microsoft.com/office/drawing/2014/main" val="3958717642"/>
                  </a:ext>
                </a:extLst>
              </a:tr>
              <a:tr h="457200">
                <a:tc>
                  <a:txBody>
                    <a:bodyPr/>
                    <a:lstStyle/>
                    <a:p>
                      <a:r>
                        <a:rPr lang="en-IN" sz="2200"/>
                        <a:t>Fee Payment</a:t>
                      </a:r>
                    </a:p>
                  </a:txBody>
                  <a:tcPr anchor="ctr">
                    <a:lnL>
                      <a:noFill/>
                    </a:lnL>
                    <a:lnR>
                      <a:noFill/>
                    </a:lnR>
                    <a:lnT>
                      <a:noFill/>
                    </a:lnT>
                    <a:lnB>
                      <a:noFill/>
                    </a:lnB>
                    <a:noFill/>
                  </a:tcPr>
                </a:tc>
                <a:tc>
                  <a:txBody>
                    <a:bodyPr/>
                    <a:lstStyle/>
                    <a:p>
                      <a:r>
                        <a:rPr lang="en-IN" sz="2200"/>
                        <a:t>Large</a:t>
                      </a:r>
                    </a:p>
                  </a:txBody>
                  <a:tcPr anchor="ctr">
                    <a:lnL>
                      <a:noFill/>
                    </a:lnL>
                    <a:lnR>
                      <a:noFill/>
                    </a:lnR>
                    <a:lnT>
                      <a:noFill/>
                    </a:lnT>
                    <a:lnB>
                      <a:noFill/>
                    </a:lnB>
                    <a:noFill/>
                  </a:tcPr>
                </a:tc>
                <a:extLst>
                  <a:ext uri="{0D108BD9-81ED-4DB2-BD59-A6C34878D82A}">
                    <a16:rowId xmlns:a16="http://schemas.microsoft.com/office/drawing/2014/main" val="4256230671"/>
                  </a:ext>
                </a:extLst>
              </a:tr>
              <a:tr h="457200">
                <a:tc>
                  <a:txBody>
                    <a:bodyPr/>
                    <a:lstStyle/>
                    <a:p>
                      <a:r>
                        <a:rPr lang="en-IN" sz="2200"/>
                        <a:t>AI Chatbot</a:t>
                      </a:r>
                    </a:p>
                  </a:txBody>
                  <a:tcPr anchor="ctr">
                    <a:lnL>
                      <a:noFill/>
                    </a:lnL>
                    <a:lnR>
                      <a:noFill/>
                    </a:lnR>
                    <a:lnT>
                      <a:noFill/>
                    </a:lnT>
                    <a:lnB>
                      <a:noFill/>
                    </a:lnB>
                    <a:noFill/>
                  </a:tcPr>
                </a:tc>
                <a:tc>
                  <a:txBody>
                    <a:bodyPr/>
                    <a:lstStyle/>
                    <a:p>
                      <a:r>
                        <a:rPr lang="en-IN" sz="2200" dirty="0"/>
                        <a:t>Uncertain</a:t>
                      </a:r>
                    </a:p>
                  </a:txBody>
                  <a:tcPr anchor="ctr">
                    <a:lnL>
                      <a:noFill/>
                    </a:lnL>
                    <a:lnR>
                      <a:noFill/>
                    </a:lnR>
                    <a:lnT>
                      <a:noFill/>
                    </a:lnT>
                    <a:lnB>
                      <a:noFill/>
                    </a:lnB>
                    <a:noFill/>
                  </a:tcPr>
                </a:tc>
                <a:extLst>
                  <a:ext uri="{0D108BD9-81ED-4DB2-BD59-A6C34878D82A}">
                    <a16:rowId xmlns:a16="http://schemas.microsoft.com/office/drawing/2014/main" val="3033516153"/>
                  </a:ext>
                </a:extLst>
              </a:tr>
            </a:tbl>
          </a:graphicData>
        </a:graphic>
      </p:graphicFrame>
      <p:sp>
        <p:nvSpPr>
          <p:cNvPr id="8" name="TextBox 7">
            <a:extLst>
              <a:ext uri="{FF2B5EF4-FFF2-40B4-BE49-F238E27FC236}">
                <a16:creationId xmlns:a16="http://schemas.microsoft.com/office/drawing/2014/main" id="{D9D7E7F4-B618-2387-04F7-D2C0B694EB94}"/>
              </a:ext>
            </a:extLst>
          </p:cNvPr>
          <p:cNvSpPr txBox="1"/>
          <p:nvPr/>
        </p:nvSpPr>
        <p:spPr>
          <a:xfrm>
            <a:off x="801824" y="4581128"/>
            <a:ext cx="10775642" cy="1768176"/>
          </a:xfrm>
          <a:prstGeom prst="rect">
            <a:avLst/>
          </a:prstGeom>
          <a:noFill/>
        </p:spPr>
        <p:txBody>
          <a:bodyPr wrap="square" rtlCol="0">
            <a:spAutoFit/>
          </a:bodyPr>
          <a:lstStyle/>
          <a:p>
            <a:r>
              <a:rPr lang="en-US" sz="2200" dirty="0"/>
              <a:t>Suppose your teacher gives three assignments.</a:t>
            </a:r>
          </a:p>
          <a:p>
            <a:pPr marL="342900" indent="-342900">
              <a:buFont typeface="Arial" panose="020B0604020202020204" pitchFamily="34" charset="0"/>
              <a:buChar char="•"/>
            </a:pPr>
            <a:r>
              <a:rPr lang="en-US" sz="2200" dirty="0"/>
              <a:t>One is familiar.</a:t>
            </a:r>
          </a:p>
          <a:p>
            <a:pPr marL="342900" indent="-342900">
              <a:buFont typeface="Arial" panose="020B0604020202020204" pitchFamily="34" charset="0"/>
              <a:buChar char="•"/>
            </a:pPr>
            <a:r>
              <a:rPr lang="en-US" sz="2200" dirty="0"/>
              <a:t>One is lengthy.</a:t>
            </a:r>
          </a:p>
          <a:p>
            <a:pPr marL="342900" indent="-342900">
              <a:buFont typeface="Arial" panose="020B0604020202020204" pitchFamily="34" charset="0"/>
              <a:buChar char="•"/>
            </a:pPr>
            <a:r>
              <a:rPr lang="en-US" sz="2200" dirty="0"/>
              <a:t>One has confusing instructions</a:t>
            </a:r>
          </a:p>
          <a:p>
            <a:pPr>
              <a:lnSpc>
                <a:spcPct val="95000"/>
              </a:lnSpc>
            </a:pPr>
            <a:endParaRPr lang="en-IN" sz="2200" dirty="0"/>
          </a:p>
        </p:txBody>
      </p:sp>
    </p:spTree>
    <p:extLst>
      <p:ext uri="{BB962C8B-B14F-4D97-AF65-F5344CB8AC3E}">
        <p14:creationId xmlns:p14="http://schemas.microsoft.com/office/powerpoint/2010/main" val="90235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6EEE64-40CB-54A5-9902-D907DF7F849E}"/>
              </a:ext>
            </a:extLst>
          </p:cNvPr>
          <p:cNvSpPr txBox="1"/>
          <p:nvPr/>
        </p:nvSpPr>
        <p:spPr>
          <a:xfrm>
            <a:off x="837828" y="404664"/>
            <a:ext cx="3307316" cy="443198"/>
          </a:xfrm>
          <a:prstGeom prst="rect">
            <a:avLst/>
          </a:prstGeom>
          <a:noFill/>
        </p:spPr>
        <p:txBody>
          <a:bodyPr wrap="square" rtlCol="0">
            <a:spAutoFit/>
          </a:bodyPr>
          <a:lstStyle>
            <a:defPPr>
              <a:defRPr lang="en-US"/>
            </a:defPPr>
            <a:lvl1pPr>
              <a:defRPr sz="2200" b="1">
                <a:solidFill>
                  <a:srgbClr val="FF0000"/>
                </a:solidFill>
              </a:defRPr>
            </a:lvl1pPr>
          </a:lstStyle>
          <a:p>
            <a:r>
              <a:rPr lang="en-IN" dirty="0"/>
              <a:t>6. Relative Estimation</a:t>
            </a:r>
          </a:p>
        </p:txBody>
      </p:sp>
      <p:sp>
        <p:nvSpPr>
          <p:cNvPr id="5" name="TextBox 4">
            <a:extLst>
              <a:ext uri="{FF2B5EF4-FFF2-40B4-BE49-F238E27FC236}">
                <a16:creationId xmlns:a16="http://schemas.microsoft.com/office/drawing/2014/main" id="{4F1C5A3D-AEB1-24A7-40CC-771655EE4589}"/>
              </a:ext>
            </a:extLst>
          </p:cNvPr>
          <p:cNvSpPr txBox="1"/>
          <p:nvPr/>
        </p:nvSpPr>
        <p:spPr>
          <a:xfrm>
            <a:off x="837828" y="980728"/>
            <a:ext cx="7939994" cy="413959"/>
          </a:xfrm>
          <a:prstGeom prst="rect">
            <a:avLst/>
          </a:prstGeom>
          <a:noFill/>
        </p:spPr>
        <p:txBody>
          <a:bodyPr wrap="none" rtlCol="0">
            <a:spAutoFit/>
          </a:bodyPr>
          <a:lstStyle/>
          <a:p>
            <a:pPr>
              <a:lnSpc>
                <a:spcPct val="95000"/>
              </a:lnSpc>
            </a:pPr>
            <a:r>
              <a:rPr lang="en-US" sz="2200" dirty="0"/>
              <a:t>This is the foundation of most Agile estimation techniques</a:t>
            </a:r>
            <a:endParaRPr lang="en-IN" sz="2200" dirty="0"/>
          </a:p>
        </p:txBody>
      </p:sp>
      <p:sp>
        <p:nvSpPr>
          <p:cNvPr id="6" name="TextBox 5">
            <a:extLst>
              <a:ext uri="{FF2B5EF4-FFF2-40B4-BE49-F238E27FC236}">
                <a16:creationId xmlns:a16="http://schemas.microsoft.com/office/drawing/2014/main" id="{7CD44359-C0DD-A339-D0AC-A9805EEA21AD}"/>
              </a:ext>
            </a:extLst>
          </p:cNvPr>
          <p:cNvSpPr txBox="1"/>
          <p:nvPr/>
        </p:nvSpPr>
        <p:spPr>
          <a:xfrm>
            <a:off x="837828" y="1526476"/>
            <a:ext cx="9649072" cy="752514"/>
          </a:xfrm>
          <a:prstGeom prst="rect">
            <a:avLst/>
          </a:prstGeom>
          <a:noFill/>
        </p:spPr>
        <p:txBody>
          <a:bodyPr wrap="square" rtlCol="0">
            <a:spAutoFit/>
          </a:bodyPr>
          <a:lstStyle/>
          <a:p>
            <a:r>
              <a:rPr lang="en-US" sz="2200" dirty="0"/>
              <a:t>Instead of estimating exact hours, compare one story with another</a:t>
            </a:r>
          </a:p>
          <a:p>
            <a:pPr>
              <a:lnSpc>
                <a:spcPct val="95000"/>
              </a:lnSpc>
            </a:pPr>
            <a:endParaRPr lang="en-IN" sz="2200" dirty="0"/>
          </a:p>
        </p:txBody>
      </p:sp>
      <p:graphicFrame>
        <p:nvGraphicFramePr>
          <p:cNvPr id="8" name="Table 7">
            <a:extLst>
              <a:ext uri="{FF2B5EF4-FFF2-40B4-BE49-F238E27FC236}">
                <a16:creationId xmlns:a16="http://schemas.microsoft.com/office/drawing/2014/main" id="{90AD20CE-7CA4-790A-39B3-A42358D69625}"/>
              </a:ext>
            </a:extLst>
          </p:cNvPr>
          <p:cNvGraphicFramePr>
            <a:graphicFrameLocks noGrp="1"/>
          </p:cNvGraphicFramePr>
          <p:nvPr>
            <p:extLst>
              <p:ext uri="{D42A27DB-BD31-4B8C-83A1-F6EECF244321}">
                <p14:modId xmlns:p14="http://schemas.microsoft.com/office/powerpoint/2010/main" val="2409973065"/>
              </p:ext>
            </p:extLst>
          </p:nvPr>
        </p:nvGraphicFramePr>
        <p:xfrm>
          <a:off x="840972" y="2251404"/>
          <a:ext cx="9069864" cy="2286000"/>
        </p:xfrm>
        <a:graphic>
          <a:graphicData uri="http://schemas.openxmlformats.org/drawingml/2006/table">
            <a:tbl>
              <a:tblPr/>
              <a:tblGrid>
                <a:gridCol w="2119155">
                  <a:extLst>
                    <a:ext uri="{9D8B030D-6E8A-4147-A177-3AD203B41FA5}">
                      <a16:colId xmlns:a16="http://schemas.microsoft.com/office/drawing/2014/main" val="1568067537"/>
                    </a:ext>
                  </a:extLst>
                </a:gridCol>
                <a:gridCol w="6950709">
                  <a:extLst>
                    <a:ext uri="{9D8B030D-6E8A-4147-A177-3AD203B41FA5}">
                      <a16:colId xmlns:a16="http://schemas.microsoft.com/office/drawing/2014/main" val="3397943353"/>
                    </a:ext>
                  </a:extLst>
                </a:gridCol>
              </a:tblGrid>
              <a:tr h="457200">
                <a:tc>
                  <a:txBody>
                    <a:bodyPr/>
                    <a:lstStyle/>
                    <a:p>
                      <a:r>
                        <a:rPr lang="en-IN" sz="2200" b="1"/>
                        <a:t>User Story</a:t>
                      </a:r>
                    </a:p>
                  </a:txBody>
                  <a:tcPr anchor="ctr">
                    <a:lnL>
                      <a:noFill/>
                    </a:lnL>
                    <a:lnR>
                      <a:noFill/>
                    </a:lnR>
                    <a:lnT>
                      <a:noFill/>
                    </a:lnT>
                    <a:lnB>
                      <a:noFill/>
                    </a:lnB>
                    <a:noFill/>
                  </a:tcPr>
                </a:tc>
                <a:tc>
                  <a:txBody>
                    <a:bodyPr/>
                    <a:lstStyle/>
                    <a:p>
                      <a:r>
                        <a:rPr lang="en-IN" sz="2200" b="1" dirty="0"/>
                        <a:t>Relative Size</a:t>
                      </a:r>
                    </a:p>
                  </a:txBody>
                  <a:tcPr anchor="ctr">
                    <a:lnL>
                      <a:noFill/>
                    </a:lnL>
                    <a:lnR>
                      <a:noFill/>
                    </a:lnR>
                    <a:lnT>
                      <a:noFill/>
                    </a:lnT>
                    <a:lnB>
                      <a:noFill/>
                    </a:lnB>
                    <a:noFill/>
                  </a:tcPr>
                </a:tc>
                <a:extLst>
                  <a:ext uri="{0D108BD9-81ED-4DB2-BD59-A6C34878D82A}">
                    <a16:rowId xmlns:a16="http://schemas.microsoft.com/office/drawing/2014/main" val="2361200955"/>
                  </a:ext>
                </a:extLst>
              </a:tr>
              <a:tr h="457200">
                <a:tc>
                  <a:txBody>
                    <a:bodyPr/>
                    <a:lstStyle/>
                    <a:p>
                      <a:r>
                        <a:rPr lang="en-IN" sz="2200"/>
                        <a:t>Login</a:t>
                      </a:r>
                    </a:p>
                  </a:txBody>
                  <a:tcPr anchor="ctr">
                    <a:lnL>
                      <a:noFill/>
                    </a:lnL>
                    <a:lnR>
                      <a:noFill/>
                    </a:lnR>
                    <a:lnT>
                      <a:noFill/>
                    </a:lnT>
                    <a:lnB>
                      <a:noFill/>
                    </a:lnB>
                    <a:noFill/>
                  </a:tcPr>
                </a:tc>
                <a:tc>
                  <a:txBody>
                    <a:bodyPr/>
                    <a:lstStyle/>
                    <a:p>
                      <a:r>
                        <a:rPr lang="en-IN" sz="2200"/>
                        <a:t>2</a:t>
                      </a:r>
                    </a:p>
                  </a:txBody>
                  <a:tcPr anchor="ctr">
                    <a:lnL>
                      <a:noFill/>
                    </a:lnL>
                    <a:lnR>
                      <a:noFill/>
                    </a:lnR>
                    <a:lnT>
                      <a:noFill/>
                    </a:lnT>
                    <a:lnB>
                      <a:noFill/>
                    </a:lnB>
                    <a:noFill/>
                  </a:tcPr>
                </a:tc>
                <a:extLst>
                  <a:ext uri="{0D108BD9-81ED-4DB2-BD59-A6C34878D82A}">
                    <a16:rowId xmlns:a16="http://schemas.microsoft.com/office/drawing/2014/main" val="2933985243"/>
                  </a:ext>
                </a:extLst>
              </a:tr>
              <a:tr h="457200">
                <a:tc>
                  <a:txBody>
                    <a:bodyPr/>
                    <a:lstStyle/>
                    <a:p>
                      <a:r>
                        <a:rPr lang="en-IN" sz="2200"/>
                        <a:t>Registration</a:t>
                      </a:r>
                    </a:p>
                  </a:txBody>
                  <a:tcPr anchor="ctr">
                    <a:lnL>
                      <a:noFill/>
                    </a:lnL>
                    <a:lnR>
                      <a:noFill/>
                    </a:lnR>
                    <a:lnT>
                      <a:noFill/>
                    </a:lnT>
                    <a:lnB>
                      <a:noFill/>
                    </a:lnB>
                    <a:noFill/>
                  </a:tcPr>
                </a:tc>
                <a:tc>
                  <a:txBody>
                    <a:bodyPr/>
                    <a:lstStyle/>
                    <a:p>
                      <a:r>
                        <a:rPr lang="en-IN" sz="2200"/>
                        <a:t>3</a:t>
                      </a:r>
                    </a:p>
                  </a:txBody>
                  <a:tcPr anchor="ctr">
                    <a:lnL>
                      <a:noFill/>
                    </a:lnL>
                    <a:lnR>
                      <a:noFill/>
                    </a:lnR>
                    <a:lnT>
                      <a:noFill/>
                    </a:lnT>
                    <a:lnB>
                      <a:noFill/>
                    </a:lnB>
                    <a:noFill/>
                  </a:tcPr>
                </a:tc>
                <a:extLst>
                  <a:ext uri="{0D108BD9-81ED-4DB2-BD59-A6C34878D82A}">
                    <a16:rowId xmlns:a16="http://schemas.microsoft.com/office/drawing/2014/main" val="3438179371"/>
                  </a:ext>
                </a:extLst>
              </a:tr>
              <a:tr h="457200">
                <a:tc>
                  <a:txBody>
                    <a:bodyPr/>
                    <a:lstStyle/>
                    <a:p>
                      <a:r>
                        <a:rPr lang="en-IN" sz="2200" dirty="0"/>
                        <a:t>Attendance</a:t>
                      </a:r>
                    </a:p>
                  </a:txBody>
                  <a:tcPr anchor="ctr">
                    <a:lnL>
                      <a:noFill/>
                    </a:lnL>
                    <a:lnR>
                      <a:noFill/>
                    </a:lnR>
                    <a:lnT>
                      <a:noFill/>
                    </a:lnT>
                    <a:lnB>
                      <a:noFill/>
                    </a:lnB>
                    <a:noFill/>
                  </a:tcPr>
                </a:tc>
                <a:tc>
                  <a:txBody>
                    <a:bodyPr/>
                    <a:lstStyle/>
                    <a:p>
                      <a:r>
                        <a:rPr lang="en-IN" sz="2200"/>
                        <a:t>5</a:t>
                      </a:r>
                    </a:p>
                  </a:txBody>
                  <a:tcPr anchor="ctr">
                    <a:lnL>
                      <a:noFill/>
                    </a:lnL>
                    <a:lnR>
                      <a:noFill/>
                    </a:lnR>
                    <a:lnT>
                      <a:noFill/>
                    </a:lnT>
                    <a:lnB>
                      <a:noFill/>
                    </a:lnB>
                    <a:noFill/>
                  </a:tcPr>
                </a:tc>
                <a:extLst>
                  <a:ext uri="{0D108BD9-81ED-4DB2-BD59-A6C34878D82A}">
                    <a16:rowId xmlns:a16="http://schemas.microsoft.com/office/drawing/2014/main" val="3908059036"/>
                  </a:ext>
                </a:extLst>
              </a:tr>
              <a:tr h="457200">
                <a:tc>
                  <a:txBody>
                    <a:bodyPr/>
                    <a:lstStyle/>
                    <a:p>
                      <a:r>
                        <a:rPr lang="en-IN" sz="2200"/>
                        <a:t>Fee Payment</a:t>
                      </a:r>
                    </a:p>
                  </a:txBody>
                  <a:tcPr anchor="ctr">
                    <a:lnL>
                      <a:noFill/>
                    </a:lnL>
                    <a:lnR>
                      <a:noFill/>
                    </a:lnR>
                    <a:lnT>
                      <a:noFill/>
                    </a:lnT>
                    <a:lnB>
                      <a:noFill/>
                    </a:lnB>
                    <a:noFill/>
                  </a:tcPr>
                </a:tc>
                <a:tc>
                  <a:txBody>
                    <a:bodyPr/>
                    <a:lstStyle/>
                    <a:p>
                      <a:r>
                        <a:rPr lang="en-IN" sz="2200" dirty="0"/>
                        <a:t>8</a:t>
                      </a:r>
                    </a:p>
                  </a:txBody>
                  <a:tcPr anchor="ctr">
                    <a:lnL>
                      <a:noFill/>
                    </a:lnL>
                    <a:lnR>
                      <a:noFill/>
                    </a:lnR>
                    <a:lnT>
                      <a:noFill/>
                    </a:lnT>
                    <a:lnB>
                      <a:noFill/>
                    </a:lnB>
                    <a:noFill/>
                  </a:tcPr>
                </a:tc>
                <a:extLst>
                  <a:ext uri="{0D108BD9-81ED-4DB2-BD59-A6C34878D82A}">
                    <a16:rowId xmlns:a16="http://schemas.microsoft.com/office/drawing/2014/main" val="4270295974"/>
                  </a:ext>
                </a:extLst>
              </a:tr>
            </a:tbl>
          </a:graphicData>
        </a:graphic>
      </p:graphicFrame>
    </p:spTree>
    <p:extLst>
      <p:ext uri="{BB962C8B-B14F-4D97-AF65-F5344CB8AC3E}">
        <p14:creationId xmlns:p14="http://schemas.microsoft.com/office/powerpoint/2010/main" val="2650280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676D93-F19F-2FE7-FBF3-5EC56E240398}"/>
              </a:ext>
            </a:extLst>
          </p:cNvPr>
          <p:cNvSpPr txBox="1"/>
          <p:nvPr/>
        </p:nvSpPr>
        <p:spPr>
          <a:xfrm>
            <a:off x="765820" y="260648"/>
            <a:ext cx="2489784" cy="430887"/>
          </a:xfrm>
          <a:prstGeom prst="rect">
            <a:avLst/>
          </a:prstGeom>
          <a:noFill/>
        </p:spPr>
        <p:txBody>
          <a:bodyPr wrap="square" rtlCol="0">
            <a:spAutoFit/>
          </a:bodyPr>
          <a:lstStyle>
            <a:defPPr>
              <a:defRPr lang="en-US"/>
            </a:defPPr>
            <a:lvl1pPr>
              <a:defRPr sz="2200" b="1">
                <a:solidFill>
                  <a:srgbClr val="FF0000"/>
                </a:solidFill>
              </a:defRPr>
            </a:lvl1pPr>
          </a:lstStyle>
          <a:p>
            <a:r>
              <a:rPr lang="en-IN" dirty="0"/>
              <a:t>7. Story Points ⭐</a:t>
            </a:r>
          </a:p>
        </p:txBody>
      </p:sp>
      <p:sp>
        <p:nvSpPr>
          <p:cNvPr id="5" name="TextBox 4">
            <a:extLst>
              <a:ext uri="{FF2B5EF4-FFF2-40B4-BE49-F238E27FC236}">
                <a16:creationId xmlns:a16="http://schemas.microsoft.com/office/drawing/2014/main" id="{52C047F5-9170-01A4-AB7D-044DB8025726}"/>
              </a:ext>
            </a:extLst>
          </p:cNvPr>
          <p:cNvSpPr txBox="1"/>
          <p:nvPr/>
        </p:nvSpPr>
        <p:spPr>
          <a:xfrm>
            <a:off x="837828" y="908720"/>
            <a:ext cx="7667484" cy="413959"/>
          </a:xfrm>
          <a:prstGeom prst="rect">
            <a:avLst/>
          </a:prstGeom>
          <a:noFill/>
        </p:spPr>
        <p:txBody>
          <a:bodyPr wrap="none" rtlCol="0">
            <a:spAutoFit/>
          </a:bodyPr>
          <a:lstStyle/>
          <a:p>
            <a:pPr>
              <a:lnSpc>
                <a:spcPct val="95000"/>
              </a:lnSpc>
            </a:pPr>
            <a:r>
              <a:rPr lang="en-US" sz="2200" dirty="0"/>
              <a:t>Story Points are the most common Agile estimation unit</a:t>
            </a:r>
            <a:endParaRPr lang="en-IN" sz="2200" dirty="0"/>
          </a:p>
        </p:txBody>
      </p:sp>
      <p:sp>
        <p:nvSpPr>
          <p:cNvPr id="6" name="TextBox 5">
            <a:extLst>
              <a:ext uri="{FF2B5EF4-FFF2-40B4-BE49-F238E27FC236}">
                <a16:creationId xmlns:a16="http://schemas.microsoft.com/office/drawing/2014/main" id="{753B4D1E-A891-FF1E-5E95-E691C1A37980}"/>
              </a:ext>
            </a:extLst>
          </p:cNvPr>
          <p:cNvSpPr txBox="1"/>
          <p:nvPr/>
        </p:nvSpPr>
        <p:spPr>
          <a:xfrm>
            <a:off x="821703" y="1539864"/>
            <a:ext cx="10745318" cy="2343719"/>
          </a:xfrm>
          <a:prstGeom prst="rect">
            <a:avLst/>
          </a:prstGeom>
          <a:noFill/>
        </p:spPr>
        <p:txBody>
          <a:bodyPr wrap="square" rtlCol="0">
            <a:spAutoFit/>
          </a:bodyPr>
          <a:lstStyle>
            <a:defPPr>
              <a:defRPr lang="en-US"/>
            </a:defPPr>
            <a:lvl1pPr>
              <a:lnSpc>
                <a:spcPct val="95000"/>
              </a:lnSpc>
              <a:defRPr sz="2200"/>
            </a:lvl1pPr>
          </a:lstStyle>
          <a:p>
            <a:r>
              <a:rPr lang="en-US" b="1" dirty="0"/>
              <a:t>Complexity: </a:t>
            </a:r>
            <a:r>
              <a:rPr lang="en-US" dirty="0"/>
              <a:t>How difficult is the user story? Does it require a lot of steps to complete?</a:t>
            </a:r>
          </a:p>
          <a:p>
            <a:r>
              <a:rPr lang="en-US" b="1" dirty="0"/>
              <a:t>Risk: </a:t>
            </a:r>
            <a:r>
              <a:rPr lang="en-US" dirty="0"/>
              <a:t>What are the potential risks involved? These could include uncertainty or dependence on a third party.</a:t>
            </a:r>
          </a:p>
          <a:p>
            <a:r>
              <a:rPr lang="en-US" b="1" dirty="0"/>
              <a:t>Repetition: </a:t>
            </a:r>
            <a:r>
              <a:rPr lang="en-US" dirty="0"/>
              <a:t>How monotonous are the tasks? When a team member is familiar with certain tasks, the complexity and risk factors are reduced.</a:t>
            </a:r>
          </a:p>
          <a:p>
            <a:endParaRPr lang="en-IN" dirty="0"/>
          </a:p>
        </p:txBody>
      </p:sp>
      <p:sp>
        <p:nvSpPr>
          <p:cNvPr id="7" name="TextBox 6">
            <a:extLst>
              <a:ext uri="{FF2B5EF4-FFF2-40B4-BE49-F238E27FC236}">
                <a16:creationId xmlns:a16="http://schemas.microsoft.com/office/drawing/2014/main" id="{768C30E9-D8DE-8D43-7AB8-D308AB186392}"/>
              </a:ext>
            </a:extLst>
          </p:cNvPr>
          <p:cNvSpPr txBox="1"/>
          <p:nvPr/>
        </p:nvSpPr>
        <p:spPr>
          <a:xfrm>
            <a:off x="837828" y="3789040"/>
            <a:ext cx="9804287" cy="413959"/>
          </a:xfrm>
          <a:prstGeom prst="rect">
            <a:avLst/>
          </a:prstGeom>
          <a:noFill/>
        </p:spPr>
        <p:txBody>
          <a:bodyPr wrap="none" rtlCol="0">
            <a:spAutoFit/>
          </a:bodyPr>
          <a:lstStyle>
            <a:defPPr>
              <a:defRPr lang="en-US"/>
            </a:defPPr>
            <a:lvl1pPr>
              <a:lnSpc>
                <a:spcPct val="95000"/>
              </a:lnSpc>
              <a:defRPr sz="2200"/>
            </a:lvl1pPr>
          </a:lstStyle>
          <a:p>
            <a:r>
              <a:rPr lang="en-US" dirty="0"/>
              <a:t>All of these elements must combine for accurate story point estimation</a:t>
            </a:r>
            <a:endParaRPr lang="en-IN" dirty="0"/>
          </a:p>
        </p:txBody>
      </p:sp>
    </p:spTree>
    <p:extLst>
      <p:ext uri="{BB962C8B-B14F-4D97-AF65-F5344CB8AC3E}">
        <p14:creationId xmlns:p14="http://schemas.microsoft.com/office/powerpoint/2010/main" val="1009933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C8F0886-2EFE-14F5-CDC5-8F537707C841}"/>
              </a:ext>
            </a:extLst>
          </p:cNvPr>
          <p:cNvSpPr txBox="1"/>
          <p:nvPr/>
        </p:nvSpPr>
        <p:spPr>
          <a:xfrm>
            <a:off x="981844" y="404664"/>
            <a:ext cx="5307863" cy="443198"/>
          </a:xfrm>
          <a:prstGeom prst="rect">
            <a:avLst/>
          </a:prstGeom>
          <a:noFill/>
        </p:spPr>
        <p:txBody>
          <a:bodyPr wrap="square" rtlCol="0">
            <a:spAutoFit/>
          </a:bodyPr>
          <a:lstStyle>
            <a:defPPr>
              <a:defRPr lang="en-US"/>
            </a:defPPr>
            <a:lvl1pPr>
              <a:defRPr sz="2200" b="1">
                <a:solidFill>
                  <a:srgbClr val="FF0000"/>
                </a:solidFill>
              </a:defRPr>
            </a:lvl1pPr>
          </a:lstStyle>
          <a:p>
            <a:r>
              <a:rPr lang="en-US" dirty="0"/>
              <a:t>8. Estimation Based on Velocity 🚀</a:t>
            </a:r>
            <a:endParaRPr lang="en-IN" dirty="0"/>
          </a:p>
        </p:txBody>
      </p:sp>
      <p:sp>
        <p:nvSpPr>
          <p:cNvPr id="5" name="TextBox 4">
            <a:extLst>
              <a:ext uri="{FF2B5EF4-FFF2-40B4-BE49-F238E27FC236}">
                <a16:creationId xmlns:a16="http://schemas.microsoft.com/office/drawing/2014/main" id="{38117FEA-CAC3-4743-D162-6BFC82D43985}"/>
              </a:ext>
            </a:extLst>
          </p:cNvPr>
          <p:cNvSpPr txBox="1"/>
          <p:nvPr/>
        </p:nvSpPr>
        <p:spPr>
          <a:xfrm>
            <a:off x="765820" y="980728"/>
            <a:ext cx="10022295" cy="1091068"/>
          </a:xfrm>
          <a:prstGeom prst="rect">
            <a:avLst/>
          </a:prstGeom>
          <a:noFill/>
        </p:spPr>
        <p:txBody>
          <a:bodyPr wrap="none" rtlCol="0">
            <a:spAutoFit/>
          </a:bodyPr>
          <a:lstStyle/>
          <a:p>
            <a:r>
              <a:rPr lang="en-US" sz="2200" dirty="0"/>
              <a:t>After several sprints, teams know how much work they usually complete.</a:t>
            </a:r>
          </a:p>
          <a:p>
            <a:r>
              <a:rPr lang="en-US" sz="2200" dirty="0"/>
              <a:t>This average is called </a:t>
            </a:r>
            <a:r>
              <a:rPr lang="en-US" sz="2200" b="1" dirty="0"/>
              <a:t>Velocity</a:t>
            </a:r>
            <a:endParaRPr lang="en-US" sz="2200" dirty="0"/>
          </a:p>
          <a:p>
            <a:pPr>
              <a:lnSpc>
                <a:spcPct val="95000"/>
              </a:lnSpc>
            </a:pPr>
            <a:endParaRPr lang="en-IN" sz="2200" dirty="0"/>
          </a:p>
        </p:txBody>
      </p:sp>
      <p:graphicFrame>
        <p:nvGraphicFramePr>
          <p:cNvPr id="7" name="Table 6">
            <a:extLst>
              <a:ext uri="{FF2B5EF4-FFF2-40B4-BE49-F238E27FC236}">
                <a16:creationId xmlns:a16="http://schemas.microsoft.com/office/drawing/2014/main" id="{46FAAA60-88B3-FAFC-4A2A-4CECA6F5FA74}"/>
              </a:ext>
            </a:extLst>
          </p:cNvPr>
          <p:cNvGraphicFramePr>
            <a:graphicFrameLocks noGrp="1"/>
          </p:cNvGraphicFramePr>
          <p:nvPr>
            <p:extLst>
              <p:ext uri="{D42A27DB-BD31-4B8C-83A1-F6EECF244321}">
                <p14:modId xmlns:p14="http://schemas.microsoft.com/office/powerpoint/2010/main" val="2301641659"/>
              </p:ext>
            </p:extLst>
          </p:nvPr>
        </p:nvGraphicFramePr>
        <p:xfrm>
          <a:off x="789706" y="1916832"/>
          <a:ext cx="10156824" cy="1828800"/>
        </p:xfrm>
        <a:graphic>
          <a:graphicData uri="http://schemas.openxmlformats.org/drawingml/2006/table">
            <a:tbl>
              <a:tblPr/>
              <a:tblGrid>
                <a:gridCol w="3144466">
                  <a:extLst>
                    <a:ext uri="{9D8B030D-6E8A-4147-A177-3AD203B41FA5}">
                      <a16:colId xmlns:a16="http://schemas.microsoft.com/office/drawing/2014/main" val="3401270696"/>
                    </a:ext>
                  </a:extLst>
                </a:gridCol>
                <a:gridCol w="7012358">
                  <a:extLst>
                    <a:ext uri="{9D8B030D-6E8A-4147-A177-3AD203B41FA5}">
                      <a16:colId xmlns:a16="http://schemas.microsoft.com/office/drawing/2014/main" val="1658554103"/>
                    </a:ext>
                  </a:extLst>
                </a:gridCol>
              </a:tblGrid>
              <a:tr h="457200">
                <a:tc>
                  <a:txBody>
                    <a:bodyPr/>
                    <a:lstStyle/>
                    <a:p>
                      <a:r>
                        <a:rPr lang="en-IN" sz="2200" b="1"/>
                        <a:t>Sprint</a:t>
                      </a:r>
                    </a:p>
                  </a:txBody>
                  <a:tcPr anchor="ctr">
                    <a:lnL>
                      <a:noFill/>
                    </a:lnL>
                    <a:lnR>
                      <a:noFill/>
                    </a:lnR>
                    <a:lnT>
                      <a:noFill/>
                    </a:lnT>
                    <a:lnB>
                      <a:noFill/>
                    </a:lnB>
                    <a:noFill/>
                  </a:tcPr>
                </a:tc>
                <a:tc>
                  <a:txBody>
                    <a:bodyPr/>
                    <a:lstStyle/>
                    <a:p>
                      <a:r>
                        <a:rPr lang="en-IN" sz="2200" b="1" dirty="0"/>
                        <a:t>Completed Story Points</a:t>
                      </a:r>
                    </a:p>
                  </a:txBody>
                  <a:tcPr anchor="ctr">
                    <a:lnL>
                      <a:noFill/>
                    </a:lnL>
                    <a:lnR>
                      <a:noFill/>
                    </a:lnR>
                    <a:lnT>
                      <a:noFill/>
                    </a:lnT>
                    <a:lnB>
                      <a:noFill/>
                    </a:lnB>
                    <a:noFill/>
                  </a:tcPr>
                </a:tc>
                <a:extLst>
                  <a:ext uri="{0D108BD9-81ED-4DB2-BD59-A6C34878D82A}">
                    <a16:rowId xmlns:a16="http://schemas.microsoft.com/office/drawing/2014/main" val="1328533324"/>
                  </a:ext>
                </a:extLst>
              </a:tr>
              <a:tr h="457200">
                <a:tc>
                  <a:txBody>
                    <a:bodyPr/>
                    <a:lstStyle/>
                    <a:p>
                      <a:r>
                        <a:rPr lang="en-IN" sz="2200" dirty="0"/>
                        <a:t>Sprint 1</a:t>
                      </a:r>
                    </a:p>
                  </a:txBody>
                  <a:tcPr anchor="ctr">
                    <a:lnL>
                      <a:noFill/>
                    </a:lnL>
                    <a:lnR>
                      <a:noFill/>
                    </a:lnR>
                    <a:lnT>
                      <a:noFill/>
                    </a:lnT>
                    <a:lnB>
                      <a:noFill/>
                    </a:lnB>
                    <a:noFill/>
                  </a:tcPr>
                </a:tc>
                <a:tc>
                  <a:txBody>
                    <a:bodyPr/>
                    <a:lstStyle/>
                    <a:p>
                      <a:r>
                        <a:rPr lang="en-IN" sz="2200"/>
                        <a:t>18</a:t>
                      </a:r>
                    </a:p>
                  </a:txBody>
                  <a:tcPr anchor="ctr">
                    <a:lnL>
                      <a:noFill/>
                    </a:lnL>
                    <a:lnR>
                      <a:noFill/>
                    </a:lnR>
                    <a:lnT>
                      <a:noFill/>
                    </a:lnT>
                    <a:lnB>
                      <a:noFill/>
                    </a:lnB>
                    <a:noFill/>
                  </a:tcPr>
                </a:tc>
                <a:extLst>
                  <a:ext uri="{0D108BD9-81ED-4DB2-BD59-A6C34878D82A}">
                    <a16:rowId xmlns:a16="http://schemas.microsoft.com/office/drawing/2014/main" val="3911882966"/>
                  </a:ext>
                </a:extLst>
              </a:tr>
              <a:tr h="457200">
                <a:tc>
                  <a:txBody>
                    <a:bodyPr/>
                    <a:lstStyle/>
                    <a:p>
                      <a:r>
                        <a:rPr lang="en-IN" sz="2200"/>
                        <a:t>Sprint 2</a:t>
                      </a:r>
                    </a:p>
                  </a:txBody>
                  <a:tcPr anchor="ctr">
                    <a:lnL>
                      <a:noFill/>
                    </a:lnL>
                    <a:lnR>
                      <a:noFill/>
                    </a:lnR>
                    <a:lnT>
                      <a:noFill/>
                    </a:lnT>
                    <a:lnB>
                      <a:noFill/>
                    </a:lnB>
                    <a:noFill/>
                  </a:tcPr>
                </a:tc>
                <a:tc>
                  <a:txBody>
                    <a:bodyPr/>
                    <a:lstStyle/>
                    <a:p>
                      <a:r>
                        <a:rPr lang="en-IN" sz="2200"/>
                        <a:t>20</a:t>
                      </a:r>
                    </a:p>
                  </a:txBody>
                  <a:tcPr anchor="ctr">
                    <a:lnL>
                      <a:noFill/>
                    </a:lnL>
                    <a:lnR>
                      <a:noFill/>
                    </a:lnR>
                    <a:lnT>
                      <a:noFill/>
                    </a:lnT>
                    <a:lnB>
                      <a:noFill/>
                    </a:lnB>
                    <a:noFill/>
                  </a:tcPr>
                </a:tc>
                <a:extLst>
                  <a:ext uri="{0D108BD9-81ED-4DB2-BD59-A6C34878D82A}">
                    <a16:rowId xmlns:a16="http://schemas.microsoft.com/office/drawing/2014/main" val="3422895535"/>
                  </a:ext>
                </a:extLst>
              </a:tr>
              <a:tr h="457200">
                <a:tc>
                  <a:txBody>
                    <a:bodyPr/>
                    <a:lstStyle/>
                    <a:p>
                      <a:r>
                        <a:rPr lang="en-IN" sz="2200"/>
                        <a:t>Sprint 3</a:t>
                      </a:r>
                    </a:p>
                  </a:txBody>
                  <a:tcPr anchor="ctr">
                    <a:lnL>
                      <a:noFill/>
                    </a:lnL>
                    <a:lnR>
                      <a:noFill/>
                    </a:lnR>
                    <a:lnT>
                      <a:noFill/>
                    </a:lnT>
                    <a:lnB>
                      <a:noFill/>
                    </a:lnB>
                    <a:noFill/>
                  </a:tcPr>
                </a:tc>
                <a:tc>
                  <a:txBody>
                    <a:bodyPr/>
                    <a:lstStyle/>
                    <a:p>
                      <a:r>
                        <a:rPr lang="en-IN" sz="2200" dirty="0"/>
                        <a:t>22</a:t>
                      </a:r>
                    </a:p>
                  </a:txBody>
                  <a:tcPr anchor="ctr">
                    <a:lnL>
                      <a:noFill/>
                    </a:lnL>
                    <a:lnR>
                      <a:noFill/>
                    </a:lnR>
                    <a:lnT>
                      <a:noFill/>
                    </a:lnT>
                    <a:lnB>
                      <a:noFill/>
                    </a:lnB>
                    <a:noFill/>
                  </a:tcPr>
                </a:tc>
                <a:extLst>
                  <a:ext uri="{0D108BD9-81ED-4DB2-BD59-A6C34878D82A}">
                    <a16:rowId xmlns:a16="http://schemas.microsoft.com/office/drawing/2014/main" val="1690116830"/>
                  </a:ext>
                </a:extLst>
              </a:tr>
            </a:tbl>
          </a:graphicData>
        </a:graphic>
      </p:graphicFrame>
      <p:sp>
        <p:nvSpPr>
          <p:cNvPr id="8" name="TextBox 7">
            <a:extLst>
              <a:ext uri="{FF2B5EF4-FFF2-40B4-BE49-F238E27FC236}">
                <a16:creationId xmlns:a16="http://schemas.microsoft.com/office/drawing/2014/main" id="{363D3B5A-30AD-E8CA-D4FC-BE268610D1C1}"/>
              </a:ext>
            </a:extLst>
          </p:cNvPr>
          <p:cNvSpPr txBox="1"/>
          <p:nvPr/>
        </p:nvSpPr>
        <p:spPr>
          <a:xfrm>
            <a:off x="6454452" y="2924944"/>
            <a:ext cx="4703532" cy="413959"/>
          </a:xfrm>
          <a:prstGeom prst="rect">
            <a:avLst/>
          </a:prstGeom>
          <a:noFill/>
        </p:spPr>
        <p:txBody>
          <a:bodyPr wrap="none" rtlCol="0">
            <a:spAutoFit/>
          </a:bodyPr>
          <a:lstStyle/>
          <a:p>
            <a:pPr>
              <a:lnSpc>
                <a:spcPct val="95000"/>
              </a:lnSpc>
            </a:pPr>
            <a:r>
              <a:rPr lang="en-US" sz="2200" dirty="0"/>
              <a:t>(18 + 20 + 22) ÷ 3 = 20 Story Points</a:t>
            </a:r>
            <a:endParaRPr lang="en-IN" sz="2200" dirty="0"/>
          </a:p>
        </p:txBody>
      </p:sp>
      <p:sp>
        <p:nvSpPr>
          <p:cNvPr id="9" name="TextBox 8">
            <a:extLst>
              <a:ext uri="{FF2B5EF4-FFF2-40B4-BE49-F238E27FC236}">
                <a16:creationId xmlns:a16="http://schemas.microsoft.com/office/drawing/2014/main" id="{3635B493-90D3-5D3E-1A26-B1B6E4D984C7}"/>
              </a:ext>
            </a:extLst>
          </p:cNvPr>
          <p:cNvSpPr txBox="1"/>
          <p:nvPr/>
        </p:nvSpPr>
        <p:spPr>
          <a:xfrm>
            <a:off x="789706" y="4038933"/>
            <a:ext cx="9145016" cy="1429622"/>
          </a:xfrm>
          <a:prstGeom prst="rect">
            <a:avLst/>
          </a:prstGeom>
          <a:noFill/>
        </p:spPr>
        <p:txBody>
          <a:bodyPr wrap="square" rtlCol="0">
            <a:spAutoFit/>
          </a:bodyPr>
          <a:lstStyle/>
          <a:p>
            <a:r>
              <a:rPr lang="en-US" sz="2200" dirty="0"/>
              <a:t>Suppose the Product Backlog contains </a:t>
            </a:r>
            <a:r>
              <a:rPr lang="en-US" sz="2200" b="1" dirty="0"/>
              <a:t>100 Story Points</a:t>
            </a:r>
            <a:endParaRPr lang="en-US" sz="2200" dirty="0"/>
          </a:p>
          <a:p>
            <a:r>
              <a:rPr lang="en-US" sz="2200" dirty="0"/>
              <a:t>Average Velocity </a:t>
            </a:r>
            <a:r>
              <a:rPr lang="en-US" sz="2200" b="1" dirty="0"/>
              <a:t>20 Story Points per Sprint</a:t>
            </a:r>
            <a:endParaRPr lang="en-US" sz="2200" dirty="0"/>
          </a:p>
          <a:p>
            <a:r>
              <a:rPr lang="en-US" sz="2200" dirty="0"/>
              <a:t>Estimated Sprints 100 ÷ 20 = 5 Sprints</a:t>
            </a:r>
          </a:p>
          <a:p>
            <a:pPr>
              <a:lnSpc>
                <a:spcPct val="95000"/>
              </a:lnSpc>
            </a:pPr>
            <a:endParaRPr lang="en-IN" sz="2200" dirty="0"/>
          </a:p>
        </p:txBody>
      </p:sp>
    </p:spTree>
    <p:extLst>
      <p:ext uri="{BB962C8B-B14F-4D97-AF65-F5344CB8AC3E}">
        <p14:creationId xmlns:p14="http://schemas.microsoft.com/office/powerpoint/2010/main" val="3431921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3981BB-83DF-9D79-F998-12A589F11BEA}"/>
              </a:ext>
            </a:extLst>
          </p:cNvPr>
          <p:cNvPicPr>
            <a:picLocks noChangeAspect="1"/>
          </p:cNvPicPr>
          <p:nvPr/>
        </p:nvPicPr>
        <p:blipFill>
          <a:blip r:embed="rId2"/>
          <a:stretch>
            <a:fillRect/>
          </a:stretch>
        </p:blipFill>
        <p:spPr>
          <a:xfrm>
            <a:off x="484690" y="1124744"/>
            <a:ext cx="11044140" cy="4536504"/>
          </a:xfrm>
          <a:prstGeom prst="rect">
            <a:avLst/>
          </a:prstGeom>
        </p:spPr>
      </p:pic>
    </p:spTree>
    <p:extLst>
      <p:ext uri="{BB962C8B-B14F-4D97-AF65-F5344CB8AC3E}">
        <p14:creationId xmlns:p14="http://schemas.microsoft.com/office/powerpoint/2010/main" val="867214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DE4C17-2A9C-7044-2123-B8E48D18BDEF}"/>
              </a:ext>
            </a:extLst>
          </p:cNvPr>
          <p:cNvSpPr txBox="1"/>
          <p:nvPr/>
        </p:nvSpPr>
        <p:spPr>
          <a:xfrm>
            <a:off x="765820" y="332656"/>
            <a:ext cx="2143536" cy="443198"/>
          </a:xfrm>
          <a:prstGeom prst="rect">
            <a:avLst/>
          </a:prstGeom>
          <a:noFill/>
        </p:spPr>
        <p:txBody>
          <a:bodyPr wrap="square" rtlCol="0">
            <a:spAutoFit/>
          </a:bodyPr>
          <a:lstStyle>
            <a:defPPr>
              <a:defRPr lang="en-US"/>
            </a:defPPr>
            <a:lvl1pPr>
              <a:defRPr sz="2200" b="1">
                <a:solidFill>
                  <a:srgbClr val="FF0000"/>
                </a:solidFill>
              </a:defRPr>
            </a:lvl1pPr>
          </a:lstStyle>
          <a:p>
            <a:r>
              <a:rPr lang="en-IN" dirty="0"/>
              <a:t>Agile Reports</a:t>
            </a:r>
          </a:p>
        </p:txBody>
      </p:sp>
      <p:sp>
        <p:nvSpPr>
          <p:cNvPr id="5" name="TextBox 4">
            <a:extLst>
              <a:ext uri="{FF2B5EF4-FFF2-40B4-BE49-F238E27FC236}">
                <a16:creationId xmlns:a16="http://schemas.microsoft.com/office/drawing/2014/main" id="{EA51F8F9-8985-B0AD-0C08-86922BCB848F}"/>
              </a:ext>
            </a:extLst>
          </p:cNvPr>
          <p:cNvSpPr txBox="1"/>
          <p:nvPr/>
        </p:nvSpPr>
        <p:spPr>
          <a:xfrm>
            <a:off x="765820" y="980728"/>
            <a:ext cx="10835017" cy="413959"/>
          </a:xfrm>
          <a:prstGeom prst="rect">
            <a:avLst/>
          </a:prstGeom>
          <a:noFill/>
        </p:spPr>
        <p:txBody>
          <a:bodyPr wrap="none" rtlCol="0">
            <a:spAutoFit/>
          </a:bodyPr>
          <a:lstStyle/>
          <a:p>
            <a:pPr>
              <a:lnSpc>
                <a:spcPct val="95000"/>
              </a:lnSpc>
            </a:pPr>
            <a:r>
              <a:rPr lang="en-US" sz="2200" dirty="0"/>
              <a:t>After your exams, how do you know whether you have performed well or not?</a:t>
            </a:r>
            <a:endParaRPr lang="en-IN" sz="2200" dirty="0"/>
          </a:p>
        </p:txBody>
      </p:sp>
      <p:sp>
        <p:nvSpPr>
          <p:cNvPr id="6" name="TextBox 5">
            <a:extLst>
              <a:ext uri="{FF2B5EF4-FFF2-40B4-BE49-F238E27FC236}">
                <a16:creationId xmlns:a16="http://schemas.microsoft.com/office/drawing/2014/main" id="{E592D958-40DA-94A1-E605-2064F05A3755}"/>
              </a:ext>
            </a:extLst>
          </p:cNvPr>
          <p:cNvSpPr txBox="1"/>
          <p:nvPr/>
        </p:nvSpPr>
        <p:spPr>
          <a:xfrm>
            <a:off x="765820" y="1479424"/>
            <a:ext cx="10386177" cy="413959"/>
          </a:xfrm>
          <a:prstGeom prst="rect">
            <a:avLst/>
          </a:prstGeom>
          <a:noFill/>
        </p:spPr>
        <p:txBody>
          <a:bodyPr wrap="none" rtlCol="0">
            <a:spAutoFit/>
          </a:bodyPr>
          <a:lstStyle>
            <a:defPPr>
              <a:defRPr lang="en-US"/>
            </a:defPPr>
            <a:lvl1pPr>
              <a:lnSpc>
                <a:spcPct val="95000"/>
              </a:lnSpc>
              <a:defRPr sz="2200"/>
            </a:lvl1pPr>
          </a:lstStyle>
          <a:p>
            <a:r>
              <a:rPr lang="en-US" dirty="0"/>
              <a:t>Can a cricket team know if it is winning without looking at the scoreboard?</a:t>
            </a:r>
            <a:endParaRPr lang="en-IN" dirty="0"/>
          </a:p>
        </p:txBody>
      </p:sp>
      <p:sp>
        <p:nvSpPr>
          <p:cNvPr id="7" name="TextBox 6">
            <a:extLst>
              <a:ext uri="{FF2B5EF4-FFF2-40B4-BE49-F238E27FC236}">
                <a16:creationId xmlns:a16="http://schemas.microsoft.com/office/drawing/2014/main" id="{C86B33BA-D8EA-3394-13C8-696493F0AC1D}"/>
              </a:ext>
            </a:extLst>
          </p:cNvPr>
          <p:cNvSpPr txBox="1"/>
          <p:nvPr/>
        </p:nvSpPr>
        <p:spPr>
          <a:xfrm>
            <a:off x="735103" y="1988840"/>
            <a:ext cx="11089232" cy="1057212"/>
          </a:xfrm>
          <a:prstGeom prst="rect">
            <a:avLst/>
          </a:prstGeom>
          <a:noFill/>
        </p:spPr>
        <p:txBody>
          <a:bodyPr wrap="square" rtlCol="0">
            <a:spAutoFit/>
          </a:bodyPr>
          <a:lstStyle>
            <a:defPPr>
              <a:defRPr lang="en-US"/>
            </a:defPPr>
            <a:lvl1pPr>
              <a:lnSpc>
                <a:spcPct val="95000"/>
              </a:lnSpc>
              <a:defRPr sz="2200"/>
            </a:lvl1pPr>
          </a:lstStyle>
          <a:p>
            <a:r>
              <a:rPr lang="en-US" dirty="0"/>
              <a:t>Similarly, an Agile team cannot know whether a project is progressing well without looking at Agile Reports</a:t>
            </a:r>
          </a:p>
          <a:p>
            <a:endParaRPr lang="en-IN" dirty="0"/>
          </a:p>
        </p:txBody>
      </p:sp>
      <p:sp>
        <p:nvSpPr>
          <p:cNvPr id="8" name="TextBox 7">
            <a:extLst>
              <a:ext uri="{FF2B5EF4-FFF2-40B4-BE49-F238E27FC236}">
                <a16:creationId xmlns:a16="http://schemas.microsoft.com/office/drawing/2014/main" id="{40F44FA0-D2D4-C5F4-4396-78E5A2B6C392}"/>
              </a:ext>
            </a:extLst>
          </p:cNvPr>
          <p:cNvSpPr txBox="1"/>
          <p:nvPr/>
        </p:nvSpPr>
        <p:spPr>
          <a:xfrm>
            <a:off x="765820" y="2900394"/>
            <a:ext cx="10873208" cy="1057212"/>
          </a:xfrm>
          <a:prstGeom prst="rect">
            <a:avLst/>
          </a:prstGeom>
          <a:noFill/>
        </p:spPr>
        <p:txBody>
          <a:bodyPr wrap="square" rtlCol="0">
            <a:spAutoFit/>
          </a:bodyPr>
          <a:lstStyle>
            <a:defPPr>
              <a:defRPr lang="en-US"/>
            </a:defPPr>
            <a:lvl1pPr>
              <a:lnSpc>
                <a:spcPct val="95000"/>
              </a:lnSpc>
              <a:defRPr sz="2200"/>
            </a:lvl1pPr>
          </a:lstStyle>
          <a:p>
            <a:r>
              <a:rPr lang="en-US" dirty="0"/>
              <a:t>Instead of reading hundreds of tasks, Agile reports summarize everything using graphs and charts</a:t>
            </a:r>
          </a:p>
          <a:p>
            <a:endParaRPr lang="en-IN" dirty="0"/>
          </a:p>
        </p:txBody>
      </p:sp>
      <p:sp>
        <p:nvSpPr>
          <p:cNvPr id="11" name="TextBox 10">
            <a:extLst>
              <a:ext uri="{FF2B5EF4-FFF2-40B4-BE49-F238E27FC236}">
                <a16:creationId xmlns:a16="http://schemas.microsoft.com/office/drawing/2014/main" id="{80A2FC7A-4AF9-C545-BEAD-3E616D6E3B79}"/>
              </a:ext>
            </a:extLst>
          </p:cNvPr>
          <p:cNvSpPr txBox="1"/>
          <p:nvPr/>
        </p:nvSpPr>
        <p:spPr>
          <a:xfrm>
            <a:off x="765820" y="3813375"/>
            <a:ext cx="5569153" cy="2343719"/>
          </a:xfrm>
          <a:prstGeom prst="rect">
            <a:avLst/>
          </a:prstGeom>
          <a:noFill/>
        </p:spPr>
        <p:txBody>
          <a:bodyPr wrap="square" rtlCol="0">
            <a:spAutoFit/>
          </a:bodyPr>
          <a:lstStyle>
            <a:defPPr>
              <a:defRPr lang="en-US"/>
            </a:defPPr>
            <a:lvl1pPr>
              <a:lnSpc>
                <a:spcPct val="95000"/>
              </a:lnSpc>
              <a:defRPr sz="2200"/>
            </a:lvl1pPr>
          </a:lstStyle>
          <a:p>
            <a:r>
              <a:rPr lang="en-US" dirty="0"/>
              <a:t>Agile reports help answer questions like:</a:t>
            </a:r>
          </a:p>
          <a:p>
            <a:pPr marL="342900" indent="-342900">
              <a:buFont typeface="Arial" panose="020B0604020202020204" pitchFamily="34" charset="0"/>
              <a:buChar char="•"/>
            </a:pPr>
            <a:r>
              <a:rPr lang="en-US" dirty="0"/>
              <a:t>Are we on schedule? </a:t>
            </a:r>
          </a:p>
          <a:p>
            <a:pPr marL="342900" indent="-342900">
              <a:buFont typeface="Arial" panose="020B0604020202020204" pitchFamily="34" charset="0"/>
              <a:buChar char="•"/>
            </a:pPr>
            <a:r>
              <a:rPr lang="en-US" dirty="0"/>
              <a:t>Are we completing enough work? </a:t>
            </a:r>
          </a:p>
          <a:p>
            <a:pPr marL="342900" indent="-342900">
              <a:buFont typeface="Arial" panose="020B0604020202020204" pitchFamily="34" charset="0"/>
              <a:buChar char="•"/>
            </a:pPr>
            <a:r>
              <a:rPr lang="en-US" dirty="0"/>
              <a:t>Is the sprint healthy? </a:t>
            </a:r>
          </a:p>
          <a:p>
            <a:pPr marL="342900" indent="-342900">
              <a:buFont typeface="Arial" panose="020B0604020202020204" pitchFamily="34" charset="0"/>
              <a:buChar char="•"/>
            </a:pPr>
            <a:r>
              <a:rPr lang="en-US" dirty="0"/>
              <a:t>Where are tasks getting stuck? </a:t>
            </a:r>
          </a:p>
          <a:p>
            <a:pPr marL="342900" indent="-342900">
              <a:buFont typeface="Arial" panose="020B0604020202020204" pitchFamily="34" charset="0"/>
              <a:buChar char="•"/>
            </a:pPr>
            <a:r>
              <a:rPr lang="en-US" dirty="0"/>
              <a:t>Will we finish on time?</a:t>
            </a:r>
          </a:p>
          <a:p>
            <a:endParaRPr lang="en-IN" dirty="0"/>
          </a:p>
        </p:txBody>
      </p:sp>
    </p:spTree>
    <p:extLst>
      <p:ext uri="{BB962C8B-B14F-4D97-AF65-F5344CB8AC3E}">
        <p14:creationId xmlns:p14="http://schemas.microsoft.com/office/powerpoint/2010/main" val="257276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A3EDBA6-2D17-64D9-F5EB-349C1962E0B2}"/>
              </a:ext>
            </a:extLst>
          </p:cNvPr>
          <p:cNvPicPr>
            <a:picLocks noChangeAspect="1"/>
          </p:cNvPicPr>
          <p:nvPr/>
        </p:nvPicPr>
        <p:blipFill>
          <a:blip r:embed="rId2"/>
          <a:stretch>
            <a:fillRect/>
          </a:stretch>
        </p:blipFill>
        <p:spPr>
          <a:xfrm>
            <a:off x="981844" y="186573"/>
            <a:ext cx="9721080" cy="6484853"/>
          </a:xfrm>
          <a:prstGeom prst="rect">
            <a:avLst/>
          </a:prstGeom>
        </p:spPr>
      </p:pic>
    </p:spTree>
    <p:extLst>
      <p:ext uri="{BB962C8B-B14F-4D97-AF65-F5344CB8AC3E}">
        <p14:creationId xmlns:p14="http://schemas.microsoft.com/office/powerpoint/2010/main" val="2952759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996596-A583-1B65-C3C8-865B876E370B}"/>
              </a:ext>
            </a:extLst>
          </p:cNvPr>
          <p:cNvSpPr txBox="1"/>
          <p:nvPr/>
        </p:nvSpPr>
        <p:spPr>
          <a:xfrm>
            <a:off x="765820" y="332656"/>
            <a:ext cx="3464410" cy="443198"/>
          </a:xfrm>
          <a:prstGeom prst="rect">
            <a:avLst/>
          </a:prstGeom>
          <a:noFill/>
        </p:spPr>
        <p:txBody>
          <a:bodyPr wrap="none" rtlCol="0">
            <a:spAutoFit/>
          </a:bodyPr>
          <a:lstStyle/>
          <a:p>
            <a:pPr>
              <a:lnSpc>
                <a:spcPct val="95000"/>
              </a:lnSpc>
            </a:pPr>
            <a:r>
              <a:rPr lang="en-IN" b="1" dirty="0">
                <a:solidFill>
                  <a:srgbClr val="FF0000"/>
                </a:solidFill>
              </a:rPr>
              <a:t>1. Burndown Chart 🔥</a:t>
            </a:r>
          </a:p>
        </p:txBody>
      </p:sp>
      <p:sp>
        <p:nvSpPr>
          <p:cNvPr id="5" name="TextBox 4">
            <a:extLst>
              <a:ext uri="{FF2B5EF4-FFF2-40B4-BE49-F238E27FC236}">
                <a16:creationId xmlns:a16="http://schemas.microsoft.com/office/drawing/2014/main" id="{5E26838D-D3FE-BEBB-CD60-7426414EB68E}"/>
              </a:ext>
            </a:extLst>
          </p:cNvPr>
          <p:cNvSpPr txBox="1"/>
          <p:nvPr/>
        </p:nvSpPr>
        <p:spPr>
          <a:xfrm>
            <a:off x="776469" y="908720"/>
            <a:ext cx="7766870" cy="413959"/>
          </a:xfrm>
          <a:prstGeom prst="rect">
            <a:avLst/>
          </a:prstGeom>
          <a:noFill/>
        </p:spPr>
        <p:txBody>
          <a:bodyPr wrap="none" rtlCol="0">
            <a:spAutoFit/>
          </a:bodyPr>
          <a:lstStyle/>
          <a:p>
            <a:pPr>
              <a:lnSpc>
                <a:spcPct val="95000"/>
              </a:lnSpc>
            </a:pPr>
            <a:r>
              <a:rPr lang="en-US" sz="2200" dirty="0"/>
              <a:t>Shows- How much work is remaining in the current sprint</a:t>
            </a:r>
            <a:endParaRPr lang="en-IN" sz="2200" dirty="0"/>
          </a:p>
        </p:txBody>
      </p:sp>
      <p:pic>
        <p:nvPicPr>
          <p:cNvPr id="6147" name="Picture 3" descr="Burndown Chart in Scrum to Master Agile Progress [2026/27]">
            <a:extLst>
              <a:ext uri="{FF2B5EF4-FFF2-40B4-BE49-F238E27FC236}">
                <a16:creationId xmlns:a16="http://schemas.microsoft.com/office/drawing/2014/main" id="{424F808A-F391-6A27-5C3A-BA9148290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8025" y="1455545"/>
            <a:ext cx="70104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068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BEE2EF-1050-3E69-0C87-BE67D05DE95E}"/>
              </a:ext>
            </a:extLst>
          </p:cNvPr>
          <p:cNvSpPr txBox="1"/>
          <p:nvPr/>
        </p:nvSpPr>
        <p:spPr>
          <a:xfrm>
            <a:off x="765820" y="260648"/>
            <a:ext cx="3004349"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IN" dirty="0"/>
              <a:t>2. Burnup Chart 📈</a:t>
            </a:r>
          </a:p>
        </p:txBody>
      </p:sp>
      <p:sp>
        <p:nvSpPr>
          <p:cNvPr id="5" name="TextBox 4">
            <a:extLst>
              <a:ext uri="{FF2B5EF4-FFF2-40B4-BE49-F238E27FC236}">
                <a16:creationId xmlns:a16="http://schemas.microsoft.com/office/drawing/2014/main" id="{845D6A6F-A1D5-1C4B-CEAD-2FADB6568872}"/>
              </a:ext>
            </a:extLst>
          </p:cNvPr>
          <p:cNvSpPr txBox="1"/>
          <p:nvPr/>
        </p:nvSpPr>
        <p:spPr>
          <a:xfrm>
            <a:off x="765820" y="836712"/>
            <a:ext cx="9034846" cy="413959"/>
          </a:xfrm>
          <a:prstGeom prst="rect">
            <a:avLst/>
          </a:prstGeom>
          <a:noFill/>
        </p:spPr>
        <p:txBody>
          <a:bodyPr wrap="none" rtlCol="0">
            <a:spAutoFit/>
          </a:bodyPr>
          <a:lstStyle/>
          <a:p>
            <a:pPr>
              <a:lnSpc>
                <a:spcPct val="95000"/>
              </a:lnSpc>
            </a:pPr>
            <a:r>
              <a:rPr lang="en-US" sz="2200" dirty="0"/>
              <a:t>Shows - Work completed and Total work. Both increase over time</a:t>
            </a:r>
            <a:endParaRPr lang="en-IN" sz="2200" dirty="0"/>
          </a:p>
        </p:txBody>
      </p:sp>
      <p:pic>
        <p:nvPicPr>
          <p:cNvPr id="7170" name="Picture 2" descr="What Is a Burnup Chart? | Wrike">
            <a:extLst>
              <a:ext uri="{FF2B5EF4-FFF2-40B4-BE49-F238E27FC236}">
                <a16:creationId xmlns:a16="http://schemas.microsoft.com/office/drawing/2014/main" id="{819DEA50-860B-0FFB-5447-785368BFE6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956" y="1484784"/>
            <a:ext cx="8096250" cy="4857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84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01B08D9-D6CA-9FAA-33E3-6CD60090A3CB}"/>
              </a:ext>
            </a:extLst>
          </p:cNvPr>
          <p:cNvSpPr txBox="1"/>
          <p:nvPr/>
        </p:nvSpPr>
        <p:spPr>
          <a:xfrm>
            <a:off x="765820" y="260648"/>
            <a:ext cx="3171061"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IN" dirty="0"/>
              <a:t>3. Velocity Chart 🚀</a:t>
            </a:r>
          </a:p>
        </p:txBody>
      </p:sp>
      <p:sp>
        <p:nvSpPr>
          <p:cNvPr id="5" name="TextBox 4">
            <a:extLst>
              <a:ext uri="{FF2B5EF4-FFF2-40B4-BE49-F238E27FC236}">
                <a16:creationId xmlns:a16="http://schemas.microsoft.com/office/drawing/2014/main" id="{5A5E0549-4B24-A3E5-3B77-7FE202E39C4E}"/>
              </a:ext>
            </a:extLst>
          </p:cNvPr>
          <p:cNvSpPr txBox="1"/>
          <p:nvPr/>
        </p:nvSpPr>
        <p:spPr>
          <a:xfrm>
            <a:off x="749694" y="836712"/>
            <a:ext cx="8252580" cy="413959"/>
          </a:xfrm>
          <a:prstGeom prst="rect">
            <a:avLst/>
          </a:prstGeom>
          <a:noFill/>
        </p:spPr>
        <p:txBody>
          <a:bodyPr wrap="none" rtlCol="0">
            <a:spAutoFit/>
          </a:bodyPr>
          <a:lstStyle/>
          <a:p>
            <a:pPr>
              <a:lnSpc>
                <a:spcPct val="95000"/>
              </a:lnSpc>
            </a:pPr>
            <a:r>
              <a:rPr lang="en-US" sz="2200" dirty="0"/>
              <a:t>Shows- How much work the team completes in each sprint.</a:t>
            </a:r>
            <a:endParaRPr lang="en-IN" sz="2200" dirty="0"/>
          </a:p>
        </p:txBody>
      </p:sp>
      <p:pic>
        <p:nvPicPr>
          <p:cNvPr id="8194" name="Picture 2" descr="Velocity - An Agile Metrics - iZenBridge">
            <a:extLst>
              <a:ext uri="{FF2B5EF4-FFF2-40B4-BE49-F238E27FC236}">
                <a16:creationId xmlns:a16="http://schemas.microsoft.com/office/drawing/2014/main" id="{2BCCB1CE-7DE3-A3AE-CC14-1A0085D778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948" y="1484784"/>
            <a:ext cx="8229600" cy="4629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742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83D0AC2-EDCA-EC0D-FDB1-A27AA0C07487}"/>
              </a:ext>
            </a:extLst>
          </p:cNvPr>
          <p:cNvSpPr txBox="1"/>
          <p:nvPr/>
        </p:nvSpPr>
        <p:spPr>
          <a:xfrm>
            <a:off x="765820" y="332656"/>
            <a:ext cx="2924198"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en-IN" dirty="0"/>
              <a:t>4. Sprint Report 📋</a:t>
            </a:r>
          </a:p>
        </p:txBody>
      </p:sp>
      <p:sp>
        <p:nvSpPr>
          <p:cNvPr id="5" name="TextBox 4">
            <a:extLst>
              <a:ext uri="{FF2B5EF4-FFF2-40B4-BE49-F238E27FC236}">
                <a16:creationId xmlns:a16="http://schemas.microsoft.com/office/drawing/2014/main" id="{BC0A1A12-808D-897E-AB0F-30AB4C749E78}"/>
              </a:ext>
            </a:extLst>
          </p:cNvPr>
          <p:cNvSpPr txBox="1"/>
          <p:nvPr/>
        </p:nvSpPr>
        <p:spPr>
          <a:xfrm>
            <a:off x="621804" y="836712"/>
            <a:ext cx="10945216" cy="735586"/>
          </a:xfrm>
          <a:prstGeom prst="rect">
            <a:avLst/>
          </a:prstGeom>
          <a:noFill/>
        </p:spPr>
        <p:txBody>
          <a:bodyPr wrap="square" rtlCol="0">
            <a:spAutoFit/>
          </a:bodyPr>
          <a:lstStyle/>
          <a:p>
            <a:pPr>
              <a:lnSpc>
                <a:spcPct val="95000"/>
              </a:lnSpc>
            </a:pPr>
            <a:r>
              <a:rPr lang="en-US" sz="2200" dirty="0"/>
              <a:t>Shows- Completed work, Incomplete work, Added work, Removed work during one sprint.</a:t>
            </a:r>
            <a:endParaRPr lang="en-IN" sz="2200" dirty="0"/>
          </a:p>
        </p:txBody>
      </p:sp>
      <p:pic>
        <p:nvPicPr>
          <p:cNvPr id="9218" name="Picture 2" descr="Scrum Board - Sprint Report - Microsoft Fabric Community">
            <a:extLst>
              <a:ext uri="{FF2B5EF4-FFF2-40B4-BE49-F238E27FC236}">
                <a16:creationId xmlns:a16="http://schemas.microsoft.com/office/drawing/2014/main" id="{64F33469-7D60-4933-8846-3227261805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004" y="1484784"/>
            <a:ext cx="8928992" cy="5149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19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B34FA0-B291-66CD-5D15-452A7DD926BE}"/>
              </a:ext>
            </a:extLst>
          </p:cNvPr>
          <p:cNvSpPr txBox="1"/>
          <p:nvPr/>
        </p:nvSpPr>
        <p:spPr>
          <a:xfrm>
            <a:off x="765820" y="332656"/>
            <a:ext cx="5322291" cy="443198"/>
          </a:xfrm>
          <a:prstGeom prst="rect">
            <a:avLst/>
          </a:prstGeom>
          <a:noFill/>
        </p:spPr>
        <p:txBody>
          <a:bodyPr wrap="none" rtlCol="0">
            <a:spAutoFit/>
          </a:bodyPr>
          <a:lstStyle>
            <a:defPPr>
              <a:defRPr lang="en-US"/>
            </a:defPPr>
            <a:lvl1pPr>
              <a:lnSpc>
                <a:spcPct val="95000"/>
              </a:lnSpc>
              <a:defRPr b="1">
                <a:solidFill>
                  <a:srgbClr val="FF0000"/>
                </a:solidFill>
              </a:defRPr>
            </a:lvl1pPr>
          </a:lstStyle>
          <a:p>
            <a:r>
              <a:rPr lang="pt-BR" dirty="0"/>
              <a:t>5. Cumulative Flow Diagram (CFD)</a:t>
            </a:r>
            <a:endParaRPr lang="en-IN" dirty="0"/>
          </a:p>
        </p:txBody>
      </p:sp>
      <p:sp>
        <p:nvSpPr>
          <p:cNvPr id="5" name="TextBox 4">
            <a:extLst>
              <a:ext uri="{FF2B5EF4-FFF2-40B4-BE49-F238E27FC236}">
                <a16:creationId xmlns:a16="http://schemas.microsoft.com/office/drawing/2014/main" id="{D420663E-ECAB-635A-C06D-35A8BF2E8432}"/>
              </a:ext>
            </a:extLst>
          </p:cNvPr>
          <p:cNvSpPr txBox="1"/>
          <p:nvPr/>
        </p:nvSpPr>
        <p:spPr>
          <a:xfrm>
            <a:off x="837828" y="908720"/>
            <a:ext cx="10657184" cy="735586"/>
          </a:xfrm>
          <a:prstGeom prst="rect">
            <a:avLst/>
          </a:prstGeom>
          <a:noFill/>
        </p:spPr>
        <p:txBody>
          <a:bodyPr wrap="square" rtlCol="0">
            <a:spAutoFit/>
          </a:bodyPr>
          <a:lstStyle/>
          <a:p>
            <a:pPr>
              <a:lnSpc>
                <a:spcPct val="95000"/>
              </a:lnSpc>
            </a:pPr>
            <a:r>
              <a:rPr lang="en-US" sz="2200" dirty="0"/>
              <a:t>The CFD shows how work flows through these stages like To-Do, In Progress, In Review, Done</a:t>
            </a:r>
            <a:endParaRPr lang="en-IN" sz="2200" dirty="0"/>
          </a:p>
        </p:txBody>
      </p:sp>
      <p:pic>
        <p:nvPicPr>
          <p:cNvPr id="10242" name="Picture 2" descr="Solved: Add-on with cumulative flow diagram with story poi...">
            <a:extLst>
              <a:ext uri="{FF2B5EF4-FFF2-40B4-BE49-F238E27FC236}">
                <a16:creationId xmlns:a16="http://schemas.microsoft.com/office/drawing/2014/main" id="{6C1D291B-D000-D2FD-DD71-D53AB52D02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725" y="1604963"/>
            <a:ext cx="7658223" cy="4929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42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1837</TotalTime>
  <Words>1229</Words>
  <Application>Microsoft Office PowerPoint</Application>
  <PresentationFormat>Custom</PresentationFormat>
  <Paragraphs>210</Paragraphs>
  <Slides>23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Century Gothic</vt:lpstr>
      <vt:lpstr>Nunito</vt:lpstr>
      <vt:lpstr>Class open house presentation</vt:lpstr>
      <vt:lpstr>Agile Planning &amp; Estimation</vt:lpstr>
      <vt:lpstr>Revise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Aruna Inamdar</dc:creator>
  <cp:lastModifiedBy>Aruna Inamdar</cp:lastModifiedBy>
  <cp:revision>221</cp:revision>
  <dcterms:created xsi:type="dcterms:W3CDTF">2026-07-15T13:08:00Z</dcterms:created>
  <dcterms:modified xsi:type="dcterms:W3CDTF">2026-07-30T15:54:21Z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