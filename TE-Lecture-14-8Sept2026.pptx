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326" r:id="rId9"/>
    <p:sldId id="264" r:id="rId10"/>
    <p:sldId id="266" r:id="rId11"/>
    <p:sldId id="273" r:id="rId12"/>
    <p:sldId id="274" r:id="rId13"/>
    <p:sldId id="275" r:id="rId14"/>
    <p:sldId id="277" r:id="rId15"/>
    <p:sldId id="279" r:id="rId16"/>
    <p:sldId id="281" r:id="rId17"/>
    <p:sldId id="283" r:id="rId18"/>
    <p:sldId id="284" r:id="rId19"/>
    <p:sldId id="290" r:id="rId20"/>
    <p:sldId id="291" r:id="rId21"/>
    <p:sldId id="292" r:id="rId22"/>
    <p:sldId id="294" r:id="rId23"/>
    <p:sldId id="301" r:id="rId24"/>
    <p:sldId id="302" r:id="rId25"/>
    <p:sldId id="309" r:id="rId26"/>
    <p:sldId id="310" r:id="rId27"/>
    <p:sldId id="311" r:id="rId28"/>
    <p:sldId id="312" r:id="rId29"/>
    <p:sldId id="313" r:id="rId30"/>
    <p:sldId id="314" r:id="rId31"/>
    <p:sldId id="32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736829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DevOps Engineering</a:t>
            </a:r>
            <a:endParaRPr lang="en-IN" dirty="0"/>
          </a:p>
          <a:p>
            <a:pPr>
              <a:defRPr sz="2500">
                <a:solidFill>
                  <a:srgbClr val="DCE6F5"/>
                </a:solidFill>
              </a:defRPr>
            </a:pPr>
            <a:r>
              <a:rPr lang="en-IN" dirty="0"/>
              <a:t>Docker • Terraform • SonarQube • Selenium • Grafana</a:t>
            </a:r>
          </a:p>
          <a:p>
            <a:pPr>
              <a:defRPr sz="1900">
                <a:solidFill>
                  <a:srgbClr val="C8D2E6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68099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830"/>
                </a:solidFill>
              </a:defRPr>
            </a:pPr>
            <a:r>
              <a:rPr>
                <a:solidFill>
                  <a:schemeClr val="bg1"/>
                </a:solidFill>
              </a:rPr>
              <a:t>Goal: understand what each tool does, why it is selected, how to configure it, and how it fits into a DevOps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1 — DevOps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Understand the problem before choosing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3</a:t>
            </a:r>
          </a:p>
        </p:txBody>
      </p:sp>
      <p:pic>
        <p:nvPicPr>
          <p:cNvPr id="1036" name="Picture 12" descr="Introduction to DevOps | Learn DevOps Lifecycle, Tools &amp; Certification">
            <a:extLst>
              <a:ext uri="{FF2B5EF4-FFF2-40B4-BE49-F238E27FC236}">
                <a16:creationId xmlns:a16="http://schemas.microsoft.com/office/drawing/2014/main" id="{BAB1CD37-FE08-EC05-617A-AEBBB0801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824"/>
            <a:ext cx="12063361" cy="723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How to Choose the Right DevOps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</a:defRPr>
            </a:pPr>
            <a:r>
              <a:t>A decision framework students can reuse for any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1. Define the problem: What manual, slow, risky or inconsistent activity are we solving?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2. Define the stage: source control, CI, packaging, IaC, testing, security, deployment or observability?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3. Define constraints: language, OS, cloud/on-premises, budget, team skills, compliance and scale.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4. Compare capabilities: integrations, automation, APIs, plugins, reporting and ecosystem.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5. Compare operational cost: licensing, infrastructure, upgrades, backups and administration.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6. Evaluate learning curve and availability of skilled developers/administrators.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7. Prototype with a small proof of concept before standardizing.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8. Select the simplest tool that satisfies the requirements; avoid unnecessary tool sprawl.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A Simple Decision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Capability fit — 30%: Does it solve the actual problem?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Integration — 20%: Does it connect to the rest of the toolchain?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Security &amp; governance — 15%: Can access, secrets and policies be controlled?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Cost / total effort — 15%: License + infrastructure + administration + training.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Skills &amp; community — 10%: Can the team learn, hire and troubleshoot it?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Scalability &amp; reliability — 10%: Will it remain useful as the project grows?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Use weighted scoring only after defining requirements; a scorecard supports judgment rather than replacing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2 —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Package applications into portable, repeatable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Docker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Image = packaged blueprint containing application, runtime, libraries and filesystem layers.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Container = running instance of an image.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Registry = place where images are stored and shared.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Dockerfile = text recipe used to build an image.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Volume = persistent storage managed separately from a container's writable layer.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Network = controlled communication path between containers and external clients.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D3C2A-AE46-5B18-F270-7F23484C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78" y="924232"/>
            <a:ext cx="9731244" cy="563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E62F0-C4D4-48B0-81F2-FC1217CB585B}"/>
              </a:ext>
            </a:extLst>
          </p:cNvPr>
          <p:cNvSpPr txBox="1"/>
          <p:nvPr/>
        </p:nvSpPr>
        <p:spPr>
          <a:xfrm>
            <a:off x="1130709" y="277901"/>
            <a:ext cx="9517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https://hub.docker.com/search?badges=official</a:t>
            </a:r>
          </a:p>
        </p:txBody>
      </p:sp>
    </p:spTree>
    <p:extLst>
      <p:ext uri="{BB962C8B-B14F-4D97-AF65-F5344CB8AC3E}">
        <p14:creationId xmlns:p14="http://schemas.microsoft.com/office/powerpoint/2010/main" val="83056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Docker Setup &amp; First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076" y="1211381"/>
            <a:ext cx="5590622" cy="4501208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417319"/>
            <a:ext cx="51633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docker --version</a:t>
            </a:r>
            <a:br>
              <a:rPr sz="2000" dirty="0"/>
            </a:br>
            <a:br>
              <a:rPr sz="2000" dirty="0"/>
            </a:br>
            <a:r>
              <a:rPr sz="2000" dirty="0"/>
              <a:t>docker run hello-world</a:t>
            </a:r>
            <a:br>
              <a:rPr sz="2000" dirty="0"/>
            </a:br>
            <a:br>
              <a:rPr sz="2000" dirty="0"/>
            </a:br>
            <a:r>
              <a:rPr sz="2000" dirty="0"/>
              <a:t>docker images</a:t>
            </a:r>
            <a:br>
              <a:rPr sz="2000" dirty="0"/>
            </a:br>
            <a:r>
              <a:rPr sz="2000" dirty="0"/>
              <a:t>docker </a:t>
            </a:r>
            <a:r>
              <a:rPr sz="2000" dirty="0" err="1"/>
              <a:t>ps</a:t>
            </a:r>
            <a:br>
              <a:rPr sz="2000" dirty="0"/>
            </a:br>
            <a:r>
              <a:rPr sz="2000" dirty="0"/>
              <a:t>docker </a:t>
            </a:r>
            <a:r>
              <a:rPr sz="2000" dirty="0" err="1"/>
              <a:t>ps</a:t>
            </a:r>
            <a:r>
              <a:rPr sz="2000" dirty="0"/>
              <a:t> -a</a:t>
            </a:r>
            <a:br>
              <a:rPr sz="2000" dirty="0"/>
            </a:br>
            <a:br>
              <a:rPr sz="2000" dirty="0"/>
            </a:br>
            <a:r>
              <a:rPr sz="2000" dirty="0"/>
              <a:t>docker run -d --name web -p 8080:80 nginx</a:t>
            </a:r>
            <a:br>
              <a:rPr sz="2000" dirty="0"/>
            </a:br>
            <a:br>
              <a:rPr sz="2000" dirty="0"/>
            </a:br>
            <a:r>
              <a:rPr sz="2000" dirty="0"/>
              <a:t>docker stop web</a:t>
            </a:r>
            <a:br>
              <a:rPr sz="2000" dirty="0"/>
            </a:br>
            <a:r>
              <a:rPr sz="2000" dirty="0"/>
              <a:t>docker rm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56D1C-D91E-E8C0-F409-FB8B2DD6EFEC}"/>
              </a:ext>
            </a:extLst>
          </p:cNvPr>
          <p:cNvSpPr txBox="1"/>
          <p:nvPr/>
        </p:nvSpPr>
        <p:spPr>
          <a:xfrm>
            <a:off x="6174658" y="1234440"/>
            <a:ext cx="53010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--version` → asks the Docker CLI to print its installed version.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run hello-world` → downloads the image if necessary, creates a container, starts it and displays a test message.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images` → lists locally stored images.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</a:t>
            </a:r>
            <a:r>
              <a:rPr dirty="0" err="1">
                <a:latin typeface="Aptos" panose="020B0004020202020204" pitchFamily="34" charset="0"/>
              </a:rPr>
              <a:t>ps`</a:t>
            </a:r>
            <a:r>
              <a:rPr dirty="0">
                <a:latin typeface="Aptos" panose="020B0004020202020204" pitchFamily="34" charset="0"/>
              </a:rPr>
              <a:t> → lists currently running containers.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</a:t>
            </a:r>
            <a:r>
              <a:rPr dirty="0" err="1">
                <a:latin typeface="Aptos" panose="020B0004020202020204" pitchFamily="34" charset="0"/>
              </a:rPr>
              <a:t>ps</a:t>
            </a:r>
            <a:r>
              <a:rPr dirty="0">
                <a:latin typeface="Aptos" panose="020B0004020202020204" pitchFamily="34" charset="0"/>
              </a:rPr>
              <a:t> -a` → includes stopped/exited containers.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run -d ... nginx` → creates and starts an Nginx container in detached/background mode.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`--name web` → assigns the container a human-readable name.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`-p 8080:80` → maps host port 8080 to container port 80.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stop web` → asks the running container to stop.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`docker rm web` → removes the stopped container.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Dockerfile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1083" y="1113012"/>
            <a:ext cx="5551292" cy="4111359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33629"/>
            <a:ext cx="62153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FROM python:3.12-slim</a:t>
            </a:r>
            <a:br>
              <a:rPr sz="2000" dirty="0"/>
            </a:br>
            <a:r>
              <a:rPr sz="2000" dirty="0"/>
              <a:t>WORKDIR /app</a:t>
            </a:r>
            <a:br>
              <a:rPr sz="2000" dirty="0"/>
            </a:br>
            <a:r>
              <a:rPr sz="2000" dirty="0"/>
              <a:t>COPY requirements.txt .</a:t>
            </a:r>
            <a:br>
              <a:rPr sz="2000" dirty="0"/>
            </a:br>
            <a:r>
              <a:rPr sz="2000" dirty="0"/>
              <a:t>RUN pip install --no-cache-</a:t>
            </a:r>
            <a:r>
              <a:rPr sz="2000" dirty="0" err="1"/>
              <a:t>dir</a:t>
            </a:r>
            <a:r>
              <a:rPr sz="2000" dirty="0"/>
              <a:t> -r requirements.txt</a:t>
            </a:r>
            <a:br>
              <a:rPr sz="2000" dirty="0"/>
            </a:br>
            <a:r>
              <a:rPr sz="2000" dirty="0"/>
              <a:t>COPY . .</a:t>
            </a:r>
            <a:br>
              <a:rPr sz="2000" dirty="0"/>
            </a:br>
            <a:r>
              <a:rPr sz="2000" dirty="0"/>
              <a:t>EXPOSE 5000</a:t>
            </a:r>
            <a:br>
              <a:rPr sz="2000" dirty="0"/>
            </a:br>
            <a:r>
              <a:rPr sz="2000" dirty="0"/>
              <a:t>CMD ["python", "app.py"]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1CDE6-93DB-753F-8AED-CFA0F305527D}"/>
              </a:ext>
            </a:extLst>
          </p:cNvPr>
          <p:cNvSpPr txBox="1"/>
          <p:nvPr/>
        </p:nvSpPr>
        <p:spPr>
          <a:xfrm>
            <a:off x="5924428" y="1234440"/>
            <a:ext cx="5551292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`FROM python:3.12-slim` → selects a lightweight Python base image.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`WORKDIR /app` → sets `/app` as the working directory for later instructions.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`COPY requirements.txt .` → copies the dependency file into the image's current directory.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`RUN pip install ...` → executes package installation while building the image; `-r` reads dependencies from the file.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`COPY . .` → copies the application source from the build context into the image.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`EXPOSE 5000` → documents that the application is expected to listen on port 5000; it does not publish the port by itself.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`CMD [...]` → default command executed when a container starts.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Build: `docker build -t student-api:1.0 .` — `-t` gives the image a name/tag and `.` is the build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3 —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Infrastructure as Code and declarative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Terraform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Configuration — `.tf` files describing desired infrastructure.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Provider — plugin that translates Terraform configuration into API calls.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Resource — object Terraform creates/manages.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Variable — input parameter.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Output — value exposed after operations.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State — mapping between configuration and real managed objects.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Plan — preview of changes.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Apply — execute approved changes.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Destroy — remove resources managed by the configuration.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Terraform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8062" y="1162173"/>
            <a:ext cx="3791319" cy="3085363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7552" y="1505809"/>
            <a:ext cx="2723823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terraform </a:t>
            </a:r>
            <a:r>
              <a:rPr sz="2000" dirty="0" err="1"/>
              <a:t>init</a:t>
            </a:r>
            <a:br>
              <a:rPr sz="2000" dirty="0"/>
            </a:br>
            <a:r>
              <a:rPr sz="2000" dirty="0"/>
              <a:t>terraform </a:t>
            </a:r>
            <a:r>
              <a:rPr sz="2000" dirty="0" err="1"/>
              <a:t>fmt</a:t>
            </a:r>
            <a:br>
              <a:rPr sz="2000" dirty="0"/>
            </a:br>
            <a:r>
              <a:rPr sz="2000" dirty="0"/>
              <a:t>terraform validate</a:t>
            </a:r>
            <a:br>
              <a:rPr sz="2000" dirty="0"/>
            </a:br>
            <a:r>
              <a:rPr sz="2000" dirty="0"/>
              <a:t>terraform plan</a:t>
            </a:r>
            <a:br>
              <a:rPr sz="2000" dirty="0"/>
            </a:br>
            <a:r>
              <a:rPr sz="2000" dirty="0"/>
              <a:t>terraform apply</a:t>
            </a:r>
            <a:br>
              <a:rPr sz="2000" dirty="0"/>
            </a:br>
            <a:r>
              <a:rPr sz="2000" dirty="0"/>
              <a:t>terraform show</a:t>
            </a:r>
            <a:br>
              <a:rPr sz="2000" dirty="0"/>
            </a:br>
            <a:r>
              <a:rPr sz="2000" dirty="0"/>
              <a:t>terraform destroy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83022-7921-93E8-C610-1E369D9831CE}"/>
              </a:ext>
            </a:extLst>
          </p:cNvPr>
          <p:cNvSpPr txBox="1"/>
          <p:nvPr/>
        </p:nvSpPr>
        <p:spPr>
          <a:xfrm>
            <a:off x="4365522" y="1234440"/>
            <a:ext cx="7110197" cy="468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</a:t>
            </a:r>
            <a:r>
              <a:rPr dirty="0" err="1">
                <a:latin typeface="Aptos" panose="020B0004020202020204" pitchFamily="34" charset="0"/>
              </a:rPr>
              <a:t>init</a:t>
            </a:r>
            <a:r>
              <a:rPr dirty="0">
                <a:latin typeface="Aptos" panose="020B0004020202020204" pitchFamily="34" charset="0"/>
              </a:rPr>
              <a:t>` → initializes the working directory and downloads required providers/modules.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</a:t>
            </a:r>
            <a:r>
              <a:rPr dirty="0" err="1">
                <a:latin typeface="Aptos" panose="020B0004020202020204" pitchFamily="34" charset="0"/>
              </a:rPr>
              <a:t>fmt</a:t>
            </a:r>
            <a:r>
              <a:rPr dirty="0">
                <a:latin typeface="Aptos" panose="020B0004020202020204" pitchFamily="34" charset="0"/>
              </a:rPr>
              <a:t>` → formats Terraform configuration consistently.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validate` → checks configuration syntax and internal consistency.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plan` → calculates and displays the proposed changes without applying them.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apply` → executes the proposed infrastructure changes.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show` → displays state or plan information in a readable form.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destroy` → proposes removal of managed resources and, after approval, destroys them.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Good habit: inspect `plan` before `apply`, especially when infrastructure is valuable.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First Terraform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923" y="924026"/>
            <a:ext cx="5746594" cy="4894498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70672"/>
            <a:ext cx="5262979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terraform {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required_providers</a:t>
            </a:r>
            <a:r>
              <a:rPr sz="2000" dirty="0"/>
              <a:t> {</a:t>
            </a:r>
            <a:br>
              <a:rPr sz="2000" dirty="0"/>
            </a:br>
            <a:r>
              <a:rPr sz="2000" dirty="0"/>
              <a:t>    local = {</a:t>
            </a:r>
            <a:br>
              <a:rPr sz="2000" dirty="0"/>
            </a:br>
            <a:r>
              <a:rPr sz="2000" dirty="0"/>
              <a:t>      source = "</a:t>
            </a:r>
            <a:r>
              <a:rPr sz="2000" dirty="0" err="1"/>
              <a:t>hashicorp</a:t>
            </a:r>
            <a:r>
              <a:rPr sz="2000" dirty="0"/>
              <a:t>/local"</a:t>
            </a:r>
            <a:br>
              <a:rPr sz="2000" dirty="0"/>
            </a:br>
            <a:r>
              <a:rPr sz="2000" dirty="0"/>
              <a:t>    }</a:t>
            </a:r>
            <a:br>
              <a:rPr sz="2000" dirty="0"/>
            </a:br>
            <a:r>
              <a:rPr sz="2000" dirty="0"/>
              <a:t>  }</a:t>
            </a:r>
            <a:br>
              <a:rPr sz="2000" dirty="0"/>
            </a:br>
            <a:r>
              <a:rPr sz="2000" dirty="0"/>
              <a:t>}</a:t>
            </a:r>
            <a:br>
              <a:rPr sz="2000" dirty="0"/>
            </a:br>
            <a:br>
              <a:rPr sz="2000" dirty="0"/>
            </a:br>
            <a:r>
              <a:rPr sz="2000" dirty="0"/>
              <a:t>provider "local" {}</a:t>
            </a:r>
            <a:br>
              <a:rPr sz="2000" dirty="0"/>
            </a:br>
            <a:br>
              <a:rPr sz="2000" dirty="0"/>
            </a:br>
            <a:r>
              <a:rPr sz="2000" dirty="0"/>
              <a:t>resource "</a:t>
            </a:r>
            <a:r>
              <a:rPr sz="2000" dirty="0" err="1"/>
              <a:t>local_file</a:t>
            </a:r>
            <a:r>
              <a:rPr sz="2000" dirty="0"/>
              <a:t>" "hello" {</a:t>
            </a:r>
            <a:br>
              <a:rPr sz="2000" dirty="0"/>
            </a:br>
            <a:r>
              <a:rPr sz="2000" dirty="0"/>
              <a:t>  filename = "hello.txt"</a:t>
            </a:r>
            <a:br>
              <a:rPr sz="2000" dirty="0"/>
            </a:br>
            <a:r>
              <a:rPr sz="2000" dirty="0"/>
              <a:t>  content  = "Hello from Terraform!"</a:t>
            </a:r>
            <a:br>
              <a:rPr sz="2000" dirty="0"/>
            </a:br>
            <a:r>
              <a:rPr sz="20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B5006-EB59-732A-DEFC-1216B4B7ED87}"/>
              </a:ext>
            </a:extLst>
          </p:cNvPr>
          <p:cNvSpPr txBox="1"/>
          <p:nvPr/>
        </p:nvSpPr>
        <p:spPr>
          <a:xfrm>
            <a:off x="6496664" y="1234440"/>
            <a:ext cx="4979055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`terraform { ... }` → defines Terraform-level configuration.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required_providers</a:t>
            </a:r>
            <a:r>
              <a:rPr dirty="0">
                <a:latin typeface="Aptos" panose="020B0004020202020204" pitchFamily="34" charset="0"/>
              </a:rPr>
              <a:t>` → declares which provider plugins are required.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`local = ...` → gives the provider a local name inside this configuration.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`source = "</a:t>
            </a:r>
            <a:r>
              <a:rPr dirty="0" err="1">
                <a:latin typeface="Aptos" panose="020B0004020202020204" pitchFamily="34" charset="0"/>
              </a:rPr>
              <a:t>hashicorp</a:t>
            </a:r>
            <a:r>
              <a:rPr dirty="0">
                <a:latin typeface="Aptos" panose="020B0004020202020204" pitchFamily="34" charset="0"/>
              </a:rPr>
              <a:t>/local"` → identifies the provider source.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`provider "local" {}` → configures the local provider; no extra settings are required here.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`resource "</a:t>
            </a:r>
            <a:r>
              <a:rPr dirty="0" err="1">
                <a:latin typeface="Aptos" panose="020B0004020202020204" pitchFamily="34" charset="0"/>
              </a:rPr>
              <a:t>local_file</a:t>
            </a:r>
            <a:r>
              <a:rPr dirty="0">
                <a:latin typeface="Aptos" panose="020B0004020202020204" pitchFamily="34" charset="0"/>
              </a:rPr>
              <a:t>" "hello"` → declares a resource of type `</a:t>
            </a:r>
            <a:r>
              <a:rPr dirty="0" err="1">
                <a:latin typeface="Aptos" panose="020B0004020202020204" pitchFamily="34" charset="0"/>
              </a:rPr>
              <a:t>local_file</a:t>
            </a:r>
            <a:r>
              <a:rPr dirty="0">
                <a:latin typeface="Aptos" panose="020B0004020202020204" pitchFamily="34" charset="0"/>
              </a:rPr>
              <a:t>` with local name `hello`.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`filename = "hello.txt"` → desired filename.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`content = ...` → desired contents of the file.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Terraform compares desired configuration with state and performs the required action to reach the desired state.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E08F4-AF0D-F2EB-9349-149F5DA2AF3F}"/>
              </a:ext>
            </a:extLst>
          </p:cNvPr>
          <p:cNvSpPr txBox="1"/>
          <p:nvPr/>
        </p:nvSpPr>
        <p:spPr>
          <a:xfrm>
            <a:off x="5765899" y="41409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https://registry.terraform.io/namespaces/hashicorp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Terraform Variables &amp;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3400" y="1002890"/>
            <a:ext cx="5562600" cy="5738964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0843" y="1304865"/>
            <a:ext cx="428824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variable "</a:t>
            </a:r>
            <a:r>
              <a:rPr sz="2000" dirty="0" err="1"/>
              <a:t>student_name</a:t>
            </a:r>
            <a:r>
              <a:rPr sz="2000" dirty="0"/>
              <a:t>" {</a:t>
            </a:r>
            <a:br>
              <a:rPr sz="2000" dirty="0"/>
            </a:br>
            <a:r>
              <a:rPr sz="2000" dirty="0"/>
              <a:t>  type    = string</a:t>
            </a:r>
            <a:br>
              <a:rPr sz="2000" dirty="0"/>
            </a:br>
            <a:r>
              <a:rPr sz="2000" dirty="0"/>
              <a:t>  default = "Engineering Student"</a:t>
            </a:r>
            <a:br>
              <a:rPr sz="2000" dirty="0"/>
            </a:br>
            <a:r>
              <a:rPr sz="2000" dirty="0"/>
              <a:t>}</a:t>
            </a:r>
            <a:br>
              <a:rPr sz="2000" dirty="0"/>
            </a:br>
            <a:br>
              <a:rPr sz="2000" dirty="0"/>
            </a:br>
            <a:r>
              <a:rPr sz="2000" dirty="0"/>
              <a:t>resource "</a:t>
            </a:r>
            <a:r>
              <a:rPr sz="2000" dirty="0" err="1"/>
              <a:t>local_file</a:t>
            </a:r>
            <a:r>
              <a:rPr sz="2000" dirty="0"/>
              <a:t>" "welcome" {</a:t>
            </a:r>
            <a:br>
              <a:rPr sz="2000" dirty="0"/>
            </a:br>
            <a:r>
              <a:rPr sz="2000" dirty="0"/>
              <a:t>  filename = "welcome.txt"</a:t>
            </a:r>
            <a:br>
              <a:rPr sz="2000" dirty="0"/>
            </a:br>
            <a:r>
              <a:rPr sz="2000" dirty="0"/>
              <a:t>  content  = "Welcome ${</a:t>
            </a:r>
            <a:r>
              <a:rPr sz="2000" dirty="0" err="1"/>
              <a:t>var.student_name</a:t>
            </a:r>
            <a:r>
              <a:rPr sz="2000" dirty="0"/>
              <a:t>}"</a:t>
            </a:r>
            <a:br>
              <a:rPr sz="2000" dirty="0"/>
            </a:br>
            <a:r>
              <a:rPr sz="2000" dirty="0"/>
              <a:t>}</a:t>
            </a:r>
            <a:br>
              <a:rPr sz="2000" dirty="0"/>
            </a:br>
            <a:br>
              <a:rPr sz="2000" dirty="0"/>
            </a:br>
            <a:r>
              <a:rPr sz="2000" dirty="0"/>
              <a:t>output "</a:t>
            </a:r>
            <a:r>
              <a:rPr sz="2000" dirty="0" err="1"/>
              <a:t>file_name</a:t>
            </a:r>
            <a:r>
              <a:rPr sz="2000" dirty="0"/>
              <a:t>" {</a:t>
            </a:r>
            <a:br>
              <a:rPr sz="2000" dirty="0"/>
            </a:br>
            <a:r>
              <a:rPr sz="2000" dirty="0"/>
              <a:t>  value = </a:t>
            </a:r>
            <a:r>
              <a:rPr sz="2000" dirty="0" err="1"/>
              <a:t>local_file.welcome.filename</a:t>
            </a:r>
            <a:br>
              <a:rPr sz="2000" dirty="0"/>
            </a:br>
            <a:r>
              <a:rPr sz="20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D8235-04A9-00AC-788F-451D7DBD9C6A}"/>
              </a:ext>
            </a:extLst>
          </p:cNvPr>
          <p:cNvSpPr txBox="1"/>
          <p:nvPr/>
        </p:nvSpPr>
        <p:spPr>
          <a:xfrm>
            <a:off x="6449960" y="1234440"/>
            <a:ext cx="5025759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`variable "</a:t>
            </a:r>
            <a:r>
              <a:rPr dirty="0" err="1">
                <a:latin typeface="Aptos" panose="020B0004020202020204" pitchFamily="34" charset="0"/>
              </a:rPr>
              <a:t>student_name</a:t>
            </a:r>
            <a:r>
              <a:rPr dirty="0">
                <a:latin typeface="Aptos" panose="020B0004020202020204" pitchFamily="34" charset="0"/>
              </a:rPr>
              <a:t>"` → declares an input variable named `</a:t>
            </a:r>
            <a:r>
              <a:rPr dirty="0" err="1">
                <a:latin typeface="Aptos" panose="020B0004020202020204" pitchFamily="34" charset="0"/>
              </a:rPr>
              <a:t>student_name</a:t>
            </a:r>
            <a:r>
              <a:rPr dirty="0">
                <a:latin typeface="Aptos" panose="020B0004020202020204" pitchFamily="34" charset="0"/>
              </a:rPr>
              <a:t>`.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`type = string` → requires a text value.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`default = ...` → supplies a value when the user does not provide one.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var.student_name</a:t>
            </a:r>
            <a:r>
              <a:rPr dirty="0">
                <a:latin typeface="Aptos" panose="020B0004020202020204" pitchFamily="34" charset="0"/>
              </a:rPr>
              <a:t>` → references the variable in another expression.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local_file.welcome.filename</a:t>
            </a:r>
            <a:r>
              <a:rPr dirty="0">
                <a:latin typeface="Aptos" panose="020B0004020202020204" pitchFamily="34" charset="0"/>
              </a:rPr>
              <a:t>` → references an attribute of the managed resource.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`output "</a:t>
            </a:r>
            <a:r>
              <a:rPr dirty="0" err="1">
                <a:latin typeface="Aptos" panose="020B0004020202020204" pitchFamily="34" charset="0"/>
              </a:rPr>
              <a:t>file_name</a:t>
            </a:r>
            <a:r>
              <a:rPr dirty="0">
                <a:latin typeface="Aptos" panose="020B0004020202020204" pitchFamily="34" charset="0"/>
              </a:rPr>
              <a:t>"` → declares a value to display after Terraform operations.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Override example: `terraform apply -var='</a:t>
            </a:r>
            <a:r>
              <a:rPr dirty="0" err="1">
                <a:latin typeface="Aptos" panose="020B0004020202020204" pitchFamily="34" charset="0"/>
              </a:rPr>
              <a:t>student_name</a:t>
            </a:r>
            <a:r>
              <a:rPr dirty="0">
                <a:latin typeface="Aptos" panose="020B0004020202020204" pitchFamily="34" charset="0"/>
              </a:rPr>
              <a:t>=Rahul'`.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Why variables? The same configuration can be reused for different students, environments or projects.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Terraform State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State helps Terraform understand which real object corresponds to each resource address.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 not casually edit state by hand.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For team projects, use an appropriate remote state solution with locking/versioning where supported.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 not commit secrets to configuration or state repositories.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Use modules when repeated infrastructure patterns become stable.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Pin versions deliberately and review provider/module changes.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Use separate environments carefully; do not copy-paste large infrastructure configurations blindly.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4 — SonarQube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Continuous code-quality and security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What SonarQube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Bugs — code issues likely to cause incorrect behavior.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Vulnerabilities — security weaknesses requiring attention.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Code smells — maintainability/design problems.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Duplications — repeated code.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Coverage — proportion of code exercised by tests, when coverage data is supplied.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Quality Gate — project rules used to decide whether code passes a defined quality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29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82B28-324A-09E4-1159-509C13454EC4}"/>
              </a:ext>
            </a:extLst>
          </p:cNvPr>
          <p:cNvSpPr txBox="1"/>
          <p:nvPr/>
        </p:nvSpPr>
        <p:spPr>
          <a:xfrm>
            <a:off x="1002890" y="42103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https://sonarcloud.io/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5 — Selenium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Automate browser interactions and verify user-visible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52157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rPr dirty="0"/>
              <a:t>Selenium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F3C5B-01C3-BBF0-26F2-02804A0713FA}"/>
              </a:ext>
            </a:extLst>
          </p:cNvPr>
          <p:cNvSpPr txBox="1"/>
          <p:nvPr/>
        </p:nvSpPr>
        <p:spPr>
          <a:xfrm>
            <a:off x="502920" y="983677"/>
            <a:ext cx="11285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Selenium is a robot that uses a web browser like a human.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It opens a website, clicks buttons, enters text, checks results, and tells us whether the test passed or failed.</a:t>
            </a:r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F29C8-0CDC-AF77-FC48-667AE41B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2307"/>
              </p:ext>
            </p:extLst>
          </p:nvPr>
        </p:nvGraphicFramePr>
        <p:xfrm>
          <a:off x="502919" y="1877171"/>
          <a:ext cx="10489546" cy="4023360"/>
        </p:xfrm>
        <a:graphic>
          <a:graphicData uri="http://schemas.openxmlformats.org/drawingml/2006/table">
            <a:tbl>
              <a:tblPr/>
              <a:tblGrid>
                <a:gridCol w="3115352">
                  <a:extLst>
                    <a:ext uri="{9D8B030D-6E8A-4147-A177-3AD203B41FA5}">
                      <a16:colId xmlns:a16="http://schemas.microsoft.com/office/drawing/2014/main" val="1675808307"/>
                    </a:ext>
                  </a:extLst>
                </a:gridCol>
                <a:gridCol w="7374194">
                  <a:extLst>
                    <a:ext uri="{9D8B030D-6E8A-4147-A177-3AD203B41FA5}">
                      <a16:colId xmlns:a16="http://schemas.microsoft.com/office/drawing/2014/main" val="2771477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Simple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682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WebDriver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Controls the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746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Chrome, Firefox, Edge,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21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Locator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 panose="020B0004020202020204" pitchFamily="34" charset="0"/>
                        </a:rPr>
                        <a:t>Finds an element on the webpage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198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Web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Button, textbox, link, checkbox,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0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Click, type, select, scroll,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67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Assertion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 panose="020B0004020202020204" pitchFamily="34" charset="0"/>
                        </a:rPr>
                        <a:t>Checks whether expected result occurred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015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Wait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 panose="020B0004020202020204" pitchFamily="34" charset="0"/>
                        </a:rPr>
                        <a:t>Gives webpage time to load/update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7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Test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 panose="020B0004020202020204" pitchFamily="34" charset="0"/>
                        </a:rPr>
                        <a:t>A sequence of steps to verify functionality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5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Page Object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Organizes Selenium code neatly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844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Aptos" panose="020B0004020202020204" pitchFamily="34" charset="0"/>
                        </a:rPr>
                        <a:t>Selenium 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Runs tests on multiple browsers/machines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9281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Python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9069" y="1181838"/>
            <a:ext cx="4941692" cy="3508150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8056" y="1417319"/>
            <a:ext cx="3993401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python -m </a:t>
            </a:r>
            <a:r>
              <a:rPr sz="2000" dirty="0" err="1"/>
              <a:t>venv</a:t>
            </a:r>
            <a:r>
              <a:rPr sz="2000" dirty="0"/>
              <a:t> .</a:t>
            </a:r>
            <a:r>
              <a:rPr sz="2000" dirty="0" err="1"/>
              <a:t>venv</a:t>
            </a:r>
            <a:br>
              <a:rPr sz="2000" dirty="0"/>
            </a:br>
            <a:br>
              <a:rPr sz="2000" dirty="0"/>
            </a:br>
            <a:r>
              <a:rPr sz="2000" dirty="0"/>
              <a:t># Windows</a:t>
            </a:r>
            <a:br>
              <a:rPr sz="2000" dirty="0"/>
            </a:br>
            <a:r>
              <a:rPr sz="2000" dirty="0"/>
              <a:t>.</a:t>
            </a:r>
            <a:r>
              <a:rPr sz="2000" dirty="0" err="1"/>
              <a:t>venv</a:t>
            </a:r>
            <a:r>
              <a:rPr sz="2000" dirty="0"/>
              <a:t>\Scripts\activate</a:t>
            </a:r>
            <a:br>
              <a:rPr sz="2000" dirty="0"/>
            </a:br>
            <a:br>
              <a:rPr sz="2000" dirty="0"/>
            </a:br>
            <a:r>
              <a:rPr sz="2000" dirty="0"/>
              <a:t># Linux/macOS</a:t>
            </a:r>
            <a:br>
              <a:rPr sz="2000" dirty="0"/>
            </a:br>
            <a:r>
              <a:rPr sz="2000" dirty="0"/>
              <a:t>source .</a:t>
            </a:r>
            <a:r>
              <a:rPr sz="2000" dirty="0" err="1"/>
              <a:t>venv</a:t>
            </a:r>
            <a:r>
              <a:rPr sz="2000" dirty="0"/>
              <a:t>/bin/activate</a:t>
            </a:r>
            <a:br>
              <a:rPr sz="2000" dirty="0"/>
            </a:br>
            <a:br>
              <a:rPr sz="2000" dirty="0"/>
            </a:br>
            <a:r>
              <a:rPr sz="2000" dirty="0"/>
              <a:t>pip install selenium </a:t>
            </a:r>
            <a:r>
              <a:rPr sz="2000" dirty="0" err="1"/>
              <a:t>pytest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37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6380A-54EE-C85A-2821-9E716521E6ED}"/>
              </a:ext>
            </a:extLst>
          </p:cNvPr>
          <p:cNvSpPr txBox="1"/>
          <p:nvPr/>
        </p:nvSpPr>
        <p:spPr>
          <a:xfrm>
            <a:off x="5559748" y="1234440"/>
            <a:ext cx="5915972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`python -m </a:t>
            </a:r>
            <a:r>
              <a:rPr dirty="0" err="1">
                <a:latin typeface="Aptos" panose="020B0004020202020204" pitchFamily="34" charset="0"/>
              </a:rPr>
              <a:t>venv</a:t>
            </a:r>
            <a:r>
              <a:rPr dirty="0">
                <a:latin typeface="Aptos" panose="020B0004020202020204" pitchFamily="34" charset="0"/>
              </a:rPr>
              <a:t> .</a:t>
            </a:r>
            <a:r>
              <a:rPr dirty="0" err="1">
                <a:latin typeface="Aptos" panose="020B0004020202020204" pitchFamily="34" charset="0"/>
              </a:rPr>
              <a:t>venv</a:t>
            </a:r>
            <a:r>
              <a:rPr dirty="0">
                <a:latin typeface="Aptos" panose="020B0004020202020204" pitchFamily="34" charset="0"/>
              </a:rPr>
              <a:t>` → creates an isolated Python virtual environment named `.</a:t>
            </a:r>
            <a:r>
              <a:rPr dirty="0" err="1">
                <a:latin typeface="Aptos" panose="020B0004020202020204" pitchFamily="34" charset="0"/>
              </a:rPr>
              <a:t>venv</a:t>
            </a:r>
            <a:r>
              <a:rPr dirty="0">
                <a:latin typeface="Aptos" panose="020B0004020202020204" pitchFamily="34" charset="0"/>
              </a:rPr>
              <a:t>`.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Windows activation → enables that environment in the current shell.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Linux/macOS activation → same purpose with shell-specific syntax.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`pip install selenium </a:t>
            </a:r>
            <a:r>
              <a:rPr dirty="0" err="1">
                <a:latin typeface="Aptos" panose="020B0004020202020204" pitchFamily="34" charset="0"/>
              </a:rPr>
              <a:t>pytest</a:t>
            </a:r>
            <a:r>
              <a:rPr dirty="0">
                <a:latin typeface="Aptos" panose="020B0004020202020204" pitchFamily="34" charset="0"/>
              </a:rPr>
              <a:t>` → installs Selenium for browser automation and </a:t>
            </a:r>
            <a:r>
              <a:rPr dirty="0" err="1">
                <a:latin typeface="Aptos" panose="020B0004020202020204" pitchFamily="34" charset="0"/>
              </a:rPr>
              <a:t>pytest</a:t>
            </a:r>
            <a:r>
              <a:rPr dirty="0">
                <a:latin typeface="Aptos" panose="020B0004020202020204" pitchFamily="34" charset="0"/>
              </a:rPr>
              <a:t> for test execution.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Virtual environments reduce dependency conflicts between student projects.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Basic Selenium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410" y="926199"/>
            <a:ext cx="6662338" cy="4019427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275529"/>
            <a:ext cx="6250429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rPr sz="2000" dirty="0"/>
              <a:t>from selenium import </a:t>
            </a:r>
            <a:r>
              <a:rPr sz="2000" dirty="0" err="1"/>
              <a:t>webdriver</a:t>
            </a:r>
            <a:br>
              <a:rPr sz="2000" dirty="0"/>
            </a:br>
            <a:r>
              <a:rPr sz="2000" dirty="0"/>
              <a:t>from selenium.webdriver.common.by import By</a:t>
            </a:r>
            <a:br>
              <a:rPr sz="2000" dirty="0"/>
            </a:br>
            <a:br>
              <a:rPr sz="2000" dirty="0"/>
            </a:br>
            <a:r>
              <a:rPr sz="2000" dirty="0"/>
              <a:t>def </a:t>
            </a:r>
            <a:r>
              <a:rPr sz="2000" dirty="0" err="1"/>
              <a:t>test_title</a:t>
            </a:r>
            <a:r>
              <a:rPr sz="2000" dirty="0"/>
              <a:t>():</a:t>
            </a:r>
            <a:br>
              <a:rPr sz="2000" dirty="0"/>
            </a:br>
            <a:r>
              <a:rPr sz="2000" dirty="0"/>
              <a:t>    driver = </a:t>
            </a:r>
            <a:r>
              <a:rPr sz="2000" dirty="0" err="1"/>
              <a:t>webdriver.Chrome</a:t>
            </a:r>
            <a:r>
              <a:rPr sz="2000" dirty="0"/>
              <a:t>()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driver.get</a:t>
            </a:r>
            <a:r>
              <a:rPr sz="2000" dirty="0"/>
              <a:t>("http://localhost:5000")</a:t>
            </a:r>
            <a:br>
              <a:rPr sz="2000" dirty="0"/>
            </a:br>
            <a:r>
              <a:rPr sz="2000" dirty="0"/>
              <a:t>    assert "Student App" in </a:t>
            </a:r>
            <a:r>
              <a:rPr sz="2000" dirty="0" err="1"/>
              <a:t>driver.title</a:t>
            </a:r>
            <a:br>
              <a:rPr sz="2000" dirty="0"/>
            </a:br>
            <a:r>
              <a:rPr sz="2000" dirty="0"/>
              <a:t>    </a:t>
            </a:r>
            <a:r>
              <a:rPr sz="2000" dirty="0" err="1"/>
              <a:t>driver.quit</a:t>
            </a:r>
            <a:r>
              <a:rPr sz="2000" dirty="0"/>
              <a:t>()</a:t>
            </a:r>
            <a:br>
              <a:rPr sz="2000" dirty="0"/>
            </a:br>
            <a:br>
              <a:rPr sz="2000" dirty="0"/>
            </a:br>
            <a:r>
              <a:rPr sz="2000" dirty="0"/>
              <a:t># Run:</a:t>
            </a:r>
            <a:br>
              <a:rPr sz="2000" dirty="0"/>
            </a:br>
            <a:r>
              <a:rPr sz="2000" dirty="0" err="1"/>
              <a:t>pytest</a:t>
            </a:r>
            <a:r>
              <a:rPr sz="2000" dirty="0"/>
              <a:t> 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9CEEC-60C0-C8C3-0FDE-B9A18E026B79}"/>
              </a:ext>
            </a:extLst>
          </p:cNvPr>
          <p:cNvSpPr txBox="1"/>
          <p:nvPr/>
        </p:nvSpPr>
        <p:spPr>
          <a:xfrm>
            <a:off x="7045859" y="1057459"/>
            <a:ext cx="4861006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`from selenium import </a:t>
            </a:r>
            <a:r>
              <a:rPr dirty="0" err="1">
                <a:latin typeface="Aptos" panose="020B0004020202020204" pitchFamily="34" charset="0"/>
              </a:rPr>
              <a:t>webdriver</a:t>
            </a:r>
            <a:r>
              <a:rPr dirty="0">
                <a:latin typeface="Aptos" panose="020B0004020202020204" pitchFamily="34" charset="0"/>
              </a:rPr>
              <a:t>` → imports Selenium's browser-driver interface.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`from selenium.webdriver.common.by import By` → imports locator strategies.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`def </a:t>
            </a:r>
            <a:r>
              <a:rPr dirty="0" err="1">
                <a:latin typeface="Aptos" panose="020B0004020202020204" pitchFamily="34" charset="0"/>
              </a:rPr>
              <a:t>test_title</a:t>
            </a:r>
            <a:r>
              <a:rPr dirty="0">
                <a:latin typeface="Aptos" panose="020B0004020202020204" pitchFamily="34" charset="0"/>
              </a:rPr>
              <a:t>():` → defines a </a:t>
            </a:r>
            <a:r>
              <a:rPr dirty="0" err="1">
                <a:latin typeface="Aptos" panose="020B0004020202020204" pitchFamily="34" charset="0"/>
              </a:rPr>
              <a:t>pytest</a:t>
            </a:r>
            <a:r>
              <a:rPr dirty="0">
                <a:latin typeface="Aptos" panose="020B0004020202020204" pitchFamily="34" charset="0"/>
              </a:rPr>
              <a:t> test function.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webdriver.Chrome</a:t>
            </a:r>
            <a:r>
              <a:rPr dirty="0">
                <a:latin typeface="Aptos" panose="020B0004020202020204" pitchFamily="34" charset="0"/>
              </a:rPr>
              <a:t>()` → creates a Chrome WebDriver session; current Selenium versions can manage driver setup in common configurations.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driver.get</a:t>
            </a:r>
            <a:r>
              <a:rPr dirty="0">
                <a:latin typeface="Aptos" panose="020B0004020202020204" pitchFamily="34" charset="0"/>
              </a:rPr>
              <a:t>(</a:t>
            </a:r>
            <a:r>
              <a:rPr dirty="0" err="1">
                <a:latin typeface="Aptos" panose="020B0004020202020204" pitchFamily="34" charset="0"/>
              </a:rPr>
              <a:t>url</a:t>
            </a:r>
            <a:r>
              <a:rPr dirty="0">
                <a:latin typeface="Aptos" panose="020B0004020202020204" pitchFamily="34" charset="0"/>
              </a:rPr>
              <a:t>)` → navigates the browser to the application URL.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`assert ... in </a:t>
            </a:r>
            <a:r>
              <a:rPr dirty="0" err="1">
                <a:latin typeface="Aptos" panose="020B0004020202020204" pitchFamily="34" charset="0"/>
              </a:rPr>
              <a:t>driver.title</a:t>
            </a:r>
            <a:r>
              <a:rPr dirty="0">
                <a:latin typeface="Aptos" panose="020B0004020202020204" pitchFamily="34" charset="0"/>
              </a:rPr>
              <a:t>` → checks that the expected text occurs in the page title.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driver.quit</a:t>
            </a:r>
            <a:r>
              <a:rPr dirty="0">
                <a:latin typeface="Aptos" panose="020B0004020202020204" pitchFamily="34" charset="0"/>
              </a:rPr>
              <a:t>()` → closes the browser session and releases resources.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dirty="0">
                <a:latin typeface="Aptos" panose="020B0004020202020204" pitchFamily="34" charset="0"/>
              </a:rPr>
              <a:t>`</a:t>
            </a:r>
            <a:r>
              <a:rPr dirty="0" err="1">
                <a:latin typeface="Aptos" panose="020B0004020202020204" pitchFamily="34" charset="0"/>
              </a:rPr>
              <a:t>pytest</a:t>
            </a:r>
            <a:r>
              <a:rPr dirty="0">
                <a:latin typeface="Aptos" panose="020B0004020202020204" pitchFamily="34" charset="0"/>
              </a:rPr>
              <a:t> -v` → runs tests with verbose output.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6 —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Visualize metrics, understand trends and create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739" y="228600"/>
            <a:ext cx="132376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rPr dirty="0"/>
              <a:t>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2001356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Data source → system containing metrics/logs/traces.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Query → asks the data source for useful information.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Panel → visual representation of a query/result.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Dashboard → collection of panels organized around an operational question.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Alert rule → evaluates a condition and can trigger a notification.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rPr dirty="0"/>
              <a:t>Observability question: What is happening? Why? Is the service healthy?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41DE-2BAA-5016-BC22-E828C93AE81F}"/>
              </a:ext>
            </a:extLst>
          </p:cNvPr>
          <p:cNvSpPr txBox="1"/>
          <p:nvPr/>
        </p:nvSpPr>
        <p:spPr>
          <a:xfrm>
            <a:off x="701039" y="950944"/>
            <a:ext cx="10547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>
                <a:solidFill>
                  <a:srgbClr val="232830"/>
                </a:solidFill>
              </a:defRPr>
            </a:lvl1pPr>
          </a:lstStyle>
          <a:p>
            <a:r>
              <a:rPr lang="en-US" dirty="0"/>
              <a:t>Grafana is a visualization and monitoring tool that helps us see what is happening inside our applications, servers, databases, and cloud infrastructure.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7D6D2-0E0E-6037-8953-47BA8AF320E2}"/>
              </a:ext>
            </a:extLst>
          </p:cNvPr>
          <p:cNvSpPr txBox="1"/>
          <p:nvPr/>
        </p:nvSpPr>
        <p:spPr>
          <a:xfrm>
            <a:off x="701040" y="4967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https://grafana.com/grafana/dashboards/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Part 7 —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154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5"/>
                </a:solidFill>
              </a:defRPr>
            </a:pPr>
            <a:r>
              <a:t>Combine the tools into one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End-to-End Student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Application: simple web UI + REST API.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Docker: build a repeatable application image and local multi-service environment.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Terraform: provision the approved infrastructure or lab resources.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SonarQube: inspect source quality/security and enforce a Quality Gate.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Selenium: execute browser-based functional tests.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Prometheus/metrics: collect operational measurements.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Grafana: visualize metrics and alert on problems.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CI pipeline: orchestrate build → scan → test → package → deploy → observe.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Suggested Repository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480560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17319"/>
            <a:ext cx="10296144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devops-student-project/</a:t>
            </a:r>
            <a:br/>
            <a:r>
              <a:t>├── app/</a:t>
            </a:r>
            <a:br/>
            <a:r>
              <a:t>│   ├── app.py</a:t>
            </a:r>
            <a:br/>
            <a:r>
              <a:t>│   ├── requirements.txt</a:t>
            </a:r>
            <a:br/>
            <a:r>
              <a:t>│   └── templates/</a:t>
            </a:r>
            <a:br/>
            <a:r>
              <a:t>├── tests/</a:t>
            </a:r>
            <a:br/>
            <a:r>
              <a:t>│   ├── test_api.py</a:t>
            </a:r>
            <a:br/>
            <a:r>
              <a:t>│   └── test_ui.py</a:t>
            </a:r>
            <a:br/>
            <a:r>
              <a:t>├── docker/</a:t>
            </a:r>
            <a:br/>
            <a:r>
              <a:t>│   ├── Dockerfile</a:t>
            </a:r>
            <a:br/>
            <a:r>
              <a:t>│   └── compose.yml</a:t>
            </a:r>
            <a:br/>
            <a:r>
              <a:t>├── terraform/</a:t>
            </a:r>
            <a:br/>
            <a:r>
              <a:t>│   ├── main.tf</a:t>
            </a:r>
            <a:br/>
            <a:r>
              <a:t>│   ├── variables.tf</a:t>
            </a:r>
            <a:br/>
            <a:r>
              <a:t>│   └── outputs.tf</a:t>
            </a:r>
            <a:br/>
            <a:r>
              <a:t>├── sonar-project.properties</a:t>
            </a:r>
            <a:br/>
            <a:r>
              <a:t>└──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Repository Structure — Why Each Folder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`app/` → application source and runtime dependencies.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`tests/` → automated API/UI tests.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`docker/` → container build and local orchestration definitions.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`terraform/` → infrastructure configuration.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`sonar-project.properties` → optional project-specific Sonar analysis settings.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`README.md` → setup, usage, architecture, troubleshooting and reproducibility instructions.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t>Principle: someone else should be able to clone the repository and understand how to build, test and run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Example CI/CD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480560"/>
          </a:xfrm>
          <a:prstGeom prst="roundRect">
            <a:avLst/>
          </a:prstGeom>
          <a:solidFill>
            <a:srgbClr val="1E222A"/>
          </a:solidFill>
          <a:ln>
            <a:solidFill>
              <a:srgbClr val="1E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17319"/>
            <a:ext cx="10296144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1. Checkout source</a:t>
            </a:r>
            <a:br/>
            <a:r>
              <a:t>       ↓</a:t>
            </a:r>
            <a:br/>
            <a:r>
              <a:t>2. Build application</a:t>
            </a:r>
            <a:br/>
            <a:r>
              <a:t>       ↓</a:t>
            </a:r>
            <a:br/>
            <a:r>
              <a:t>3. SonarQube analysis ──X──&gt; Quality Gate failed</a:t>
            </a:r>
            <a:br/>
            <a:r>
              <a:t>       ↓</a:t>
            </a:r>
            <a:br/>
            <a:r>
              <a:t>4. Build Docker image</a:t>
            </a:r>
            <a:br/>
            <a:r>
              <a:t>       ↓</a:t>
            </a:r>
            <a:br/>
            <a:r>
              <a:t>5. Deploy to test environment</a:t>
            </a:r>
            <a:br/>
            <a:r>
              <a:t>       ↓</a:t>
            </a:r>
            <a:br/>
            <a:r>
              <a:t>6. Selenium tests ──────X──&gt; Test failed</a:t>
            </a:r>
            <a:br/>
            <a:r>
              <a:t>       ↓</a:t>
            </a:r>
            <a:br/>
            <a:r>
              <a:t>7. Publish/release</a:t>
            </a:r>
            <a:br/>
            <a:r>
              <a:t>       ↓</a:t>
            </a:r>
            <a:br/>
            <a:r>
              <a:t>8. Metrics → Prometheus →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Why the Integration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Docker makes the application environment repeatable.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Terraform makes infrastructure changes repeatable and reviewable.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SonarQube shifts code-quality/security feedback earlier.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Selenium validates behavior from the user's perspective.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Grafana provides operational feedback after deployment.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Together they create a feedback loop instead of five disconnected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A56"/>
                </a:solidFill>
              </a:defRPr>
            </a:pPr>
            <a:r>
              <a:t>Final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Docker → application packaging and runtime isolation.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Terraform → infrastructure as code.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SonarQube → continuous code inspection.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Selenium → automated browser testing.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Grafana → visualization and alerting for observability data.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Tool selection → problem → requirements → alternatives → constraints → proof of concept → decision.</a:t>
            </a:r>
          </a:p>
          <a:p>
            <a:pPr>
              <a:spcAft>
                <a:spcPts val="800"/>
              </a:spcAft>
              <a:defRPr sz="1800">
                <a:solidFill>
                  <a:srgbClr val="232830"/>
                </a:solidFill>
              </a:defRPr>
            </a:pPr>
            <a:r>
              <a:t>Best DevOps engineer habit: understand the problem first, then choose the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2693</Words>
  <Application>Microsoft Office PowerPoint</Application>
  <PresentationFormat>Widescreen</PresentationFormat>
  <Paragraphs>239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25</cp:revision>
  <dcterms:created xsi:type="dcterms:W3CDTF">2013-01-27T09:14:16Z</dcterms:created>
  <dcterms:modified xsi:type="dcterms:W3CDTF">2026-09-07T15:41:12Z</dcterms:modified>
  <cp:category/>
</cp:coreProperties>
</file>