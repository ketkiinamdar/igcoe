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2" r:id="rId1"/>
  </p:sldMasterIdLst>
  <p:notesMasterIdLst>
    <p:notesMasterId r:id="rId12"/>
  </p:notesMasterIdLst>
  <p:handoutMasterIdLst>
    <p:handoutMasterId r:id="rId13"/>
  </p:handoutMasterIdLst>
  <p:sldIdLst>
    <p:sldId id="257" r:id="rId2"/>
    <p:sldId id="258" r:id="rId3"/>
    <p:sldId id="261" r:id="rId4"/>
    <p:sldId id="260" r:id="rId5"/>
    <p:sldId id="262" r:id="rId6"/>
    <p:sldId id="263" r:id="rId7"/>
    <p:sldId id="264" r:id="rId8"/>
    <p:sldId id="265" r:id="rId9"/>
    <p:sldId id="259" r:id="rId10"/>
    <p:sldId id="266" r:id="rId11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945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2">
          <p15:clr>
            <a:srgbClr val="A4A3A4"/>
          </p15:clr>
        </p15:guide>
        <p15:guide id="5" orient="horz" pos="1072">
          <p15:clr>
            <a:srgbClr val="A4A3A4"/>
          </p15:clr>
        </p15:guide>
        <p15:guide id="6" pos="3839">
          <p15:clr>
            <a:srgbClr val="A4A3A4"/>
          </p15:clr>
        </p15:guide>
        <p15:guide id="7" pos="704">
          <p15:clr>
            <a:srgbClr val="A4A3A4"/>
          </p15:clr>
        </p15:guide>
        <p15:guide id="8" pos="710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DBED569-4797-4DF1-A0F4-6AAB3CD982D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182" autoAdjust="0"/>
  </p:normalViewPr>
  <p:slideViewPr>
    <p:cSldViewPr showGuides="1">
      <p:cViewPr varScale="1">
        <p:scale>
          <a:sx n="82" d="100"/>
          <a:sy n="82" d="100"/>
        </p:scale>
        <p:origin x="720" y="72"/>
      </p:cViewPr>
      <p:guideLst>
        <p:guide orient="horz" pos="2160"/>
        <p:guide orient="horz" pos="945"/>
        <p:guide orient="horz" pos="3888"/>
        <p:guide orient="horz" pos="192"/>
        <p:guide orient="horz" pos="1072"/>
        <p:guide pos="3839"/>
        <p:guide pos="704"/>
        <p:guide pos="7102"/>
      </p:guideLst>
    </p:cSldViewPr>
  </p:slideViewPr>
  <p:outlineViewPr>
    <p:cViewPr>
      <p:scale>
        <a:sx n="33" d="100"/>
        <a:sy n="33" d="100"/>
      </p:scale>
      <p:origin x="0" y="-2886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79" d="100"/>
          <a:sy n="79" d="100"/>
        </p:scale>
        <p:origin x="1644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73C59C-4E16-4A64-A766-34DB213E11B3}" type="datetimeFigureOut">
              <a:rPr lang="en-US">
                <a:solidFill>
                  <a:schemeClr val="tx2"/>
                </a:solidFill>
              </a:rPr>
              <a:t>8/1/2026</a:t>
            </a:fld>
            <a:endParaRPr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77566-CD65-4859-9FA1-43956DC85B8C}" type="slidenum">
              <a:rPr>
                <a:solidFill>
                  <a:schemeClr val="tx2"/>
                </a:solidFill>
              </a:rPr>
              <a:t>‹#›</a:t>
            </a:fld>
            <a:endParaRPr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95CF31C-F757-429C-A789-86504F04C3BE}" type="datetimeFigureOut">
              <a:rPr lang="en-US"/>
              <a:pPr/>
              <a:t>8/1/2026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8796F01-7154-41E0-B48B-A6921757531A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705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12190572" cy="6858000"/>
            <a:chOff x="0" y="0"/>
            <a:chExt cx="12190572" cy="6858000"/>
          </a:xfrm>
        </p:grpSpPr>
        <p:sp>
          <p:nvSpPr>
            <p:cNvPr id="13" name="Rectangle 12"/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0" y="0"/>
              <a:ext cx="4742741" cy="6858000"/>
              <a:chOff x="0" y="0"/>
              <a:chExt cx="4742741" cy="6858000"/>
            </a:xfrm>
          </p:grpSpPr>
          <p:pic>
            <p:nvPicPr>
              <p:cNvPr id="9" name="Picture 8" descr="Stacked books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4591594" cy="6858000"/>
              </a:xfrm>
              <a:prstGeom prst="rect">
                <a:avLst/>
              </a:prstGeom>
            </p:spPr>
          </p:pic>
          <p:sp>
            <p:nvSpPr>
              <p:cNvPr id="10" name="Rectangle 9"/>
              <p:cNvSpPr/>
              <p:nvPr/>
            </p:nvSpPr>
            <p:spPr>
              <a:xfrm>
                <a:off x="4605581" y="0"/>
                <a:ext cx="137160" cy="68580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79346" y="1498601"/>
            <a:ext cx="7008574" cy="3298825"/>
          </a:xfrm>
        </p:spPr>
        <p:txBody>
          <a:bodyPr>
            <a:normAutofit/>
          </a:bodyPr>
          <a:lstStyle>
            <a:lvl1pPr algn="l">
              <a:lnSpc>
                <a:spcPct val="90000"/>
              </a:lnSpc>
              <a:defRPr sz="5400" b="0" cap="none" spc="0" baseline="0">
                <a:ln w="0"/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79346" y="4927600"/>
            <a:ext cx="7008574" cy="1244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b="0" cap="none" spc="0">
                <a:ln w="0"/>
                <a:solidFill>
                  <a:schemeClr val="accent2">
                    <a:lumMod val="50000"/>
                  </a:schemeClr>
                </a:solidFill>
                <a:effectLst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6A09E-12D5-4B1D-B8BB-C300B1DDD423}" type="datetime1">
              <a:rPr lang="en-US" smtClean="0"/>
              <a:t>8/1/2026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0121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377B-053C-438C-8A98-92C419A6701C}" type="datetime1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359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1620" y="0"/>
            <a:ext cx="12188952" cy="6858000"/>
            <a:chOff x="1620" y="0"/>
            <a:chExt cx="12188952" cy="6858000"/>
          </a:xfrm>
        </p:grpSpPr>
        <p:sp>
          <p:nvSpPr>
            <p:cNvPr id="4" name="Rectangle 3"/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98818" y="0"/>
              <a:ext cx="4591594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7481252" y="0"/>
              <a:ext cx="137160" cy="6858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solidFill>
                  <a:schemeClr val="tx2"/>
                </a:solidFill>
              </a:endParaRPr>
            </a:p>
          </p:txBody>
        </p:sp>
      </p:grpSp>
      <p:pic>
        <p:nvPicPr>
          <p:cNvPr id="5" name="Picture 4" descr="Stacked book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8818" y="0"/>
            <a:ext cx="4591594" cy="6858000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237149" y="1498601"/>
            <a:ext cx="7008574" cy="3298825"/>
          </a:xfrm>
        </p:spPr>
        <p:txBody>
          <a:bodyPr>
            <a:normAutofit/>
          </a:bodyPr>
          <a:lstStyle>
            <a:lvl1pPr algn="l">
              <a:lnSpc>
                <a:spcPct val="90000"/>
              </a:lnSpc>
              <a:defRPr sz="5400" b="0" cap="none" spc="0" baseline="0">
                <a:ln w="0"/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237149" y="4927600"/>
            <a:ext cx="7008574" cy="1244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b="0" cap="none" spc="0">
                <a:ln w="0"/>
                <a:solidFill>
                  <a:schemeClr val="accent2">
                    <a:lumMod val="50000"/>
                  </a:schemeClr>
                </a:solidFill>
                <a:effectLst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CEF46-0123-4A75-9835-49DC49D53DE2}" type="datetime1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5827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11730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buFont typeface="Century Gothic" panose="020B0502020202020204" pitchFamily="34" charset="0"/>
              <a:buChar char="–"/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8"/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755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6378D-18AE-47D1-B10A-42F623B40082}" type="datetime1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045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137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11730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0162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29755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F6AE8-D704-41F6-B16A-5547B5672AC1}" type="datetime1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07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B9538-6F63-4C0B-916D-ED3F4E0A1B28}" type="datetime1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845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F15BF-7116-4A9E-8022-5A2DC937F971}" type="datetime1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7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961368" y="0"/>
            <a:ext cx="7922736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12" y="1701800"/>
            <a:ext cx="3351927" cy="2844800"/>
          </a:xfrm>
        </p:spPr>
        <p:txBody>
          <a:bodyPr anchor="b">
            <a:normAutofit/>
          </a:bodyPr>
          <a:lstStyle>
            <a:lvl1pPr algn="l">
              <a:defRPr sz="20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469236" y="482600"/>
            <a:ext cx="6805427" cy="5892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418976" indent="-285750">
              <a:buFont typeface="Century Gothic" panose="020B0502020202020204" pitchFamily="34" charset="0"/>
              <a:buChar char="–"/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5612" y="4648200"/>
            <a:ext cx="3351927" cy="17272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8DC91-5A3B-40CE-8C1D-279A8EF6E008}" type="datetime1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110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082258" y="0"/>
            <a:ext cx="802431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7765" y="4800600"/>
            <a:ext cx="7313295" cy="762000"/>
          </a:xfrm>
        </p:spPr>
        <p:txBody>
          <a:bodyPr anchor="b">
            <a:normAutofit/>
          </a:bodyPr>
          <a:lstStyle>
            <a:lvl1pPr algn="l">
              <a:defRPr sz="20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2437765" y="279401"/>
            <a:ext cx="7313295" cy="444817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7765" y="5562600"/>
            <a:ext cx="7313295" cy="8128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7C20A-B94A-4E20-B4B2-88A7825AE904}" type="datetime1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372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>
            <a:lvl5pPr>
              <a:defRPr/>
            </a:lvl5pPr>
            <a:lvl6pPr marL="2418976" indent="-285750">
              <a:buFont typeface="Century Gothic" panose="020B0502020202020204" pitchFamily="34" charset="0"/>
              <a:buChar char="–"/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CA53D-4C84-40AA-983E-A1E818A7FEFC}" type="datetime1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619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52633" y="274638"/>
            <a:ext cx="1422030" cy="58975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1117309" y="274638"/>
            <a:ext cx="8532178" cy="5897561"/>
          </a:xfrm>
        </p:spPr>
        <p:txBody>
          <a:bodyPr vert="eaVert"/>
          <a:lstStyle>
            <a:lvl5pPr>
              <a:defRPr/>
            </a:lvl5pPr>
            <a:lvl6pPr marL="2418976" indent="-285750">
              <a:buFont typeface="Century Gothic" panose="020B0502020202020204" pitchFamily="34" charset="0"/>
              <a:buChar char="–"/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FCEE-AE66-4EAB-9C04-97F8A56A6354}" type="datetime1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691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620" y="0"/>
            <a:ext cx="12188952" cy="6858000"/>
            <a:chOff x="1620" y="0"/>
            <a:chExt cx="12188952" cy="6858000"/>
          </a:xfrm>
        </p:grpSpPr>
        <p:sp>
          <p:nvSpPr>
            <p:cNvPr id="10" name="Rectangle 9"/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304721" y="0"/>
              <a:ext cx="11579384" cy="6858000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3970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309" y="1701800"/>
            <a:ext cx="10157354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l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859468AF-EFCF-4AAD-ACF4-3BA83EC4AF4E}" type="datetime1">
              <a:rPr lang="en-US" smtClean="0"/>
              <a:pPr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ctr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r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187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1218987" rtl="0" eaLnBrk="1" latinLnBrk="0" hangingPunct="1">
        <a:lnSpc>
          <a:spcPct val="85000"/>
        </a:lnSpc>
        <a:spcBef>
          <a:spcPct val="0"/>
        </a:spcBef>
        <a:buNone/>
        <a:tabLst/>
        <a:defRPr sz="4400" b="0" kern="1200" cap="none" baseline="0">
          <a:solidFill>
            <a:schemeClr val="accent2">
              <a:lumMod val="50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5000"/>
        </a:lnSpc>
        <a:spcBef>
          <a:spcPts val="1866"/>
        </a:spcBef>
        <a:buClr>
          <a:schemeClr val="accent6">
            <a:lumMod val="50000"/>
          </a:schemeClr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31392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58037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584683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11328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133226" indent="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None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6pPr>
      <a:lvl7pPr marL="2845622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7pPr>
      <a:lvl8pPr marL="3272267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8pPr>
      <a:lvl9pPr marL="3759862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Practical – 3</a:t>
            </a:r>
            <a:br>
              <a:rPr lang="en-IN" dirty="0"/>
            </a:br>
            <a:br>
              <a:rPr lang="en-IN" dirty="0"/>
            </a:br>
            <a:r>
              <a:rPr lang="en-IN" dirty="0"/>
              <a:t>GIT &amp; GITHUB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4879346" y="4941168"/>
            <a:ext cx="7008574" cy="1244600"/>
          </a:xfrm>
        </p:spPr>
        <p:txBody>
          <a:bodyPr/>
          <a:lstStyle/>
          <a:p>
            <a:r>
              <a:rPr lang="en-US" dirty="0"/>
              <a:t>Aruna Kumbhar</a:t>
            </a:r>
          </a:p>
        </p:txBody>
      </p:sp>
    </p:spTree>
    <p:extLst>
      <p:ext uri="{BB962C8B-B14F-4D97-AF65-F5344CB8AC3E}">
        <p14:creationId xmlns:p14="http://schemas.microsoft.com/office/powerpoint/2010/main" val="168988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47ACC7-0D15-4411-E677-49882BA52580}"/>
              </a:ext>
            </a:extLst>
          </p:cNvPr>
          <p:cNvSpPr txBox="1"/>
          <p:nvPr/>
        </p:nvSpPr>
        <p:spPr>
          <a:xfrm>
            <a:off x="981844" y="188640"/>
            <a:ext cx="2074607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IN" b="1" dirty="0"/>
              <a:t>git-scm.com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080E9F-0465-4DF5-05A3-C1FCA514C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940" y="900712"/>
            <a:ext cx="8166992" cy="5768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240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3CEBA-2335-C75C-B1A8-B6876A0B6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788" y="1988840"/>
            <a:ext cx="3608951" cy="760512"/>
          </a:xfrm>
        </p:spPr>
        <p:txBody>
          <a:bodyPr>
            <a:normAutofit fontScale="90000"/>
          </a:bodyPr>
          <a:lstStyle/>
          <a:p>
            <a:r>
              <a:rPr lang="en-IN" dirty="0"/>
              <a:t>Centralized vs. Distributed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4D5471-652C-BB88-A496-5FEFF18C0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795" y="94320"/>
            <a:ext cx="7062703" cy="666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71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it for scientists | Neurath's boat">
            <a:extLst>
              <a:ext uri="{FF2B5EF4-FFF2-40B4-BE49-F238E27FC236}">
                <a16:creationId xmlns:a16="http://schemas.microsoft.com/office/drawing/2014/main" id="{6FD2E7F1-BA6E-DFC5-3AC7-01862D70B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788" y="404664"/>
            <a:ext cx="11359912" cy="6214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6898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A2FE4-F0B2-C15D-5266-ADA0CBF17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688504"/>
          </a:xfrm>
        </p:spPr>
        <p:txBody>
          <a:bodyPr>
            <a:normAutofit fontScale="90000"/>
          </a:bodyPr>
          <a:lstStyle/>
          <a:p>
            <a:r>
              <a:rPr lang="en-IN" dirty="0"/>
              <a:t>Branching Strategy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38A5A1-5F73-38A0-465E-C92A3FD16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884" y="1196751"/>
            <a:ext cx="9433048" cy="530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067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1140B-CEFE-419B-5A81-4EA81FD8A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760512"/>
          </a:xfrm>
        </p:spPr>
        <p:txBody>
          <a:bodyPr/>
          <a:lstStyle/>
          <a:p>
            <a:r>
              <a:rPr lang="en-IN" dirty="0"/>
              <a:t>Pull Requests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EA9997-006A-05BA-9047-FE4470B7DCF5}"/>
              </a:ext>
            </a:extLst>
          </p:cNvPr>
          <p:cNvSpPr txBox="1"/>
          <p:nvPr/>
        </p:nvSpPr>
        <p:spPr>
          <a:xfrm>
            <a:off x="761495" y="908166"/>
            <a:ext cx="10157355" cy="7355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b="0" u="none" strike="noStrike">
                <a:effectLst/>
                <a:latin typeface="Google Sans"/>
              </a:defRPr>
            </a:lvl1pPr>
          </a:lstStyle>
          <a:p>
            <a:r>
              <a:rPr lang="en-US" dirty="0"/>
              <a:t>Imagine the restaurant has a "Master Menu" (the main branch) that customers eat from every day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D73FB9-FD13-ED3F-2F74-17D5E90EE763}"/>
              </a:ext>
            </a:extLst>
          </p:cNvPr>
          <p:cNvSpPr txBox="1"/>
          <p:nvPr/>
        </p:nvSpPr>
        <p:spPr>
          <a:xfrm>
            <a:off x="795739" y="1763945"/>
            <a:ext cx="7733207" cy="413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b="0" u="none" strike="noStrike">
                <a:effectLst/>
                <a:latin typeface="Google Sans"/>
              </a:defRPr>
            </a:lvl1pPr>
          </a:lstStyle>
          <a:p>
            <a:r>
              <a:rPr lang="en-US" dirty="0"/>
              <a:t>You cannot just sneak a new dish onto it without testing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41CB15-0904-7F72-29D4-4E44192C5652}"/>
              </a:ext>
            </a:extLst>
          </p:cNvPr>
          <p:cNvSpPr txBox="1"/>
          <p:nvPr/>
        </p:nvSpPr>
        <p:spPr>
          <a:xfrm>
            <a:off x="761495" y="2322438"/>
            <a:ext cx="8744702" cy="7355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b="0" u="none" strike="noStrike">
                <a:effectLst/>
                <a:latin typeface="Google Sans"/>
              </a:defRPr>
            </a:lvl1pPr>
          </a:lstStyle>
          <a:p>
            <a:r>
              <a:rPr lang="en-US" dirty="0"/>
              <a:t>1. You go to a private kitchen to experiment with a new recipe – this is branching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72325B-77BA-CE7E-7187-08865BD72C51}"/>
              </a:ext>
            </a:extLst>
          </p:cNvPr>
          <p:cNvSpPr txBox="1"/>
          <p:nvPr/>
        </p:nvSpPr>
        <p:spPr>
          <a:xfrm>
            <a:off x="737459" y="3189199"/>
            <a:ext cx="10513168" cy="7355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b="0" u="none" strike="noStrike">
                <a:effectLst/>
                <a:latin typeface="Google Sans"/>
              </a:defRPr>
            </a:lvl1pPr>
          </a:lstStyle>
          <a:p>
            <a:r>
              <a:rPr lang="en-US" dirty="0"/>
              <a:t>2. Once the recipe is perfect, you plate it and ask the Head Chef: "Can you review this and add it to the Master Menu?"  - This is the PR (Pull Request).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CEA55F-294C-2960-87E7-B7B07D0A8CD6}"/>
              </a:ext>
            </a:extLst>
          </p:cNvPr>
          <p:cNvSpPr txBox="1"/>
          <p:nvPr/>
        </p:nvSpPr>
        <p:spPr>
          <a:xfrm>
            <a:off x="737459" y="4079692"/>
            <a:ext cx="10699273" cy="7355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b="0" u="none" strike="noStrike">
                <a:effectLst/>
                <a:latin typeface="Google Sans"/>
              </a:defRPr>
            </a:lvl1pPr>
          </a:lstStyle>
          <a:p>
            <a:r>
              <a:rPr lang="en-US" dirty="0"/>
              <a:t>3. The team tastes it. The Head Chef checks your ingredients (Code Review), and the Health Inspector ensures it is safe (Automated Testing)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2CC95C-6F6A-C6BC-857D-CF0EC5CB8C24}"/>
              </a:ext>
            </a:extLst>
          </p:cNvPr>
          <p:cNvSpPr txBox="1"/>
          <p:nvPr/>
        </p:nvSpPr>
        <p:spPr>
          <a:xfrm>
            <a:off x="713220" y="4976879"/>
            <a:ext cx="10699274" cy="1144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b="0" u="none" strike="noStrike" dirty="0">
                <a:effectLst/>
                <a:latin typeface="Google Sans"/>
              </a:rPr>
              <a:t>4. Once everyone gives a thumbs-up, the Head Chef officially prints your taco onto the Master Menu. Your code is now </a:t>
            </a:r>
            <a:r>
              <a:rPr lang="en-US" b="1" u="none" strike="noStrike" dirty="0">
                <a:effectLst/>
                <a:latin typeface="Google Sans"/>
              </a:rPr>
              <a:t>merged</a:t>
            </a:r>
            <a:r>
              <a:rPr lang="en-US" b="0" u="none" strike="noStrike" dirty="0">
                <a:effectLst/>
                <a:latin typeface="Google Sans"/>
              </a:rPr>
              <a:t> for everyone to use!</a:t>
            </a:r>
          </a:p>
          <a:p>
            <a:pPr>
              <a:lnSpc>
                <a:spcPct val="95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2394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1140B-CEFE-419B-5A81-4EA81FD8A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760512"/>
          </a:xfrm>
        </p:spPr>
        <p:txBody>
          <a:bodyPr/>
          <a:lstStyle/>
          <a:p>
            <a:r>
              <a:rPr lang="en-IN" dirty="0"/>
              <a:t>Pull Requests</a:t>
            </a:r>
          </a:p>
        </p:txBody>
      </p:sp>
      <p:pic>
        <p:nvPicPr>
          <p:cNvPr id="2050" name="Picture 2" descr="5 elements of a perfect pull request - Inside Atlassian">
            <a:extLst>
              <a:ext uri="{FF2B5EF4-FFF2-40B4-BE49-F238E27FC236}">
                <a16:creationId xmlns:a16="http://schemas.microsoft.com/office/drawing/2014/main" id="{84C796B8-C8DD-9D3F-EBB3-292D10DB84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828" y="980728"/>
            <a:ext cx="10157355" cy="5603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42349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">
            <a:extLst>
              <a:ext uri="{FF2B5EF4-FFF2-40B4-BE49-F238E27FC236}">
                <a16:creationId xmlns:a16="http://schemas.microsoft.com/office/drawing/2014/main" id="{7C40B1CC-3D3A-6512-81BA-38A0927F1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820" y="260648"/>
            <a:ext cx="2045753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altLang="en-US" b="1" dirty="0"/>
              <a:t>git --version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E03753-EE41-9747-C54D-F71AB415BE6D}"/>
              </a:ext>
            </a:extLst>
          </p:cNvPr>
          <p:cNvSpPr txBox="1"/>
          <p:nvPr/>
        </p:nvSpPr>
        <p:spPr>
          <a:xfrm>
            <a:off x="746009" y="880018"/>
            <a:ext cx="1066318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IN" b="1" dirty="0"/>
              <a:t>git </a:t>
            </a:r>
            <a:r>
              <a:rPr lang="en-IN" b="1" dirty="0" err="1"/>
              <a:t>init</a:t>
            </a:r>
            <a:endParaRPr lang="en-IN" b="1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323A310-ACD8-0E42-861E-CBFCB1423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820" y="1499388"/>
            <a:ext cx="8818440" cy="7940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altLang="en-US" b="1" dirty="0"/>
              <a:t>git config --global user.name "your Name"</a:t>
            </a:r>
            <a:br>
              <a:rPr lang="en-US" altLang="en-US" b="1" dirty="0"/>
            </a:br>
            <a:r>
              <a:rPr lang="en-US" altLang="en-US" b="1" dirty="0"/>
              <a:t>git config --global </a:t>
            </a:r>
            <a:r>
              <a:rPr lang="en-US" altLang="en-US" b="1" dirty="0" err="1"/>
              <a:t>user.email</a:t>
            </a:r>
            <a:r>
              <a:rPr lang="en-US" altLang="en-US" b="1" dirty="0"/>
              <a:t> "your.email@example.com"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FBEB65-A935-E25D-FEB2-BB2D864992A4}"/>
              </a:ext>
            </a:extLst>
          </p:cNvPr>
          <p:cNvSpPr txBox="1"/>
          <p:nvPr/>
        </p:nvSpPr>
        <p:spPr>
          <a:xfrm>
            <a:off x="765820" y="2469624"/>
            <a:ext cx="2706190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IN" b="1" dirty="0"/>
              <a:t>git status / git diff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728DCC-AA65-C797-DAB2-32E3A40425F3}"/>
              </a:ext>
            </a:extLst>
          </p:cNvPr>
          <p:cNvSpPr txBox="1"/>
          <p:nvPr/>
        </p:nvSpPr>
        <p:spPr>
          <a:xfrm>
            <a:off x="776333" y="3088994"/>
            <a:ext cx="3365024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b="1"/>
            </a:lvl1pPr>
          </a:lstStyle>
          <a:p>
            <a:r>
              <a:rPr lang="en-IN" dirty="0"/>
              <a:t>git add . / (file name)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0E9FE5-9C01-44DC-0C0C-06E8CB126AA3}"/>
              </a:ext>
            </a:extLst>
          </p:cNvPr>
          <p:cNvSpPr txBox="1"/>
          <p:nvPr/>
        </p:nvSpPr>
        <p:spPr>
          <a:xfrm>
            <a:off x="731303" y="3723580"/>
            <a:ext cx="5213287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b="1"/>
            </a:lvl1pPr>
          </a:lstStyle>
          <a:p>
            <a:r>
              <a:rPr lang="en-US" dirty="0"/>
              <a:t>git commit -m “commit message"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368FAE-256E-E47F-D212-E4D4D8FA5609}"/>
              </a:ext>
            </a:extLst>
          </p:cNvPr>
          <p:cNvSpPr txBox="1"/>
          <p:nvPr/>
        </p:nvSpPr>
        <p:spPr>
          <a:xfrm>
            <a:off x="722911" y="4388037"/>
            <a:ext cx="8073415" cy="44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b="1"/>
            </a:lvl1pPr>
          </a:lstStyle>
          <a:p>
            <a:r>
              <a:rPr lang="en-US" dirty="0"/>
              <a:t>git remote add origin https://github.com/repo name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88A76E-AD0F-F109-6CA7-38FABCF7F132}"/>
              </a:ext>
            </a:extLst>
          </p:cNvPr>
          <p:cNvSpPr txBox="1"/>
          <p:nvPr/>
        </p:nvSpPr>
        <p:spPr>
          <a:xfrm>
            <a:off x="746009" y="5052494"/>
            <a:ext cx="6050599" cy="44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b="1"/>
            </a:lvl1pPr>
          </a:lstStyle>
          <a:p>
            <a:r>
              <a:rPr lang="en-IN" dirty="0"/>
              <a:t>git push --set-upstream origin main</a:t>
            </a:r>
          </a:p>
        </p:txBody>
      </p:sp>
    </p:spTree>
    <p:extLst>
      <p:ext uri="{BB962C8B-B14F-4D97-AF65-F5344CB8AC3E}">
        <p14:creationId xmlns:p14="http://schemas.microsoft.com/office/powerpoint/2010/main" val="3699478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127E67-43B5-CCE0-E5F8-721308EBFBA4}"/>
              </a:ext>
            </a:extLst>
          </p:cNvPr>
          <p:cNvSpPr txBox="1"/>
          <p:nvPr/>
        </p:nvSpPr>
        <p:spPr>
          <a:xfrm>
            <a:off x="738431" y="1286632"/>
            <a:ext cx="4969630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IN" b="1" dirty="0"/>
              <a:t>git checkout –b “branch name”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8AEAA9-1CF3-10DE-5424-6455345A9A58}"/>
              </a:ext>
            </a:extLst>
          </p:cNvPr>
          <p:cNvSpPr txBox="1"/>
          <p:nvPr/>
        </p:nvSpPr>
        <p:spPr>
          <a:xfrm>
            <a:off x="778599" y="608748"/>
            <a:ext cx="2382383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IN" b="1" dirty="0"/>
              <a:t>git clone “link”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2C5111-7A19-C990-BD5A-E0AC7954F259}"/>
              </a:ext>
            </a:extLst>
          </p:cNvPr>
          <p:cNvSpPr txBox="1"/>
          <p:nvPr/>
        </p:nvSpPr>
        <p:spPr>
          <a:xfrm>
            <a:off x="738431" y="1962564"/>
            <a:ext cx="4482317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IN" b="1" dirty="0"/>
              <a:t>git checkout “branch name”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EBBB42-A369-54CF-26D0-8C5CFBA1F482}"/>
              </a:ext>
            </a:extLst>
          </p:cNvPr>
          <p:cNvSpPr txBox="1"/>
          <p:nvPr/>
        </p:nvSpPr>
        <p:spPr>
          <a:xfrm>
            <a:off x="733970" y="3309400"/>
            <a:ext cx="4145768" cy="44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b="1"/>
            </a:lvl1pPr>
          </a:lstStyle>
          <a:p>
            <a:r>
              <a:rPr lang="en-IN" dirty="0"/>
              <a:t>git pull origin main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C16315-2682-1D5F-63D0-049FC19FB118}"/>
              </a:ext>
            </a:extLst>
          </p:cNvPr>
          <p:cNvSpPr txBox="1"/>
          <p:nvPr/>
        </p:nvSpPr>
        <p:spPr>
          <a:xfrm>
            <a:off x="733970" y="3951068"/>
            <a:ext cx="4742599" cy="44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b="1"/>
            </a:lvl1pPr>
          </a:lstStyle>
          <a:p>
            <a:r>
              <a:rPr lang="en-IN" dirty="0"/>
              <a:t>git branch -d “branch name”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E6163F3-5E4F-317D-3C34-84396A764C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599" y="2655359"/>
            <a:ext cx="1202573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altLang="en-US" b="1" dirty="0"/>
              <a:t>git log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4B60EE-18FF-B8B7-33C6-DBCA0273351D}"/>
              </a:ext>
            </a:extLst>
          </p:cNvPr>
          <p:cNvSpPr txBox="1"/>
          <p:nvPr/>
        </p:nvSpPr>
        <p:spPr>
          <a:xfrm>
            <a:off x="768223" y="4643863"/>
            <a:ext cx="2569934" cy="44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b="1"/>
            </a:lvl1pPr>
          </a:lstStyle>
          <a:p>
            <a:r>
              <a:rPr lang="en-IN" dirty="0"/>
              <a:t>git log --</a:t>
            </a:r>
            <a:r>
              <a:rPr lang="en-IN" dirty="0" err="1"/>
              <a:t>oneline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9EE522-2326-4B49-8CC1-40DCE3C7C947}"/>
              </a:ext>
            </a:extLst>
          </p:cNvPr>
          <p:cNvSpPr txBox="1"/>
          <p:nvPr/>
        </p:nvSpPr>
        <p:spPr>
          <a:xfrm>
            <a:off x="733970" y="5297904"/>
            <a:ext cx="3632250" cy="44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b="1"/>
            </a:lvl1pPr>
          </a:lstStyle>
          <a:p>
            <a:r>
              <a:rPr lang="en-IN" dirty="0"/>
              <a:t>git revert “commit id”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2C94C5-3D0D-256D-3E80-0FE40AAED5E2}"/>
              </a:ext>
            </a:extLst>
          </p:cNvPr>
          <p:cNvSpPr txBox="1"/>
          <p:nvPr/>
        </p:nvSpPr>
        <p:spPr>
          <a:xfrm>
            <a:off x="744213" y="5990699"/>
            <a:ext cx="4382920" cy="44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b="1"/>
            </a:lvl1pPr>
          </a:lstStyle>
          <a:p>
            <a:r>
              <a:rPr lang="en-IN" dirty="0"/>
              <a:t>git merge </a:t>
            </a: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FEEDFBCC-E27E-5743-ADF8-18DE1159E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1316" y="522600"/>
            <a:ext cx="6324167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altLang="en-US" b="1"/>
              <a:t>git branch -m &lt;old-name&gt; &lt;new-name&gt; </a:t>
            </a:r>
          </a:p>
        </p:txBody>
      </p:sp>
      <p:sp>
        <p:nvSpPr>
          <p:cNvPr id="25" name="Rectangle 4">
            <a:extLst>
              <a:ext uri="{FF2B5EF4-FFF2-40B4-BE49-F238E27FC236}">
                <a16:creationId xmlns:a16="http://schemas.microsoft.com/office/drawing/2014/main" id="{D6E96E89-DF3B-7102-F2EA-97B13C0F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2444" y="1196752"/>
            <a:ext cx="1827744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altLang="en-US" b="1" dirty="0"/>
              <a:t>git rm [file] </a:t>
            </a:r>
          </a:p>
        </p:txBody>
      </p:sp>
    </p:spTree>
    <p:extLst>
      <p:ext uri="{BB962C8B-B14F-4D97-AF65-F5344CB8AC3E}">
        <p14:creationId xmlns:p14="http://schemas.microsoft.com/office/powerpoint/2010/main" val="4270559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533A8-3F6D-A049-B2A2-26A333A36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832520"/>
          </a:xfrm>
        </p:spPr>
        <p:txBody>
          <a:bodyPr/>
          <a:lstStyle/>
          <a:p>
            <a:r>
              <a:rPr lang="en-IN" dirty="0"/>
              <a:t>Git Ignore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B34F44-4371-1199-4F13-FB398828BBFB}"/>
              </a:ext>
            </a:extLst>
          </p:cNvPr>
          <p:cNvSpPr txBox="1"/>
          <p:nvPr/>
        </p:nvSpPr>
        <p:spPr>
          <a:xfrm>
            <a:off x="980275" y="923659"/>
            <a:ext cx="10369152" cy="736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200" b="0" i="0" dirty="0">
                <a:solidFill>
                  <a:srgbClr val="273239"/>
                </a:solidFill>
                <a:effectLst/>
                <a:latin typeface="Nunito" pitchFamily="2" charset="0"/>
              </a:rPr>
              <a:t>Git Ignore is an important feature in </a:t>
            </a:r>
            <a:r>
              <a:rPr lang="en-US" sz="2200" b="0" i="0" u="sng" dirty="0">
                <a:solidFill>
                  <a:srgbClr val="357960"/>
                </a:solidFill>
                <a:effectLst/>
                <a:latin typeface="Nunito" pitchFamily="2" charset="0"/>
              </a:rPr>
              <a:t>Git</a:t>
            </a:r>
            <a:r>
              <a:rPr lang="en-US" sz="2200" b="0" i="0" dirty="0">
                <a:solidFill>
                  <a:srgbClr val="273239"/>
                </a:solidFill>
                <a:effectLst/>
                <a:latin typeface="Nunito" pitchFamily="2" charset="0"/>
              </a:rPr>
              <a:t> that allows you to specify which files and directories should be excluded from being tracked in a repository</a:t>
            </a:r>
            <a:endParaRPr lang="en-IN" sz="2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7BC6B9-C0F7-3F87-4D69-69A082CC9D7D}"/>
              </a:ext>
            </a:extLst>
          </p:cNvPr>
          <p:cNvSpPr txBox="1"/>
          <p:nvPr/>
        </p:nvSpPr>
        <p:spPr>
          <a:xfrm>
            <a:off x="970438" y="1722044"/>
            <a:ext cx="10586745" cy="739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0" i="0">
                <a:solidFill>
                  <a:srgbClr val="273239"/>
                </a:solidFill>
                <a:effectLst/>
                <a:latin typeface="Nunito" pitchFamily="2" charset="0"/>
              </a:defRPr>
            </a:lvl1pPr>
          </a:lstStyle>
          <a:p>
            <a:r>
              <a:rPr lang="en-US" dirty="0"/>
              <a:t>The .</a:t>
            </a:r>
            <a:r>
              <a:rPr lang="en-US" dirty="0" err="1"/>
              <a:t>gitignore</a:t>
            </a:r>
            <a:r>
              <a:rPr lang="en-US" dirty="0"/>
              <a:t> file is a simple text file that tells Git which files or directories to ignore in a project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1ED14B-7632-E242-6A33-BC1020B24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188" y="2461862"/>
            <a:ext cx="4752528" cy="4205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732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lass open house presenta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5000"/>
          </a:lnSpc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Classroom open house presentation.potx" id="{AB7D8AB0-4323-4322-AB21-8CB398DB9E96}" vid="{5BFEA1FF-C39F-48A2-B239-4B55565FC3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Classroom open house presentation</Template>
  <TotalTime>1025</TotalTime>
  <Words>352</Words>
  <Application>Microsoft Office PowerPoint</Application>
  <PresentationFormat>Custom</PresentationFormat>
  <Paragraphs>36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Century Gothic</vt:lpstr>
      <vt:lpstr>Google Sans</vt:lpstr>
      <vt:lpstr>Nunito</vt:lpstr>
      <vt:lpstr>Class open house presentation</vt:lpstr>
      <vt:lpstr>Practical – 3  GIT &amp; GITHUB</vt:lpstr>
      <vt:lpstr>PowerPoint Presentation</vt:lpstr>
      <vt:lpstr>Centralized vs. Distributed</vt:lpstr>
      <vt:lpstr>PowerPoint Presentation</vt:lpstr>
      <vt:lpstr>Branching Strategy</vt:lpstr>
      <vt:lpstr>Pull Requests</vt:lpstr>
      <vt:lpstr>Pull Requests</vt:lpstr>
      <vt:lpstr>PowerPoint Presentation</vt:lpstr>
      <vt:lpstr>PowerPoint Presentation</vt:lpstr>
      <vt:lpstr>Git Ignore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Aruna Inamdar</dc:creator>
  <cp:lastModifiedBy>Aruna Inamdar</cp:lastModifiedBy>
  <cp:revision>118</cp:revision>
  <dcterms:created xsi:type="dcterms:W3CDTF">2026-07-15T13:08:00Z</dcterms:created>
  <dcterms:modified xsi:type="dcterms:W3CDTF">2026-08-01T14:23:04Z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74062800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