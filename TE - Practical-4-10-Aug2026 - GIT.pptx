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37"/>
  </p:notesMasterIdLst>
  <p:handoutMasterIdLst>
    <p:handoutMasterId r:id="rId38"/>
  </p:handoutMasterIdLst>
  <p:sldIdLst>
    <p:sldId id="257" r:id="rId2"/>
    <p:sldId id="291" r:id="rId3"/>
    <p:sldId id="258" r:id="rId4"/>
    <p:sldId id="259" r:id="rId5"/>
    <p:sldId id="260" r:id="rId6"/>
    <p:sldId id="261" r:id="rId7"/>
    <p:sldId id="262" r:id="rId8"/>
    <p:sldId id="263" r:id="rId9"/>
    <p:sldId id="266" r:id="rId10"/>
    <p:sldId id="268" r:id="rId11"/>
    <p:sldId id="264" r:id="rId12"/>
    <p:sldId id="267" r:id="rId13"/>
    <p:sldId id="269" r:id="rId14"/>
    <p:sldId id="265"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82" autoAdjust="0"/>
  </p:normalViewPr>
  <p:slideViewPr>
    <p:cSldViewPr showGuides="1">
      <p:cViewPr varScale="1">
        <p:scale>
          <a:sx n="82" d="100"/>
          <a:sy n="82" d="100"/>
        </p:scale>
        <p:origin x="720" y="72"/>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164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8/10/2026</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8/10/2026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1</a:t>
            </a:fld>
            <a:endParaRPr lang="en-US"/>
          </a:p>
        </p:txBody>
      </p:sp>
    </p:spTree>
    <p:extLst>
      <p:ext uri="{BB962C8B-B14F-4D97-AF65-F5344CB8AC3E}">
        <p14:creationId xmlns:p14="http://schemas.microsoft.com/office/powerpoint/2010/main" val="1607705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p:cNvGrpSpPr/>
          <p:nvPr/>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42741" cy="6858000"/>
              <a:chOff x="0" y="0"/>
              <a:chExt cx="4742741" cy="6858000"/>
            </a:xfrm>
          </p:grpSpPr>
          <p:pic>
            <p:nvPicPr>
              <p:cNvPr id="9" name="Picture 8"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605581"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5706A09E-12D5-4B1D-B8BB-C300B1DDD423}" type="datetime1">
              <a:rPr lang="en-US" smtClean="0"/>
              <a:t>8/10/2026</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322012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5A9377B-053C-438C-8A98-92C419A6701C}" type="datetime1">
              <a:rPr lang="en-US" smtClean="0"/>
              <a:t>8/10/2026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86535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B07CEF46-0123-4A75-9835-49DC49D53DE2}" type="datetime1">
              <a:rPr lang="en-US" smtClean="0"/>
              <a:t>8/10/2026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0525827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buFont typeface="Century Gothic" panose="020B0502020202020204" pitchFamily="34" charset="0"/>
              <a:buChar char="–"/>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8"/>
            <a:endParaRPr dirty="0"/>
          </a:p>
        </p:txBody>
      </p:sp>
      <p:sp>
        <p:nvSpPr>
          <p:cNvPr id="4" name="Content Placeholder 3"/>
          <p:cNvSpPr>
            <a:spLocks noGrp="1"/>
          </p:cNvSpPr>
          <p:nvPr>
            <p:ph sz="half" idx="2" hasCustomPrompt="1"/>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62A6378D-18AE-47D1-B10A-42F623B40082}" type="datetime1">
              <a:rPr lang="en-US" smtClean="0"/>
              <a:t>8/10/2026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02504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hasCustomPrompt="1"/>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hasCustomPrompt="1"/>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p>
            <a:fld id="{321F6AE8-D704-41F6-B16A-5547B5672AC1}" type="datetime1">
              <a:rPr lang="en-US" smtClean="0"/>
              <a:t>8/10/2026</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92007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8AB9538-6F63-4C0B-916D-ED3F4E0A1B28}" type="datetime1">
              <a:rPr lang="en-US" smtClean="0"/>
              <a:t>8/10/2026</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30484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F15BF-7116-4A9E-8022-5A2DC937F971}" type="datetime1">
              <a:rPr lang="en-US" smtClean="0"/>
              <a:t>8/10/2026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1950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hasCustomPrompt="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marL="2418976" indent="-285750">
              <a:buFont typeface="Century Gothic" panose="020B0502020202020204" pitchFamily="34" charset="0"/>
              <a:buChar cha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1B8DC91-5A3B-40CE-8C1D-279A8EF6E008}" type="datetime1">
              <a:rPr lang="en-US" smtClean="0"/>
              <a:t>8/10/2026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78911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6B7C20A-B94A-4E20-B4B2-88A7825AE904}" type="datetime1">
              <a:rPr lang="en-US" smtClean="0"/>
              <a:t>8/10/2026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352137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91CA53D-4C84-40AA-983E-A1E818A7FEFC}" type="datetime1">
              <a:rPr lang="en-US" smtClean="0"/>
              <a:t>8/10/2026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8176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117309" y="274638"/>
            <a:ext cx="8532178" cy="5897561"/>
          </a:xfrm>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C8E2FCEE-AE66-4EAB-9C04-97F8A56A6354}" type="datetime1">
              <a:rPr lang="en-US" smtClean="0"/>
              <a:t>8/10/2026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372369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859468AF-EFCF-4AAD-ACF4-3BA83EC4AF4E}" type="datetime1">
              <a:rPr lang="en-US" smtClean="0"/>
              <a:pPr/>
              <a:t>8/10/2026</a:t>
            </a:fld>
            <a:endParaRPr lang="en-US" dirty="0"/>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206018772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133226" indent="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None/>
        <a:defRPr sz="1800" kern="1200">
          <a:solidFill>
            <a:schemeClr val="tx2">
              <a:lumMod val="50000"/>
            </a:schemeClr>
          </a:solidFill>
          <a:latin typeface="+mn-lt"/>
          <a:ea typeface="+mn-ea"/>
          <a:cs typeface="+mn-cs"/>
        </a:defRPr>
      </a:lvl6pPr>
      <a:lvl7pPr marL="284562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7pPr>
      <a:lvl8pPr marL="3272267"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8pPr>
      <a:lvl9pPr marL="375986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Practical – 4</a:t>
            </a:r>
            <a:br>
              <a:rPr lang="en-IN" dirty="0"/>
            </a:br>
            <a:br>
              <a:rPr lang="en-IN" dirty="0"/>
            </a:br>
            <a:r>
              <a:rPr lang="en-IN" dirty="0"/>
              <a:t>GIT &amp; GITHUB</a:t>
            </a:r>
            <a:endParaRPr lang="en-US" dirty="0"/>
          </a:p>
        </p:txBody>
      </p:sp>
      <p:sp>
        <p:nvSpPr>
          <p:cNvPr id="5" name="Subtitle 4"/>
          <p:cNvSpPr>
            <a:spLocks noGrp="1"/>
          </p:cNvSpPr>
          <p:nvPr>
            <p:ph type="subTitle" idx="1"/>
          </p:nvPr>
        </p:nvSpPr>
        <p:spPr>
          <a:xfrm>
            <a:off x="4879346" y="4941168"/>
            <a:ext cx="7008574" cy="1244600"/>
          </a:xfrm>
        </p:spPr>
        <p:txBody>
          <a:bodyPr/>
          <a:lstStyle/>
          <a:p>
            <a:r>
              <a:rPr lang="en-US" dirty="0"/>
              <a:t>Aruna Kumbhar</a:t>
            </a:r>
          </a:p>
        </p:txBody>
      </p:sp>
    </p:spTree>
    <p:extLst>
      <p:ext uri="{BB962C8B-B14F-4D97-AF65-F5344CB8AC3E}">
        <p14:creationId xmlns:p14="http://schemas.microsoft.com/office/powerpoint/2010/main" val="16898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8AE86F-BCE3-0C27-7EAA-85E399019C70}"/>
              </a:ext>
            </a:extLst>
          </p:cNvPr>
          <p:cNvSpPr>
            <a:spLocks noGrp="1"/>
          </p:cNvSpPr>
          <p:nvPr>
            <p:ph idx="1"/>
          </p:nvPr>
        </p:nvSpPr>
        <p:spPr/>
        <p:txBody>
          <a:bodyPr/>
          <a:lstStyle/>
          <a:p>
            <a:pPr marL="0" indent="0">
              <a:buNone/>
            </a:pPr>
            <a:r>
              <a:rPr lang="en-IN" dirty="0"/>
              <a:t>https://classroom.google.com/c/ODcyMDU5MTU2OTYz?cjc=mls6kf2n</a:t>
            </a:r>
          </a:p>
        </p:txBody>
      </p:sp>
    </p:spTree>
    <p:extLst>
      <p:ext uri="{BB962C8B-B14F-4D97-AF65-F5344CB8AC3E}">
        <p14:creationId xmlns:p14="http://schemas.microsoft.com/office/powerpoint/2010/main" val="235400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5E87C0C-D214-7698-4C97-B9FD0C6937F9}"/>
              </a:ext>
            </a:extLst>
          </p:cNvPr>
          <p:cNvSpPr txBox="1"/>
          <p:nvPr/>
        </p:nvSpPr>
        <p:spPr>
          <a:xfrm>
            <a:off x="1125860" y="476672"/>
            <a:ext cx="2076209" cy="443198"/>
          </a:xfrm>
          <a:prstGeom prst="rect">
            <a:avLst/>
          </a:prstGeom>
          <a:noFill/>
        </p:spPr>
        <p:txBody>
          <a:bodyPr wrap="none" rtlCol="0">
            <a:spAutoFit/>
          </a:bodyPr>
          <a:lstStyle/>
          <a:p>
            <a:pPr>
              <a:lnSpc>
                <a:spcPct val="95000"/>
              </a:lnSpc>
            </a:pPr>
            <a:r>
              <a:rPr lang="en-IN" b="1" dirty="0">
                <a:solidFill>
                  <a:srgbClr val="FF0000"/>
                </a:solidFill>
              </a:rPr>
              <a:t>Git Branches</a:t>
            </a:r>
          </a:p>
        </p:txBody>
      </p:sp>
      <p:sp>
        <p:nvSpPr>
          <p:cNvPr id="5" name="TextBox 4">
            <a:extLst>
              <a:ext uri="{FF2B5EF4-FFF2-40B4-BE49-F238E27FC236}">
                <a16:creationId xmlns:a16="http://schemas.microsoft.com/office/drawing/2014/main" id="{FDC0B18C-F4A1-4F68-853F-E2ADDA426DF0}"/>
              </a:ext>
            </a:extLst>
          </p:cNvPr>
          <p:cNvSpPr txBox="1"/>
          <p:nvPr/>
        </p:nvSpPr>
        <p:spPr>
          <a:xfrm>
            <a:off x="1097159" y="1052736"/>
            <a:ext cx="10657184" cy="1146211"/>
          </a:xfrm>
          <a:prstGeom prst="rect">
            <a:avLst/>
          </a:prstGeom>
          <a:noFill/>
        </p:spPr>
        <p:txBody>
          <a:bodyPr wrap="square" rtlCol="0">
            <a:spAutoFit/>
          </a:bodyPr>
          <a:lstStyle/>
          <a:p>
            <a:pPr>
              <a:lnSpc>
                <a:spcPct val="95000"/>
              </a:lnSpc>
            </a:pPr>
            <a:r>
              <a:rPr lang="en-US" b="0" i="0" dirty="0">
                <a:solidFill>
                  <a:srgbClr val="273239"/>
                </a:solidFill>
                <a:effectLst/>
                <a:latin typeface="Nunito" pitchFamily="2" charset="0"/>
              </a:rPr>
              <a:t>A Git branch is a separate workspace used to make changes without affecting the main project. Once the work is complete, the changes can be merged back into the main or master branch</a:t>
            </a:r>
            <a:endParaRPr lang="en-IN" dirty="0"/>
          </a:p>
        </p:txBody>
      </p:sp>
      <p:sp>
        <p:nvSpPr>
          <p:cNvPr id="6" name="TextBox 5">
            <a:extLst>
              <a:ext uri="{FF2B5EF4-FFF2-40B4-BE49-F238E27FC236}">
                <a16:creationId xmlns:a16="http://schemas.microsoft.com/office/drawing/2014/main" id="{B26762A2-58CD-E839-ED1B-0A4C8EF1172D}"/>
              </a:ext>
            </a:extLst>
          </p:cNvPr>
          <p:cNvSpPr txBox="1"/>
          <p:nvPr/>
        </p:nvSpPr>
        <p:spPr>
          <a:xfrm>
            <a:off x="1153751" y="2738528"/>
            <a:ext cx="7095212" cy="1920526"/>
          </a:xfrm>
          <a:prstGeom prst="rect">
            <a:avLst/>
          </a:prstGeom>
          <a:noFill/>
        </p:spPr>
        <p:txBody>
          <a:bodyPr wrap="none" rtlCol="0">
            <a:spAutoFit/>
          </a:bodyPr>
          <a:lstStyle/>
          <a:p>
            <a:pPr algn="l" rtl="0" fontAlgn="base"/>
            <a:r>
              <a:rPr lang="en-US" b="0" i="0" dirty="0">
                <a:solidFill>
                  <a:srgbClr val="273239"/>
                </a:solidFill>
                <a:effectLst/>
                <a:latin typeface="Nunito" pitchFamily="2" charset="0"/>
              </a:rPr>
              <a:t>Branches make it easy to:</a:t>
            </a:r>
          </a:p>
          <a:p>
            <a:pPr algn="l" fontAlgn="base">
              <a:buFont typeface="Arial" panose="020B0604020202020204" pitchFamily="34" charset="0"/>
              <a:buChar char="•"/>
            </a:pPr>
            <a:r>
              <a:rPr lang="en-US" b="0" i="0" dirty="0">
                <a:solidFill>
                  <a:srgbClr val="273239"/>
                </a:solidFill>
                <a:effectLst/>
                <a:latin typeface="Nunito" pitchFamily="2" charset="0"/>
              </a:rPr>
              <a:t>Manage different tasks or features independently</a:t>
            </a:r>
          </a:p>
          <a:p>
            <a:pPr algn="l" fontAlgn="base">
              <a:buFont typeface="Arial" panose="020B0604020202020204" pitchFamily="34" charset="0"/>
              <a:buChar char="•"/>
            </a:pPr>
            <a:r>
              <a:rPr lang="en-US" b="0" i="0" dirty="0">
                <a:solidFill>
                  <a:srgbClr val="273239"/>
                </a:solidFill>
                <a:effectLst/>
                <a:latin typeface="Nunito" pitchFamily="2" charset="0"/>
              </a:rPr>
              <a:t>Test changes without affecting live code</a:t>
            </a:r>
          </a:p>
          <a:p>
            <a:pPr algn="l" fontAlgn="base">
              <a:buFont typeface="Arial" panose="020B0604020202020204" pitchFamily="34" charset="0"/>
              <a:buChar char="•"/>
            </a:pPr>
            <a:r>
              <a:rPr lang="en-US" b="0" i="0" dirty="0">
                <a:solidFill>
                  <a:srgbClr val="273239"/>
                </a:solidFill>
                <a:effectLst/>
                <a:latin typeface="Nunito" pitchFamily="2" charset="0"/>
              </a:rPr>
              <a:t>Collaborate with others efficiently</a:t>
            </a:r>
          </a:p>
          <a:p>
            <a:pPr>
              <a:lnSpc>
                <a:spcPct val="95000"/>
              </a:lnSpc>
            </a:pPr>
            <a:endParaRPr lang="en-IN" dirty="0"/>
          </a:p>
        </p:txBody>
      </p:sp>
    </p:spTree>
    <p:extLst>
      <p:ext uri="{BB962C8B-B14F-4D97-AF65-F5344CB8AC3E}">
        <p14:creationId xmlns:p14="http://schemas.microsoft.com/office/powerpoint/2010/main" val="2412904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8B627C-E782-B8BC-4A28-5C174CC4DB33}"/>
              </a:ext>
            </a:extLst>
          </p:cNvPr>
          <p:cNvSpPr txBox="1"/>
          <p:nvPr/>
        </p:nvSpPr>
        <p:spPr>
          <a:xfrm>
            <a:off x="765820" y="332656"/>
            <a:ext cx="10441159" cy="5983176"/>
          </a:xfrm>
          <a:prstGeom prst="rect">
            <a:avLst/>
          </a:prstGeom>
          <a:noFill/>
        </p:spPr>
        <p:txBody>
          <a:bodyPr wrap="square" rtlCol="0">
            <a:spAutoFit/>
          </a:bodyPr>
          <a:lstStyle/>
          <a:p>
            <a:pPr algn="l" fontAlgn="base"/>
            <a:r>
              <a:rPr lang="en-US" b="1" i="0" dirty="0">
                <a:solidFill>
                  <a:srgbClr val="273239"/>
                </a:solidFill>
                <a:effectLst/>
                <a:latin typeface="Nunito" pitchFamily="2" charset="0"/>
              </a:rPr>
              <a:t>Types of Branches in Git</a:t>
            </a:r>
          </a:p>
          <a:p>
            <a:pPr algn="l" rtl="0" fontAlgn="base"/>
            <a:r>
              <a:rPr lang="en-US" b="0" i="0" dirty="0">
                <a:solidFill>
                  <a:srgbClr val="273239"/>
                </a:solidFill>
                <a:effectLst/>
                <a:latin typeface="Nunito" pitchFamily="2" charset="0"/>
              </a:rPr>
              <a:t>Git uses different types of branches to keep things organized and allow you to work on different tasks without disturbing the main project. Here are the most common types of branches you will work with:</a:t>
            </a:r>
          </a:p>
          <a:p>
            <a:pPr algn="l" rtl="0" fontAlgn="base"/>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Main (or Master) Branch:</a:t>
            </a:r>
            <a:r>
              <a:rPr lang="en-US" b="0" i="0" dirty="0">
                <a:solidFill>
                  <a:srgbClr val="273239"/>
                </a:solidFill>
                <a:effectLst/>
                <a:latin typeface="Nunito" pitchFamily="2" charset="0"/>
              </a:rPr>
              <a:t> Stores the final, stable, and production-ready code.</a:t>
            </a:r>
          </a:p>
          <a:p>
            <a:pPr algn="l" fontAlgn="base">
              <a:buFont typeface="Arial" panose="020B0604020202020204" pitchFamily="34" charset="0"/>
              <a:buChar char="•"/>
            </a:pPr>
            <a:r>
              <a:rPr lang="en-US" b="1" i="0" dirty="0">
                <a:solidFill>
                  <a:srgbClr val="273239"/>
                </a:solidFill>
                <a:effectLst/>
                <a:latin typeface="Nunito" pitchFamily="2" charset="0"/>
              </a:rPr>
              <a:t>Hotfix Branch:</a:t>
            </a:r>
            <a:r>
              <a:rPr lang="en-US" b="0" i="0" dirty="0">
                <a:solidFill>
                  <a:srgbClr val="273239"/>
                </a:solidFill>
                <a:effectLst/>
                <a:latin typeface="Nunito" pitchFamily="2" charset="0"/>
              </a:rPr>
              <a:t> Used to quickly fix critical production issues and then merged back into main.</a:t>
            </a:r>
          </a:p>
          <a:p>
            <a:pPr algn="l" fontAlgn="base">
              <a:buFont typeface="Arial" panose="020B0604020202020204" pitchFamily="34" charset="0"/>
              <a:buChar char="•"/>
            </a:pPr>
            <a:r>
              <a:rPr lang="en-US" b="1" i="0" dirty="0">
                <a:solidFill>
                  <a:srgbClr val="273239"/>
                </a:solidFill>
                <a:effectLst/>
                <a:latin typeface="Nunito" pitchFamily="2" charset="0"/>
              </a:rPr>
              <a:t>Release Branch:</a:t>
            </a:r>
            <a:r>
              <a:rPr lang="en-US" b="0" i="0" dirty="0">
                <a:solidFill>
                  <a:srgbClr val="273239"/>
                </a:solidFill>
                <a:effectLst/>
                <a:latin typeface="Nunito" pitchFamily="2" charset="0"/>
              </a:rPr>
              <a:t> Prepares a new version for release, allowing final testing and minor fixes before merging.</a:t>
            </a:r>
          </a:p>
          <a:p>
            <a:pPr algn="l" fontAlgn="base">
              <a:buFont typeface="Arial" panose="020B0604020202020204" pitchFamily="34" charset="0"/>
              <a:buChar char="•"/>
            </a:pPr>
            <a:r>
              <a:rPr lang="en-US" b="1" i="0" dirty="0">
                <a:solidFill>
                  <a:srgbClr val="273239"/>
                </a:solidFill>
                <a:effectLst/>
                <a:latin typeface="Nunito" pitchFamily="2" charset="0"/>
              </a:rPr>
              <a:t>Develop Branch:</a:t>
            </a:r>
            <a:r>
              <a:rPr lang="en-US" b="0" i="0" dirty="0">
                <a:solidFill>
                  <a:srgbClr val="273239"/>
                </a:solidFill>
                <a:effectLst/>
                <a:latin typeface="Nunito" pitchFamily="2" charset="0"/>
              </a:rPr>
              <a:t> Combines all completed features for integration, testing, and ongoing development.</a:t>
            </a:r>
          </a:p>
          <a:p>
            <a:pPr algn="l" fontAlgn="base">
              <a:buFont typeface="Arial" panose="020B0604020202020204" pitchFamily="34" charset="0"/>
              <a:buChar char="•"/>
            </a:pPr>
            <a:r>
              <a:rPr lang="en-US" b="1" i="0" dirty="0">
                <a:solidFill>
                  <a:srgbClr val="273239"/>
                </a:solidFill>
                <a:effectLst/>
                <a:latin typeface="Nunito" pitchFamily="2" charset="0"/>
              </a:rPr>
              <a:t>Feature Branch:</a:t>
            </a:r>
            <a:r>
              <a:rPr lang="en-US" b="0" i="0" dirty="0">
                <a:solidFill>
                  <a:srgbClr val="273239"/>
                </a:solidFill>
                <a:effectLst/>
                <a:latin typeface="Nunito" pitchFamily="2" charset="0"/>
              </a:rPr>
              <a:t> Created to develop a specific feature and merged back into the develop or main branch once complete.</a:t>
            </a:r>
          </a:p>
          <a:p>
            <a:pPr>
              <a:lnSpc>
                <a:spcPct val="95000"/>
              </a:lnSpc>
            </a:pPr>
            <a:endParaRPr lang="en-IN" dirty="0"/>
          </a:p>
        </p:txBody>
      </p:sp>
    </p:spTree>
    <p:extLst>
      <p:ext uri="{BB962C8B-B14F-4D97-AF65-F5344CB8AC3E}">
        <p14:creationId xmlns:p14="http://schemas.microsoft.com/office/powerpoint/2010/main" val="1380945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C52AEF-1E5C-A794-F280-C497728BF94E}"/>
              </a:ext>
            </a:extLst>
          </p:cNvPr>
          <p:cNvSpPr txBox="1"/>
          <p:nvPr/>
        </p:nvSpPr>
        <p:spPr>
          <a:xfrm>
            <a:off x="1125860" y="476672"/>
            <a:ext cx="4104456" cy="443198"/>
          </a:xfrm>
          <a:prstGeom prst="rect">
            <a:avLst/>
          </a:prstGeom>
          <a:noFill/>
        </p:spPr>
        <p:txBody>
          <a:bodyPr wrap="square" rtlCol="0">
            <a:spAutoFit/>
          </a:bodyPr>
          <a:lstStyle/>
          <a:p>
            <a:pPr>
              <a:lnSpc>
                <a:spcPct val="95000"/>
              </a:lnSpc>
            </a:pPr>
            <a:r>
              <a:rPr lang="en-IN" b="1" dirty="0">
                <a:solidFill>
                  <a:srgbClr val="FF0000"/>
                </a:solidFill>
              </a:rPr>
              <a:t>Git Merge</a:t>
            </a:r>
          </a:p>
        </p:txBody>
      </p:sp>
      <p:sp>
        <p:nvSpPr>
          <p:cNvPr id="5" name="TextBox 4">
            <a:extLst>
              <a:ext uri="{FF2B5EF4-FFF2-40B4-BE49-F238E27FC236}">
                <a16:creationId xmlns:a16="http://schemas.microsoft.com/office/drawing/2014/main" id="{1C00CD02-286A-D26C-FD01-5137EA4972F2}"/>
              </a:ext>
            </a:extLst>
          </p:cNvPr>
          <p:cNvSpPr txBox="1"/>
          <p:nvPr/>
        </p:nvSpPr>
        <p:spPr>
          <a:xfrm>
            <a:off x="1125860" y="1052736"/>
            <a:ext cx="10369152" cy="1146211"/>
          </a:xfrm>
          <a:prstGeom prst="rect">
            <a:avLst/>
          </a:prstGeom>
          <a:noFill/>
        </p:spPr>
        <p:txBody>
          <a:bodyPr wrap="square" rtlCol="0">
            <a:spAutoFit/>
          </a:bodyPr>
          <a:lstStyle/>
          <a:p>
            <a:pPr>
              <a:lnSpc>
                <a:spcPct val="95000"/>
              </a:lnSpc>
            </a:pPr>
            <a:r>
              <a:rPr lang="en-US" b="0" i="0" dirty="0">
                <a:solidFill>
                  <a:srgbClr val="273239"/>
                </a:solidFill>
                <a:effectLst/>
                <a:latin typeface="Nunito" pitchFamily="2" charset="0"/>
              </a:rPr>
              <a:t>Git Merge combines changes from different branches into a single branch, integrating work while preserving history. It helps unify development without losing progress</a:t>
            </a:r>
            <a:endParaRPr lang="en-IN" dirty="0"/>
          </a:p>
        </p:txBody>
      </p:sp>
      <p:pic>
        <p:nvPicPr>
          <p:cNvPr id="1026" name="Picture 2" descr="git after merge ">
            <a:extLst>
              <a:ext uri="{FF2B5EF4-FFF2-40B4-BE49-F238E27FC236}">
                <a16:creationId xmlns:a16="http://schemas.microsoft.com/office/drawing/2014/main" id="{D75C0B0A-6D20-FAF5-E2CC-A64CB71F7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4012" y="2233566"/>
            <a:ext cx="7017394" cy="4357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4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E3641D-23FB-B162-2A42-9C3F0C1212F7}"/>
              </a:ext>
            </a:extLst>
          </p:cNvPr>
          <p:cNvSpPr txBox="1"/>
          <p:nvPr/>
        </p:nvSpPr>
        <p:spPr>
          <a:xfrm>
            <a:off x="1125860" y="404664"/>
            <a:ext cx="1657826" cy="443198"/>
          </a:xfrm>
          <a:prstGeom prst="rect">
            <a:avLst/>
          </a:prstGeom>
          <a:noFill/>
        </p:spPr>
        <p:txBody>
          <a:bodyPr wrap="square" rtlCol="0">
            <a:spAutoFit/>
          </a:bodyPr>
          <a:lstStyle>
            <a:defPPr>
              <a:defRPr lang="en-US"/>
            </a:defPPr>
            <a:lvl1pPr>
              <a:lnSpc>
                <a:spcPct val="95000"/>
              </a:lnSpc>
              <a:defRPr b="1">
                <a:solidFill>
                  <a:srgbClr val="FF0000"/>
                </a:solidFill>
              </a:defRPr>
            </a:lvl1pPr>
          </a:lstStyle>
          <a:p>
            <a:r>
              <a:rPr lang="en-IN" dirty="0"/>
              <a:t>Git Revert</a:t>
            </a:r>
          </a:p>
        </p:txBody>
      </p:sp>
      <p:sp>
        <p:nvSpPr>
          <p:cNvPr id="5" name="TextBox 4">
            <a:extLst>
              <a:ext uri="{FF2B5EF4-FFF2-40B4-BE49-F238E27FC236}">
                <a16:creationId xmlns:a16="http://schemas.microsoft.com/office/drawing/2014/main" id="{973E3EDC-4764-0F14-5EA2-C6C938F05B31}"/>
              </a:ext>
            </a:extLst>
          </p:cNvPr>
          <p:cNvSpPr txBox="1"/>
          <p:nvPr/>
        </p:nvSpPr>
        <p:spPr>
          <a:xfrm>
            <a:off x="837828" y="1124744"/>
            <a:ext cx="10313067" cy="1938992"/>
          </a:xfrm>
          <a:prstGeom prst="rect">
            <a:avLst/>
          </a:prstGeom>
          <a:noFill/>
        </p:spPr>
        <p:txBody>
          <a:bodyPr wrap="square" rtlCol="0">
            <a:spAutoFit/>
          </a:bodyPr>
          <a:lstStyle>
            <a:defPPr>
              <a:defRPr lang="en-US"/>
            </a:defPPr>
            <a:lvl1pPr fontAlgn="base">
              <a:defRPr b="0" i="0">
                <a:solidFill>
                  <a:srgbClr val="273239"/>
                </a:solidFill>
                <a:effectLst/>
                <a:latin typeface="Nunito" pitchFamily="2" charset="0"/>
              </a:defRPr>
            </a:lvl1pPr>
          </a:lstStyle>
          <a:p>
            <a:r>
              <a:rPr lang="en-US" dirty="0"/>
              <a:t>You use git revert to record some new commits to reverse the effect of some earlier commits (possibly faulty ones). It is an “undo” command, but technically it is much more than that. Git revert does not delete any commit in this project history. Instead, it inverts the changes implemented in a commit and appends new commits with the opposite effect</a:t>
            </a:r>
            <a:endParaRPr lang="en-IN" dirty="0"/>
          </a:p>
        </p:txBody>
      </p:sp>
    </p:spTree>
    <p:extLst>
      <p:ext uri="{BB962C8B-B14F-4D97-AF65-F5344CB8AC3E}">
        <p14:creationId xmlns:p14="http://schemas.microsoft.com/office/powerpoint/2010/main" val="3773133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2609388-55A8-9D7D-6AF4-EA69FC089390}"/>
              </a:ext>
            </a:extLst>
          </p:cNvPr>
          <p:cNvSpPr txBox="1"/>
          <p:nvPr/>
        </p:nvSpPr>
        <p:spPr>
          <a:xfrm>
            <a:off x="1125860" y="404664"/>
            <a:ext cx="5362365" cy="794064"/>
          </a:xfrm>
          <a:prstGeom prst="rect">
            <a:avLst/>
          </a:prstGeom>
          <a:noFill/>
        </p:spPr>
        <p:txBody>
          <a:bodyPr wrap="none" rtlCol="0">
            <a:spAutoFit/>
          </a:bodyPr>
          <a:lstStyle/>
          <a:p>
            <a:pPr>
              <a:lnSpc>
                <a:spcPct val="95000"/>
              </a:lnSpc>
            </a:pPr>
            <a:r>
              <a:rPr lang="en-US" dirty="0"/>
              <a:t>Today’s Practical: What We Will Do</a:t>
            </a:r>
          </a:p>
          <a:p>
            <a:pPr>
              <a:lnSpc>
                <a:spcPct val="95000"/>
              </a:lnSpc>
            </a:pPr>
            <a:endParaRPr lang="en-IN" dirty="0"/>
          </a:p>
        </p:txBody>
      </p:sp>
      <p:sp>
        <p:nvSpPr>
          <p:cNvPr id="7" name="TextBox 6">
            <a:extLst>
              <a:ext uri="{FF2B5EF4-FFF2-40B4-BE49-F238E27FC236}">
                <a16:creationId xmlns:a16="http://schemas.microsoft.com/office/drawing/2014/main" id="{E0C7D08B-94A0-D229-93AA-9E47BB654393}"/>
              </a:ext>
            </a:extLst>
          </p:cNvPr>
          <p:cNvSpPr txBox="1"/>
          <p:nvPr/>
        </p:nvSpPr>
        <p:spPr>
          <a:xfrm>
            <a:off x="1269876" y="1198728"/>
            <a:ext cx="6120586" cy="3495316"/>
          </a:xfrm>
          <a:prstGeom prst="rect">
            <a:avLst/>
          </a:prstGeom>
          <a:noFill/>
        </p:spPr>
        <p:txBody>
          <a:bodyPr wrap="none" rtlCol="0">
            <a:spAutoFit/>
          </a:bodyPr>
          <a:lstStyle/>
          <a:p>
            <a:pPr>
              <a:spcAft>
                <a:spcPts val="1000"/>
              </a:spcAft>
              <a:defRPr sz="2000">
                <a:solidFill>
                  <a:srgbClr val="282828"/>
                </a:solidFill>
              </a:defRPr>
            </a:pPr>
            <a:r>
              <a:rPr lang="en-US" dirty="0"/>
              <a:t>• Work in pairs: Student A + Student B</a:t>
            </a:r>
          </a:p>
          <a:p>
            <a:pPr>
              <a:spcAft>
                <a:spcPts val="1000"/>
              </a:spcAft>
              <a:defRPr sz="2000">
                <a:solidFill>
                  <a:srgbClr val="282828"/>
                </a:solidFill>
              </a:defRPr>
            </a:pPr>
            <a:r>
              <a:rPr lang="en-US" dirty="0"/>
              <a:t>• Create a Git repository and push it to GitHub</a:t>
            </a:r>
          </a:p>
          <a:p>
            <a:pPr>
              <a:spcAft>
                <a:spcPts val="1000"/>
              </a:spcAft>
              <a:defRPr sz="2000">
                <a:solidFill>
                  <a:srgbClr val="282828"/>
                </a:solidFill>
              </a:defRPr>
            </a:pPr>
            <a:r>
              <a:rPr lang="en-US" dirty="0"/>
              <a:t>• Create a feature branch and make a commit</a:t>
            </a:r>
          </a:p>
          <a:p>
            <a:pPr>
              <a:spcAft>
                <a:spcPts val="1000"/>
              </a:spcAft>
              <a:defRPr sz="2000">
                <a:solidFill>
                  <a:srgbClr val="282828"/>
                </a:solidFill>
              </a:defRPr>
            </a:pPr>
            <a:r>
              <a:rPr lang="en-US" dirty="0"/>
              <a:t>• Raise and review a Pull Request</a:t>
            </a:r>
          </a:p>
          <a:p>
            <a:pPr>
              <a:spcAft>
                <a:spcPts val="1000"/>
              </a:spcAft>
              <a:defRPr sz="2000">
                <a:solidFill>
                  <a:srgbClr val="282828"/>
                </a:solidFill>
              </a:defRPr>
            </a:pPr>
            <a:r>
              <a:rPr lang="en-US" dirty="0"/>
              <a:t>• Create a controlled merge conflict</a:t>
            </a:r>
          </a:p>
          <a:p>
            <a:pPr>
              <a:spcAft>
                <a:spcPts val="1000"/>
              </a:spcAft>
              <a:defRPr sz="2000">
                <a:solidFill>
                  <a:srgbClr val="282828"/>
                </a:solidFill>
              </a:defRPr>
            </a:pPr>
            <a:r>
              <a:rPr lang="en-US" dirty="0"/>
              <a:t>• Resolve the conflict and complete the merge</a:t>
            </a:r>
          </a:p>
          <a:p>
            <a:pPr>
              <a:spcAft>
                <a:spcPts val="1000"/>
              </a:spcAft>
              <a:defRPr sz="2000">
                <a:solidFill>
                  <a:srgbClr val="282828"/>
                </a:solidFill>
              </a:defRPr>
            </a:pPr>
            <a:r>
              <a:rPr lang="en-US" dirty="0"/>
              <a:t>• Create a new change and safely revert it</a:t>
            </a:r>
          </a:p>
          <a:p>
            <a:pPr>
              <a:lnSpc>
                <a:spcPct val="95000"/>
              </a:lnSpc>
            </a:pPr>
            <a:endParaRPr lang="en-IN" dirty="0"/>
          </a:p>
        </p:txBody>
      </p:sp>
    </p:spTree>
    <p:extLst>
      <p:ext uri="{BB962C8B-B14F-4D97-AF65-F5344CB8AC3E}">
        <p14:creationId xmlns:p14="http://schemas.microsoft.com/office/powerpoint/2010/main" val="83889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EECB207D-C0BD-431E-2271-23953B0BB21B}"/>
              </a:ext>
            </a:extLst>
          </p:cNvPr>
          <p:cNvSpPr txBox="1"/>
          <p:nvPr/>
        </p:nvSpPr>
        <p:spPr>
          <a:xfrm>
            <a:off x="837828" y="404664"/>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t>The Story: Two Developers, One Website</a:t>
            </a:r>
          </a:p>
        </p:txBody>
      </p:sp>
      <p:sp>
        <p:nvSpPr>
          <p:cNvPr id="6" name="Rounded Rectangle 3">
            <a:extLst>
              <a:ext uri="{FF2B5EF4-FFF2-40B4-BE49-F238E27FC236}">
                <a16:creationId xmlns:a16="http://schemas.microsoft.com/office/drawing/2014/main" id="{8CCCB386-538C-4B84-6038-A69FA74ACBC6}"/>
              </a:ext>
            </a:extLst>
          </p:cNvPr>
          <p:cNvSpPr/>
          <p:nvPr/>
        </p:nvSpPr>
        <p:spPr>
          <a:xfrm>
            <a:off x="755092" y="1340768"/>
            <a:ext cx="5303520" cy="4480560"/>
          </a:xfrm>
          <a:prstGeom prst="roundRect">
            <a:avLst/>
          </a:prstGeom>
          <a:solidFill>
            <a:srgbClr val="EFF5FC"/>
          </a:solidFill>
          <a:ln>
            <a:solidFill>
              <a:srgbClr val="2B5F9A"/>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Rounded Rectangle 3">
            <a:extLst>
              <a:ext uri="{FF2B5EF4-FFF2-40B4-BE49-F238E27FC236}">
                <a16:creationId xmlns:a16="http://schemas.microsoft.com/office/drawing/2014/main" id="{DD5C3BE6-9CDB-198E-5729-AF9355294E79}"/>
              </a:ext>
            </a:extLst>
          </p:cNvPr>
          <p:cNvSpPr/>
          <p:nvPr/>
        </p:nvSpPr>
        <p:spPr>
          <a:xfrm>
            <a:off x="6422058" y="1339957"/>
            <a:ext cx="5303520" cy="4480560"/>
          </a:xfrm>
          <a:prstGeom prst="roundRect">
            <a:avLst/>
          </a:prstGeom>
          <a:solidFill>
            <a:srgbClr val="EFF5FC"/>
          </a:solidFill>
          <a:ln>
            <a:solidFill>
              <a:srgbClr val="2B5F9A"/>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TextBox 4">
            <a:extLst>
              <a:ext uri="{FF2B5EF4-FFF2-40B4-BE49-F238E27FC236}">
                <a16:creationId xmlns:a16="http://schemas.microsoft.com/office/drawing/2014/main" id="{AF7657AD-3F7E-6E3C-0192-6FA6D28587F9}"/>
              </a:ext>
            </a:extLst>
          </p:cNvPr>
          <p:cNvSpPr txBox="1"/>
          <p:nvPr/>
        </p:nvSpPr>
        <p:spPr>
          <a:xfrm>
            <a:off x="1267769" y="1700808"/>
            <a:ext cx="4846320" cy="45720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000" b="1">
                <a:solidFill>
                  <a:srgbClr val="2B5F9A"/>
                </a:solidFill>
              </a:defRPr>
            </a:pPr>
            <a:r>
              <a:t>Student A</a:t>
            </a:r>
          </a:p>
        </p:txBody>
      </p:sp>
      <p:sp>
        <p:nvSpPr>
          <p:cNvPr id="9" name="TextBox 7">
            <a:extLst>
              <a:ext uri="{FF2B5EF4-FFF2-40B4-BE49-F238E27FC236}">
                <a16:creationId xmlns:a16="http://schemas.microsoft.com/office/drawing/2014/main" id="{D2C33F5D-7147-2B21-6F48-AB93490EE5A0}"/>
              </a:ext>
            </a:extLst>
          </p:cNvPr>
          <p:cNvSpPr txBox="1"/>
          <p:nvPr/>
        </p:nvSpPr>
        <p:spPr>
          <a:xfrm>
            <a:off x="6871247" y="1694723"/>
            <a:ext cx="4846320" cy="45720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000" b="1">
                <a:solidFill>
                  <a:srgbClr val="2F805B"/>
                </a:solidFill>
              </a:defRPr>
            </a:pPr>
            <a:r>
              <a:t>Student B</a:t>
            </a:r>
          </a:p>
        </p:txBody>
      </p:sp>
      <p:sp>
        <p:nvSpPr>
          <p:cNvPr id="10" name="TextBox 5">
            <a:extLst>
              <a:ext uri="{FF2B5EF4-FFF2-40B4-BE49-F238E27FC236}">
                <a16:creationId xmlns:a16="http://schemas.microsoft.com/office/drawing/2014/main" id="{BC72802F-CBCD-A121-C17A-E3440197EB25}"/>
              </a:ext>
            </a:extLst>
          </p:cNvPr>
          <p:cNvSpPr txBox="1"/>
          <p:nvPr/>
        </p:nvSpPr>
        <p:spPr>
          <a:xfrm>
            <a:off x="1250021" y="2298028"/>
            <a:ext cx="4709160" cy="3383280"/>
          </a:xfrm>
          <a:prstGeom prst="rect">
            <a:avLst/>
          </a:prstGeom>
          <a:noFill/>
        </p:spPr>
        <p:txBody>
          <a:bodyPr wrap="square" lIns="45720" rIns="4572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000"/>
              </a:spcAft>
              <a:defRPr sz="1550">
                <a:solidFill>
                  <a:srgbClr val="282828"/>
                </a:solidFill>
              </a:defRPr>
            </a:pPr>
            <a:r>
              <a:rPr dirty="0"/>
              <a:t>• Creates the initial repository</a:t>
            </a:r>
          </a:p>
          <a:p>
            <a:pPr>
              <a:spcAft>
                <a:spcPts val="1000"/>
              </a:spcAft>
              <a:defRPr sz="1550">
                <a:solidFill>
                  <a:srgbClr val="282828"/>
                </a:solidFill>
              </a:defRPr>
            </a:pPr>
            <a:r>
              <a:rPr dirty="0"/>
              <a:t>• Creates feature branches</a:t>
            </a:r>
          </a:p>
          <a:p>
            <a:pPr>
              <a:spcAft>
                <a:spcPts val="1000"/>
              </a:spcAft>
              <a:defRPr sz="1550">
                <a:solidFill>
                  <a:srgbClr val="282828"/>
                </a:solidFill>
              </a:defRPr>
            </a:pPr>
            <a:r>
              <a:rPr dirty="0"/>
              <a:t>• Raises the first Pull Request</a:t>
            </a:r>
          </a:p>
          <a:p>
            <a:pPr>
              <a:spcAft>
                <a:spcPts val="1000"/>
              </a:spcAft>
              <a:defRPr sz="1550">
                <a:solidFill>
                  <a:srgbClr val="282828"/>
                </a:solidFill>
              </a:defRPr>
            </a:pPr>
            <a:r>
              <a:rPr dirty="0"/>
              <a:t>• Creates the address side of the conflict</a:t>
            </a:r>
          </a:p>
        </p:txBody>
      </p:sp>
      <p:sp>
        <p:nvSpPr>
          <p:cNvPr id="11" name="TextBox 8">
            <a:extLst>
              <a:ext uri="{FF2B5EF4-FFF2-40B4-BE49-F238E27FC236}">
                <a16:creationId xmlns:a16="http://schemas.microsoft.com/office/drawing/2014/main" id="{EFC156C9-53ED-2C6D-C3B8-351A04018EE5}"/>
              </a:ext>
            </a:extLst>
          </p:cNvPr>
          <p:cNvSpPr txBox="1"/>
          <p:nvPr/>
        </p:nvSpPr>
        <p:spPr>
          <a:xfrm>
            <a:off x="6939827" y="2253809"/>
            <a:ext cx="4709160" cy="3383280"/>
          </a:xfrm>
          <a:prstGeom prst="rect">
            <a:avLst/>
          </a:prstGeom>
          <a:noFill/>
        </p:spPr>
        <p:txBody>
          <a:bodyPr wrap="square" lIns="45720" rIns="4572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000"/>
              </a:spcAft>
              <a:defRPr sz="1550">
                <a:solidFill>
                  <a:srgbClr val="282828"/>
                </a:solidFill>
              </a:defRPr>
            </a:pPr>
            <a:r>
              <a:t>• Clones the repository</a:t>
            </a:r>
          </a:p>
          <a:p>
            <a:pPr>
              <a:spcAft>
                <a:spcPts val="1000"/>
              </a:spcAft>
              <a:defRPr sz="1550">
                <a:solidFill>
                  <a:srgbClr val="282828"/>
                </a:solidFill>
              </a:defRPr>
            </a:pPr>
            <a:r>
              <a:t>• Reviews and merges the PR</a:t>
            </a:r>
          </a:p>
          <a:p>
            <a:pPr>
              <a:spcAft>
                <a:spcPts val="1000"/>
              </a:spcAft>
              <a:defRPr sz="1550">
                <a:solidFill>
                  <a:srgbClr val="282828"/>
                </a:solidFill>
              </a:defRPr>
            </a:pPr>
            <a:r>
              <a:t>• Creates the phone-number side</a:t>
            </a:r>
          </a:p>
          <a:p>
            <a:pPr>
              <a:spcAft>
                <a:spcPts val="1000"/>
              </a:spcAft>
              <a:defRPr sz="1550">
                <a:solidFill>
                  <a:srgbClr val="282828"/>
                </a:solidFill>
              </a:defRPr>
            </a:pPr>
            <a:r>
              <a:t>• Helps resolve the conflict</a:t>
            </a:r>
          </a:p>
        </p:txBody>
      </p:sp>
    </p:spTree>
    <p:extLst>
      <p:ext uri="{BB962C8B-B14F-4D97-AF65-F5344CB8AC3E}">
        <p14:creationId xmlns:p14="http://schemas.microsoft.com/office/powerpoint/2010/main" val="2095193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00A52BA6-EBAF-3AF0-DBA9-3AA1DB8D2FB2}"/>
              </a:ext>
            </a:extLst>
          </p:cNvPr>
          <p:cNvSpPr txBox="1"/>
          <p:nvPr/>
        </p:nvSpPr>
        <p:spPr>
          <a:xfrm>
            <a:off x="693812" y="404664"/>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a:t>
            </a:r>
            <a:r>
              <a:rPr lang="en-IN" dirty="0"/>
              <a:t>1</a:t>
            </a:r>
            <a:r>
              <a:rPr dirty="0"/>
              <a:t> — </a:t>
            </a:r>
            <a:r>
              <a:rPr lang="en-IN" dirty="0"/>
              <a:t>Student A: </a:t>
            </a:r>
            <a:r>
              <a:rPr dirty="0"/>
              <a:t>Create GitHub Repository</a:t>
            </a:r>
          </a:p>
        </p:txBody>
      </p:sp>
      <p:sp>
        <p:nvSpPr>
          <p:cNvPr id="5" name="Rounded Rectangle 4">
            <a:extLst>
              <a:ext uri="{FF2B5EF4-FFF2-40B4-BE49-F238E27FC236}">
                <a16:creationId xmlns:a16="http://schemas.microsoft.com/office/drawing/2014/main" id="{87CFB82F-7BCA-CA81-9EB2-D486D94A0F39}"/>
              </a:ext>
            </a:extLst>
          </p:cNvPr>
          <p:cNvSpPr/>
          <p:nvPr/>
        </p:nvSpPr>
        <p:spPr>
          <a:xfrm>
            <a:off x="676593" y="17602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t>Repository name: git-collaboration-lab</a:t>
            </a:r>
            <a:br/>
            <a:r>
              <a:t>Visibility: Public (for this classroom exercise)</a:t>
            </a:r>
            <a:br/>
            <a:r>
              <a:t>Do NOT add another README if using the local repository</a:t>
            </a:r>
          </a:p>
        </p:txBody>
      </p:sp>
    </p:spTree>
    <p:extLst>
      <p:ext uri="{BB962C8B-B14F-4D97-AF65-F5344CB8AC3E}">
        <p14:creationId xmlns:p14="http://schemas.microsoft.com/office/powerpoint/2010/main" val="1368824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7C5E1DE5-F563-8E40-9842-6C1B4BC923BB}"/>
              </a:ext>
            </a:extLst>
          </p:cNvPr>
          <p:cNvSpPr txBox="1"/>
          <p:nvPr/>
        </p:nvSpPr>
        <p:spPr>
          <a:xfrm>
            <a:off x="621804" y="260648"/>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a:t>
            </a:r>
            <a:r>
              <a:rPr lang="en-IN" dirty="0"/>
              <a:t>2</a:t>
            </a:r>
            <a:r>
              <a:rPr dirty="0"/>
              <a:t> — Student </a:t>
            </a:r>
            <a:r>
              <a:rPr lang="en-IN" dirty="0"/>
              <a:t>A</a:t>
            </a:r>
            <a:r>
              <a:rPr dirty="0"/>
              <a:t> Clones</a:t>
            </a:r>
            <a:r>
              <a:rPr lang="en-IN" dirty="0"/>
              <a:t> the Repository</a:t>
            </a:r>
            <a:endParaRPr dirty="0"/>
          </a:p>
        </p:txBody>
      </p:sp>
      <p:sp>
        <p:nvSpPr>
          <p:cNvPr id="5" name="Rounded Rectangle 4">
            <a:extLst>
              <a:ext uri="{FF2B5EF4-FFF2-40B4-BE49-F238E27FC236}">
                <a16:creationId xmlns:a16="http://schemas.microsoft.com/office/drawing/2014/main" id="{BF3372B8-6541-1116-E7B8-9D17773932B6}"/>
              </a:ext>
            </a:extLst>
          </p:cNvPr>
          <p:cNvSpPr/>
          <p:nvPr/>
        </p:nvSpPr>
        <p:spPr>
          <a:xfrm>
            <a:off x="676593" y="17602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rPr dirty="0"/>
              <a:t>git clone </a:t>
            </a:r>
            <a:r>
              <a:rPr lang="en-IN" dirty="0"/>
              <a:t>“GITHUB Repository Link”</a:t>
            </a:r>
            <a:endParaRPr dirty="0"/>
          </a:p>
        </p:txBody>
      </p:sp>
    </p:spTree>
    <p:extLst>
      <p:ext uri="{BB962C8B-B14F-4D97-AF65-F5344CB8AC3E}">
        <p14:creationId xmlns:p14="http://schemas.microsoft.com/office/powerpoint/2010/main" val="2038387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B762C8D8-D9C5-2DB7-6CD4-120CDA1DFF78}"/>
              </a:ext>
            </a:extLst>
          </p:cNvPr>
          <p:cNvSpPr txBox="1"/>
          <p:nvPr/>
        </p:nvSpPr>
        <p:spPr>
          <a:xfrm>
            <a:off x="516572" y="476672"/>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lang="en-IN" dirty="0"/>
              <a:t>Step 3 – Student A: </a:t>
            </a:r>
            <a:r>
              <a:rPr dirty="0"/>
              <a:t>Create index.html</a:t>
            </a:r>
          </a:p>
        </p:txBody>
      </p:sp>
      <p:sp>
        <p:nvSpPr>
          <p:cNvPr id="5" name="Rounded Rectangle 4">
            <a:extLst>
              <a:ext uri="{FF2B5EF4-FFF2-40B4-BE49-F238E27FC236}">
                <a16:creationId xmlns:a16="http://schemas.microsoft.com/office/drawing/2014/main" id="{8C89F1AD-BDB5-D5A9-1FD0-197496FECCB5}"/>
              </a:ext>
            </a:extLst>
          </p:cNvPr>
          <p:cNvSpPr/>
          <p:nvPr/>
        </p:nvSpPr>
        <p:spPr>
          <a:xfrm>
            <a:off x="516572" y="1340768"/>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t>&lt;header&gt;&lt;h1&gt;Git Lab&lt;/h1&gt;&lt;/header&gt;</a:t>
            </a:r>
            <a:br/>
            <a:r>
              <a:t>&lt;nav&gt;Home | About | Contact&lt;/nav&gt;</a:t>
            </a:r>
            <a:br/>
            <a:r>
              <a:t>&lt;section id="hero"&gt;Welcome&lt;/section&gt;</a:t>
            </a:r>
            <a:br/>
            <a:r>
              <a:t>&lt;section id="about-us"&gt;About our college&lt;/section&gt;</a:t>
            </a:r>
            <a:br/>
            <a:r>
              <a:t>&lt;main&gt;&lt;p&gt;Collaborative development demo.&lt;/p&gt;&lt;/main&gt;</a:t>
            </a:r>
            <a:br/>
            <a:r>
              <a:t>&lt;footer id="contact"&gt;Contact us&lt;/footer&gt;</a:t>
            </a:r>
          </a:p>
        </p:txBody>
      </p:sp>
      <p:sp>
        <p:nvSpPr>
          <p:cNvPr id="6" name="TextBox 5">
            <a:extLst>
              <a:ext uri="{FF2B5EF4-FFF2-40B4-BE49-F238E27FC236}">
                <a16:creationId xmlns:a16="http://schemas.microsoft.com/office/drawing/2014/main" id="{48795F22-9AFA-C828-0016-68489119EFE3}"/>
              </a:ext>
            </a:extLst>
          </p:cNvPr>
          <p:cNvSpPr txBox="1"/>
          <p:nvPr/>
        </p:nvSpPr>
        <p:spPr>
          <a:xfrm>
            <a:off x="882332" y="5157192"/>
            <a:ext cx="10424160" cy="914400"/>
          </a:xfrm>
          <a:prstGeom prst="rect">
            <a:avLst/>
          </a:prstGeom>
          <a:noFill/>
        </p:spPr>
        <p:txBody>
          <a:bodyPr wrap="square" lIns="45720" rIns="4572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000"/>
              </a:spcAft>
              <a:defRPr sz="1500">
                <a:solidFill>
                  <a:srgbClr val="282828"/>
                </a:solidFill>
              </a:defRPr>
            </a:pPr>
            <a:r>
              <a:t>• Save the file as index.html inside your project folder.</a:t>
            </a:r>
          </a:p>
          <a:p>
            <a:pPr>
              <a:spcAft>
                <a:spcPts val="1000"/>
              </a:spcAft>
              <a:defRPr sz="1500">
                <a:solidFill>
                  <a:srgbClr val="282828"/>
                </a:solidFill>
              </a:defRPr>
            </a:pPr>
            <a:r>
              <a:t>• Do not change the footer yet — we will use it later to create a conflict.</a:t>
            </a:r>
          </a:p>
        </p:txBody>
      </p:sp>
    </p:spTree>
    <p:extLst>
      <p:ext uri="{BB962C8B-B14F-4D97-AF65-F5344CB8AC3E}">
        <p14:creationId xmlns:p14="http://schemas.microsoft.com/office/powerpoint/2010/main" val="344053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EEDD9083-05B7-405C-0380-B8204CC3F1E6}"/>
              </a:ext>
            </a:extLst>
          </p:cNvPr>
          <p:cNvSpPr txBox="1"/>
          <p:nvPr/>
        </p:nvSpPr>
        <p:spPr>
          <a:xfrm>
            <a:off x="549796" y="188640"/>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a:t>
            </a:r>
            <a:r>
              <a:rPr lang="en-IN" dirty="0"/>
              <a:t>4</a:t>
            </a:r>
            <a:r>
              <a:rPr dirty="0"/>
              <a:t> — Student </a:t>
            </a:r>
            <a:r>
              <a:rPr lang="en-IN" dirty="0"/>
              <a:t>A</a:t>
            </a:r>
            <a:r>
              <a:rPr dirty="0"/>
              <a:t> </a:t>
            </a:r>
            <a:r>
              <a:rPr lang="en-IN" dirty="0"/>
              <a:t>Push changes</a:t>
            </a:r>
            <a:endParaRPr dirty="0"/>
          </a:p>
        </p:txBody>
      </p:sp>
      <p:sp>
        <p:nvSpPr>
          <p:cNvPr id="5" name="Rounded Rectangle 4">
            <a:extLst>
              <a:ext uri="{FF2B5EF4-FFF2-40B4-BE49-F238E27FC236}">
                <a16:creationId xmlns:a16="http://schemas.microsoft.com/office/drawing/2014/main" id="{50C0CD42-CEBC-45D6-3061-24FB35FA46F5}"/>
              </a:ext>
            </a:extLst>
          </p:cNvPr>
          <p:cNvSpPr/>
          <p:nvPr/>
        </p:nvSpPr>
        <p:spPr>
          <a:xfrm>
            <a:off x="676593" y="17602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rPr dirty="0"/>
              <a:t>git status</a:t>
            </a:r>
            <a:br>
              <a:rPr dirty="0"/>
            </a:br>
            <a:r>
              <a:rPr dirty="0"/>
              <a:t>git add index.html</a:t>
            </a:r>
            <a:br>
              <a:rPr dirty="0"/>
            </a:br>
            <a:r>
              <a:rPr dirty="0"/>
              <a:t>git commit -m "Initial commit"</a:t>
            </a:r>
            <a:br>
              <a:rPr dirty="0"/>
            </a:br>
            <a:r>
              <a:rPr dirty="0"/>
              <a:t>git </a:t>
            </a:r>
            <a:r>
              <a:rPr lang="en-IN" dirty="0"/>
              <a:t>push</a:t>
            </a:r>
            <a:endParaRPr dirty="0"/>
          </a:p>
        </p:txBody>
      </p:sp>
    </p:spTree>
    <p:extLst>
      <p:ext uri="{BB962C8B-B14F-4D97-AF65-F5344CB8AC3E}">
        <p14:creationId xmlns:p14="http://schemas.microsoft.com/office/powerpoint/2010/main" val="1660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7C5E1DE5-F563-8E40-9842-6C1B4BC923BB}"/>
              </a:ext>
            </a:extLst>
          </p:cNvPr>
          <p:cNvSpPr txBox="1"/>
          <p:nvPr/>
        </p:nvSpPr>
        <p:spPr>
          <a:xfrm>
            <a:off x="621804" y="260648"/>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a:t>
            </a:r>
            <a:r>
              <a:rPr lang="en-IN" dirty="0"/>
              <a:t>5</a:t>
            </a:r>
            <a:r>
              <a:rPr dirty="0"/>
              <a:t> — Student </a:t>
            </a:r>
            <a:r>
              <a:rPr lang="en-IN" dirty="0"/>
              <a:t>B</a:t>
            </a:r>
            <a:r>
              <a:rPr dirty="0"/>
              <a:t> Clones</a:t>
            </a:r>
            <a:r>
              <a:rPr lang="en-IN" dirty="0"/>
              <a:t> the Repository</a:t>
            </a:r>
            <a:endParaRPr dirty="0"/>
          </a:p>
        </p:txBody>
      </p:sp>
      <p:sp>
        <p:nvSpPr>
          <p:cNvPr id="2" name="Rounded Rectangle 4">
            <a:extLst>
              <a:ext uri="{FF2B5EF4-FFF2-40B4-BE49-F238E27FC236}">
                <a16:creationId xmlns:a16="http://schemas.microsoft.com/office/drawing/2014/main" id="{F95CA0BA-44DC-B218-963B-84149159F12A}"/>
              </a:ext>
            </a:extLst>
          </p:cNvPr>
          <p:cNvSpPr/>
          <p:nvPr/>
        </p:nvSpPr>
        <p:spPr>
          <a:xfrm>
            <a:off x="676593" y="17602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rPr dirty="0"/>
              <a:t>git clone </a:t>
            </a:r>
            <a:r>
              <a:rPr lang="en-IN" dirty="0"/>
              <a:t>“GITHUB Repository Link”</a:t>
            </a:r>
            <a:br>
              <a:rPr dirty="0"/>
            </a:br>
            <a:r>
              <a:rPr dirty="0"/>
              <a:t>cd </a:t>
            </a:r>
            <a:r>
              <a:rPr lang="en-IN" dirty="0"/>
              <a:t>“Folder Name”</a:t>
            </a:r>
            <a:br>
              <a:rPr dirty="0"/>
            </a:br>
            <a:endParaRPr dirty="0"/>
          </a:p>
        </p:txBody>
      </p:sp>
    </p:spTree>
    <p:extLst>
      <p:ext uri="{BB962C8B-B14F-4D97-AF65-F5344CB8AC3E}">
        <p14:creationId xmlns:p14="http://schemas.microsoft.com/office/powerpoint/2010/main" val="890876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8E6E7774-F294-C708-3A1C-C888276E7A99}"/>
              </a:ext>
            </a:extLst>
          </p:cNvPr>
          <p:cNvSpPr txBox="1"/>
          <p:nvPr/>
        </p:nvSpPr>
        <p:spPr>
          <a:xfrm>
            <a:off x="516572" y="260648"/>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6 — Student </a:t>
            </a:r>
            <a:r>
              <a:rPr lang="en-IN" dirty="0"/>
              <a:t>B</a:t>
            </a:r>
            <a:r>
              <a:rPr dirty="0"/>
              <a:t> Creates a Feature Branch</a:t>
            </a:r>
          </a:p>
        </p:txBody>
      </p:sp>
      <p:sp>
        <p:nvSpPr>
          <p:cNvPr id="5" name="Rounded Rectangle 4">
            <a:extLst>
              <a:ext uri="{FF2B5EF4-FFF2-40B4-BE49-F238E27FC236}">
                <a16:creationId xmlns:a16="http://schemas.microsoft.com/office/drawing/2014/main" id="{BD11185E-DD08-9A0B-71A5-FB7AE8CC41E0}"/>
              </a:ext>
            </a:extLst>
          </p:cNvPr>
          <p:cNvSpPr/>
          <p:nvPr/>
        </p:nvSpPr>
        <p:spPr>
          <a:xfrm>
            <a:off x="676593" y="17602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br>
              <a:rPr dirty="0"/>
            </a:br>
            <a:r>
              <a:rPr dirty="0"/>
              <a:t>git checkout -b feature/about-us</a:t>
            </a:r>
          </a:p>
        </p:txBody>
      </p:sp>
    </p:spTree>
    <p:extLst>
      <p:ext uri="{BB962C8B-B14F-4D97-AF65-F5344CB8AC3E}">
        <p14:creationId xmlns:p14="http://schemas.microsoft.com/office/powerpoint/2010/main" val="586224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328C098-6E47-274C-426B-0CC1294A773D}"/>
              </a:ext>
            </a:extLst>
          </p:cNvPr>
          <p:cNvSpPr txBox="1"/>
          <p:nvPr/>
        </p:nvSpPr>
        <p:spPr>
          <a:xfrm>
            <a:off x="516572" y="260648"/>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7 — </a:t>
            </a:r>
            <a:r>
              <a:rPr lang="en-IN" dirty="0"/>
              <a:t>Student B </a:t>
            </a:r>
            <a:r>
              <a:rPr dirty="0"/>
              <a:t>Make a Feature Change</a:t>
            </a:r>
          </a:p>
        </p:txBody>
      </p:sp>
      <p:sp>
        <p:nvSpPr>
          <p:cNvPr id="5" name="Rounded Rectangle 4">
            <a:extLst>
              <a:ext uri="{FF2B5EF4-FFF2-40B4-BE49-F238E27FC236}">
                <a16:creationId xmlns:a16="http://schemas.microsoft.com/office/drawing/2014/main" id="{5FF55E47-B293-EFA6-B07F-FEA61BCB1D60}"/>
              </a:ext>
            </a:extLst>
          </p:cNvPr>
          <p:cNvSpPr/>
          <p:nvPr/>
        </p:nvSpPr>
        <p:spPr>
          <a:xfrm>
            <a:off x="676592" y="1124744"/>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t>&lt;section id="about-us"&gt;Company/College information added&lt;/section&gt;</a:t>
            </a:r>
          </a:p>
        </p:txBody>
      </p:sp>
      <p:sp>
        <p:nvSpPr>
          <p:cNvPr id="6" name="TextBox 5">
            <a:extLst>
              <a:ext uri="{FF2B5EF4-FFF2-40B4-BE49-F238E27FC236}">
                <a16:creationId xmlns:a16="http://schemas.microsoft.com/office/drawing/2014/main" id="{2152B85B-3552-DF32-847D-69C0C8EF1904}"/>
              </a:ext>
            </a:extLst>
          </p:cNvPr>
          <p:cNvSpPr txBox="1"/>
          <p:nvPr/>
        </p:nvSpPr>
        <p:spPr>
          <a:xfrm>
            <a:off x="1088072" y="4818856"/>
            <a:ext cx="10424160" cy="914400"/>
          </a:xfrm>
          <a:prstGeom prst="rect">
            <a:avLst/>
          </a:prstGeom>
          <a:noFill/>
        </p:spPr>
        <p:txBody>
          <a:bodyPr wrap="square" lIns="45720" rIns="4572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000"/>
              </a:spcAft>
              <a:defRPr sz="1500">
                <a:solidFill>
                  <a:srgbClr val="282828"/>
                </a:solidFill>
              </a:defRPr>
            </a:pPr>
            <a:r>
              <a:t>• Save index.html.</a:t>
            </a:r>
          </a:p>
          <a:p>
            <a:pPr>
              <a:spcAft>
                <a:spcPts val="1000"/>
              </a:spcAft>
              <a:defRPr sz="1500">
                <a:solidFill>
                  <a:srgbClr val="282828"/>
                </a:solidFill>
              </a:defRPr>
            </a:pPr>
            <a:r>
              <a:t>• Run git diff to see exactly what changed.</a:t>
            </a:r>
          </a:p>
        </p:txBody>
      </p:sp>
    </p:spTree>
    <p:extLst>
      <p:ext uri="{BB962C8B-B14F-4D97-AF65-F5344CB8AC3E}">
        <p14:creationId xmlns:p14="http://schemas.microsoft.com/office/powerpoint/2010/main" val="2793595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50B7F0F1-3970-FB5E-603B-5A4FABC38A08}"/>
              </a:ext>
            </a:extLst>
          </p:cNvPr>
          <p:cNvSpPr txBox="1"/>
          <p:nvPr/>
        </p:nvSpPr>
        <p:spPr>
          <a:xfrm>
            <a:off x="621804" y="476672"/>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8 — </a:t>
            </a:r>
            <a:r>
              <a:rPr lang="en-IN" dirty="0"/>
              <a:t>Student B </a:t>
            </a:r>
            <a:r>
              <a:rPr dirty="0"/>
              <a:t>Commit the Feature</a:t>
            </a:r>
          </a:p>
        </p:txBody>
      </p:sp>
      <p:sp>
        <p:nvSpPr>
          <p:cNvPr id="5" name="Rounded Rectangle 4">
            <a:extLst>
              <a:ext uri="{FF2B5EF4-FFF2-40B4-BE49-F238E27FC236}">
                <a16:creationId xmlns:a16="http://schemas.microsoft.com/office/drawing/2014/main" id="{64406F79-D213-732D-DD65-464CB36104B5}"/>
              </a:ext>
            </a:extLst>
          </p:cNvPr>
          <p:cNvSpPr/>
          <p:nvPr/>
        </p:nvSpPr>
        <p:spPr>
          <a:xfrm>
            <a:off x="676592" y="1484784"/>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t>git diff</a:t>
            </a:r>
            <a:br/>
            <a:r>
              <a:t>git add index.html</a:t>
            </a:r>
            <a:br/>
            <a:r>
              <a:t>git commit -m "Add About Us information</a:t>
            </a:r>
          </a:p>
        </p:txBody>
      </p:sp>
    </p:spTree>
    <p:extLst>
      <p:ext uri="{BB962C8B-B14F-4D97-AF65-F5344CB8AC3E}">
        <p14:creationId xmlns:p14="http://schemas.microsoft.com/office/powerpoint/2010/main" val="4252904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A45DF151-23DA-A9E7-BF9A-A01A401F2718}"/>
              </a:ext>
            </a:extLst>
          </p:cNvPr>
          <p:cNvSpPr txBox="1"/>
          <p:nvPr/>
        </p:nvSpPr>
        <p:spPr>
          <a:xfrm>
            <a:off x="621804" y="332656"/>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9 — </a:t>
            </a:r>
            <a:r>
              <a:rPr lang="en-IN" dirty="0"/>
              <a:t>Student B </a:t>
            </a:r>
            <a:r>
              <a:rPr dirty="0"/>
              <a:t>Push the Feature Branch</a:t>
            </a:r>
          </a:p>
        </p:txBody>
      </p:sp>
      <p:sp>
        <p:nvSpPr>
          <p:cNvPr id="5" name="Rounded Rectangle 4">
            <a:extLst>
              <a:ext uri="{FF2B5EF4-FFF2-40B4-BE49-F238E27FC236}">
                <a16:creationId xmlns:a16="http://schemas.microsoft.com/office/drawing/2014/main" id="{77AD4E60-E754-158F-814A-D83FED2F3787}"/>
              </a:ext>
            </a:extLst>
          </p:cNvPr>
          <p:cNvSpPr/>
          <p:nvPr/>
        </p:nvSpPr>
        <p:spPr>
          <a:xfrm>
            <a:off x="602636" y="1124744"/>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t>git push -u origin feature/about-us</a:t>
            </a:r>
          </a:p>
        </p:txBody>
      </p:sp>
      <p:sp>
        <p:nvSpPr>
          <p:cNvPr id="6" name="TextBox 5">
            <a:extLst>
              <a:ext uri="{FF2B5EF4-FFF2-40B4-BE49-F238E27FC236}">
                <a16:creationId xmlns:a16="http://schemas.microsoft.com/office/drawing/2014/main" id="{1D134390-DAE2-8F3A-B55D-23140054C41A}"/>
              </a:ext>
            </a:extLst>
          </p:cNvPr>
          <p:cNvSpPr txBox="1"/>
          <p:nvPr/>
        </p:nvSpPr>
        <p:spPr>
          <a:xfrm>
            <a:off x="1197868" y="5085184"/>
            <a:ext cx="10424160" cy="914400"/>
          </a:xfrm>
          <a:prstGeom prst="rect">
            <a:avLst/>
          </a:prstGeom>
          <a:noFill/>
        </p:spPr>
        <p:txBody>
          <a:bodyPr wrap="square" lIns="45720" rIns="4572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000"/>
              </a:spcAft>
              <a:defRPr sz="1500">
                <a:solidFill>
                  <a:srgbClr val="282828"/>
                </a:solidFill>
              </a:defRPr>
            </a:pPr>
            <a:r>
              <a:rPr dirty="0"/>
              <a:t>• Open GitHub and verify the new branch exists.</a:t>
            </a:r>
          </a:p>
          <a:p>
            <a:pPr>
              <a:spcAft>
                <a:spcPts val="1000"/>
              </a:spcAft>
              <a:defRPr sz="1500">
                <a:solidFill>
                  <a:srgbClr val="282828"/>
                </a:solidFill>
              </a:defRPr>
            </a:pPr>
            <a:r>
              <a:rPr dirty="0"/>
              <a:t>• CHECKPOINT → Show the instructor the branch.</a:t>
            </a:r>
          </a:p>
        </p:txBody>
      </p:sp>
    </p:spTree>
    <p:extLst>
      <p:ext uri="{BB962C8B-B14F-4D97-AF65-F5344CB8AC3E}">
        <p14:creationId xmlns:p14="http://schemas.microsoft.com/office/powerpoint/2010/main" val="374448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9251CAF2-75F1-D3E4-EE29-530CF75E4AC9}"/>
              </a:ext>
            </a:extLst>
          </p:cNvPr>
          <p:cNvSpPr txBox="1"/>
          <p:nvPr/>
        </p:nvSpPr>
        <p:spPr>
          <a:xfrm>
            <a:off x="765820" y="332656"/>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10 — </a:t>
            </a:r>
            <a:r>
              <a:rPr lang="en-IN" dirty="0"/>
              <a:t>Student B </a:t>
            </a:r>
            <a:r>
              <a:rPr dirty="0"/>
              <a:t>Raise a Pull Request</a:t>
            </a:r>
          </a:p>
        </p:txBody>
      </p:sp>
      <p:sp>
        <p:nvSpPr>
          <p:cNvPr id="5" name="TextBox 3">
            <a:extLst>
              <a:ext uri="{FF2B5EF4-FFF2-40B4-BE49-F238E27FC236}">
                <a16:creationId xmlns:a16="http://schemas.microsoft.com/office/drawing/2014/main" id="{B6A97476-272E-511B-BB42-C954331424D1}"/>
              </a:ext>
            </a:extLst>
          </p:cNvPr>
          <p:cNvSpPr txBox="1"/>
          <p:nvPr/>
        </p:nvSpPr>
        <p:spPr>
          <a:xfrm>
            <a:off x="745172" y="1051560"/>
            <a:ext cx="10698480" cy="4754880"/>
          </a:xfrm>
          <a:prstGeom prst="rect">
            <a:avLst/>
          </a:prstGeom>
          <a:noFill/>
        </p:spPr>
        <p:txBody>
          <a:bodyPr wrap="square" lIns="45720" rIns="4572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000"/>
              </a:spcAft>
              <a:defRPr sz="2000">
                <a:solidFill>
                  <a:srgbClr val="282828"/>
                </a:solidFill>
              </a:defRPr>
            </a:pPr>
            <a:r>
              <a:rPr dirty="0"/>
              <a:t>• Open the GitHub repository</a:t>
            </a:r>
          </a:p>
          <a:p>
            <a:pPr>
              <a:spcAft>
                <a:spcPts val="1000"/>
              </a:spcAft>
              <a:defRPr sz="2000">
                <a:solidFill>
                  <a:srgbClr val="282828"/>
                </a:solidFill>
              </a:defRPr>
            </a:pPr>
            <a:r>
              <a:rPr dirty="0"/>
              <a:t>• Choose feature/about-us</a:t>
            </a:r>
          </a:p>
          <a:p>
            <a:pPr>
              <a:spcAft>
                <a:spcPts val="1000"/>
              </a:spcAft>
              <a:defRPr sz="2000">
                <a:solidFill>
                  <a:srgbClr val="282828"/>
                </a:solidFill>
              </a:defRPr>
            </a:pPr>
            <a:r>
              <a:rPr dirty="0"/>
              <a:t>• Click Compare &amp; pull request</a:t>
            </a:r>
          </a:p>
          <a:p>
            <a:pPr>
              <a:spcAft>
                <a:spcPts val="1000"/>
              </a:spcAft>
              <a:defRPr sz="2000">
                <a:solidFill>
                  <a:srgbClr val="282828"/>
                </a:solidFill>
              </a:defRPr>
            </a:pPr>
            <a:r>
              <a:rPr dirty="0"/>
              <a:t>• Base = main</a:t>
            </a:r>
          </a:p>
          <a:p>
            <a:pPr>
              <a:spcAft>
                <a:spcPts val="1000"/>
              </a:spcAft>
              <a:defRPr sz="2000">
                <a:solidFill>
                  <a:srgbClr val="282828"/>
                </a:solidFill>
              </a:defRPr>
            </a:pPr>
            <a:r>
              <a:rPr dirty="0"/>
              <a:t>• Compare = feature/about-us</a:t>
            </a:r>
          </a:p>
          <a:p>
            <a:pPr>
              <a:spcAft>
                <a:spcPts val="1000"/>
              </a:spcAft>
              <a:defRPr sz="2000">
                <a:solidFill>
                  <a:srgbClr val="282828"/>
                </a:solidFill>
              </a:defRPr>
            </a:pPr>
            <a:r>
              <a:rPr dirty="0"/>
              <a:t>• Enter a clear title and short description</a:t>
            </a:r>
          </a:p>
          <a:p>
            <a:pPr>
              <a:spcAft>
                <a:spcPts val="1000"/>
              </a:spcAft>
              <a:defRPr sz="2000">
                <a:solidFill>
                  <a:srgbClr val="282828"/>
                </a:solidFill>
              </a:defRPr>
            </a:pPr>
            <a:r>
              <a:rPr dirty="0"/>
              <a:t>• Click Create pull request</a:t>
            </a:r>
            <a:endParaRPr lang="en-IN" dirty="0"/>
          </a:p>
          <a:p>
            <a:pPr>
              <a:spcAft>
                <a:spcPts val="1000"/>
              </a:spcAft>
              <a:defRPr sz="2000">
                <a:solidFill>
                  <a:srgbClr val="282828"/>
                </a:solidFill>
              </a:defRPr>
            </a:pPr>
            <a:r>
              <a:rPr lang="en-IN" dirty="0"/>
              <a:t>Add Student A as reviewer</a:t>
            </a:r>
            <a:endParaRPr dirty="0"/>
          </a:p>
        </p:txBody>
      </p:sp>
    </p:spTree>
    <p:extLst>
      <p:ext uri="{BB962C8B-B14F-4D97-AF65-F5344CB8AC3E}">
        <p14:creationId xmlns:p14="http://schemas.microsoft.com/office/powerpoint/2010/main" val="3691015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BB15AB7-BE7C-06CA-C583-01D77F9F1F6F}"/>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What Does the Pull Request Mean?</a:t>
            </a:r>
          </a:p>
        </p:txBody>
      </p:sp>
      <p:sp>
        <p:nvSpPr>
          <p:cNvPr id="16" name="Rounded Rectangle 3">
            <a:extLst>
              <a:ext uri="{FF2B5EF4-FFF2-40B4-BE49-F238E27FC236}">
                <a16:creationId xmlns:a16="http://schemas.microsoft.com/office/drawing/2014/main" id="{904BBD7E-194E-4E51-33E1-6D805617F690}"/>
              </a:ext>
            </a:extLst>
          </p:cNvPr>
          <p:cNvSpPr/>
          <p:nvPr/>
        </p:nvSpPr>
        <p:spPr>
          <a:xfrm>
            <a:off x="548640" y="2331720"/>
            <a:ext cx="2834640" cy="1051560"/>
          </a:xfrm>
          <a:prstGeom prst="roundRect">
            <a:avLst/>
          </a:prstGeom>
          <a:solidFill>
            <a:srgbClr val="2B5F9A"/>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800" b="1">
                <a:solidFill>
                  <a:srgbClr val="FFFFFF"/>
                </a:solidFill>
              </a:defRPr>
            </a:pPr>
            <a:r>
              <a:t>feature/about-us</a:t>
            </a:r>
          </a:p>
        </p:txBody>
      </p:sp>
      <p:sp>
        <p:nvSpPr>
          <p:cNvPr id="17" name="Chevron 4">
            <a:extLst>
              <a:ext uri="{FF2B5EF4-FFF2-40B4-BE49-F238E27FC236}">
                <a16:creationId xmlns:a16="http://schemas.microsoft.com/office/drawing/2014/main" id="{6882207D-4ED1-96C0-CA54-20C88ECEA287}"/>
              </a:ext>
            </a:extLst>
          </p:cNvPr>
          <p:cNvSpPr/>
          <p:nvPr/>
        </p:nvSpPr>
        <p:spPr>
          <a:xfrm>
            <a:off x="3703320" y="2578608"/>
            <a:ext cx="685800" cy="548640"/>
          </a:xfrm>
          <a:prstGeom prst="chevron">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8" name="Rounded Rectangle 5">
            <a:extLst>
              <a:ext uri="{FF2B5EF4-FFF2-40B4-BE49-F238E27FC236}">
                <a16:creationId xmlns:a16="http://schemas.microsoft.com/office/drawing/2014/main" id="{AC7B364A-9EAC-E7D3-6604-FE2F3B32944E}"/>
              </a:ext>
            </a:extLst>
          </p:cNvPr>
          <p:cNvSpPr/>
          <p:nvPr/>
        </p:nvSpPr>
        <p:spPr>
          <a:xfrm>
            <a:off x="4457700" y="2331720"/>
            <a:ext cx="2834640" cy="105156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800" b="1">
                <a:solidFill>
                  <a:srgbClr val="FFFFFF"/>
                </a:solidFill>
              </a:defRPr>
            </a:pPr>
            <a:r>
              <a:t>PULL REQUEST</a:t>
            </a:r>
          </a:p>
        </p:txBody>
      </p:sp>
      <p:sp>
        <p:nvSpPr>
          <p:cNvPr id="19" name="Chevron 6">
            <a:extLst>
              <a:ext uri="{FF2B5EF4-FFF2-40B4-BE49-F238E27FC236}">
                <a16:creationId xmlns:a16="http://schemas.microsoft.com/office/drawing/2014/main" id="{9E3AAA2D-A12D-93E1-FE6D-A2D00BD82647}"/>
              </a:ext>
            </a:extLst>
          </p:cNvPr>
          <p:cNvSpPr/>
          <p:nvPr/>
        </p:nvSpPr>
        <p:spPr>
          <a:xfrm>
            <a:off x="7603518" y="2578608"/>
            <a:ext cx="685800" cy="548640"/>
          </a:xfrm>
          <a:prstGeom prst="chevron">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0" name="Rounded Rectangle 7">
            <a:extLst>
              <a:ext uri="{FF2B5EF4-FFF2-40B4-BE49-F238E27FC236}">
                <a16:creationId xmlns:a16="http://schemas.microsoft.com/office/drawing/2014/main" id="{27C56A90-0B4B-49C4-D79B-E19C6235EF48}"/>
              </a:ext>
            </a:extLst>
          </p:cNvPr>
          <p:cNvSpPr/>
          <p:nvPr/>
        </p:nvSpPr>
        <p:spPr>
          <a:xfrm>
            <a:off x="8542684" y="2331720"/>
            <a:ext cx="2834640" cy="1051560"/>
          </a:xfrm>
          <a:prstGeom prst="roundRect">
            <a:avLst/>
          </a:prstGeom>
          <a:solidFill>
            <a:srgbClr val="2F805B"/>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800" b="1">
                <a:solidFill>
                  <a:srgbClr val="FFFFFF"/>
                </a:solidFill>
              </a:defRPr>
            </a:pPr>
            <a:r>
              <a:t>main</a:t>
            </a:r>
          </a:p>
        </p:txBody>
      </p:sp>
      <p:sp>
        <p:nvSpPr>
          <p:cNvPr id="21" name="TextBox 20">
            <a:extLst>
              <a:ext uri="{FF2B5EF4-FFF2-40B4-BE49-F238E27FC236}">
                <a16:creationId xmlns:a16="http://schemas.microsoft.com/office/drawing/2014/main" id="{FF938581-B393-E361-23A0-5F799B151030}"/>
              </a:ext>
            </a:extLst>
          </p:cNvPr>
          <p:cNvSpPr txBox="1"/>
          <p:nvPr/>
        </p:nvSpPr>
        <p:spPr>
          <a:xfrm>
            <a:off x="1097280" y="4114800"/>
            <a:ext cx="9875520" cy="1097280"/>
          </a:xfrm>
          <a:prstGeom prst="rect">
            <a:avLst/>
          </a:prstGeom>
          <a:noFill/>
        </p:spPr>
        <p:txBody>
          <a:bodyPr wrap="square" lIns="45720" rIns="45720">
            <a:noAutofit/>
          </a:bodyPr>
          <a:lstStyle/>
          <a:p>
            <a:pPr>
              <a:spcAft>
                <a:spcPts val="1000"/>
              </a:spcAft>
              <a:defRPr sz="1800">
                <a:solidFill>
                  <a:srgbClr val="282828"/>
                </a:solidFill>
              </a:defRPr>
            </a:pPr>
            <a:r>
              <a:rPr dirty="0"/>
              <a:t>• Review the changed lines before merging.</a:t>
            </a:r>
          </a:p>
          <a:p>
            <a:pPr>
              <a:spcAft>
                <a:spcPts val="1000"/>
              </a:spcAft>
              <a:defRPr sz="1800">
                <a:solidFill>
                  <a:srgbClr val="282828"/>
                </a:solidFill>
              </a:defRPr>
            </a:pPr>
            <a:r>
              <a:rPr dirty="0"/>
              <a:t>• A PR is a discussion + review + merge point.</a:t>
            </a:r>
          </a:p>
        </p:txBody>
      </p:sp>
    </p:spTree>
    <p:extLst>
      <p:ext uri="{BB962C8B-B14F-4D97-AF65-F5344CB8AC3E}">
        <p14:creationId xmlns:p14="http://schemas.microsoft.com/office/powerpoint/2010/main" val="1440692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3DF06E-D162-015F-C199-51694ABF8841}"/>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Step 11 — </a:t>
            </a:r>
            <a:r>
              <a:rPr lang="en-IN" dirty="0"/>
              <a:t>Student A </a:t>
            </a:r>
            <a:r>
              <a:rPr dirty="0"/>
              <a:t>Review and Merge the PR</a:t>
            </a:r>
          </a:p>
        </p:txBody>
      </p:sp>
      <p:sp>
        <p:nvSpPr>
          <p:cNvPr id="5" name="TextBox 4">
            <a:extLst>
              <a:ext uri="{FF2B5EF4-FFF2-40B4-BE49-F238E27FC236}">
                <a16:creationId xmlns:a16="http://schemas.microsoft.com/office/drawing/2014/main" id="{67958C75-4A0F-D56D-5F4B-4FEA04BA8C37}"/>
              </a:ext>
            </a:extLst>
          </p:cNvPr>
          <p:cNvSpPr txBox="1"/>
          <p:nvPr/>
        </p:nvSpPr>
        <p:spPr>
          <a:xfrm>
            <a:off x="731520" y="1325880"/>
            <a:ext cx="10698480" cy="4754880"/>
          </a:xfrm>
          <a:prstGeom prst="rect">
            <a:avLst/>
          </a:prstGeom>
          <a:noFill/>
        </p:spPr>
        <p:txBody>
          <a:bodyPr wrap="square" lIns="45720" rIns="45720">
            <a:noAutofit/>
          </a:bodyPr>
          <a:lstStyle/>
          <a:p>
            <a:pPr>
              <a:spcAft>
                <a:spcPts val="1000"/>
              </a:spcAft>
              <a:defRPr sz="2000">
                <a:solidFill>
                  <a:srgbClr val="282828"/>
                </a:solidFill>
              </a:defRPr>
            </a:pPr>
            <a:r>
              <a:rPr dirty="0"/>
              <a:t>• Student </a:t>
            </a:r>
            <a:r>
              <a:rPr lang="en-IN" dirty="0"/>
              <a:t>A</a:t>
            </a:r>
            <a:r>
              <a:rPr dirty="0"/>
              <a:t> opens the Pull Request</a:t>
            </a:r>
          </a:p>
          <a:p>
            <a:pPr>
              <a:spcAft>
                <a:spcPts val="1000"/>
              </a:spcAft>
              <a:defRPr sz="2000">
                <a:solidFill>
                  <a:srgbClr val="282828"/>
                </a:solidFill>
              </a:defRPr>
            </a:pPr>
            <a:r>
              <a:rPr dirty="0"/>
              <a:t>• Read the description</a:t>
            </a:r>
          </a:p>
          <a:p>
            <a:pPr>
              <a:spcAft>
                <a:spcPts val="1000"/>
              </a:spcAft>
              <a:defRPr sz="2000">
                <a:solidFill>
                  <a:srgbClr val="282828"/>
                </a:solidFill>
              </a:defRPr>
            </a:pPr>
            <a:r>
              <a:rPr dirty="0"/>
              <a:t>• Open Files changed</a:t>
            </a:r>
          </a:p>
          <a:p>
            <a:pPr>
              <a:spcAft>
                <a:spcPts val="1000"/>
              </a:spcAft>
              <a:defRPr sz="2000">
                <a:solidFill>
                  <a:srgbClr val="282828"/>
                </a:solidFill>
              </a:defRPr>
            </a:pPr>
            <a:r>
              <a:rPr dirty="0"/>
              <a:t>• Check whether the change is correct</a:t>
            </a:r>
          </a:p>
          <a:p>
            <a:pPr>
              <a:spcAft>
                <a:spcPts val="1000"/>
              </a:spcAft>
              <a:defRPr sz="2000">
                <a:solidFill>
                  <a:srgbClr val="282828"/>
                </a:solidFill>
              </a:defRPr>
            </a:pPr>
            <a:r>
              <a:rPr dirty="0"/>
              <a:t>• If satisfied, click Merge pull request</a:t>
            </a:r>
          </a:p>
          <a:p>
            <a:pPr>
              <a:spcAft>
                <a:spcPts val="1000"/>
              </a:spcAft>
              <a:defRPr sz="2000">
                <a:solidFill>
                  <a:srgbClr val="282828"/>
                </a:solidFill>
              </a:defRPr>
            </a:pPr>
            <a:r>
              <a:rPr dirty="0"/>
              <a:t>• Confirm the merge</a:t>
            </a:r>
          </a:p>
        </p:txBody>
      </p:sp>
    </p:spTree>
    <p:extLst>
      <p:ext uri="{BB962C8B-B14F-4D97-AF65-F5344CB8AC3E}">
        <p14:creationId xmlns:p14="http://schemas.microsoft.com/office/powerpoint/2010/main" val="3625139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78D3EF-DD00-1B7C-6309-66A9DAF96884}"/>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Now We Create a Controlled Conflict ⚠️</a:t>
            </a:r>
          </a:p>
        </p:txBody>
      </p:sp>
      <p:sp>
        <p:nvSpPr>
          <p:cNvPr id="5" name="TextBox 4">
            <a:extLst>
              <a:ext uri="{FF2B5EF4-FFF2-40B4-BE49-F238E27FC236}">
                <a16:creationId xmlns:a16="http://schemas.microsoft.com/office/drawing/2014/main" id="{79E886F1-E716-1513-929F-EE3BC59AC671}"/>
              </a:ext>
            </a:extLst>
          </p:cNvPr>
          <p:cNvSpPr txBox="1"/>
          <p:nvPr/>
        </p:nvSpPr>
        <p:spPr>
          <a:xfrm>
            <a:off x="731520" y="1325880"/>
            <a:ext cx="10698480" cy="4754880"/>
          </a:xfrm>
          <a:prstGeom prst="rect">
            <a:avLst/>
          </a:prstGeom>
          <a:noFill/>
        </p:spPr>
        <p:txBody>
          <a:bodyPr wrap="square" lIns="45720" rIns="45720">
            <a:noAutofit/>
          </a:bodyPr>
          <a:lstStyle/>
          <a:p>
            <a:pPr>
              <a:spcAft>
                <a:spcPts val="1000"/>
              </a:spcAft>
              <a:defRPr sz="2100">
                <a:solidFill>
                  <a:srgbClr val="282828"/>
                </a:solidFill>
              </a:defRPr>
            </a:pPr>
            <a:r>
              <a:rPr dirty="0"/>
              <a:t>• Both branches will edit the SAME footer line</a:t>
            </a:r>
          </a:p>
          <a:p>
            <a:pPr>
              <a:spcAft>
                <a:spcPts val="1000"/>
              </a:spcAft>
              <a:defRPr sz="2100">
                <a:solidFill>
                  <a:srgbClr val="282828"/>
                </a:solidFill>
              </a:defRPr>
            </a:pPr>
            <a:r>
              <a:rPr dirty="0"/>
              <a:t>• Student A → address</a:t>
            </a:r>
          </a:p>
          <a:p>
            <a:pPr>
              <a:spcAft>
                <a:spcPts val="1000"/>
              </a:spcAft>
              <a:defRPr sz="2100">
                <a:solidFill>
                  <a:srgbClr val="282828"/>
                </a:solidFill>
              </a:defRPr>
            </a:pPr>
            <a:r>
              <a:rPr dirty="0"/>
              <a:t>• Student B → phone number</a:t>
            </a:r>
          </a:p>
          <a:p>
            <a:pPr>
              <a:spcAft>
                <a:spcPts val="1000"/>
              </a:spcAft>
              <a:defRPr sz="2100">
                <a:solidFill>
                  <a:srgbClr val="282828"/>
                </a:solidFill>
              </a:defRPr>
            </a:pPr>
            <a:r>
              <a:rPr dirty="0"/>
              <a:t>• Git cannot automatically decide which one is correct</a:t>
            </a:r>
          </a:p>
          <a:p>
            <a:pPr>
              <a:spcAft>
                <a:spcPts val="1000"/>
              </a:spcAft>
              <a:defRPr sz="2100">
                <a:solidFill>
                  <a:srgbClr val="282828"/>
                </a:solidFill>
              </a:defRPr>
            </a:pPr>
            <a:r>
              <a:rPr dirty="0"/>
              <a:t>• We will resolve it by keeping BOTH values</a:t>
            </a:r>
          </a:p>
        </p:txBody>
      </p:sp>
    </p:spTree>
    <p:extLst>
      <p:ext uri="{BB962C8B-B14F-4D97-AF65-F5344CB8AC3E}">
        <p14:creationId xmlns:p14="http://schemas.microsoft.com/office/powerpoint/2010/main" val="3973562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6DCDC9-918A-490F-C4FF-E4BB4AAC1394}"/>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Step 1</a:t>
            </a:r>
            <a:r>
              <a:rPr lang="en-IN" dirty="0"/>
              <a:t>2</a:t>
            </a:r>
            <a:r>
              <a:rPr dirty="0"/>
              <a:t> — Student A Creates Conflict Branch</a:t>
            </a:r>
          </a:p>
        </p:txBody>
      </p:sp>
      <p:sp>
        <p:nvSpPr>
          <p:cNvPr id="5" name="Rounded Rectangle 4">
            <a:extLst>
              <a:ext uri="{FF2B5EF4-FFF2-40B4-BE49-F238E27FC236}">
                <a16:creationId xmlns:a16="http://schemas.microsoft.com/office/drawing/2014/main" id="{0A437250-C8C1-D461-554A-C882B67F33BF}"/>
              </a:ext>
            </a:extLst>
          </p:cNvPr>
          <p:cNvSpPr/>
          <p:nvPr/>
        </p:nvSpPr>
        <p:spPr>
          <a:xfrm>
            <a:off x="685800" y="14173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600">
                <a:solidFill>
                  <a:srgbClr val="1C2B4A"/>
                </a:solidFill>
                <a:latin typeface="Consolas"/>
              </a:defRPr>
            </a:pPr>
            <a:r>
              <a:rPr dirty="0"/>
              <a:t>git </a:t>
            </a:r>
            <a:r>
              <a:rPr lang="en-IN" dirty="0"/>
              <a:t>checkout</a:t>
            </a:r>
            <a:r>
              <a:rPr dirty="0"/>
              <a:t> main</a:t>
            </a:r>
            <a:br>
              <a:rPr dirty="0"/>
            </a:br>
            <a:r>
              <a:rPr dirty="0"/>
              <a:t>git pull origin main</a:t>
            </a:r>
            <a:br>
              <a:rPr dirty="0"/>
            </a:br>
            <a:r>
              <a:rPr dirty="0"/>
              <a:t>git </a:t>
            </a:r>
            <a:r>
              <a:rPr lang="en-IN" dirty="0"/>
              <a:t>checkout</a:t>
            </a:r>
            <a:r>
              <a:rPr dirty="0"/>
              <a:t> -</a:t>
            </a:r>
            <a:r>
              <a:rPr lang="en-IN" dirty="0"/>
              <a:t>b</a:t>
            </a:r>
            <a:r>
              <a:rPr dirty="0"/>
              <a:t> feature/footer-address</a:t>
            </a:r>
          </a:p>
        </p:txBody>
      </p:sp>
    </p:spTree>
    <p:extLst>
      <p:ext uri="{BB962C8B-B14F-4D97-AF65-F5344CB8AC3E}">
        <p14:creationId xmlns:p14="http://schemas.microsoft.com/office/powerpoint/2010/main" val="38736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B6480D1F-C6DD-8E18-46A9-436B5D59FB33}"/>
              </a:ext>
            </a:extLst>
          </p:cNvPr>
          <p:cNvSpPr txBox="1"/>
          <p:nvPr/>
        </p:nvSpPr>
        <p:spPr>
          <a:xfrm>
            <a:off x="516572" y="260648"/>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a:t>
            </a:r>
            <a:r>
              <a:rPr lang="en-IN" dirty="0"/>
              <a:t>13</a:t>
            </a:r>
            <a:r>
              <a:rPr dirty="0"/>
              <a:t> — </a:t>
            </a:r>
            <a:r>
              <a:rPr lang="en-IN" dirty="0"/>
              <a:t>Student A </a:t>
            </a:r>
            <a:r>
              <a:rPr dirty="0"/>
              <a:t>Make a Feature Change</a:t>
            </a:r>
          </a:p>
        </p:txBody>
      </p:sp>
      <p:sp>
        <p:nvSpPr>
          <p:cNvPr id="5" name="Rounded Rectangle 4">
            <a:extLst>
              <a:ext uri="{FF2B5EF4-FFF2-40B4-BE49-F238E27FC236}">
                <a16:creationId xmlns:a16="http://schemas.microsoft.com/office/drawing/2014/main" id="{5AC59218-8D47-2630-E914-3ADA1E9C344A}"/>
              </a:ext>
            </a:extLst>
          </p:cNvPr>
          <p:cNvSpPr/>
          <p:nvPr/>
        </p:nvSpPr>
        <p:spPr>
          <a:xfrm>
            <a:off x="676592" y="1124744"/>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rPr dirty="0"/>
              <a:t>&lt;</a:t>
            </a:r>
            <a:r>
              <a:rPr lang="en-IN" dirty="0"/>
              <a:t>footer id=“Contact”&gt; 123 Git Lane</a:t>
            </a:r>
            <a:r>
              <a:rPr dirty="0"/>
              <a:t>&lt;/</a:t>
            </a:r>
            <a:r>
              <a:rPr lang="en-IN" dirty="0"/>
              <a:t>footer</a:t>
            </a:r>
            <a:r>
              <a:rPr dirty="0"/>
              <a:t>&gt;</a:t>
            </a:r>
          </a:p>
        </p:txBody>
      </p:sp>
    </p:spTree>
    <p:extLst>
      <p:ext uri="{BB962C8B-B14F-4D97-AF65-F5344CB8AC3E}">
        <p14:creationId xmlns:p14="http://schemas.microsoft.com/office/powerpoint/2010/main" val="188961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5FC412-AA68-07D9-D4E4-A293AE5970E3}"/>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Step 14 — Student A Commits the Address</a:t>
            </a:r>
          </a:p>
        </p:txBody>
      </p:sp>
      <p:sp>
        <p:nvSpPr>
          <p:cNvPr id="5" name="Rounded Rectangle 4">
            <a:extLst>
              <a:ext uri="{FF2B5EF4-FFF2-40B4-BE49-F238E27FC236}">
                <a16:creationId xmlns:a16="http://schemas.microsoft.com/office/drawing/2014/main" id="{2916726D-F571-B057-70C8-1D2904D89B35}"/>
              </a:ext>
            </a:extLst>
          </p:cNvPr>
          <p:cNvSpPr/>
          <p:nvPr/>
        </p:nvSpPr>
        <p:spPr>
          <a:xfrm>
            <a:off x="685800" y="14173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600">
                <a:solidFill>
                  <a:srgbClr val="1C2B4A"/>
                </a:solidFill>
                <a:latin typeface="Consolas"/>
              </a:defRPr>
            </a:pPr>
            <a:r>
              <a:t>git add index.html</a:t>
            </a:r>
            <a:br/>
            <a:r>
              <a:t>git commit -m "Add physical address"</a:t>
            </a:r>
            <a:br/>
            <a:r>
              <a:t>git push -u origin feature/footer-address</a:t>
            </a:r>
          </a:p>
        </p:txBody>
      </p:sp>
    </p:spTree>
    <p:extLst>
      <p:ext uri="{BB962C8B-B14F-4D97-AF65-F5344CB8AC3E}">
        <p14:creationId xmlns:p14="http://schemas.microsoft.com/office/powerpoint/2010/main" val="1973353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A83197-EF44-6CC0-7D55-44833EC2A9FD}"/>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Step 15 — Student B Creates the Other Side</a:t>
            </a:r>
          </a:p>
        </p:txBody>
      </p:sp>
      <p:sp>
        <p:nvSpPr>
          <p:cNvPr id="5" name="Rounded Rectangle 4">
            <a:extLst>
              <a:ext uri="{FF2B5EF4-FFF2-40B4-BE49-F238E27FC236}">
                <a16:creationId xmlns:a16="http://schemas.microsoft.com/office/drawing/2014/main" id="{5C29CEB5-3DD9-5A59-D6CD-3BBC08DC1EB7}"/>
              </a:ext>
            </a:extLst>
          </p:cNvPr>
          <p:cNvSpPr/>
          <p:nvPr/>
        </p:nvSpPr>
        <p:spPr>
          <a:xfrm>
            <a:off x="685800" y="14173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600">
                <a:solidFill>
                  <a:srgbClr val="1C2B4A"/>
                </a:solidFill>
                <a:latin typeface="Consolas"/>
              </a:defRPr>
            </a:pPr>
            <a:br>
              <a:rPr dirty="0"/>
            </a:br>
            <a:r>
              <a:rPr dirty="0"/>
              <a:t>git </a:t>
            </a:r>
            <a:r>
              <a:rPr lang="en-IN" dirty="0"/>
              <a:t>checkout</a:t>
            </a:r>
            <a:r>
              <a:rPr dirty="0"/>
              <a:t> -</a:t>
            </a:r>
            <a:r>
              <a:rPr lang="en-IN" dirty="0"/>
              <a:t>b</a:t>
            </a:r>
            <a:r>
              <a:rPr dirty="0"/>
              <a:t> feature/footer-phone</a:t>
            </a:r>
          </a:p>
        </p:txBody>
      </p:sp>
    </p:spTree>
    <p:extLst>
      <p:ext uri="{BB962C8B-B14F-4D97-AF65-F5344CB8AC3E}">
        <p14:creationId xmlns:p14="http://schemas.microsoft.com/office/powerpoint/2010/main" val="292384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C6FA57A5-67AC-8091-882F-16DEB65BFE8F}"/>
              </a:ext>
            </a:extLst>
          </p:cNvPr>
          <p:cNvSpPr txBox="1"/>
          <p:nvPr/>
        </p:nvSpPr>
        <p:spPr>
          <a:xfrm>
            <a:off x="516572" y="260648"/>
            <a:ext cx="11155680" cy="640080"/>
          </a:xfrm>
          <a:prstGeom prst="rect">
            <a:avLst/>
          </a:prstGeom>
          <a:noFill/>
        </p:spPr>
        <p:txBody>
          <a:bodyPr wrap="square">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600" b="1">
                <a:solidFill>
                  <a:srgbClr val="1C2B4A"/>
                </a:solidFill>
              </a:defRPr>
            </a:pPr>
            <a:r>
              <a:rPr dirty="0"/>
              <a:t>Step </a:t>
            </a:r>
            <a:r>
              <a:rPr lang="en-IN" dirty="0"/>
              <a:t>16</a:t>
            </a:r>
            <a:r>
              <a:rPr dirty="0"/>
              <a:t> — </a:t>
            </a:r>
            <a:r>
              <a:rPr lang="en-IN" dirty="0"/>
              <a:t>Student B </a:t>
            </a:r>
            <a:r>
              <a:rPr dirty="0"/>
              <a:t>Make a Feature Change</a:t>
            </a:r>
          </a:p>
        </p:txBody>
      </p:sp>
      <p:sp>
        <p:nvSpPr>
          <p:cNvPr id="5" name="Rounded Rectangle 4">
            <a:extLst>
              <a:ext uri="{FF2B5EF4-FFF2-40B4-BE49-F238E27FC236}">
                <a16:creationId xmlns:a16="http://schemas.microsoft.com/office/drawing/2014/main" id="{6096D8F4-E662-4C21-E5C2-192240128178}"/>
              </a:ext>
            </a:extLst>
          </p:cNvPr>
          <p:cNvSpPr/>
          <p:nvPr/>
        </p:nvSpPr>
        <p:spPr>
          <a:xfrm>
            <a:off x="676592" y="1124744"/>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600">
                <a:solidFill>
                  <a:srgbClr val="1C2B4A"/>
                </a:solidFill>
                <a:latin typeface="Consolas"/>
              </a:defRPr>
            </a:pPr>
            <a:r>
              <a:rPr dirty="0"/>
              <a:t>&lt;</a:t>
            </a:r>
            <a:r>
              <a:rPr lang="en-IN" dirty="0"/>
              <a:t>footer id=“Contact”&gt; 555-1099 </a:t>
            </a:r>
            <a:r>
              <a:rPr dirty="0"/>
              <a:t>&lt;/</a:t>
            </a:r>
            <a:r>
              <a:rPr lang="en-IN" dirty="0"/>
              <a:t>footer</a:t>
            </a:r>
            <a:r>
              <a:rPr dirty="0"/>
              <a:t>&gt;</a:t>
            </a:r>
          </a:p>
        </p:txBody>
      </p:sp>
    </p:spTree>
    <p:extLst>
      <p:ext uri="{BB962C8B-B14F-4D97-AF65-F5344CB8AC3E}">
        <p14:creationId xmlns:p14="http://schemas.microsoft.com/office/powerpoint/2010/main" val="203149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ED2EFD-7C11-394E-6FF8-DAE4591EC0E2}"/>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Step 1</a:t>
            </a:r>
            <a:r>
              <a:rPr lang="en-IN" dirty="0"/>
              <a:t>7</a:t>
            </a:r>
            <a:r>
              <a:rPr dirty="0"/>
              <a:t> — Student B Commits the Phone Number</a:t>
            </a:r>
          </a:p>
        </p:txBody>
      </p:sp>
      <p:sp>
        <p:nvSpPr>
          <p:cNvPr id="5" name="Rounded Rectangle 4">
            <a:extLst>
              <a:ext uri="{FF2B5EF4-FFF2-40B4-BE49-F238E27FC236}">
                <a16:creationId xmlns:a16="http://schemas.microsoft.com/office/drawing/2014/main" id="{5F673ECB-800F-CB17-3D81-5674C4AFA3F6}"/>
              </a:ext>
            </a:extLst>
          </p:cNvPr>
          <p:cNvSpPr/>
          <p:nvPr/>
        </p:nvSpPr>
        <p:spPr>
          <a:xfrm>
            <a:off x="676592" y="10744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600">
                <a:solidFill>
                  <a:srgbClr val="1C2B4A"/>
                </a:solidFill>
                <a:latin typeface="Consolas"/>
              </a:defRPr>
            </a:pPr>
            <a:r>
              <a:t>git add index.html</a:t>
            </a:r>
            <a:br/>
            <a:r>
              <a:t>git commit -m "Add phone number"</a:t>
            </a:r>
            <a:br/>
            <a:r>
              <a:t>git push -u origin feature/footer-phone</a:t>
            </a:r>
          </a:p>
        </p:txBody>
      </p:sp>
      <p:sp>
        <p:nvSpPr>
          <p:cNvPr id="6" name="TextBox 5">
            <a:extLst>
              <a:ext uri="{FF2B5EF4-FFF2-40B4-BE49-F238E27FC236}">
                <a16:creationId xmlns:a16="http://schemas.microsoft.com/office/drawing/2014/main" id="{44211760-EB8B-84A3-05AB-7B272FF835E4}"/>
              </a:ext>
            </a:extLst>
          </p:cNvPr>
          <p:cNvSpPr txBox="1"/>
          <p:nvPr/>
        </p:nvSpPr>
        <p:spPr>
          <a:xfrm>
            <a:off x="1053852" y="4797152"/>
            <a:ext cx="9875520" cy="1097280"/>
          </a:xfrm>
          <a:prstGeom prst="rect">
            <a:avLst/>
          </a:prstGeom>
          <a:noFill/>
        </p:spPr>
        <p:txBody>
          <a:bodyPr wrap="square" lIns="45720" rIns="45720">
            <a:noAutofit/>
          </a:bodyPr>
          <a:lstStyle/>
          <a:p>
            <a:pPr>
              <a:spcAft>
                <a:spcPts val="1000"/>
              </a:spcAft>
              <a:defRPr sz="1800">
                <a:solidFill>
                  <a:srgbClr val="282828"/>
                </a:solidFill>
              </a:defRPr>
            </a:pPr>
            <a:r>
              <a:rPr dirty="0"/>
              <a:t>• </a:t>
            </a:r>
            <a:r>
              <a:rPr lang="en-IN" dirty="0"/>
              <a:t>When Student B tries to push the changes, he gets conflict</a:t>
            </a:r>
            <a:endParaRPr dirty="0"/>
          </a:p>
        </p:txBody>
      </p:sp>
    </p:spTree>
    <p:extLst>
      <p:ext uri="{BB962C8B-B14F-4D97-AF65-F5344CB8AC3E}">
        <p14:creationId xmlns:p14="http://schemas.microsoft.com/office/powerpoint/2010/main" val="3730663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EADEE9-2A1E-C1F3-D94F-60C118C5B837}"/>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Why Does the Conflict Happen?</a:t>
            </a:r>
          </a:p>
        </p:txBody>
      </p:sp>
      <p:sp>
        <p:nvSpPr>
          <p:cNvPr id="5" name="Rounded Rectangle 3">
            <a:extLst>
              <a:ext uri="{FF2B5EF4-FFF2-40B4-BE49-F238E27FC236}">
                <a16:creationId xmlns:a16="http://schemas.microsoft.com/office/drawing/2014/main" id="{77C14A57-F134-D613-2AFC-A3C9D6FC7038}"/>
              </a:ext>
            </a:extLst>
          </p:cNvPr>
          <p:cNvSpPr/>
          <p:nvPr/>
        </p:nvSpPr>
        <p:spPr>
          <a:xfrm>
            <a:off x="640080" y="1554480"/>
            <a:ext cx="5303520" cy="1920240"/>
          </a:xfrm>
          <a:prstGeom prst="roundRect">
            <a:avLst/>
          </a:prstGeom>
          <a:solidFill>
            <a:srgbClr val="EFF5FC"/>
          </a:solidFill>
          <a:ln>
            <a:solidFill>
              <a:srgbClr val="2B5F9A"/>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2000" b="1">
                <a:solidFill>
                  <a:srgbClr val="2B5F9A"/>
                </a:solidFill>
              </a:defRPr>
            </a:pPr>
            <a:r>
              <a:t>Branch A</a:t>
            </a:r>
          </a:p>
          <a:p>
            <a:pPr>
              <a:defRPr sz="1400">
                <a:solidFill>
                  <a:srgbClr val="282828"/>
                </a:solidFill>
                <a:latin typeface="Consolas"/>
              </a:defRPr>
            </a:pPr>
            <a:r>
              <a:t>&lt;footer id="contact"&gt;123 Git Lane&lt;/footer&gt;</a:t>
            </a:r>
          </a:p>
        </p:txBody>
      </p:sp>
      <p:sp>
        <p:nvSpPr>
          <p:cNvPr id="6" name="Rounded Rectangle 4">
            <a:extLst>
              <a:ext uri="{FF2B5EF4-FFF2-40B4-BE49-F238E27FC236}">
                <a16:creationId xmlns:a16="http://schemas.microsoft.com/office/drawing/2014/main" id="{175DC60D-AA1F-453A-D890-167F6E24AC33}"/>
              </a:ext>
            </a:extLst>
          </p:cNvPr>
          <p:cNvSpPr/>
          <p:nvPr/>
        </p:nvSpPr>
        <p:spPr>
          <a:xfrm>
            <a:off x="6217920" y="1554480"/>
            <a:ext cx="5303520" cy="1920240"/>
          </a:xfrm>
          <a:prstGeom prst="roundRect">
            <a:avLst/>
          </a:prstGeom>
          <a:solidFill>
            <a:srgbClr val="FCEDEB"/>
          </a:solidFill>
          <a:ln>
            <a:solidFill>
              <a:srgbClr val="C0392B"/>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2000" b="1">
                <a:solidFill>
                  <a:srgbClr val="C0392B"/>
                </a:solidFill>
              </a:defRPr>
            </a:pPr>
            <a:r>
              <a:t>Branch B</a:t>
            </a:r>
          </a:p>
          <a:p>
            <a:pPr>
              <a:defRPr sz="1400">
                <a:solidFill>
                  <a:srgbClr val="282828"/>
                </a:solidFill>
                <a:latin typeface="Consolas"/>
              </a:defRPr>
            </a:pPr>
            <a:r>
              <a:t>&lt;footer id="contact"&gt;555-0199&lt;/footer&gt;</a:t>
            </a:r>
          </a:p>
        </p:txBody>
      </p:sp>
      <p:sp>
        <p:nvSpPr>
          <p:cNvPr id="7" name="TextBox 6">
            <a:extLst>
              <a:ext uri="{FF2B5EF4-FFF2-40B4-BE49-F238E27FC236}">
                <a16:creationId xmlns:a16="http://schemas.microsoft.com/office/drawing/2014/main" id="{455C095A-21AD-164C-7A0F-3B9CA53DBD61}"/>
              </a:ext>
            </a:extLst>
          </p:cNvPr>
          <p:cNvSpPr txBox="1"/>
          <p:nvPr/>
        </p:nvSpPr>
        <p:spPr>
          <a:xfrm>
            <a:off x="914400" y="4069080"/>
            <a:ext cx="10058400" cy="1188720"/>
          </a:xfrm>
          <a:prstGeom prst="rect">
            <a:avLst/>
          </a:prstGeom>
          <a:noFill/>
        </p:spPr>
        <p:txBody>
          <a:bodyPr wrap="square" lIns="45720" rIns="45720">
            <a:noAutofit/>
          </a:bodyPr>
          <a:lstStyle/>
          <a:p>
            <a:pPr>
              <a:spcAft>
                <a:spcPts val="1000"/>
              </a:spcAft>
              <a:defRPr sz="1900">
                <a:solidFill>
                  <a:srgbClr val="282828"/>
                </a:solidFill>
              </a:defRPr>
            </a:pPr>
            <a:r>
              <a:rPr dirty="0"/>
              <a:t>• Same file + same line + different content = merge conflict</a:t>
            </a:r>
          </a:p>
          <a:p>
            <a:pPr>
              <a:spcAft>
                <a:spcPts val="1000"/>
              </a:spcAft>
              <a:defRPr sz="1900">
                <a:solidFill>
                  <a:srgbClr val="282828"/>
                </a:solidFill>
              </a:defRPr>
            </a:pPr>
            <a:r>
              <a:rPr dirty="0"/>
              <a:t>• Git pauses instead of silently choosing one version.</a:t>
            </a:r>
          </a:p>
        </p:txBody>
      </p:sp>
    </p:spTree>
    <p:extLst>
      <p:ext uri="{BB962C8B-B14F-4D97-AF65-F5344CB8AC3E}">
        <p14:creationId xmlns:p14="http://schemas.microsoft.com/office/powerpoint/2010/main" val="2057106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7CF1EC-277C-341E-018E-72293DD7AB5F}"/>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Step 1</a:t>
            </a:r>
            <a:r>
              <a:rPr lang="en-IN" dirty="0"/>
              <a:t>8</a:t>
            </a:r>
            <a:r>
              <a:rPr dirty="0"/>
              <a:t> — Understand Conflict Markers</a:t>
            </a:r>
          </a:p>
        </p:txBody>
      </p:sp>
      <p:sp>
        <p:nvSpPr>
          <p:cNvPr id="5" name="Rounded Rectangle 4">
            <a:extLst>
              <a:ext uri="{FF2B5EF4-FFF2-40B4-BE49-F238E27FC236}">
                <a16:creationId xmlns:a16="http://schemas.microsoft.com/office/drawing/2014/main" id="{58068B42-F002-3033-A243-97C7AB30549B}"/>
              </a:ext>
            </a:extLst>
          </p:cNvPr>
          <p:cNvSpPr/>
          <p:nvPr/>
        </p:nvSpPr>
        <p:spPr>
          <a:xfrm>
            <a:off x="685800" y="14173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600">
                <a:solidFill>
                  <a:srgbClr val="1C2B4A"/>
                </a:solidFill>
                <a:latin typeface="Consolas"/>
              </a:defRPr>
            </a:pPr>
            <a:r>
              <a:t>&lt;&lt;&lt;&lt;&lt;&lt;&lt; HEAD</a:t>
            </a:r>
            <a:br/>
            <a:r>
              <a:t>&lt;footer id="contact"&gt;555-0199&lt;/footer&gt;</a:t>
            </a:r>
            <a:br/>
            <a:r>
              <a:t>=======</a:t>
            </a:r>
            <a:br/>
            <a:r>
              <a:t>&lt;footer id="contact"&gt;123 Git Lane&lt;/footer&gt;</a:t>
            </a:r>
            <a:br/>
            <a:r>
              <a:t>&gt;&gt;&gt;&gt;&gt;&gt;&gt; origin/main</a:t>
            </a:r>
          </a:p>
        </p:txBody>
      </p:sp>
      <p:sp>
        <p:nvSpPr>
          <p:cNvPr id="6" name="TextBox 5">
            <a:extLst>
              <a:ext uri="{FF2B5EF4-FFF2-40B4-BE49-F238E27FC236}">
                <a16:creationId xmlns:a16="http://schemas.microsoft.com/office/drawing/2014/main" id="{D7CC715D-4FFC-75AB-B6D3-D92B7966CFDE}"/>
              </a:ext>
            </a:extLst>
          </p:cNvPr>
          <p:cNvSpPr txBox="1"/>
          <p:nvPr/>
        </p:nvSpPr>
        <p:spPr>
          <a:xfrm>
            <a:off x="822960" y="5074920"/>
            <a:ext cx="10424160" cy="914400"/>
          </a:xfrm>
          <a:prstGeom prst="rect">
            <a:avLst/>
          </a:prstGeom>
          <a:noFill/>
        </p:spPr>
        <p:txBody>
          <a:bodyPr wrap="square" lIns="45720" rIns="45720">
            <a:noAutofit/>
          </a:bodyPr>
          <a:lstStyle/>
          <a:p>
            <a:pPr>
              <a:spcAft>
                <a:spcPts val="1000"/>
              </a:spcAft>
              <a:defRPr sz="1500">
                <a:solidFill>
                  <a:srgbClr val="282828"/>
                </a:solidFill>
              </a:defRPr>
            </a:pPr>
            <a:r>
              <a:rPr dirty="0"/>
              <a:t>• HEAD = your current branch version.</a:t>
            </a:r>
          </a:p>
          <a:p>
            <a:pPr>
              <a:spcAft>
                <a:spcPts val="1000"/>
              </a:spcAft>
              <a:defRPr sz="1500">
                <a:solidFill>
                  <a:srgbClr val="282828"/>
                </a:solidFill>
              </a:defRPr>
            </a:pPr>
            <a:r>
              <a:rPr dirty="0"/>
              <a:t>• Between ======= and &gt;&gt;&gt;&gt;&gt;&gt;&gt; is the incoming/main version.</a:t>
            </a:r>
          </a:p>
          <a:p>
            <a:pPr>
              <a:spcAft>
                <a:spcPts val="1000"/>
              </a:spcAft>
              <a:defRPr sz="1500">
                <a:solidFill>
                  <a:srgbClr val="282828"/>
                </a:solidFill>
              </a:defRPr>
            </a:pPr>
            <a:r>
              <a:rPr dirty="0"/>
              <a:t>• These markers are NOT valid final code.</a:t>
            </a:r>
          </a:p>
        </p:txBody>
      </p:sp>
    </p:spTree>
    <p:extLst>
      <p:ext uri="{BB962C8B-B14F-4D97-AF65-F5344CB8AC3E}">
        <p14:creationId xmlns:p14="http://schemas.microsoft.com/office/powerpoint/2010/main" val="4021150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6668B27-92B8-ADB1-13CA-844D8F3979B7}"/>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t>Step 20 — Choose the Final Version</a:t>
            </a:r>
          </a:p>
        </p:txBody>
      </p:sp>
      <p:sp>
        <p:nvSpPr>
          <p:cNvPr id="5" name="Rounded Rectangle 4">
            <a:extLst>
              <a:ext uri="{FF2B5EF4-FFF2-40B4-BE49-F238E27FC236}">
                <a16:creationId xmlns:a16="http://schemas.microsoft.com/office/drawing/2014/main" id="{523EBF61-9A19-215D-4225-A6DEEB084B62}"/>
              </a:ext>
            </a:extLst>
          </p:cNvPr>
          <p:cNvSpPr/>
          <p:nvPr/>
        </p:nvSpPr>
        <p:spPr>
          <a:xfrm>
            <a:off x="685800" y="14173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600">
                <a:solidFill>
                  <a:srgbClr val="1C2B4A"/>
                </a:solidFill>
                <a:latin typeface="Consolas"/>
              </a:defRPr>
            </a:pPr>
            <a:r>
              <a:t>&lt;footer id="contact"&gt;123 Git Lane | 555-0199&lt;/footer&gt;</a:t>
            </a:r>
          </a:p>
        </p:txBody>
      </p:sp>
      <p:sp>
        <p:nvSpPr>
          <p:cNvPr id="6" name="TextBox 5">
            <a:extLst>
              <a:ext uri="{FF2B5EF4-FFF2-40B4-BE49-F238E27FC236}">
                <a16:creationId xmlns:a16="http://schemas.microsoft.com/office/drawing/2014/main" id="{56FFF16B-D31D-1745-4D44-6CE4FF2747EA}"/>
              </a:ext>
            </a:extLst>
          </p:cNvPr>
          <p:cNvSpPr txBox="1"/>
          <p:nvPr/>
        </p:nvSpPr>
        <p:spPr>
          <a:xfrm>
            <a:off x="822960" y="5074920"/>
            <a:ext cx="10424160" cy="914400"/>
          </a:xfrm>
          <a:prstGeom prst="rect">
            <a:avLst/>
          </a:prstGeom>
          <a:noFill/>
        </p:spPr>
        <p:txBody>
          <a:bodyPr wrap="square" lIns="45720" rIns="45720">
            <a:noAutofit/>
          </a:bodyPr>
          <a:lstStyle/>
          <a:p>
            <a:pPr>
              <a:spcAft>
                <a:spcPts val="1000"/>
              </a:spcAft>
              <a:defRPr sz="1500">
                <a:solidFill>
                  <a:srgbClr val="282828"/>
                </a:solidFill>
              </a:defRPr>
            </a:pPr>
            <a:r>
              <a:rPr dirty="0"/>
              <a:t>• Delete ALL conflict markers.</a:t>
            </a:r>
          </a:p>
          <a:p>
            <a:pPr>
              <a:spcAft>
                <a:spcPts val="1000"/>
              </a:spcAft>
              <a:defRPr sz="1500">
                <a:solidFill>
                  <a:srgbClr val="282828"/>
                </a:solidFill>
              </a:defRPr>
            </a:pPr>
            <a:r>
              <a:rPr dirty="0"/>
              <a:t>• Save the file.</a:t>
            </a:r>
          </a:p>
          <a:p>
            <a:pPr>
              <a:spcAft>
                <a:spcPts val="1000"/>
              </a:spcAft>
              <a:defRPr sz="1500">
                <a:solidFill>
                  <a:srgbClr val="282828"/>
                </a:solidFill>
              </a:defRPr>
            </a:pPr>
            <a:r>
              <a:rPr dirty="0"/>
              <a:t>• Then stage and commit the resolution.</a:t>
            </a:r>
          </a:p>
        </p:txBody>
      </p:sp>
    </p:spTree>
    <p:extLst>
      <p:ext uri="{BB962C8B-B14F-4D97-AF65-F5344CB8AC3E}">
        <p14:creationId xmlns:p14="http://schemas.microsoft.com/office/powerpoint/2010/main" val="1061675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A4D4512-ADF7-4168-4305-B7AAEEE3F7C3}"/>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Step 21 — Complete Local Conflict Resolution</a:t>
            </a:r>
          </a:p>
        </p:txBody>
      </p:sp>
      <p:sp>
        <p:nvSpPr>
          <p:cNvPr id="5" name="Rounded Rectangle 4">
            <a:extLst>
              <a:ext uri="{FF2B5EF4-FFF2-40B4-BE49-F238E27FC236}">
                <a16:creationId xmlns:a16="http://schemas.microsoft.com/office/drawing/2014/main" id="{BFF37E91-4AF0-6A4A-F677-39876D9004B5}"/>
              </a:ext>
            </a:extLst>
          </p:cNvPr>
          <p:cNvSpPr/>
          <p:nvPr/>
        </p:nvSpPr>
        <p:spPr>
          <a:xfrm>
            <a:off x="685800" y="14173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600">
                <a:solidFill>
                  <a:srgbClr val="1C2B4A"/>
                </a:solidFill>
                <a:latin typeface="Consolas"/>
              </a:defRPr>
            </a:pPr>
            <a:r>
              <a:t>git add index.html</a:t>
            </a:r>
            <a:br/>
            <a:r>
              <a:t>git commit -m "Resolve footer conflict"</a:t>
            </a:r>
            <a:br/>
            <a:r>
              <a:t>git push origin feature/footer-phone</a:t>
            </a:r>
          </a:p>
        </p:txBody>
      </p:sp>
    </p:spTree>
    <p:extLst>
      <p:ext uri="{BB962C8B-B14F-4D97-AF65-F5344CB8AC3E}">
        <p14:creationId xmlns:p14="http://schemas.microsoft.com/office/powerpoint/2010/main" val="2764215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DA4F5D-37E6-C0D6-AC0E-FAF5F45CAE76}"/>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Step 22 — Revert a Previous Commit</a:t>
            </a:r>
          </a:p>
        </p:txBody>
      </p:sp>
      <p:sp>
        <p:nvSpPr>
          <p:cNvPr id="5" name="TextBox 4">
            <a:extLst>
              <a:ext uri="{FF2B5EF4-FFF2-40B4-BE49-F238E27FC236}">
                <a16:creationId xmlns:a16="http://schemas.microsoft.com/office/drawing/2014/main" id="{04C3FAFC-5A7F-5DF6-3E84-D31A90928059}"/>
              </a:ext>
            </a:extLst>
          </p:cNvPr>
          <p:cNvSpPr txBox="1"/>
          <p:nvPr/>
        </p:nvSpPr>
        <p:spPr>
          <a:xfrm>
            <a:off x="731520" y="1325880"/>
            <a:ext cx="10698480" cy="4754880"/>
          </a:xfrm>
          <a:prstGeom prst="rect">
            <a:avLst/>
          </a:prstGeom>
          <a:noFill/>
        </p:spPr>
        <p:txBody>
          <a:bodyPr wrap="square" lIns="45720" rIns="45720">
            <a:noAutofit/>
          </a:bodyPr>
          <a:lstStyle/>
          <a:p>
            <a:pPr>
              <a:spcAft>
                <a:spcPts val="1000"/>
              </a:spcAft>
              <a:defRPr sz="1900">
                <a:solidFill>
                  <a:srgbClr val="282828"/>
                </a:solidFill>
              </a:defRPr>
            </a:pPr>
            <a:r>
              <a:rPr dirty="0"/>
              <a:t>• Create a small change on main</a:t>
            </a:r>
          </a:p>
          <a:p>
            <a:pPr>
              <a:spcAft>
                <a:spcPts val="1000"/>
              </a:spcAft>
              <a:defRPr sz="1900">
                <a:solidFill>
                  <a:srgbClr val="282828"/>
                </a:solidFill>
              </a:defRPr>
            </a:pPr>
            <a:r>
              <a:rPr dirty="0"/>
              <a:t>• Commit and push it</a:t>
            </a:r>
          </a:p>
          <a:p>
            <a:pPr>
              <a:spcAft>
                <a:spcPts val="1000"/>
              </a:spcAft>
              <a:defRPr sz="1900">
                <a:solidFill>
                  <a:srgbClr val="282828"/>
                </a:solidFill>
              </a:defRPr>
            </a:pPr>
            <a:r>
              <a:rPr dirty="0"/>
              <a:t>• Find the commit hash with git log --</a:t>
            </a:r>
            <a:r>
              <a:rPr dirty="0" err="1"/>
              <a:t>oneline</a:t>
            </a:r>
            <a:endParaRPr dirty="0"/>
          </a:p>
          <a:p>
            <a:pPr>
              <a:spcAft>
                <a:spcPts val="1000"/>
              </a:spcAft>
              <a:defRPr sz="1900">
                <a:solidFill>
                  <a:srgbClr val="282828"/>
                </a:solidFill>
              </a:defRPr>
            </a:pPr>
            <a:r>
              <a:rPr dirty="0"/>
              <a:t>• Use git revert &lt;commit-hash&gt;</a:t>
            </a:r>
          </a:p>
          <a:p>
            <a:pPr>
              <a:spcAft>
                <a:spcPts val="1000"/>
              </a:spcAft>
              <a:defRPr sz="1900">
                <a:solidFill>
                  <a:srgbClr val="282828"/>
                </a:solidFill>
              </a:defRPr>
            </a:pPr>
            <a:r>
              <a:rPr dirty="0"/>
              <a:t>• Push the NEW revert commit</a:t>
            </a:r>
          </a:p>
          <a:p>
            <a:pPr>
              <a:spcAft>
                <a:spcPts val="1000"/>
              </a:spcAft>
              <a:defRPr sz="1900">
                <a:solidFill>
                  <a:srgbClr val="282828"/>
                </a:solidFill>
              </a:defRPr>
            </a:pPr>
            <a:r>
              <a:rPr dirty="0"/>
              <a:t>• Verify that the original commit remains in history</a:t>
            </a:r>
          </a:p>
        </p:txBody>
      </p:sp>
    </p:spTree>
    <p:extLst>
      <p:ext uri="{BB962C8B-B14F-4D97-AF65-F5344CB8AC3E}">
        <p14:creationId xmlns:p14="http://schemas.microsoft.com/office/powerpoint/2010/main" val="352415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7F7A45-1C69-AF15-2810-40DE1B4400A7}"/>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Revert Practical — Run It</a:t>
            </a:r>
          </a:p>
        </p:txBody>
      </p:sp>
      <p:sp>
        <p:nvSpPr>
          <p:cNvPr id="5" name="Rounded Rectangle 4">
            <a:extLst>
              <a:ext uri="{FF2B5EF4-FFF2-40B4-BE49-F238E27FC236}">
                <a16:creationId xmlns:a16="http://schemas.microsoft.com/office/drawing/2014/main" id="{21580321-A6A4-E2F5-9D55-F82D91F0E67E}"/>
              </a:ext>
            </a:extLst>
          </p:cNvPr>
          <p:cNvSpPr/>
          <p:nvPr/>
        </p:nvSpPr>
        <p:spPr>
          <a:xfrm>
            <a:off x="685800" y="14173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600">
                <a:solidFill>
                  <a:srgbClr val="1C2B4A"/>
                </a:solidFill>
                <a:latin typeface="Consolas"/>
              </a:defRPr>
            </a:pPr>
            <a:br>
              <a:rPr dirty="0"/>
            </a:br>
            <a:br>
              <a:rPr dirty="0"/>
            </a:br>
            <a:r>
              <a:rPr dirty="0"/>
              <a:t>git log --</a:t>
            </a:r>
            <a:r>
              <a:rPr dirty="0" err="1"/>
              <a:t>oneline</a:t>
            </a:r>
            <a:br>
              <a:rPr dirty="0"/>
            </a:br>
            <a:r>
              <a:rPr dirty="0"/>
              <a:t>git revert &lt;commit-hash&gt;</a:t>
            </a:r>
            <a:br>
              <a:rPr dirty="0"/>
            </a:br>
            <a:r>
              <a:rPr dirty="0"/>
              <a:t>git push origin main</a:t>
            </a:r>
          </a:p>
        </p:txBody>
      </p:sp>
    </p:spTree>
    <p:extLst>
      <p:ext uri="{BB962C8B-B14F-4D97-AF65-F5344CB8AC3E}">
        <p14:creationId xmlns:p14="http://schemas.microsoft.com/office/powerpoint/2010/main" val="2566062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754659-DB46-8D39-C546-C6B50FF6B2AE}"/>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t>Final Practical Flow — Say It Without Commands</a:t>
            </a:r>
          </a:p>
        </p:txBody>
      </p:sp>
      <p:sp>
        <p:nvSpPr>
          <p:cNvPr id="23" name="Rounded Rectangle 3">
            <a:extLst>
              <a:ext uri="{FF2B5EF4-FFF2-40B4-BE49-F238E27FC236}">
                <a16:creationId xmlns:a16="http://schemas.microsoft.com/office/drawing/2014/main" id="{D6CC0C0E-A4AC-F5ED-B0B3-84870875DFA5}"/>
              </a:ext>
            </a:extLst>
          </p:cNvPr>
          <p:cNvSpPr/>
          <p:nvPr/>
        </p:nvSpPr>
        <p:spPr>
          <a:xfrm>
            <a:off x="411480" y="2057400"/>
            <a:ext cx="1051560" cy="1417320"/>
          </a:xfrm>
          <a:prstGeom prst="roundRect">
            <a:avLst/>
          </a:prstGeom>
          <a:solidFill>
            <a:srgbClr val="2B5F9A"/>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500" b="1">
                <a:solidFill>
                  <a:srgbClr val="FFFFFF"/>
                </a:solidFill>
              </a:defRPr>
            </a:pPr>
            <a:r>
              <a:rPr dirty="0"/>
              <a:t>1</a:t>
            </a:r>
          </a:p>
          <a:p>
            <a:pPr algn="ctr">
              <a:defRPr sz="1150" b="1">
                <a:solidFill>
                  <a:srgbClr val="FFFFFF"/>
                </a:solidFill>
              </a:defRPr>
            </a:pPr>
            <a:r>
              <a:rPr dirty="0"/>
              <a:t>Create</a:t>
            </a:r>
            <a:br>
              <a:rPr dirty="0"/>
            </a:br>
            <a:r>
              <a:rPr dirty="0"/>
              <a:t>repository</a:t>
            </a:r>
          </a:p>
        </p:txBody>
      </p:sp>
      <p:sp>
        <p:nvSpPr>
          <p:cNvPr id="24" name="Chevron 4">
            <a:extLst>
              <a:ext uri="{FF2B5EF4-FFF2-40B4-BE49-F238E27FC236}">
                <a16:creationId xmlns:a16="http://schemas.microsoft.com/office/drawing/2014/main" id="{0B676B9F-678C-F159-E09E-2B61D3DACED0}"/>
              </a:ext>
            </a:extLst>
          </p:cNvPr>
          <p:cNvSpPr/>
          <p:nvPr/>
        </p:nvSpPr>
        <p:spPr>
          <a:xfrm>
            <a:off x="1490472" y="2514600"/>
            <a:ext cx="201168" cy="365760"/>
          </a:xfrm>
          <a:prstGeom prst="chevron">
            <a:avLst/>
          </a:prstGeom>
          <a:solidFill>
            <a:srgbClr val="646E78"/>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5" name="Rounded Rectangle 5">
            <a:extLst>
              <a:ext uri="{FF2B5EF4-FFF2-40B4-BE49-F238E27FC236}">
                <a16:creationId xmlns:a16="http://schemas.microsoft.com/office/drawing/2014/main" id="{5F099673-0D83-2B9F-26A5-D8959BA700E7}"/>
              </a:ext>
            </a:extLst>
          </p:cNvPr>
          <p:cNvSpPr/>
          <p:nvPr/>
        </p:nvSpPr>
        <p:spPr>
          <a:xfrm>
            <a:off x="1709928" y="2057400"/>
            <a:ext cx="1051560" cy="1417320"/>
          </a:xfrm>
          <a:prstGeom prst="roundRect">
            <a:avLst/>
          </a:prstGeom>
          <a:solidFill>
            <a:srgbClr val="2B5F9A"/>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500" b="1">
                <a:solidFill>
                  <a:srgbClr val="FFFFFF"/>
                </a:solidFill>
              </a:defRPr>
            </a:pPr>
            <a:r>
              <a:t>2</a:t>
            </a:r>
          </a:p>
          <a:p>
            <a:pPr algn="ctr">
              <a:defRPr sz="1150" b="1">
                <a:solidFill>
                  <a:srgbClr val="FFFFFF"/>
                </a:solidFill>
              </a:defRPr>
            </a:pPr>
            <a:r>
              <a:t>Branch</a:t>
            </a:r>
          </a:p>
        </p:txBody>
      </p:sp>
      <p:sp>
        <p:nvSpPr>
          <p:cNvPr id="26" name="Chevron 6">
            <a:extLst>
              <a:ext uri="{FF2B5EF4-FFF2-40B4-BE49-F238E27FC236}">
                <a16:creationId xmlns:a16="http://schemas.microsoft.com/office/drawing/2014/main" id="{E5098D5D-506D-124B-FED4-560C9B094F59}"/>
              </a:ext>
            </a:extLst>
          </p:cNvPr>
          <p:cNvSpPr/>
          <p:nvPr/>
        </p:nvSpPr>
        <p:spPr>
          <a:xfrm>
            <a:off x="2788920" y="2514600"/>
            <a:ext cx="201168" cy="365760"/>
          </a:xfrm>
          <a:prstGeom prst="chevron">
            <a:avLst/>
          </a:prstGeom>
          <a:solidFill>
            <a:srgbClr val="646E78"/>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7" name="Rounded Rectangle 7">
            <a:extLst>
              <a:ext uri="{FF2B5EF4-FFF2-40B4-BE49-F238E27FC236}">
                <a16:creationId xmlns:a16="http://schemas.microsoft.com/office/drawing/2014/main" id="{DBD7755B-E37B-EFE8-1509-1D2BA1F0411C}"/>
              </a:ext>
            </a:extLst>
          </p:cNvPr>
          <p:cNvSpPr/>
          <p:nvPr/>
        </p:nvSpPr>
        <p:spPr>
          <a:xfrm>
            <a:off x="3008376" y="2057400"/>
            <a:ext cx="1051560" cy="1417320"/>
          </a:xfrm>
          <a:prstGeom prst="roundRect">
            <a:avLst/>
          </a:prstGeom>
          <a:solidFill>
            <a:srgbClr val="2B5F9A"/>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500" b="1">
                <a:solidFill>
                  <a:srgbClr val="FFFFFF"/>
                </a:solidFill>
              </a:defRPr>
            </a:pPr>
            <a:r>
              <a:t>3</a:t>
            </a:r>
          </a:p>
          <a:p>
            <a:pPr algn="ctr">
              <a:defRPr sz="1150" b="1">
                <a:solidFill>
                  <a:srgbClr val="FFFFFF"/>
                </a:solidFill>
              </a:defRPr>
            </a:pPr>
            <a:r>
              <a:t>Commit</a:t>
            </a:r>
          </a:p>
        </p:txBody>
      </p:sp>
      <p:sp>
        <p:nvSpPr>
          <p:cNvPr id="28" name="Chevron 8">
            <a:extLst>
              <a:ext uri="{FF2B5EF4-FFF2-40B4-BE49-F238E27FC236}">
                <a16:creationId xmlns:a16="http://schemas.microsoft.com/office/drawing/2014/main" id="{389E5644-2FE5-ECDB-16DB-4396D74301CF}"/>
              </a:ext>
            </a:extLst>
          </p:cNvPr>
          <p:cNvSpPr/>
          <p:nvPr/>
        </p:nvSpPr>
        <p:spPr>
          <a:xfrm>
            <a:off x="4087368" y="2514600"/>
            <a:ext cx="201168" cy="365760"/>
          </a:xfrm>
          <a:prstGeom prst="chevron">
            <a:avLst/>
          </a:prstGeom>
          <a:solidFill>
            <a:srgbClr val="646E78"/>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9" name="Rounded Rectangle 9">
            <a:extLst>
              <a:ext uri="{FF2B5EF4-FFF2-40B4-BE49-F238E27FC236}">
                <a16:creationId xmlns:a16="http://schemas.microsoft.com/office/drawing/2014/main" id="{CAC2B749-DBF1-0DBD-FCF9-C5AC5C751852}"/>
              </a:ext>
            </a:extLst>
          </p:cNvPr>
          <p:cNvSpPr/>
          <p:nvPr/>
        </p:nvSpPr>
        <p:spPr>
          <a:xfrm>
            <a:off x="4306824" y="2057400"/>
            <a:ext cx="1051560" cy="1417320"/>
          </a:xfrm>
          <a:prstGeom prst="roundRect">
            <a:avLst/>
          </a:prstGeom>
          <a:solidFill>
            <a:srgbClr val="2B5F9A"/>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500" b="1">
                <a:solidFill>
                  <a:srgbClr val="FFFFFF"/>
                </a:solidFill>
              </a:defRPr>
            </a:pPr>
            <a:r>
              <a:t>4</a:t>
            </a:r>
          </a:p>
          <a:p>
            <a:pPr algn="ctr">
              <a:defRPr sz="1150" b="1">
                <a:solidFill>
                  <a:srgbClr val="FFFFFF"/>
                </a:solidFill>
              </a:defRPr>
            </a:pPr>
            <a:r>
              <a:t>Push</a:t>
            </a:r>
          </a:p>
        </p:txBody>
      </p:sp>
      <p:sp>
        <p:nvSpPr>
          <p:cNvPr id="30" name="Chevron 10">
            <a:extLst>
              <a:ext uri="{FF2B5EF4-FFF2-40B4-BE49-F238E27FC236}">
                <a16:creationId xmlns:a16="http://schemas.microsoft.com/office/drawing/2014/main" id="{AA41CF43-842E-05C4-7B30-AF150F34329A}"/>
              </a:ext>
            </a:extLst>
          </p:cNvPr>
          <p:cNvSpPr/>
          <p:nvPr/>
        </p:nvSpPr>
        <p:spPr>
          <a:xfrm>
            <a:off x="5385816" y="2514600"/>
            <a:ext cx="201168" cy="365760"/>
          </a:xfrm>
          <a:prstGeom prst="chevron">
            <a:avLst/>
          </a:prstGeom>
          <a:solidFill>
            <a:srgbClr val="646E78"/>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31" name="Rounded Rectangle 11">
            <a:extLst>
              <a:ext uri="{FF2B5EF4-FFF2-40B4-BE49-F238E27FC236}">
                <a16:creationId xmlns:a16="http://schemas.microsoft.com/office/drawing/2014/main" id="{23C1434B-9ACB-8DD4-384D-43C923BC79A7}"/>
              </a:ext>
            </a:extLst>
          </p:cNvPr>
          <p:cNvSpPr/>
          <p:nvPr/>
        </p:nvSpPr>
        <p:spPr>
          <a:xfrm>
            <a:off x="5605272" y="2057400"/>
            <a:ext cx="1051560" cy="1417320"/>
          </a:xfrm>
          <a:prstGeom prst="roundRect">
            <a:avLst/>
          </a:prstGeom>
          <a:solidFill>
            <a:srgbClr val="2B5F9A"/>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500" b="1">
                <a:solidFill>
                  <a:srgbClr val="FFFFFF"/>
                </a:solidFill>
              </a:defRPr>
            </a:pPr>
            <a:r>
              <a:t>5</a:t>
            </a:r>
          </a:p>
          <a:p>
            <a:pPr algn="ctr">
              <a:defRPr sz="1150" b="1">
                <a:solidFill>
                  <a:srgbClr val="FFFFFF"/>
                </a:solidFill>
              </a:defRPr>
            </a:pPr>
            <a:r>
              <a:t>Pull</a:t>
            </a:r>
            <a:br/>
            <a:r>
              <a:t>Request</a:t>
            </a:r>
          </a:p>
        </p:txBody>
      </p:sp>
      <p:sp>
        <p:nvSpPr>
          <p:cNvPr id="32" name="Chevron 12">
            <a:extLst>
              <a:ext uri="{FF2B5EF4-FFF2-40B4-BE49-F238E27FC236}">
                <a16:creationId xmlns:a16="http://schemas.microsoft.com/office/drawing/2014/main" id="{3B92BA49-DE35-3F80-1711-E4DFD8FFDE80}"/>
              </a:ext>
            </a:extLst>
          </p:cNvPr>
          <p:cNvSpPr/>
          <p:nvPr/>
        </p:nvSpPr>
        <p:spPr>
          <a:xfrm>
            <a:off x="6684264" y="2514600"/>
            <a:ext cx="201168" cy="365760"/>
          </a:xfrm>
          <a:prstGeom prst="chevron">
            <a:avLst/>
          </a:prstGeom>
          <a:solidFill>
            <a:srgbClr val="646E78"/>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33" name="Rounded Rectangle 13">
            <a:extLst>
              <a:ext uri="{FF2B5EF4-FFF2-40B4-BE49-F238E27FC236}">
                <a16:creationId xmlns:a16="http://schemas.microsoft.com/office/drawing/2014/main" id="{556C2524-1599-79AF-74CF-22407DD1B1B2}"/>
              </a:ext>
            </a:extLst>
          </p:cNvPr>
          <p:cNvSpPr/>
          <p:nvPr/>
        </p:nvSpPr>
        <p:spPr>
          <a:xfrm>
            <a:off x="6903720" y="2057400"/>
            <a:ext cx="1051560" cy="1417320"/>
          </a:xfrm>
          <a:prstGeom prst="roundRect">
            <a:avLst/>
          </a:prstGeom>
          <a:solidFill>
            <a:srgbClr val="2B5F9A"/>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500" b="1">
                <a:solidFill>
                  <a:srgbClr val="FFFFFF"/>
                </a:solidFill>
              </a:defRPr>
            </a:pPr>
            <a:r>
              <a:t>6</a:t>
            </a:r>
          </a:p>
          <a:p>
            <a:pPr algn="ctr">
              <a:defRPr sz="1150" b="1">
                <a:solidFill>
                  <a:srgbClr val="FFFFFF"/>
                </a:solidFill>
              </a:defRPr>
            </a:pPr>
            <a:r>
              <a:t>Review /</a:t>
            </a:r>
            <a:br/>
            <a:r>
              <a:t>Merge</a:t>
            </a:r>
          </a:p>
        </p:txBody>
      </p:sp>
      <p:sp>
        <p:nvSpPr>
          <p:cNvPr id="34" name="Chevron 14">
            <a:extLst>
              <a:ext uri="{FF2B5EF4-FFF2-40B4-BE49-F238E27FC236}">
                <a16:creationId xmlns:a16="http://schemas.microsoft.com/office/drawing/2014/main" id="{71CF0293-40C0-7650-FA73-352816331E69}"/>
              </a:ext>
            </a:extLst>
          </p:cNvPr>
          <p:cNvSpPr/>
          <p:nvPr/>
        </p:nvSpPr>
        <p:spPr>
          <a:xfrm>
            <a:off x="7982712" y="2514600"/>
            <a:ext cx="201168" cy="365760"/>
          </a:xfrm>
          <a:prstGeom prst="chevron">
            <a:avLst/>
          </a:prstGeom>
          <a:solidFill>
            <a:srgbClr val="646E78"/>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35" name="Rounded Rectangle 15">
            <a:extLst>
              <a:ext uri="{FF2B5EF4-FFF2-40B4-BE49-F238E27FC236}">
                <a16:creationId xmlns:a16="http://schemas.microsoft.com/office/drawing/2014/main" id="{6EC94DD2-3B5B-4658-65E1-7D85E2395D31}"/>
              </a:ext>
            </a:extLst>
          </p:cNvPr>
          <p:cNvSpPr/>
          <p:nvPr/>
        </p:nvSpPr>
        <p:spPr>
          <a:xfrm>
            <a:off x="8202167" y="2057400"/>
            <a:ext cx="1051560" cy="1417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500" b="1">
                <a:solidFill>
                  <a:srgbClr val="FFFFFF"/>
                </a:solidFill>
              </a:defRPr>
            </a:pPr>
            <a:r>
              <a:t>7</a:t>
            </a:r>
          </a:p>
          <a:p>
            <a:pPr algn="ctr">
              <a:defRPr sz="1150" b="1">
                <a:solidFill>
                  <a:srgbClr val="FFFFFF"/>
                </a:solidFill>
              </a:defRPr>
            </a:pPr>
            <a:r>
              <a:t>Create</a:t>
            </a:r>
            <a:br/>
            <a:r>
              <a:t>Conflict</a:t>
            </a:r>
          </a:p>
        </p:txBody>
      </p:sp>
      <p:sp>
        <p:nvSpPr>
          <p:cNvPr id="36" name="Chevron 16">
            <a:extLst>
              <a:ext uri="{FF2B5EF4-FFF2-40B4-BE49-F238E27FC236}">
                <a16:creationId xmlns:a16="http://schemas.microsoft.com/office/drawing/2014/main" id="{E45F2F2C-E71A-F767-655B-311A4C2FFCB7}"/>
              </a:ext>
            </a:extLst>
          </p:cNvPr>
          <p:cNvSpPr/>
          <p:nvPr/>
        </p:nvSpPr>
        <p:spPr>
          <a:xfrm>
            <a:off x="9281159" y="2514600"/>
            <a:ext cx="201168" cy="365760"/>
          </a:xfrm>
          <a:prstGeom prst="chevron">
            <a:avLst/>
          </a:prstGeom>
          <a:solidFill>
            <a:srgbClr val="646E78"/>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37" name="Rounded Rectangle 17">
            <a:extLst>
              <a:ext uri="{FF2B5EF4-FFF2-40B4-BE49-F238E27FC236}">
                <a16:creationId xmlns:a16="http://schemas.microsoft.com/office/drawing/2014/main" id="{F8E66D38-810D-C9D3-C0E5-4516CEA73599}"/>
              </a:ext>
            </a:extLst>
          </p:cNvPr>
          <p:cNvSpPr/>
          <p:nvPr/>
        </p:nvSpPr>
        <p:spPr>
          <a:xfrm>
            <a:off x="9500615" y="2057400"/>
            <a:ext cx="1051560" cy="1417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500" b="1">
                <a:solidFill>
                  <a:srgbClr val="FFFFFF"/>
                </a:solidFill>
              </a:defRPr>
            </a:pPr>
            <a:r>
              <a:t>8</a:t>
            </a:r>
          </a:p>
          <a:p>
            <a:pPr algn="ctr">
              <a:defRPr sz="1150" b="1">
                <a:solidFill>
                  <a:srgbClr val="FFFFFF"/>
                </a:solidFill>
              </a:defRPr>
            </a:pPr>
            <a:r>
              <a:t>Resolve</a:t>
            </a:r>
          </a:p>
        </p:txBody>
      </p:sp>
      <p:sp>
        <p:nvSpPr>
          <p:cNvPr id="38" name="Chevron 18">
            <a:extLst>
              <a:ext uri="{FF2B5EF4-FFF2-40B4-BE49-F238E27FC236}">
                <a16:creationId xmlns:a16="http://schemas.microsoft.com/office/drawing/2014/main" id="{EC82A9D5-2EDE-4D8D-73AA-6EC7E649A0D4}"/>
              </a:ext>
            </a:extLst>
          </p:cNvPr>
          <p:cNvSpPr/>
          <p:nvPr/>
        </p:nvSpPr>
        <p:spPr>
          <a:xfrm>
            <a:off x="10579607" y="2514600"/>
            <a:ext cx="201168" cy="365760"/>
          </a:xfrm>
          <a:prstGeom prst="chevron">
            <a:avLst/>
          </a:prstGeom>
          <a:solidFill>
            <a:srgbClr val="646E78"/>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39" name="Rounded Rectangle 19">
            <a:extLst>
              <a:ext uri="{FF2B5EF4-FFF2-40B4-BE49-F238E27FC236}">
                <a16:creationId xmlns:a16="http://schemas.microsoft.com/office/drawing/2014/main" id="{0E9492B2-B9C0-BB89-7006-2A6879243995}"/>
              </a:ext>
            </a:extLst>
          </p:cNvPr>
          <p:cNvSpPr/>
          <p:nvPr/>
        </p:nvSpPr>
        <p:spPr>
          <a:xfrm>
            <a:off x="10799063" y="2057400"/>
            <a:ext cx="1051560" cy="1417320"/>
          </a:xfrm>
          <a:prstGeom prst="roundRect">
            <a:avLst/>
          </a:prstGeom>
          <a:solidFill>
            <a:srgbClr val="2F805B"/>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500" b="1">
                <a:solidFill>
                  <a:srgbClr val="FFFFFF"/>
                </a:solidFill>
              </a:defRPr>
            </a:pPr>
            <a:r>
              <a:t>9</a:t>
            </a:r>
          </a:p>
          <a:p>
            <a:pPr algn="ctr">
              <a:defRPr sz="1150" b="1">
                <a:solidFill>
                  <a:srgbClr val="FFFFFF"/>
                </a:solidFill>
              </a:defRPr>
            </a:pPr>
            <a:r>
              <a:t>Revert</a:t>
            </a:r>
          </a:p>
        </p:txBody>
      </p:sp>
      <p:sp>
        <p:nvSpPr>
          <p:cNvPr id="40" name="TextBox 39">
            <a:extLst>
              <a:ext uri="{FF2B5EF4-FFF2-40B4-BE49-F238E27FC236}">
                <a16:creationId xmlns:a16="http://schemas.microsoft.com/office/drawing/2014/main" id="{76910256-773F-FAD8-5738-ADCD68CAE0DE}"/>
              </a:ext>
            </a:extLst>
          </p:cNvPr>
          <p:cNvSpPr txBox="1"/>
          <p:nvPr/>
        </p:nvSpPr>
        <p:spPr>
          <a:xfrm>
            <a:off x="914400" y="4343400"/>
            <a:ext cx="10241280" cy="731520"/>
          </a:xfrm>
          <a:prstGeom prst="rect">
            <a:avLst/>
          </a:prstGeom>
          <a:noFill/>
        </p:spPr>
        <p:txBody>
          <a:bodyPr wrap="square" lIns="45720" rIns="45720">
            <a:noAutofit/>
          </a:bodyPr>
          <a:lstStyle/>
          <a:p>
            <a:pPr>
              <a:spcAft>
                <a:spcPts val="1000"/>
              </a:spcAft>
              <a:defRPr sz="1800">
                <a:solidFill>
                  <a:srgbClr val="282828"/>
                </a:solidFill>
              </a:defRPr>
            </a:pPr>
            <a:r>
              <a:rPr dirty="0"/>
              <a:t>• main → feature → PR → merge → conflict → human decision → revert when needed</a:t>
            </a:r>
          </a:p>
        </p:txBody>
      </p:sp>
    </p:spTree>
    <p:extLst>
      <p:ext uri="{BB962C8B-B14F-4D97-AF65-F5344CB8AC3E}">
        <p14:creationId xmlns:p14="http://schemas.microsoft.com/office/powerpoint/2010/main" val="3327190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D3BF49-ECC4-8132-68C7-ABEC4F2DDA8B}"/>
              </a:ext>
            </a:extLst>
          </p:cNvPr>
          <p:cNvSpPr txBox="1"/>
          <p:nvPr/>
        </p:nvSpPr>
        <p:spPr>
          <a:xfrm>
            <a:off x="502920" y="256032"/>
            <a:ext cx="11155680" cy="640080"/>
          </a:xfrm>
          <a:prstGeom prst="rect">
            <a:avLst/>
          </a:prstGeom>
          <a:noFill/>
        </p:spPr>
        <p:txBody>
          <a:bodyPr wrap="square">
            <a:noAutofit/>
          </a:bodyPr>
          <a:lstStyle/>
          <a:p>
            <a:pPr>
              <a:defRPr sz="2600" b="1">
                <a:solidFill>
                  <a:srgbClr val="1C2B4A"/>
                </a:solidFill>
              </a:defRPr>
            </a:pPr>
            <a:r>
              <a:rPr dirty="0"/>
              <a:t>Quick Command Cheat Sheet</a:t>
            </a:r>
          </a:p>
        </p:txBody>
      </p:sp>
      <p:sp>
        <p:nvSpPr>
          <p:cNvPr id="5" name="Rounded Rectangle 4">
            <a:extLst>
              <a:ext uri="{FF2B5EF4-FFF2-40B4-BE49-F238E27FC236}">
                <a16:creationId xmlns:a16="http://schemas.microsoft.com/office/drawing/2014/main" id="{6C3E9D2E-F6F3-0464-DFE8-41F96E895216}"/>
              </a:ext>
            </a:extLst>
          </p:cNvPr>
          <p:cNvSpPr/>
          <p:nvPr/>
        </p:nvSpPr>
        <p:spPr>
          <a:xfrm>
            <a:off x="685800" y="1417320"/>
            <a:ext cx="10835640" cy="3337560"/>
          </a:xfrm>
          <a:prstGeom prst="roundRect">
            <a:avLst/>
          </a:prstGeom>
          <a:solidFill>
            <a:srgbClr val="F7F9FC"/>
          </a:solidFill>
          <a:ln>
            <a:solidFill>
              <a:srgbClr val="CDD4DF"/>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defRPr sz="1600">
                <a:solidFill>
                  <a:srgbClr val="1C2B4A"/>
                </a:solidFill>
                <a:latin typeface="Consolas"/>
              </a:defRPr>
            </a:pPr>
            <a:r>
              <a:rPr dirty="0"/>
              <a:t>git status</a:t>
            </a:r>
            <a:br>
              <a:rPr dirty="0"/>
            </a:br>
            <a:r>
              <a:rPr dirty="0"/>
              <a:t>git branch</a:t>
            </a:r>
            <a:br>
              <a:rPr dirty="0"/>
            </a:br>
            <a:r>
              <a:rPr dirty="0"/>
              <a:t>git </a:t>
            </a:r>
            <a:r>
              <a:rPr lang="en-IN" dirty="0"/>
              <a:t>checkout</a:t>
            </a:r>
            <a:r>
              <a:rPr dirty="0"/>
              <a:t> -</a:t>
            </a:r>
            <a:r>
              <a:rPr lang="en-IN" dirty="0"/>
              <a:t>b</a:t>
            </a:r>
            <a:r>
              <a:rPr dirty="0"/>
              <a:t> feature/name</a:t>
            </a:r>
            <a:br>
              <a:rPr dirty="0"/>
            </a:br>
            <a:r>
              <a:rPr dirty="0"/>
              <a:t>git add .</a:t>
            </a:r>
            <a:br>
              <a:rPr dirty="0"/>
            </a:br>
            <a:r>
              <a:rPr dirty="0"/>
              <a:t>git commit -m "message"</a:t>
            </a:r>
            <a:br>
              <a:rPr dirty="0"/>
            </a:br>
            <a:r>
              <a:rPr dirty="0"/>
              <a:t>git push -u origin feature/name</a:t>
            </a:r>
            <a:br>
              <a:rPr dirty="0"/>
            </a:br>
            <a:r>
              <a:rPr dirty="0"/>
              <a:t>git pull origin main</a:t>
            </a:r>
            <a:br>
              <a:rPr dirty="0"/>
            </a:br>
            <a:r>
              <a:rPr dirty="0"/>
              <a:t>git fetch origin</a:t>
            </a:r>
            <a:br>
              <a:rPr dirty="0"/>
            </a:br>
            <a:r>
              <a:rPr dirty="0"/>
              <a:t>git merge origin/main</a:t>
            </a:r>
            <a:br>
              <a:rPr dirty="0"/>
            </a:br>
            <a:r>
              <a:rPr dirty="0"/>
              <a:t>git log --</a:t>
            </a:r>
            <a:r>
              <a:rPr dirty="0" err="1"/>
              <a:t>oneline</a:t>
            </a:r>
            <a:br>
              <a:rPr dirty="0"/>
            </a:br>
            <a:r>
              <a:rPr dirty="0"/>
              <a:t>git revert &lt;commit-hash&gt;</a:t>
            </a:r>
            <a:br>
              <a:rPr dirty="0"/>
            </a:br>
            <a:r>
              <a:rPr dirty="0"/>
              <a:t>git merge --abort</a:t>
            </a:r>
          </a:p>
        </p:txBody>
      </p:sp>
    </p:spTree>
    <p:extLst>
      <p:ext uri="{BB962C8B-B14F-4D97-AF65-F5344CB8AC3E}">
        <p14:creationId xmlns:p14="http://schemas.microsoft.com/office/powerpoint/2010/main" val="1946706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ass open house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Classroom open house presentation.potx" id="{AB7D8AB0-4323-4322-AB21-8CB398DB9E96}" vid="{5BFEA1FF-C39F-48A2-B239-4B55565FC3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Classroom open house presentation</Template>
  <TotalTime>1078</TotalTime>
  <Words>1489</Words>
  <Application>Microsoft Office PowerPoint</Application>
  <PresentationFormat>Custom</PresentationFormat>
  <Paragraphs>156</Paragraphs>
  <Slides>35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Century Gothic</vt:lpstr>
      <vt:lpstr>Nunito</vt:lpstr>
      <vt:lpstr>Class open house presentation</vt:lpstr>
      <vt:lpstr>Practical – 4  GIT &amp; GITHUB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Aruna Inamdar</dc:creator>
  <cp:lastModifiedBy>Aruna Inamdar</cp:lastModifiedBy>
  <cp:revision>144</cp:revision>
  <dcterms:created xsi:type="dcterms:W3CDTF">2026-07-15T13:08:00Z</dcterms:created>
  <dcterms:modified xsi:type="dcterms:W3CDTF">2026-08-09T18:48:07Z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