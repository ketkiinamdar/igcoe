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82030" y="1143000"/>
            <a:ext cx="4888902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dirty="0">
                <a:solidFill>
                  <a:srgbClr val="1E293B"/>
                </a:solidFill>
              </a:rPr>
              <a:t>From Code to </a:t>
            </a:r>
            <a:r>
              <a:rPr lang="en-US" sz="4200" b="1" dirty="0">
                <a:solidFill>
                  <a:srgbClr val="1E293B"/>
                </a:solidFill>
              </a:rPr>
              <a:t>Deploy</a:t>
            </a:r>
            <a:endParaRPr sz="4200" b="1" dirty="0">
              <a:solidFill>
                <a:srgbClr val="1E293B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>
                <a:solidFill>
                  <a:srgbClr val="2563EB"/>
                </a:solidFill>
              </a:rPr>
              <a:t>CI Flow • CD Flow • Infrastructure as Code • Containerization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B61B8B-C742-655E-DA3B-85FC8354B3E1}"/>
              </a:ext>
            </a:extLst>
          </p:cNvPr>
          <p:cNvSpPr txBox="1"/>
          <p:nvPr/>
        </p:nvSpPr>
        <p:spPr>
          <a:xfrm>
            <a:off x="501445" y="385605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Aptos" panose="020B0004020202020204" pitchFamily="34" charset="0"/>
              </a:rPr>
              <a:t>What is the CI/CD Flow?</a:t>
            </a:r>
            <a:endParaRPr lang="en-IN" sz="2200" b="1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275627-E2A4-32DA-3240-748959BCFF51}"/>
              </a:ext>
            </a:extLst>
          </p:cNvPr>
          <p:cNvSpPr txBox="1"/>
          <p:nvPr/>
        </p:nvSpPr>
        <p:spPr>
          <a:xfrm>
            <a:off x="501445" y="950790"/>
            <a:ext cx="11484078" cy="254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Aptos" panose="020B0004020202020204" pitchFamily="34" charset="0"/>
              </a:rPr>
              <a:t>Think of CI/CD as a </a:t>
            </a:r>
            <a:r>
              <a:rPr lang="en-IN" b="1" dirty="0">
                <a:latin typeface="Aptos" panose="020B0004020202020204" pitchFamily="34" charset="0"/>
              </a:rPr>
              <a:t>parcel delivery system for software</a:t>
            </a:r>
            <a:r>
              <a:rPr lang="en-IN" dirty="0">
                <a:latin typeface="Aptos" panose="020B00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Aptos" panose="020B0004020202020204" pitchFamily="34" charset="0"/>
              </a:rPr>
              <a:t>When you order something online: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Aptos" panose="020B0004020202020204" pitchFamily="34" charset="0"/>
              </a:rPr>
              <a:t>You place order → warehouse prepares it → quality check → package it → transport → deliver → confirm delivery</a:t>
            </a:r>
            <a:endParaRPr lang="en-IN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Aptos" panose="020B0004020202020204" pitchFamily="34" charset="0"/>
              </a:rPr>
              <a:t>Software delivery is similar: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Aptos" panose="020B0004020202020204" pitchFamily="34" charset="0"/>
              </a:rPr>
              <a:t>Developer writes code → Build → Test → Package → Deploy → Verify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DC50BB5-76BE-0D02-8906-F21E0C9AF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45" y="3660799"/>
            <a:ext cx="5038815" cy="1296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b="1" dirty="0">
                <a:latin typeface="Aptos" panose="020B0004020202020204" pitchFamily="34" charset="0"/>
              </a:rPr>
              <a:t>CI = Continuous Integration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latin typeface="Aptos" panose="020B0004020202020204" pitchFamily="34" charset="0"/>
              </a:rPr>
              <a:t>CI answers: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latin typeface="Aptos" panose="020B0004020202020204" pitchFamily="34" charset="0"/>
              </a:rPr>
              <a:t>“Is the new code good enough to move forward?”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40C9A9-D9A6-5D99-73CE-1CA2AF84B2D3}"/>
              </a:ext>
            </a:extLst>
          </p:cNvPr>
          <p:cNvSpPr txBox="1"/>
          <p:nvPr/>
        </p:nvSpPr>
        <p:spPr>
          <a:xfrm>
            <a:off x="9330813" y="2767889"/>
            <a:ext cx="2261419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33CC"/>
                </a:solidFill>
                <a:latin typeface="Aptos" panose="020B0004020202020204" pitchFamily="34" charset="0"/>
              </a:rPr>
              <a:t>Developer</a:t>
            </a:r>
          </a:p>
          <a:p>
            <a:r>
              <a:rPr lang="en-IN" sz="2000" b="1" dirty="0">
                <a:solidFill>
                  <a:srgbClr val="0033CC"/>
                </a:solidFill>
                <a:latin typeface="Aptos" panose="020B0004020202020204" pitchFamily="34" charset="0"/>
              </a:rPr>
              <a:t>    ↓</a:t>
            </a:r>
          </a:p>
          <a:p>
            <a:r>
              <a:rPr lang="en-IN" sz="2000" b="1" dirty="0">
                <a:solidFill>
                  <a:srgbClr val="0033CC"/>
                </a:solidFill>
                <a:latin typeface="Aptos" panose="020B0004020202020204" pitchFamily="34" charset="0"/>
              </a:rPr>
              <a:t>GitHub</a:t>
            </a:r>
          </a:p>
          <a:p>
            <a:r>
              <a:rPr lang="en-IN" sz="2000" b="1" dirty="0">
                <a:solidFill>
                  <a:srgbClr val="0033CC"/>
                </a:solidFill>
                <a:latin typeface="Aptos" panose="020B0004020202020204" pitchFamily="34" charset="0"/>
              </a:rPr>
              <a:t>    ↓</a:t>
            </a:r>
          </a:p>
          <a:p>
            <a:r>
              <a:rPr lang="en-IN" sz="2000" b="1" dirty="0">
                <a:solidFill>
                  <a:srgbClr val="0033CC"/>
                </a:solidFill>
                <a:latin typeface="Aptos" panose="020B0004020202020204" pitchFamily="34" charset="0"/>
              </a:rPr>
              <a:t>CI Pipeline</a:t>
            </a:r>
          </a:p>
          <a:p>
            <a:r>
              <a:rPr lang="en-IN" sz="2000" b="1" dirty="0">
                <a:solidFill>
                  <a:srgbClr val="0033CC"/>
                </a:solidFill>
                <a:latin typeface="Aptos" panose="020B0004020202020204" pitchFamily="34" charset="0"/>
              </a:rPr>
              <a:t>    ↓</a:t>
            </a:r>
          </a:p>
          <a:p>
            <a:r>
              <a:rPr lang="en-IN" sz="2000" b="1" dirty="0">
                <a:solidFill>
                  <a:srgbClr val="0033CC"/>
                </a:solidFill>
                <a:latin typeface="Aptos" panose="020B0004020202020204" pitchFamily="34" charset="0"/>
              </a:rPr>
              <a:t>Build</a:t>
            </a:r>
          </a:p>
          <a:p>
            <a:r>
              <a:rPr lang="en-IN" sz="2000" b="1" dirty="0">
                <a:solidFill>
                  <a:srgbClr val="0033CC"/>
                </a:solidFill>
                <a:latin typeface="Aptos" panose="020B0004020202020204" pitchFamily="34" charset="0"/>
              </a:rPr>
              <a:t>    ↓</a:t>
            </a:r>
          </a:p>
          <a:p>
            <a:r>
              <a:rPr lang="en-IN" sz="2000" b="1" dirty="0">
                <a:solidFill>
                  <a:srgbClr val="0033CC"/>
                </a:solidFill>
                <a:latin typeface="Aptos" panose="020B0004020202020204" pitchFamily="34" charset="0"/>
              </a:rPr>
              <a:t>Automated Tests</a:t>
            </a:r>
          </a:p>
          <a:p>
            <a:r>
              <a:rPr lang="en-IN" sz="2000" b="1" dirty="0">
                <a:solidFill>
                  <a:srgbClr val="0033CC"/>
                </a:solidFill>
                <a:latin typeface="Aptos" panose="020B0004020202020204" pitchFamily="34" charset="0"/>
              </a:rPr>
              <a:t>    ↓</a:t>
            </a:r>
          </a:p>
          <a:p>
            <a:r>
              <a:rPr lang="en-IN" sz="2000" b="1" dirty="0">
                <a:solidFill>
                  <a:srgbClr val="0033CC"/>
                </a:solidFill>
                <a:latin typeface="Aptos" panose="020B0004020202020204" pitchFamily="34" charset="0"/>
              </a:rPr>
              <a:t>PASS / FAIL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4D39EC-D498-6897-5256-4D9B6A3046AF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445474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48CA96A-16F9-6900-D9C4-DD315F74B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458" y="268670"/>
            <a:ext cx="9114503" cy="129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b="1" dirty="0">
                <a:latin typeface="Aptos" panose="020B0004020202020204" pitchFamily="34" charset="0"/>
              </a:rPr>
              <a:t>CD = Continuous Delivery / Continuous Deployment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latin typeface="Aptos" panose="020B0004020202020204" pitchFamily="34" charset="0"/>
              </a:rPr>
              <a:t>CD answers: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latin typeface="Aptos" panose="020B0004020202020204" pitchFamily="34" charset="0"/>
              </a:rPr>
              <a:t>“</a:t>
            </a:r>
            <a:r>
              <a:rPr lang="en-US" dirty="0"/>
              <a:t>How do we reliably move validated software to the environment where it will run?</a:t>
            </a:r>
            <a:r>
              <a:rPr lang="en-US" altLang="en-US" dirty="0">
                <a:latin typeface="Aptos" panose="020B0004020202020204" pitchFamily="34" charset="0"/>
              </a:rPr>
              <a:t>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D2678-882D-A716-B839-05D3D85DA903}"/>
              </a:ext>
            </a:extLst>
          </p:cNvPr>
          <p:cNvSpPr txBox="1"/>
          <p:nvPr/>
        </p:nvSpPr>
        <p:spPr>
          <a:xfrm>
            <a:off x="383458" y="1968257"/>
            <a:ext cx="6096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solidFill>
                  <a:srgbClr val="0033CC"/>
                </a:solidFill>
                <a:latin typeface="Aptos" panose="020B0004020202020204" pitchFamily="34" charset="0"/>
              </a:defRPr>
            </a:lvl1pPr>
          </a:lstStyle>
          <a:p>
            <a:r>
              <a:rPr lang="en-IN" b="1" dirty="0"/>
              <a:t>               CI</a:t>
            </a:r>
          </a:p>
          <a:p>
            <a:r>
              <a:rPr lang="en-IN" b="1" dirty="0"/>
              <a:t>               ↓</a:t>
            </a:r>
          </a:p>
          <a:p>
            <a:r>
              <a:rPr lang="en-IN" b="1" dirty="0"/>
              <a:t>Code → Build → Test ✓</a:t>
            </a:r>
          </a:p>
          <a:p>
            <a:r>
              <a:rPr lang="en-IN" b="1" dirty="0"/>
              <a:t>               ↓</a:t>
            </a:r>
          </a:p>
          <a:p>
            <a:r>
              <a:rPr lang="en-IN" b="1" dirty="0"/>
              <a:t>              CD</a:t>
            </a:r>
          </a:p>
          <a:p>
            <a:r>
              <a:rPr lang="en-IN" b="1" dirty="0"/>
              <a:t>               ↓</a:t>
            </a:r>
          </a:p>
          <a:p>
            <a:r>
              <a:rPr lang="en-IN" b="1" dirty="0"/>
              <a:t>        Package / Artifact</a:t>
            </a:r>
          </a:p>
          <a:p>
            <a:r>
              <a:rPr lang="en-IN" b="1" dirty="0"/>
              <a:t>               ↓</a:t>
            </a:r>
          </a:p>
          <a:p>
            <a:r>
              <a:rPr lang="en-IN" b="1" dirty="0"/>
              <a:t>        Infrastructure</a:t>
            </a:r>
          </a:p>
          <a:p>
            <a:r>
              <a:rPr lang="en-IN" b="1" dirty="0"/>
              <a:t>               ↓</a:t>
            </a:r>
          </a:p>
          <a:p>
            <a:r>
              <a:rPr lang="en-IN" b="1" dirty="0"/>
              <a:t>            Deploy</a:t>
            </a:r>
          </a:p>
          <a:p>
            <a:r>
              <a:rPr lang="en-IN" b="1" dirty="0"/>
              <a:t>               ↓</a:t>
            </a:r>
          </a:p>
          <a:p>
            <a:r>
              <a:rPr lang="en-IN" b="1" dirty="0"/>
              <a:t>          Verify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05AC31-91F0-361A-939F-160A6D492686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1F114F-1E60-C0B7-57F9-6FF5DFAE2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320009"/>
              </p:ext>
            </p:extLst>
          </p:nvPr>
        </p:nvGraphicFramePr>
        <p:xfrm>
          <a:off x="5324167" y="2225127"/>
          <a:ext cx="5687961" cy="2194560"/>
        </p:xfrm>
        <a:graphic>
          <a:graphicData uri="http://schemas.openxmlformats.org/drawingml/2006/table">
            <a:tbl>
              <a:tblPr/>
              <a:tblGrid>
                <a:gridCol w="1981201">
                  <a:extLst>
                    <a:ext uri="{9D8B030D-6E8A-4147-A177-3AD203B41FA5}">
                      <a16:colId xmlns:a16="http://schemas.microsoft.com/office/drawing/2014/main" val="1333236336"/>
                    </a:ext>
                  </a:extLst>
                </a:gridCol>
                <a:gridCol w="3706760">
                  <a:extLst>
                    <a:ext uri="{9D8B030D-6E8A-4147-A177-3AD203B41FA5}">
                      <a16:colId xmlns:a16="http://schemas.microsoft.com/office/drawing/2014/main" val="4736308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CI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019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Integrate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Deliver/deploy software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466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Build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Package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958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Deploy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8848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Find defects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Release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092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Quality gate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Delivery 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532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140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BDF51E-1143-70A4-39D0-6B0D5CE52D13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6BC9B-F1D3-4752-6C6A-987525A44BB2}"/>
              </a:ext>
            </a:extLst>
          </p:cNvPr>
          <p:cNvSpPr txBox="1"/>
          <p:nvPr/>
        </p:nvSpPr>
        <p:spPr>
          <a:xfrm>
            <a:off x="644013" y="292199"/>
            <a:ext cx="6145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Aptos" panose="020B0004020202020204" pitchFamily="34" charset="0"/>
              </a:defRPr>
            </a:lvl1pPr>
          </a:lstStyle>
          <a:p>
            <a:r>
              <a:rPr lang="en-IN" dirty="0"/>
              <a:t>What is a Runner?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34FEE4-B2E3-2DB9-6360-059741092E1F}"/>
              </a:ext>
            </a:extLst>
          </p:cNvPr>
          <p:cNvSpPr txBox="1"/>
          <p:nvPr/>
        </p:nvSpPr>
        <p:spPr>
          <a:xfrm>
            <a:off x="644013" y="856308"/>
            <a:ext cx="7683909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>
                <a:latin typeface="Aptos" panose="020B0004020202020204" pitchFamily="34" charset="0"/>
              </a:defRPr>
            </a:lvl1pPr>
          </a:lstStyle>
          <a:p>
            <a:r>
              <a:rPr lang="en-US" dirty="0"/>
              <a:t>A CI/CD pipeline is a set of instructions.</a:t>
            </a:r>
          </a:p>
          <a:p>
            <a:r>
              <a:rPr lang="en-US" dirty="0"/>
              <a:t>But who actually executes those instructions? 👉 Runner.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D96F9C-A6E1-714D-DDE0-09DF216984C4}"/>
              </a:ext>
            </a:extLst>
          </p:cNvPr>
          <p:cNvSpPr txBox="1"/>
          <p:nvPr/>
        </p:nvSpPr>
        <p:spPr>
          <a:xfrm>
            <a:off x="644013" y="1870349"/>
            <a:ext cx="7890387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>
                <a:latin typeface="Aptos" panose="020B0004020202020204" pitchFamily="34" charset="0"/>
              </a:defRPr>
            </a:lvl1pPr>
          </a:lstStyle>
          <a:p>
            <a:r>
              <a:rPr lang="en-US" dirty="0"/>
              <a:t>Think of a runner as the worker/machine that performs the pipeline tasks.</a:t>
            </a:r>
          </a:p>
          <a:p>
            <a:r>
              <a:rPr lang="en-US" dirty="0"/>
              <a:t>For example, the pipeline says: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9C8343-271F-2EE5-6259-60D0396F21EB}"/>
              </a:ext>
            </a:extLst>
          </p:cNvPr>
          <p:cNvSpPr txBox="1"/>
          <p:nvPr/>
        </p:nvSpPr>
        <p:spPr>
          <a:xfrm>
            <a:off x="644013" y="2768084"/>
            <a:ext cx="61451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Run Python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Build Docker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Run Terraform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Deploy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B85F34-7CBF-D340-F1E5-9566F74ECA05}"/>
              </a:ext>
            </a:extLst>
          </p:cNvPr>
          <p:cNvSpPr txBox="1"/>
          <p:nvPr/>
        </p:nvSpPr>
        <p:spPr>
          <a:xfrm>
            <a:off x="644013" y="4090820"/>
            <a:ext cx="6145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>
                <a:latin typeface="Aptos" panose="020B0004020202020204" pitchFamily="34" charset="0"/>
              </a:defRPr>
            </a:lvl1pPr>
          </a:lstStyle>
          <a:p>
            <a:r>
              <a:rPr lang="en-US" dirty="0"/>
              <a:t>Some machine has to execute these commands.</a:t>
            </a:r>
          </a:p>
          <a:p>
            <a:r>
              <a:rPr lang="en-US" dirty="0"/>
              <a:t>That machine is the runner.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5FFC01-7CBE-C3E9-9F4A-A5A30A6092F8}"/>
              </a:ext>
            </a:extLst>
          </p:cNvPr>
          <p:cNvSpPr txBox="1"/>
          <p:nvPr/>
        </p:nvSpPr>
        <p:spPr>
          <a:xfrm>
            <a:off x="6858000" y="2498946"/>
            <a:ext cx="61451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>
                <a:latin typeface="Aptos" panose="020B0004020202020204" pitchFamily="34" charset="0"/>
              </a:defRPr>
            </a:lvl1pPr>
          </a:lstStyle>
          <a:p>
            <a:r>
              <a:rPr lang="en-US" dirty="0"/>
              <a:t>Suppose Swiggy receives your order.</a:t>
            </a:r>
          </a:p>
          <a:p>
            <a:r>
              <a:rPr lang="en-US" dirty="0"/>
              <a:t>The app doesn't physically deliver your food.</a:t>
            </a:r>
          </a:p>
          <a:p>
            <a:r>
              <a:rPr lang="en-US" dirty="0"/>
              <a:t>A delivery person does.</a:t>
            </a:r>
          </a:p>
        </p:txBody>
      </p:sp>
    </p:spTree>
    <p:extLst>
      <p:ext uri="{BB962C8B-B14F-4D97-AF65-F5344CB8AC3E}">
        <p14:creationId xmlns:p14="http://schemas.microsoft.com/office/powerpoint/2010/main" val="1768617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88D7AA-0466-79DE-6B9E-5F251E8FFED0}"/>
              </a:ext>
            </a:extLst>
          </p:cNvPr>
          <p:cNvSpPr txBox="1"/>
          <p:nvPr/>
        </p:nvSpPr>
        <p:spPr>
          <a:xfrm>
            <a:off x="570271" y="287283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Aptos" panose="020B0004020202020204" pitchFamily="34" charset="0"/>
              </a:defRPr>
            </a:lvl1pPr>
          </a:lstStyle>
          <a:p>
            <a:r>
              <a:rPr lang="en-IN" dirty="0"/>
              <a:t>Types of Runners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FB7D8E-8549-76FB-D25B-B0D121725A60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A0A15A-BEBA-9416-B217-5525C2A10C25}"/>
              </a:ext>
            </a:extLst>
          </p:cNvPr>
          <p:cNvSpPr txBox="1"/>
          <p:nvPr/>
        </p:nvSpPr>
        <p:spPr>
          <a:xfrm>
            <a:off x="545691" y="989441"/>
            <a:ext cx="6145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GitHub-hosted runner</a:t>
            </a:r>
          </a:p>
          <a:p>
            <a:r>
              <a:rPr lang="en-US" dirty="0">
                <a:latin typeface="Aptos" panose="020B0004020202020204" pitchFamily="34" charset="0"/>
              </a:rPr>
              <a:t>GitHub provides the machine.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C9DA07-AE4F-A295-3745-061E6F801354}"/>
              </a:ext>
            </a:extLst>
          </p:cNvPr>
          <p:cNvSpPr txBox="1"/>
          <p:nvPr/>
        </p:nvSpPr>
        <p:spPr>
          <a:xfrm>
            <a:off x="570271" y="1820944"/>
            <a:ext cx="61451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0033CC"/>
                </a:solidFill>
                <a:latin typeface="Aptos" panose="020B0004020202020204" pitchFamily="34" charset="0"/>
              </a:defRPr>
            </a:lvl1pPr>
          </a:lstStyle>
          <a:p>
            <a:r>
              <a:rPr lang="en-IN" sz="1800" dirty="0"/>
              <a:t>GitHub</a:t>
            </a:r>
          </a:p>
          <a:p>
            <a:r>
              <a:rPr lang="en-IN" sz="1800" dirty="0"/>
              <a:t>   ↓</a:t>
            </a:r>
          </a:p>
          <a:p>
            <a:r>
              <a:rPr lang="en-IN" sz="1800" dirty="0"/>
              <a:t>Provides temporary machine</a:t>
            </a:r>
          </a:p>
          <a:p>
            <a:r>
              <a:rPr lang="en-IN" sz="1800" dirty="0"/>
              <a:t>   ↓</a:t>
            </a:r>
          </a:p>
          <a:p>
            <a:r>
              <a:rPr lang="en-IN" sz="1800" dirty="0"/>
              <a:t>Runs pipeline</a:t>
            </a:r>
          </a:p>
          <a:p>
            <a:r>
              <a:rPr lang="en-IN" sz="1800" dirty="0"/>
              <a:t>   ↓</a:t>
            </a:r>
          </a:p>
          <a:p>
            <a:r>
              <a:rPr lang="en-IN" sz="1800" dirty="0"/>
              <a:t>Machine is cleaned up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5AC4F03-180D-5E5F-CFA6-0AD5BCF4E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271" y="4255794"/>
            <a:ext cx="505657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It's like: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“I need a taxi. Give me one whenever I need it.”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You don't own or maintain the taxi.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8A4B52-0C4D-3F67-F816-7B7A05D36A35}"/>
              </a:ext>
            </a:extLst>
          </p:cNvPr>
          <p:cNvSpPr txBox="1"/>
          <p:nvPr/>
        </p:nvSpPr>
        <p:spPr>
          <a:xfrm>
            <a:off x="6848169" y="865654"/>
            <a:ext cx="6145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Self-hosted runner</a:t>
            </a:r>
          </a:p>
          <a:p>
            <a:r>
              <a:rPr lang="en-US" b="0" dirty="0"/>
              <a:t>Your organization provides the machine.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D7E56F-A724-4907-69A4-79671C70FD29}"/>
              </a:ext>
            </a:extLst>
          </p:cNvPr>
          <p:cNvSpPr txBox="1"/>
          <p:nvPr/>
        </p:nvSpPr>
        <p:spPr>
          <a:xfrm>
            <a:off x="6848169" y="1734149"/>
            <a:ext cx="42327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33CC"/>
                </a:solidFill>
                <a:latin typeface="Aptos" panose="020B0004020202020204" pitchFamily="34" charset="0"/>
              </a:defRPr>
            </a:lvl1pPr>
          </a:lstStyle>
          <a:p>
            <a:r>
              <a:rPr lang="en-IN" dirty="0"/>
              <a:t>Company Machine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GitHub Actions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Pipeline executes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4B1FB497-4541-A0C2-E690-7632399E0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7329" y="3344685"/>
            <a:ext cx="477169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ptos" panose="020B0004020202020204" pitchFamily="34" charset="0"/>
              </a:rPr>
              <a:t>It's like: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ptos" panose="020B0004020202020204" pitchFamily="34" charset="0"/>
              </a:rPr>
              <a:t>“I own my car and use it whenever I need it.”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A9B128-ED22-0140-DAE3-5D34C49F51B6}"/>
              </a:ext>
            </a:extLst>
          </p:cNvPr>
          <p:cNvSpPr txBox="1"/>
          <p:nvPr/>
        </p:nvSpPr>
        <p:spPr>
          <a:xfrm>
            <a:off x="6897329" y="4236532"/>
            <a:ext cx="65187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You are responsible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software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Docker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security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updates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network access</a:t>
            </a:r>
          </a:p>
        </p:txBody>
      </p:sp>
    </p:spTree>
    <p:extLst>
      <p:ext uri="{BB962C8B-B14F-4D97-AF65-F5344CB8AC3E}">
        <p14:creationId xmlns:p14="http://schemas.microsoft.com/office/powerpoint/2010/main" val="3916657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FC4072-C48D-F68B-E402-D5C34915E768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481C1F-5566-FE0C-8B02-3D23BE35E7B9}"/>
              </a:ext>
            </a:extLst>
          </p:cNvPr>
          <p:cNvSpPr txBox="1"/>
          <p:nvPr/>
        </p:nvSpPr>
        <p:spPr>
          <a:xfrm>
            <a:off x="437535" y="220604"/>
            <a:ext cx="6145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Aptos" panose="020B0004020202020204" pitchFamily="34" charset="0"/>
              </a:defRPr>
            </a:lvl1pPr>
          </a:lstStyle>
          <a:p>
            <a:r>
              <a:rPr lang="en-IN" dirty="0"/>
              <a:t>What is Containerization?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88AE5E-D752-D587-37CB-B5A5E5D0A9B2}"/>
              </a:ext>
            </a:extLst>
          </p:cNvPr>
          <p:cNvSpPr txBox="1"/>
          <p:nvPr/>
        </p:nvSpPr>
        <p:spPr>
          <a:xfrm>
            <a:off x="437535" y="734706"/>
            <a:ext cx="6145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Let's imagine that you developed a Python application.</a:t>
            </a:r>
          </a:p>
          <a:p>
            <a:r>
              <a:rPr lang="en-US" dirty="0"/>
              <a:t>Your application requires: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BA8F34-BBE4-C178-918C-43F927D0A886}"/>
              </a:ext>
            </a:extLst>
          </p:cNvPr>
          <p:cNvSpPr txBox="1"/>
          <p:nvPr/>
        </p:nvSpPr>
        <p:spPr>
          <a:xfrm>
            <a:off x="437535" y="1471486"/>
            <a:ext cx="61451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Python 3.12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Flask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Pandas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Pytest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Other libraries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Application code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8C3AD33-C5AF-142D-04B7-629AEC77D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35" y="3445944"/>
            <a:ext cx="456323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On your laptop everything works.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You give it to your friend.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Your friend says: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“It doesn't work!”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You say: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“But it works on my machine!”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 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This is one of the classic software problems.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0146A41-EBB7-72BE-0CDB-756E7A325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9419" y="1628573"/>
            <a:ext cx="60679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b="1" dirty="0">
                <a:solidFill>
                  <a:srgbClr val="0033CC"/>
                </a:solidFill>
                <a:latin typeface="Aptos" panose="020B0004020202020204" pitchFamily="34" charset="0"/>
              </a:rPr>
              <a:t>Containerization solves this problem.</a:t>
            </a:r>
          </a:p>
          <a:p>
            <a:endParaRPr lang="en-US" altLang="en-US" b="1" dirty="0">
              <a:solidFill>
                <a:srgbClr val="0033CC"/>
              </a:solidFill>
              <a:latin typeface="Aptos" panose="020B0004020202020204" pitchFamily="34" charset="0"/>
            </a:endParaRPr>
          </a:p>
          <a:p>
            <a:r>
              <a:rPr lang="en-US" altLang="en-US" b="1" dirty="0">
                <a:solidFill>
                  <a:srgbClr val="0033CC"/>
                </a:solidFill>
                <a:latin typeface="Aptos" panose="020B0004020202020204" pitchFamily="34" charset="0"/>
              </a:rPr>
              <a:t>Containerization means:</a:t>
            </a:r>
          </a:p>
          <a:p>
            <a:r>
              <a:rPr lang="en-US" altLang="en-US" b="1" dirty="0">
                <a:solidFill>
                  <a:srgbClr val="0033CC"/>
                </a:solidFill>
                <a:latin typeface="Aptos" panose="020B0004020202020204" pitchFamily="34" charset="0"/>
              </a:rPr>
              <a:t>Package an application together with everything it needs to run into a portable container environment.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7A01FE-59FC-E5DF-0E76-4F414F3B9418}"/>
              </a:ext>
            </a:extLst>
          </p:cNvPr>
          <p:cNvSpPr txBox="1"/>
          <p:nvPr/>
        </p:nvSpPr>
        <p:spPr>
          <a:xfrm>
            <a:off x="5373334" y="3266286"/>
            <a:ext cx="61451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Container</a:t>
            </a:r>
          </a:p>
          <a:p>
            <a:r>
              <a:rPr lang="en-IN" dirty="0"/>
              <a:t>┌──────────────┐</a:t>
            </a:r>
          </a:p>
          <a:p>
            <a:r>
              <a:rPr lang="en-IN" dirty="0"/>
              <a:t>│ Application          │</a:t>
            </a:r>
          </a:p>
          <a:p>
            <a:r>
              <a:rPr lang="en-IN" dirty="0"/>
              <a:t>│ Dependencies     │</a:t>
            </a:r>
          </a:p>
          <a:p>
            <a:r>
              <a:rPr lang="en-IN" dirty="0"/>
              <a:t>│ Runtime               │</a:t>
            </a:r>
          </a:p>
          <a:p>
            <a:r>
              <a:rPr lang="en-IN" dirty="0"/>
              <a:t>│ Configuration      │</a:t>
            </a:r>
          </a:p>
          <a:p>
            <a:r>
              <a:rPr lang="en-IN" dirty="0"/>
              <a:t>└────────────── ┘</a:t>
            </a:r>
          </a:p>
        </p:txBody>
      </p:sp>
    </p:spTree>
    <p:extLst>
      <p:ext uri="{BB962C8B-B14F-4D97-AF65-F5344CB8AC3E}">
        <p14:creationId xmlns:p14="http://schemas.microsoft.com/office/powerpoint/2010/main" val="187723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1BCFF1-6672-6DB1-C1CC-1BB395019B92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D8EC00-6939-7460-3D7D-A98D45BC8DA9}"/>
              </a:ext>
            </a:extLst>
          </p:cNvPr>
          <p:cNvSpPr txBox="1"/>
          <p:nvPr/>
        </p:nvSpPr>
        <p:spPr>
          <a:xfrm>
            <a:off x="467033" y="233205"/>
            <a:ext cx="6145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Aptos" panose="020B0004020202020204" pitchFamily="34" charset="0"/>
              </a:defRPr>
            </a:lvl1pPr>
          </a:lstStyle>
          <a:p>
            <a:r>
              <a:rPr lang="en-IN" dirty="0"/>
              <a:t>What is Docker?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12D59BA-E635-DC98-62D4-F3068350D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33" y="686293"/>
            <a:ext cx="7263783" cy="379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latin typeface="Aptos" panose="020B0004020202020204" pitchFamily="34" charset="0"/>
              </a:rPr>
              <a:t>Docker is a popular platform used to build, package and run containers.</a:t>
            </a:r>
          </a:p>
          <a:p>
            <a:pPr>
              <a:lnSpc>
                <a:spcPct val="150000"/>
              </a:lnSpc>
            </a:pPr>
            <a:endParaRPr lang="en-US" altLang="en-US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dirty="0">
                <a:latin typeface="Aptos" panose="020B0004020202020204" pitchFamily="34" charset="0"/>
              </a:rPr>
              <a:t>A simple way to remember it:</a:t>
            </a:r>
          </a:p>
          <a:p>
            <a:pPr>
              <a:lnSpc>
                <a:spcPct val="150000"/>
              </a:lnSpc>
            </a:pPr>
            <a:r>
              <a:rPr lang="en-US" altLang="en-US" b="1" dirty="0">
                <a:latin typeface="Aptos" panose="020B0004020202020204" pitchFamily="34" charset="0"/>
              </a:rPr>
              <a:t>Containerization</a:t>
            </a:r>
            <a:r>
              <a:rPr lang="en-US" altLang="en-US" dirty="0">
                <a:latin typeface="Aptos" panose="020B0004020202020204" pitchFamily="34" charset="0"/>
              </a:rPr>
              <a:t> = concept</a:t>
            </a:r>
          </a:p>
          <a:p>
            <a:pPr>
              <a:lnSpc>
                <a:spcPct val="150000"/>
              </a:lnSpc>
            </a:pPr>
            <a:r>
              <a:rPr lang="en-US" altLang="en-US" b="1" dirty="0">
                <a:latin typeface="Aptos" panose="020B0004020202020204" pitchFamily="34" charset="0"/>
              </a:rPr>
              <a:t>Docker</a:t>
            </a:r>
            <a:r>
              <a:rPr lang="en-US" altLang="en-US" dirty="0">
                <a:latin typeface="Aptos" panose="020B0004020202020204" pitchFamily="34" charset="0"/>
              </a:rPr>
              <a:t> = technology/tool used to implement that concept</a:t>
            </a:r>
          </a:p>
          <a:p>
            <a:pPr>
              <a:lnSpc>
                <a:spcPct val="150000"/>
              </a:lnSpc>
            </a:pPr>
            <a:endParaRPr lang="en-US" altLang="en-US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dirty="0">
                <a:latin typeface="Aptos" panose="020B0004020202020204" pitchFamily="34" charset="0"/>
              </a:rPr>
              <a:t>Similar to: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latin typeface="Aptos" panose="020B0004020202020204" pitchFamily="34" charset="0"/>
              </a:rPr>
              <a:t>Programming = concept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latin typeface="Aptos" panose="020B0004020202020204" pitchFamily="34" charset="0"/>
              </a:rPr>
              <a:t>Python = one technology used for programming</a:t>
            </a:r>
          </a:p>
        </p:txBody>
      </p:sp>
    </p:spTree>
    <p:extLst>
      <p:ext uri="{BB962C8B-B14F-4D97-AF65-F5344CB8AC3E}">
        <p14:creationId xmlns:p14="http://schemas.microsoft.com/office/powerpoint/2010/main" val="4116513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E625F4-EECA-FB17-CD6C-542E2477B519}"/>
              </a:ext>
            </a:extLst>
          </p:cNvPr>
          <p:cNvSpPr txBox="1"/>
          <p:nvPr/>
        </p:nvSpPr>
        <p:spPr>
          <a:xfrm>
            <a:off x="491613" y="240269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Aptos" panose="020B0004020202020204" pitchFamily="34" charset="0"/>
              </a:defRPr>
            </a:lvl1pPr>
          </a:lstStyle>
          <a:p>
            <a:r>
              <a:rPr lang="en-IN" dirty="0"/>
              <a:t>Docker Image vs Container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93382F-389C-48DA-F5C3-0A4C0F810843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F73AE-23BE-A997-68FB-9881F479A6F1}"/>
              </a:ext>
            </a:extLst>
          </p:cNvPr>
          <p:cNvSpPr txBox="1"/>
          <p:nvPr/>
        </p:nvSpPr>
        <p:spPr>
          <a:xfrm>
            <a:off x="491613" y="809917"/>
            <a:ext cx="76888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Docker Image</a:t>
            </a:r>
          </a:p>
          <a:p>
            <a:r>
              <a:rPr lang="en-US" dirty="0">
                <a:latin typeface="Aptos" panose="020B0004020202020204" pitchFamily="34" charset="0"/>
              </a:rPr>
              <a:t>An image is a </a:t>
            </a:r>
            <a:r>
              <a:rPr lang="en-US" b="1" dirty="0">
                <a:latin typeface="Aptos" panose="020B0004020202020204" pitchFamily="34" charset="0"/>
              </a:rPr>
              <a:t>packaged template</a:t>
            </a:r>
            <a:r>
              <a:rPr lang="en-US" dirty="0">
                <a:latin typeface="Aptos" panose="020B0004020202020204" pitchFamily="34" charset="0"/>
              </a:rPr>
              <a:t> from which containers are created.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b="1" dirty="0">
                <a:latin typeface="Aptos" panose="020B0004020202020204" pitchFamily="34" charset="0"/>
              </a:rPr>
              <a:t>Container</a:t>
            </a:r>
          </a:p>
          <a:p>
            <a:r>
              <a:rPr lang="en-US" dirty="0">
                <a:latin typeface="Aptos" panose="020B0004020202020204" pitchFamily="34" charset="0"/>
              </a:rPr>
              <a:t>A container is a </a:t>
            </a:r>
            <a:r>
              <a:rPr lang="en-US" b="1" dirty="0">
                <a:latin typeface="Aptos" panose="020B0004020202020204" pitchFamily="34" charset="0"/>
              </a:rPr>
              <a:t>running instance of an image</a:t>
            </a:r>
            <a:r>
              <a:rPr lang="en-US" dirty="0"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3C38F0-62BA-A747-A232-16F24B9C6FF5}"/>
              </a:ext>
            </a:extLst>
          </p:cNvPr>
          <p:cNvSpPr txBox="1"/>
          <p:nvPr/>
        </p:nvSpPr>
        <p:spPr>
          <a:xfrm>
            <a:off x="491613" y="2643851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Think about a mobile app.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ACA2BD-C11E-B6CA-807E-7605F10AB4B2}"/>
              </a:ext>
            </a:extLst>
          </p:cNvPr>
          <p:cNvSpPr txBox="1"/>
          <p:nvPr/>
        </p:nvSpPr>
        <p:spPr>
          <a:xfrm>
            <a:off x="491613" y="3106154"/>
            <a:ext cx="61451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APK/installation package</a:t>
            </a:r>
          </a:p>
          <a:p>
            <a:r>
              <a:rPr lang="en-IN" dirty="0">
                <a:latin typeface="Aptos" panose="020B0004020202020204" pitchFamily="34" charset="0"/>
              </a:rPr>
              <a:t>        ↓</a:t>
            </a:r>
          </a:p>
          <a:p>
            <a:r>
              <a:rPr lang="en-IN" dirty="0">
                <a:latin typeface="Aptos" panose="020B0004020202020204" pitchFamily="34" charset="0"/>
              </a:rPr>
              <a:t>     Installed</a:t>
            </a:r>
          </a:p>
          <a:p>
            <a:r>
              <a:rPr lang="en-IN" dirty="0">
                <a:latin typeface="Aptos" panose="020B0004020202020204" pitchFamily="34" charset="0"/>
              </a:rPr>
              <a:t>        ↓</a:t>
            </a:r>
          </a:p>
          <a:p>
            <a:r>
              <a:rPr lang="en-IN" dirty="0">
                <a:latin typeface="Aptos" panose="020B0004020202020204" pitchFamily="34" charset="0"/>
              </a:rPr>
              <a:t> Running application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5D212E-119B-A7AD-39A3-45ED04E08438}"/>
              </a:ext>
            </a:extLst>
          </p:cNvPr>
          <p:cNvSpPr txBox="1"/>
          <p:nvPr/>
        </p:nvSpPr>
        <p:spPr>
          <a:xfrm>
            <a:off x="4527755" y="3199125"/>
            <a:ext cx="61451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Docker Image</a:t>
            </a:r>
          </a:p>
          <a:p>
            <a:r>
              <a:rPr lang="en-IN" dirty="0">
                <a:latin typeface="Aptos" panose="020B0004020202020204" pitchFamily="34" charset="0"/>
              </a:rPr>
              <a:t>     ↓</a:t>
            </a:r>
          </a:p>
          <a:p>
            <a:r>
              <a:rPr lang="en-IN" dirty="0">
                <a:latin typeface="Aptos" panose="020B0004020202020204" pitchFamily="34" charset="0"/>
              </a:rPr>
              <a:t> Docker Run</a:t>
            </a:r>
          </a:p>
          <a:p>
            <a:r>
              <a:rPr lang="en-IN" dirty="0">
                <a:latin typeface="Aptos" panose="020B0004020202020204" pitchFamily="34" charset="0"/>
              </a:rPr>
              <a:t>     ↓</a:t>
            </a:r>
          </a:p>
          <a:p>
            <a:r>
              <a:rPr lang="en-IN" dirty="0">
                <a:latin typeface="Aptos" panose="020B0004020202020204" pitchFamily="34" charset="0"/>
              </a:rPr>
              <a:t>Container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48F817-68E0-F76B-02DB-67F77ABF95DB}"/>
              </a:ext>
            </a:extLst>
          </p:cNvPr>
          <p:cNvSpPr txBox="1"/>
          <p:nvPr/>
        </p:nvSpPr>
        <p:spPr>
          <a:xfrm>
            <a:off x="4508090" y="2696004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Similarly: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0E3555-E339-3543-4A74-06CA0AF1B02E}"/>
              </a:ext>
            </a:extLst>
          </p:cNvPr>
          <p:cNvSpPr txBox="1"/>
          <p:nvPr/>
        </p:nvSpPr>
        <p:spPr>
          <a:xfrm>
            <a:off x="7275871" y="3218080"/>
            <a:ext cx="66711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           Docker Image</a:t>
            </a:r>
          </a:p>
          <a:p>
            <a:r>
              <a:rPr lang="en-IN" dirty="0">
                <a:latin typeface="Aptos" panose="020B0004020202020204" pitchFamily="34" charset="0"/>
              </a:rPr>
              <a:t>     /                |             \</a:t>
            </a:r>
          </a:p>
          <a:p>
            <a:r>
              <a:rPr lang="en-IN" dirty="0">
                <a:latin typeface="Aptos" panose="020B0004020202020204" pitchFamily="34" charset="0"/>
              </a:rPr>
              <a:t>   ↓               ↓            ↓</a:t>
            </a:r>
          </a:p>
          <a:p>
            <a:r>
              <a:rPr lang="en-IN" dirty="0">
                <a:latin typeface="Aptos" panose="020B0004020202020204" pitchFamily="34" charset="0"/>
              </a:rPr>
              <a:t> Container </a:t>
            </a:r>
            <a:r>
              <a:rPr lang="en-IN" dirty="0" err="1">
                <a:latin typeface="Aptos" panose="020B0004020202020204" pitchFamily="34" charset="0"/>
              </a:rPr>
              <a:t>Container</a:t>
            </a:r>
            <a:r>
              <a:rPr lang="en-IN" dirty="0">
                <a:latin typeface="Aptos" panose="020B0004020202020204" pitchFamily="34" charset="0"/>
              </a:rPr>
              <a:t> </a:t>
            </a:r>
            <a:r>
              <a:rPr lang="en-IN" dirty="0" err="1">
                <a:latin typeface="Aptos" panose="020B0004020202020204" pitchFamily="34" charset="0"/>
              </a:rPr>
              <a:t>Container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947454-5BD9-8E55-E8D5-926511471DF8}"/>
              </a:ext>
            </a:extLst>
          </p:cNvPr>
          <p:cNvSpPr txBox="1"/>
          <p:nvPr/>
        </p:nvSpPr>
        <p:spPr>
          <a:xfrm>
            <a:off x="7275871" y="2696004"/>
            <a:ext cx="6995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One image can create multiple containers: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989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202CBB-CAF3-3517-AB5E-735993A33CF4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94082-0EB7-AA86-3DA1-7822F76FD704}"/>
              </a:ext>
            </a:extLst>
          </p:cNvPr>
          <p:cNvSpPr txBox="1"/>
          <p:nvPr/>
        </p:nvSpPr>
        <p:spPr>
          <a:xfrm>
            <a:off x="585020" y="341360"/>
            <a:ext cx="6145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Why Do We Use Docker in DevOps?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D64E83-062C-0287-774A-476B9334285A}"/>
              </a:ext>
            </a:extLst>
          </p:cNvPr>
          <p:cNvSpPr txBox="1"/>
          <p:nvPr/>
        </p:nvSpPr>
        <p:spPr>
          <a:xfrm>
            <a:off x="585020" y="990289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1. Consistency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E2D329-FA4A-2152-CF8D-A896E472B844}"/>
              </a:ext>
            </a:extLst>
          </p:cNvPr>
          <p:cNvSpPr txBox="1"/>
          <p:nvPr/>
        </p:nvSpPr>
        <p:spPr>
          <a:xfrm>
            <a:off x="2354826" y="990289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same image can be used across environments.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8C3CB7-1014-DE7F-5423-9981DAF41931}"/>
              </a:ext>
            </a:extLst>
          </p:cNvPr>
          <p:cNvSpPr txBox="1"/>
          <p:nvPr/>
        </p:nvSpPr>
        <p:spPr>
          <a:xfrm>
            <a:off x="585020" y="1491734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2. Portability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040837-EC81-1542-CD83-0DDE9CEC1861}"/>
              </a:ext>
            </a:extLst>
          </p:cNvPr>
          <p:cNvSpPr txBox="1"/>
          <p:nvPr/>
        </p:nvSpPr>
        <p:spPr>
          <a:xfrm>
            <a:off x="2354826" y="1491734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application can move between machines more easily.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1D64C5-8874-3BF9-9513-75060A81ED42}"/>
              </a:ext>
            </a:extLst>
          </p:cNvPr>
          <p:cNvSpPr txBox="1"/>
          <p:nvPr/>
        </p:nvSpPr>
        <p:spPr>
          <a:xfrm>
            <a:off x="585020" y="1973517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3. Isolation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6B22C5-2F41-9C44-5C6E-07C561C93D80}"/>
              </a:ext>
            </a:extLst>
          </p:cNvPr>
          <p:cNvSpPr txBox="1"/>
          <p:nvPr/>
        </p:nvSpPr>
        <p:spPr>
          <a:xfrm>
            <a:off x="2354826" y="1984225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Applications can run in separate containers.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9DC0B1-4157-44F8-0A37-D8327D5C426D}"/>
              </a:ext>
            </a:extLst>
          </p:cNvPr>
          <p:cNvSpPr txBox="1"/>
          <p:nvPr/>
        </p:nvSpPr>
        <p:spPr>
          <a:xfrm>
            <a:off x="585020" y="2466008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4. Fast startup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41B9C3-EBE4-E579-ECE9-349DEF7B2285}"/>
              </a:ext>
            </a:extLst>
          </p:cNvPr>
          <p:cNvSpPr txBox="1"/>
          <p:nvPr/>
        </p:nvSpPr>
        <p:spPr>
          <a:xfrm>
            <a:off x="2354826" y="2481217"/>
            <a:ext cx="86966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Containers are generally lightweight compared with traditional virtual machines.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2EBC8D-E1DA-DF56-2BA0-CC595660D9C3}"/>
              </a:ext>
            </a:extLst>
          </p:cNvPr>
          <p:cNvSpPr txBox="1"/>
          <p:nvPr/>
        </p:nvSpPr>
        <p:spPr>
          <a:xfrm>
            <a:off x="594852" y="2969239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5. Easy deployment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EEE358FD-E18F-9B6D-CE3B-6F0AA6B2D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020" y="3374876"/>
            <a:ext cx="766248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Instead of asking the deployment server: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"Please install Python, then install these 15 libraries, then configure them..."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we can deploy a prepared container image.</a:t>
            </a:r>
          </a:p>
        </p:txBody>
      </p:sp>
    </p:spTree>
    <p:extLst>
      <p:ext uri="{BB962C8B-B14F-4D97-AF65-F5344CB8AC3E}">
        <p14:creationId xmlns:p14="http://schemas.microsoft.com/office/powerpoint/2010/main" val="25363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F62F8F-0F50-6FF3-252D-6F68EAA06819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04D137-0239-F6D3-F46F-148FD51DDBE1}"/>
              </a:ext>
            </a:extLst>
          </p:cNvPr>
          <p:cNvSpPr txBox="1"/>
          <p:nvPr/>
        </p:nvSpPr>
        <p:spPr>
          <a:xfrm>
            <a:off x="467033" y="302031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Aptos" panose="020B0004020202020204" pitchFamily="34" charset="0"/>
              </a:defRPr>
            </a:lvl1pPr>
          </a:lstStyle>
          <a:p>
            <a:r>
              <a:rPr lang="en-IN" dirty="0"/>
              <a:t>What is an Artifact?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7C623C-32BA-5724-AAB3-FF1BC6EC5E32}"/>
              </a:ext>
            </a:extLst>
          </p:cNvPr>
          <p:cNvSpPr txBox="1"/>
          <p:nvPr/>
        </p:nvSpPr>
        <p:spPr>
          <a:xfrm>
            <a:off x="467033" y="920616"/>
            <a:ext cx="111448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An artifact is a build output that can be stored, transferred and used later in the software delivery process</a:t>
            </a:r>
            <a:r>
              <a:rPr lang="en-US" b="1" dirty="0">
                <a:latin typeface="Aptos" panose="020B0004020202020204" pitchFamily="34" charset="0"/>
              </a:rPr>
              <a:t>.</a:t>
            </a:r>
          </a:p>
          <a:p>
            <a:endParaRPr lang="en-US" b="1" dirty="0">
              <a:latin typeface="Aptos" panose="020B0004020202020204" pitchFamily="34" charset="0"/>
            </a:endParaRPr>
          </a:p>
          <a:p>
            <a:r>
              <a:rPr lang="en-US" b="1" dirty="0">
                <a:latin typeface="Aptos" panose="020B0004020202020204" pitchFamily="34" charset="0"/>
              </a:rPr>
              <a:t>Examples: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75A8DA-1477-81F3-96B2-F1B9D2F0074A}"/>
              </a:ext>
            </a:extLst>
          </p:cNvPr>
          <p:cNvSpPr txBox="1"/>
          <p:nvPr/>
        </p:nvSpPr>
        <p:spPr>
          <a:xfrm>
            <a:off x="467033" y="1847618"/>
            <a:ext cx="61451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Java application → .jar</a:t>
            </a:r>
          </a:p>
          <a:p>
            <a:r>
              <a:rPr lang="en-IN" dirty="0"/>
              <a:t>.NET application → .</a:t>
            </a:r>
            <a:r>
              <a:rPr lang="en-IN" dirty="0" err="1"/>
              <a:t>dll</a:t>
            </a:r>
            <a:r>
              <a:rPr lang="en-IN" dirty="0"/>
              <a:t> / published package</a:t>
            </a:r>
          </a:p>
          <a:p>
            <a:r>
              <a:rPr lang="en-IN" dirty="0"/>
              <a:t>Python application → package/archive</a:t>
            </a:r>
          </a:p>
          <a:p>
            <a:r>
              <a:rPr lang="en-IN" dirty="0"/>
              <a:t>Mobile application → APK</a:t>
            </a:r>
          </a:p>
          <a:p>
            <a:r>
              <a:rPr lang="en-IN" dirty="0" err="1"/>
              <a:t>Dockerized</a:t>
            </a:r>
            <a:r>
              <a:rPr lang="en-IN" dirty="0"/>
              <a:t> application → Docker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34B201-74ED-3568-E3A0-C358C0940098}"/>
              </a:ext>
            </a:extLst>
          </p:cNvPr>
          <p:cNvSpPr txBox="1"/>
          <p:nvPr/>
        </p:nvSpPr>
        <p:spPr>
          <a:xfrm>
            <a:off x="467033" y="3634760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How Does Docker Produce an Artifact?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E3A11A-4BD6-5ACD-1C96-B3A1B25D03E3}"/>
              </a:ext>
            </a:extLst>
          </p:cNvPr>
          <p:cNvSpPr txBox="1"/>
          <p:nvPr/>
        </p:nvSpPr>
        <p:spPr>
          <a:xfrm>
            <a:off x="683342" y="4105305"/>
            <a:ext cx="23941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0033CC"/>
                </a:solidFill>
                <a:latin typeface="Aptos" panose="020B0004020202020204" pitchFamily="34" charset="0"/>
              </a:defRPr>
            </a:lvl1pPr>
          </a:lstStyle>
          <a:p>
            <a:r>
              <a:rPr lang="en-IN" dirty="0"/>
              <a:t>Application Code</a:t>
            </a:r>
          </a:p>
          <a:p>
            <a:r>
              <a:rPr lang="en-IN" dirty="0"/>
              <a:t>       +</a:t>
            </a:r>
          </a:p>
          <a:p>
            <a:r>
              <a:rPr lang="en-IN" dirty="0" err="1"/>
              <a:t>Dockerfile</a:t>
            </a:r>
            <a:endParaRPr lang="en-IN" dirty="0"/>
          </a:p>
          <a:p>
            <a:r>
              <a:rPr lang="en-IN" dirty="0"/>
              <a:t>       ↓</a:t>
            </a:r>
          </a:p>
          <a:p>
            <a:r>
              <a:rPr lang="en-IN" dirty="0"/>
              <a:t>docker build</a:t>
            </a:r>
          </a:p>
          <a:p>
            <a:r>
              <a:rPr lang="en-IN" dirty="0"/>
              <a:t>       ↓</a:t>
            </a:r>
          </a:p>
          <a:p>
            <a:r>
              <a:rPr lang="en-IN" dirty="0"/>
              <a:t>Docker Image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84CE6F-1608-D36C-EAAA-A46489F38213}"/>
              </a:ext>
            </a:extLst>
          </p:cNvPr>
          <p:cNvSpPr txBox="1"/>
          <p:nvPr/>
        </p:nvSpPr>
        <p:spPr>
          <a:xfrm>
            <a:off x="2541638" y="4644723"/>
            <a:ext cx="9070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The </a:t>
            </a:r>
            <a:r>
              <a:rPr lang="en-US" dirty="0" err="1">
                <a:latin typeface="Aptos" panose="020B0004020202020204" pitchFamily="34" charset="0"/>
              </a:rPr>
              <a:t>Dockerfile</a:t>
            </a:r>
            <a:r>
              <a:rPr lang="en-US" dirty="0">
                <a:latin typeface="Aptos" panose="020B0004020202020204" pitchFamily="34" charset="0"/>
              </a:rPr>
              <a:t> contains instructions describing how the application should be packaged.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1B1411-BDA0-2599-EA80-5D6638C1066C}"/>
              </a:ext>
            </a:extLst>
          </p:cNvPr>
          <p:cNvSpPr txBox="1"/>
          <p:nvPr/>
        </p:nvSpPr>
        <p:spPr>
          <a:xfrm>
            <a:off x="2541638" y="5738156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The image is now a </a:t>
            </a:r>
            <a:r>
              <a:rPr lang="en-US" b="1" dirty="0">
                <a:latin typeface="Aptos" panose="020B0004020202020204" pitchFamily="34" charset="0"/>
              </a:rPr>
              <a:t>versioned deployable artifact</a:t>
            </a:r>
            <a:r>
              <a:rPr lang="en-US" dirty="0">
                <a:latin typeface="Aptos" panose="020B0004020202020204" pitchFamily="34" charset="0"/>
              </a:rPr>
              <a:t>.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090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4073A9-E385-95BC-4EE1-F5E8724CE111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EBDE3F-8468-C1E9-B29D-4C78384E8A8E}"/>
              </a:ext>
            </a:extLst>
          </p:cNvPr>
          <p:cNvSpPr txBox="1"/>
          <p:nvPr/>
        </p:nvSpPr>
        <p:spPr>
          <a:xfrm>
            <a:off x="545691" y="233205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Aptos" panose="020B0004020202020204" pitchFamily="34" charset="0"/>
              </a:defRPr>
            </a:lvl1pPr>
          </a:lstStyle>
          <a:p>
            <a:r>
              <a:rPr lang="en-IN" dirty="0"/>
              <a:t>What is Terraform?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761D70-00A9-0D7B-0770-758F346649F8}"/>
              </a:ext>
            </a:extLst>
          </p:cNvPr>
          <p:cNvSpPr txBox="1"/>
          <p:nvPr/>
        </p:nvSpPr>
        <p:spPr>
          <a:xfrm>
            <a:off x="467032" y="754315"/>
            <a:ext cx="7900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"If Docker gives us the application, why do we need Terraform?"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6F56A4B-F338-8EF4-505C-26C620316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91" y="1213870"/>
            <a:ext cx="55310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latin typeface="Aptos" panose="020B0004020202020204" pitchFamily="34" charset="0"/>
              </a:rPr>
              <a:t>Docker and Terraform solve different problems.</a:t>
            </a:r>
          </a:p>
          <a:p>
            <a:endParaRPr lang="en-US" altLang="en-US" dirty="0">
              <a:latin typeface="Aptos" panose="020B0004020202020204" pitchFamily="34" charset="0"/>
            </a:endParaRPr>
          </a:p>
          <a:p>
            <a:r>
              <a:rPr lang="en-US" altLang="en-US" dirty="0">
                <a:latin typeface="Aptos" panose="020B0004020202020204" pitchFamily="34" charset="0"/>
              </a:rPr>
              <a:t>Docker asks:</a:t>
            </a:r>
          </a:p>
          <a:p>
            <a:r>
              <a:rPr lang="en-US" altLang="en-US" dirty="0">
                <a:latin typeface="Aptos" panose="020B0004020202020204" pitchFamily="34" charset="0"/>
              </a:rPr>
              <a:t>“How do I package and run my application?”</a:t>
            </a:r>
          </a:p>
          <a:p>
            <a:endParaRPr lang="en-US" altLang="en-US" dirty="0">
              <a:latin typeface="Aptos" panose="020B0004020202020204" pitchFamily="34" charset="0"/>
            </a:endParaRPr>
          </a:p>
          <a:p>
            <a:r>
              <a:rPr lang="en-US" altLang="en-US" dirty="0">
                <a:latin typeface="Aptos" panose="020B0004020202020204" pitchFamily="34" charset="0"/>
              </a:rPr>
              <a:t>Terraform asks:</a:t>
            </a:r>
          </a:p>
          <a:p>
            <a:r>
              <a:rPr lang="en-US" altLang="en-US" dirty="0">
                <a:latin typeface="Aptos" panose="020B0004020202020204" pitchFamily="34" charset="0"/>
              </a:rPr>
              <a:t>“What infrastructure do I need to run my application?”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117BA2-6A8E-7EB0-001D-F11D1C4BD523}"/>
              </a:ext>
            </a:extLst>
          </p:cNvPr>
          <p:cNvSpPr txBox="1"/>
          <p:nvPr/>
        </p:nvSpPr>
        <p:spPr>
          <a:xfrm>
            <a:off x="7654414" y="764428"/>
            <a:ext cx="40705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Imagine opening a new restaurant.</a:t>
            </a:r>
          </a:p>
          <a:p>
            <a:r>
              <a:rPr lang="en-US" dirty="0">
                <a:latin typeface="Aptos" panose="020B0004020202020204" pitchFamily="34" charset="0"/>
              </a:rPr>
              <a:t>You need: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building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electricity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kitchen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tables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refrigerators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network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storage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8AE3A9EA-7EFC-A3E9-A373-22F5519ED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7345" y="3612277"/>
            <a:ext cx="55189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latin typeface="Aptos" panose="020B0004020202020204" pitchFamily="34" charset="0"/>
              </a:rPr>
              <a:t>Docker is like:</a:t>
            </a:r>
          </a:p>
          <a:p>
            <a:r>
              <a:rPr lang="en-US" altLang="en-US" dirty="0">
                <a:latin typeface="Aptos" panose="020B0004020202020204" pitchFamily="34" charset="0"/>
              </a:rPr>
              <a:t>Packaging the food preparation system.</a:t>
            </a:r>
          </a:p>
          <a:p>
            <a:endParaRPr lang="en-US" altLang="en-US" dirty="0">
              <a:latin typeface="Aptos" panose="020B0004020202020204" pitchFamily="34" charset="0"/>
            </a:endParaRPr>
          </a:p>
          <a:p>
            <a:r>
              <a:rPr lang="en-US" altLang="en-US" dirty="0">
                <a:latin typeface="Aptos" panose="020B0004020202020204" pitchFamily="34" charset="0"/>
              </a:rPr>
              <a:t>Terraform is like:</a:t>
            </a:r>
          </a:p>
          <a:p>
            <a:r>
              <a:rPr lang="en-US" altLang="en-US" dirty="0">
                <a:latin typeface="Aptos" panose="020B0004020202020204" pitchFamily="34" charset="0"/>
              </a:rPr>
              <a:t>Creating and configuring the restaurant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947414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F8A9F1-2DFF-BB81-8592-918874174B73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6A651-E850-04F3-825E-50EBABAA7F08}"/>
              </a:ext>
            </a:extLst>
          </p:cNvPr>
          <p:cNvSpPr txBox="1"/>
          <p:nvPr/>
        </p:nvSpPr>
        <p:spPr>
          <a:xfrm>
            <a:off x="457200" y="321695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200" b="1">
                <a:latin typeface="Aptos" panose="020B0004020202020204" pitchFamily="34" charset="0"/>
              </a:defRPr>
            </a:lvl1pPr>
          </a:lstStyle>
          <a:p>
            <a:r>
              <a:rPr lang="en-IN" dirty="0"/>
              <a:t>Terraform = Infrastructure as Code (</a:t>
            </a:r>
            <a:r>
              <a:rPr lang="en-IN" dirty="0" err="1"/>
              <a:t>IaC</a:t>
            </a:r>
            <a:r>
              <a:rPr lang="en-IN" dirty="0"/>
              <a:t>) tool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0E424-DA85-9243-24D3-1C08226DD77C}"/>
              </a:ext>
            </a:extLst>
          </p:cNvPr>
          <p:cNvSpPr txBox="1"/>
          <p:nvPr/>
        </p:nvSpPr>
        <p:spPr>
          <a:xfrm>
            <a:off x="545691" y="1029618"/>
            <a:ext cx="6145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Docker vs Terraform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BE15C8D-C6BF-C49B-AC07-57F1C2A70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520049"/>
              </p:ext>
            </p:extLst>
          </p:nvPr>
        </p:nvGraphicFramePr>
        <p:xfrm>
          <a:off x="545691" y="1668621"/>
          <a:ext cx="8229600" cy="21945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49820444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0156193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Docker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Terraform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517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Application packaging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Infrastructure provisioning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034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Builds images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Creates/manages infrastructure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689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Runs containers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Manages resources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91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Application-focused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Infrastructure-focused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648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"What should my app run inside?"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"Where/how should my app run?"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743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5525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C21409-A520-2FAF-C277-EC46AF5F95FA}"/>
              </a:ext>
            </a:extLst>
          </p:cNvPr>
          <p:cNvSpPr txBox="1"/>
          <p:nvPr/>
        </p:nvSpPr>
        <p:spPr>
          <a:xfrm>
            <a:off x="491613" y="190820"/>
            <a:ext cx="109728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One Complete Day-to-Day Analogy</a:t>
            </a:r>
          </a:p>
          <a:p>
            <a:r>
              <a:rPr lang="en-US" dirty="0"/>
              <a:t>Let's use </a:t>
            </a:r>
            <a:r>
              <a:rPr lang="en-US" b="1" dirty="0"/>
              <a:t>Amazon/Flipkart parcel delivery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Developer = Seller  =&gt; </a:t>
            </a:r>
            <a:r>
              <a:rPr lang="en-US" dirty="0"/>
              <a:t>Creates the product.</a:t>
            </a:r>
          </a:p>
          <a:p>
            <a:endParaRPr lang="en-US" b="1" dirty="0"/>
          </a:p>
          <a:p>
            <a:r>
              <a:rPr lang="en-US" b="1" dirty="0"/>
              <a:t>Git = Warehouse record =&gt; </a:t>
            </a:r>
            <a:r>
              <a:rPr lang="en-US" dirty="0"/>
              <a:t>Keeps track of product versions.</a:t>
            </a:r>
          </a:p>
          <a:p>
            <a:endParaRPr lang="en-US" b="1" dirty="0"/>
          </a:p>
          <a:p>
            <a:r>
              <a:rPr lang="en-US" b="1" dirty="0"/>
              <a:t>CI = Quality inspection =&gt; </a:t>
            </a:r>
            <a:r>
              <a:rPr lang="en-US" dirty="0"/>
              <a:t>Checks whether the product is good.</a:t>
            </a:r>
          </a:p>
          <a:p>
            <a:endParaRPr lang="en-US" b="1" dirty="0"/>
          </a:p>
          <a:p>
            <a:r>
              <a:rPr lang="en-US" b="1" dirty="0"/>
              <a:t>Docker = Packaging department =&gt; </a:t>
            </a:r>
            <a:r>
              <a:rPr lang="en-US" dirty="0"/>
              <a:t>Packages everything required into one standard package.</a:t>
            </a:r>
          </a:p>
          <a:p>
            <a:endParaRPr lang="en-US" b="1" dirty="0"/>
          </a:p>
          <a:p>
            <a:r>
              <a:rPr lang="en-US" b="1" dirty="0"/>
              <a:t>Docker Image = Sealed parcel =&gt; </a:t>
            </a:r>
            <a:r>
              <a:rPr lang="en-US" dirty="0"/>
              <a:t>The finished package is the </a:t>
            </a:r>
            <a:r>
              <a:rPr lang="en-US" b="1" dirty="0"/>
              <a:t>artifact</a:t>
            </a:r>
            <a:r>
              <a:rPr lang="en-US" dirty="0"/>
              <a:t>.</a:t>
            </a:r>
          </a:p>
          <a:p>
            <a:endParaRPr lang="en-US" b="1" dirty="0"/>
          </a:p>
          <a:p>
            <a:r>
              <a:rPr lang="en-US" b="1" dirty="0"/>
              <a:t>Artifact Registry = Warehouse =&gt; </a:t>
            </a:r>
            <a:r>
              <a:rPr lang="en-US" dirty="0"/>
              <a:t>Stores approved packages.</a:t>
            </a:r>
          </a:p>
          <a:p>
            <a:endParaRPr lang="en-US" b="1" dirty="0"/>
          </a:p>
          <a:p>
            <a:r>
              <a:rPr lang="en-US" b="1" dirty="0"/>
              <a:t>Terraform = Warehouse/facility setup team =&gt; </a:t>
            </a:r>
            <a:r>
              <a:rPr lang="en-US" dirty="0"/>
              <a:t>Creates the infrastructure needed to operate the system.</a:t>
            </a:r>
          </a:p>
          <a:p>
            <a:endParaRPr lang="en-US" b="1" dirty="0"/>
          </a:p>
          <a:p>
            <a:r>
              <a:rPr lang="en-US" b="1" dirty="0"/>
              <a:t>CD = Delivery system =&gt; </a:t>
            </a:r>
            <a:r>
              <a:rPr lang="en-US" dirty="0"/>
              <a:t>Takes the approved package and sends it to the destination.</a:t>
            </a:r>
          </a:p>
          <a:p>
            <a:endParaRPr lang="en-US" b="1" dirty="0"/>
          </a:p>
          <a:p>
            <a:r>
              <a:rPr lang="en-US" b="1" dirty="0"/>
              <a:t>Container = Product being used =&gt; </a:t>
            </a:r>
            <a:r>
              <a:rPr lang="en-US" dirty="0"/>
              <a:t>The packaged software is now running.</a:t>
            </a:r>
          </a:p>
          <a:p>
            <a:endParaRPr lang="en-US" b="1" dirty="0"/>
          </a:p>
          <a:p>
            <a:r>
              <a:rPr lang="en-US" b="1" dirty="0"/>
              <a:t>Monitoring = Customer feedback =&gt; </a:t>
            </a:r>
            <a:r>
              <a:rPr lang="en-US" dirty="0"/>
              <a:t>Checks whether everything is working properly.</a:t>
            </a:r>
          </a:p>
          <a:p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757A73-BAAB-CDB3-21A8-81E06581CB63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496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438010-1330-BAC7-746A-886618205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938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1088</Words>
  <Application>Microsoft Office PowerPoint</Application>
  <PresentationFormat>Widescreen</PresentationFormat>
  <Paragraphs>247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Aruna Inamdar</cp:lastModifiedBy>
  <cp:revision>53</cp:revision>
  <dcterms:created xsi:type="dcterms:W3CDTF">2013-01-27T09:14:16Z</dcterms:created>
  <dcterms:modified xsi:type="dcterms:W3CDTF">2026-09-06T09:56:32Z</dcterms:modified>
  <cp:category/>
</cp:coreProperties>
</file>