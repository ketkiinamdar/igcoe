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9"/>
  </p:notesMasterIdLst>
  <p:handoutMasterIdLst>
    <p:handoutMasterId r:id="rId10"/>
  </p:handoutMasterIdLst>
  <p:sldIdLst>
    <p:sldId id="257" r:id="rId2"/>
    <p:sldId id="263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9/1/2026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9/1/2026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Practical – 6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DevOps – Part 2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A95860-EF6E-ECB0-DC9D-F3D97AB51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5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0F380C-89E7-D859-9F56-7A01C106B70D}"/>
              </a:ext>
            </a:extLst>
          </p:cNvPr>
          <p:cNvSpPr txBox="1"/>
          <p:nvPr/>
        </p:nvSpPr>
        <p:spPr>
          <a:xfrm>
            <a:off x="405780" y="332656"/>
            <a:ext cx="10513168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🎯 Objective</a:t>
            </a:r>
          </a:p>
          <a:p>
            <a:r>
              <a:rPr lang="en-IN" sz="2000" dirty="0">
                <a:latin typeface="Aptos" panose="020B0004020202020204" pitchFamily="34" charset="0"/>
              </a:rPr>
              <a:t>Develop a simple Python application that calculates a student's </a:t>
            </a:r>
            <a:r>
              <a:rPr lang="en-IN" sz="2000" b="1" dirty="0">
                <a:latin typeface="Aptos" panose="020B0004020202020204" pitchFamily="34" charset="0"/>
              </a:rPr>
              <a:t>total marks, percentage, and grade</a:t>
            </a:r>
            <a:r>
              <a:rPr lang="en-IN" sz="2000" dirty="0">
                <a:latin typeface="Aptos" panose="020B0004020202020204" pitchFamily="34" charset="0"/>
              </a:rPr>
              <a:t> based on marks obtained in 5 subjects.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Implement the requirement using an Agile/DevOps workflow:</a:t>
            </a:r>
          </a:p>
          <a:p>
            <a:r>
              <a:rPr lang="en-IN" sz="2000" b="1" dirty="0">
                <a:latin typeface="Aptos" panose="020B0004020202020204" pitchFamily="34" charset="0"/>
              </a:rPr>
              <a:t>Jira User Story → Python Code → GitHub → GitHub Actions CI Pipeline → Automated Execution</a:t>
            </a:r>
            <a:endParaRPr lang="en-IN" sz="2000" dirty="0">
              <a:latin typeface="Aptos" panose="020B0004020202020204" pitchFamily="34" charset="0"/>
            </a:endParaRPr>
          </a:p>
          <a:p>
            <a:pPr>
              <a:lnSpc>
                <a:spcPct val="95000"/>
              </a:lnSpc>
            </a:pPr>
            <a:endParaRPr lang="en-IN" sz="20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614A9-2D9F-614D-06CA-58FF4D6DBC22}"/>
              </a:ext>
            </a:extLst>
          </p:cNvPr>
          <p:cNvSpPr txBox="1"/>
          <p:nvPr/>
        </p:nvSpPr>
        <p:spPr>
          <a:xfrm>
            <a:off x="405780" y="2871813"/>
            <a:ext cx="109452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📌 Problem Statement</a:t>
            </a:r>
          </a:p>
          <a:p>
            <a:endParaRPr lang="en-IN" dirty="0"/>
          </a:p>
          <a:p>
            <a:r>
              <a:rPr lang="en-US" b="0" dirty="0"/>
              <a:t>As a student, I want an application that accepts my marks in five subjects and calculates my total marks, percentage, and grade, so that I can quickly understand my academic performance.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6F006-84D4-ECF7-D714-8D10519AB064}"/>
              </a:ext>
            </a:extLst>
          </p:cNvPr>
          <p:cNvSpPr txBox="1"/>
          <p:nvPr/>
        </p:nvSpPr>
        <p:spPr>
          <a:xfrm>
            <a:off x="405780" y="4653136"/>
            <a:ext cx="2227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Expected Output: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75642-27CA-A0D7-2309-383B64938771}"/>
              </a:ext>
            </a:extLst>
          </p:cNvPr>
          <p:cNvSpPr txBox="1"/>
          <p:nvPr/>
        </p:nvSpPr>
        <p:spPr>
          <a:xfrm>
            <a:off x="405780" y="5199093"/>
            <a:ext cx="25605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IN" b="0" dirty="0"/>
              <a:t>Total Marks: 418/500</a:t>
            </a:r>
          </a:p>
          <a:p>
            <a:r>
              <a:rPr lang="en-IN" b="0" dirty="0"/>
              <a:t>Percentage: 83.6%</a:t>
            </a:r>
          </a:p>
          <a:p>
            <a:r>
              <a:rPr lang="en-IN" b="0" dirty="0"/>
              <a:t>Grade: A</a:t>
            </a:r>
          </a:p>
        </p:txBody>
      </p:sp>
    </p:spTree>
    <p:extLst>
      <p:ext uri="{BB962C8B-B14F-4D97-AF65-F5344CB8AC3E}">
        <p14:creationId xmlns:p14="http://schemas.microsoft.com/office/powerpoint/2010/main" val="364064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5A69F3-1A00-F700-0B95-B65B300C99D9}"/>
              </a:ext>
            </a:extLst>
          </p:cNvPr>
          <p:cNvSpPr txBox="1"/>
          <p:nvPr/>
        </p:nvSpPr>
        <p:spPr>
          <a:xfrm>
            <a:off x="693812" y="260648"/>
            <a:ext cx="8496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Step 1 – Create Jira User Story, subtasks and estimate the same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12A29-C291-1651-F2C7-04450E6307FC}"/>
              </a:ext>
            </a:extLst>
          </p:cNvPr>
          <p:cNvSpPr txBox="1"/>
          <p:nvPr/>
        </p:nvSpPr>
        <p:spPr>
          <a:xfrm>
            <a:off x="693812" y="1052736"/>
            <a:ext cx="1065718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IN" b="0" dirty="0"/>
              <a:t>Summary:</a:t>
            </a:r>
          </a:p>
          <a:p>
            <a:r>
              <a:rPr lang="en-IN" b="0" dirty="0"/>
              <a:t>Develop Student Grade Calculator</a:t>
            </a:r>
          </a:p>
          <a:p>
            <a:endParaRPr lang="en-IN" b="0" dirty="0"/>
          </a:p>
          <a:p>
            <a:r>
              <a:rPr lang="en-IN" b="0" dirty="0"/>
              <a:t>Description:</a:t>
            </a:r>
          </a:p>
          <a:p>
            <a:r>
              <a:rPr lang="en-US" b="0" dirty="0"/>
              <a:t>As a student, I want to calculate my total marks, percentage and grade from five subject marks so that I can easily evaluate my academic performance.</a:t>
            </a:r>
          </a:p>
          <a:p>
            <a:endParaRPr lang="en-IN" b="0" dirty="0"/>
          </a:p>
          <a:p>
            <a:r>
              <a:rPr lang="en-IN" b="0" dirty="0"/>
              <a:t>Acceptance Criteria:</a:t>
            </a:r>
          </a:p>
          <a:p>
            <a:r>
              <a:rPr lang="en-US" b="0" dirty="0"/>
              <a:t> Program accepts marks for 5 subjects.</a:t>
            </a:r>
          </a:p>
          <a:p>
            <a:r>
              <a:rPr lang="en-IN" b="0" dirty="0"/>
              <a:t> Program calculates total marks.</a:t>
            </a:r>
          </a:p>
          <a:p>
            <a:r>
              <a:rPr lang="en-IN" b="0" dirty="0"/>
              <a:t> Program calculates percentage.</a:t>
            </a:r>
          </a:p>
          <a:p>
            <a:r>
              <a:rPr lang="en-US" b="0" dirty="0"/>
              <a:t> Program displays the appropriate grade.</a:t>
            </a:r>
          </a:p>
          <a:p>
            <a:r>
              <a:rPr lang="en-US" b="0" dirty="0"/>
              <a:t> Program displays the final result clearly.</a:t>
            </a:r>
          </a:p>
          <a:p>
            <a:r>
              <a:rPr lang="en-US" b="0" dirty="0"/>
              <a:t> Python program executes without errors.</a:t>
            </a:r>
          </a:p>
          <a:p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24540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BEFF2F-601B-44E0-B8D6-70C8B82A3FAB}"/>
              </a:ext>
            </a:extLst>
          </p:cNvPr>
          <p:cNvSpPr txBox="1"/>
          <p:nvPr/>
        </p:nvSpPr>
        <p:spPr>
          <a:xfrm>
            <a:off x="981844" y="404664"/>
            <a:ext cx="5245347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Step 2 – Create GitHub Repository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92C79-5BC8-25B2-CE01-88A4BEEB97B3}"/>
              </a:ext>
            </a:extLst>
          </p:cNvPr>
          <p:cNvSpPr txBox="1"/>
          <p:nvPr/>
        </p:nvSpPr>
        <p:spPr>
          <a:xfrm>
            <a:off x="981844" y="980728"/>
            <a:ext cx="2786340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Repository name: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9469F-1678-C020-DB4B-64869056E06C}"/>
              </a:ext>
            </a:extLst>
          </p:cNvPr>
          <p:cNvSpPr txBox="1"/>
          <p:nvPr/>
        </p:nvSpPr>
        <p:spPr>
          <a:xfrm>
            <a:off x="3141066" y="980728"/>
            <a:ext cx="6097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student-grade-calculator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EE939-7D62-5F0D-BA9D-B2BCED7B40EA}"/>
              </a:ext>
            </a:extLst>
          </p:cNvPr>
          <p:cNvSpPr txBox="1"/>
          <p:nvPr/>
        </p:nvSpPr>
        <p:spPr>
          <a:xfrm>
            <a:off x="981844" y="1556792"/>
            <a:ext cx="3286477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Folder/Files structure: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6BDAE-E388-1765-7059-17DCF34D66CF}"/>
              </a:ext>
            </a:extLst>
          </p:cNvPr>
          <p:cNvSpPr txBox="1"/>
          <p:nvPr/>
        </p:nvSpPr>
        <p:spPr>
          <a:xfrm>
            <a:off x="2047712" y="2132856"/>
            <a:ext cx="60975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ptos" panose="020B0004020202020204" pitchFamily="34" charset="0"/>
              </a:rPr>
              <a:t>student-grade-calculator/</a:t>
            </a:r>
          </a:p>
          <a:p>
            <a:r>
              <a:rPr lang="en-IN" sz="2000" dirty="0">
                <a:latin typeface="Aptos" panose="020B0004020202020204" pitchFamily="34" charset="0"/>
              </a:rPr>
              <a:t>│</a:t>
            </a:r>
          </a:p>
          <a:p>
            <a:r>
              <a:rPr lang="en-IN" sz="2000" dirty="0">
                <a:latin typeface="Aptos" panose="020B0004020202020204" pitchFamily="34" charset="0"/>
              </a:rPr>
              <a:t> |── grade_calculator.py</a:t>
            </a:r>
          </a:p>
          <a:p>
            <a:r>
              <a:rPr lang="en-IN" sz="2000" dirty="0">
                <a:latin typeface="Aptos" panose="020B0004020202020204" pitchFamily="34" charset="0"/>
              </a:rPr>
              <a:t>└── .</a:t>
            </a:r>
            <a:r>
              <a:rPr lang="en-IN" sz="2000" dirty="0" err="1">
                <a:latin typeface="Aptos" panose="020B0004020202020204" pitchFamily="34" charset="0"/>
              </a:rPr>
              <a:t>github</a:t>
            </a:r>
            <a:r>
              <a:rPr lang="en-IN" sz="2000" dirty="0">
                <a:latin typeface="Aptos" panose="020B0004020202020204" pitchFamily="34" charset="0"/>
              </a:rPr>
              <a:t>/</a:t>
            </a:r>
          </a:p>
          <a:p>
            <a:r>
              <a:rPr lang="en-IN" sz="2000" dirty="0">
                <a:latin typeface="Aptos" panose="020B0004020202020204" pitchFamily="34" charset="0"/>
              </a:rPr>
              <a:t>    └── workflows/</a:t>
            </a:r>
          </a:p>
          <a:p>
            <a:r>
              <a:rPr lang="en-IN" sz="2000" dirty="0">
                <a:latin typeface="Aptos" panose="020B0004020202020204" pitchFamily="34" charset="0"/>
              </a:rPr>
              <a:t>        └── python-</a:t>
            </a:r>
            <a:r>
              <a:rPr lang="en-IN" sz="2000" dirty="0" err="1">
                <a:latin typeface="Aptos" panose="020B0004020202020204" pitchFamily="34" charset="0"/>
              </a:rPr>
              <a:t>ci.yml</a:t>
            </a:r>
            <a:endParaRPr lang="en-IN" sz="2000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268D9-BAD9-FE76-86ED-04A68C985FD7}"/>
              </a:ext>
            </a:extLst>
          </p:cNvPr>
          <p:cNvSpPr txBox="1"/>
          <p:nvPr/>
        </p:nvSpPr>
        <p:spPr>
          <a:xfrm>
            <a:off x="981844" y="4623811"/>
            <a:ext cx="6097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Step 3 – Write Python Program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03B43A-E719-A46F-1280-FF503B84E267}"/>
              </a:ext>
            </a:extLst>
          </p:cNvPr>
          <p:cNvSpPr txBox="1"/>
          <p:nvPr/>
        </p:nvSpPr>
        <p:spPr>
          <a:xfrm>
            <a:off x="981844" y="5229200"/>
            <a:ext cx="6097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Step 4 – Push Code to GitHub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BBE394-E0B5-E951-8FEA-1F906EC51DED}"/>
              </a:ext>
            </a:extLst>
          </p:cNvPr>
          <p:cNvSpPr txBox="1"/>
          <p:nvPr/>
        </p:nvSpPr>
        <p:spPr>
          <a:xfrm>
            <a:off x="959025" y="5846963"/>
            <a:ext cx="5066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Step 5 – Create GitHub Actions CI Pipeline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888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C14751-047E-ED74-4391-E0FD51D29239}"/>
              </a:ext>
            </a:extLst>
          </p:cNvPr>
          <p:cNvSpPr txBox="1"/>
          <p:nvPr/>
        </p:nvSpPr>
        <p:spPr>
          <a:xfrm>
            <a:off x="909836" y="260648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Step 6 - </a:t>
            </a:r>
            <a:r>
              <a:rPr lang="en-IN" dirty="0"/>
              <a:t>Create the </a:t>
            </a:r>
            <a:r>
              <a:rPr lang="en-IN" dirty="0" err="1"/>
              <a:t>pytest</a:t>
            </a:r>
            <a:r>
              <a:rPr lang="en-IN" dirty="0"/>
              <a:t> file to test student grade calculation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5A038B-2187-7EEA-081A-1A7324956719}"/>
              </a:ext>
            </a:extLst>
          </p:cNvPr>
          <p:cNvSpPr txBox="1"/>
          <p:nvPr/>
        </p:nvSpPr>
        <p:spPr>
          <a:xfrm>
            <a:off x="919877" y="764704"/>
            <a:ext cx="6097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Step 7 - Add </a:t>
            </a:r>
            <a:r>
              <a:rPr lang="en-US" dirty="0" err="1"/>
              <a:t>pytest</a:t>
            </a:r>
            <a:r>
              <a:rPr lang="en-US" dirty="0"/>
              <a:t> to GitHub Actions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75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610FDF-1060-0BFF-2313-C434BE226D8F}"/>
              </a:ext>
            </a:extLst>
          </p:cNvPr>
          <p:cNvSpPr txBox="1"/>
          <p:nvPr/>
        </p:nvSpPr>
        <p:spPr>
          <a:xfrm>
            <a:off x="3214092" y="44624"/>
            <a:ext cx="609755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name: Python CI</a:t>
            </a:r>
          </a:p>
          <a:p>
            <a:r>
              <a:rPr lang="en-IN" sz="1600" dirty="0">
                <a:latin typeface="Aptos" panose="020B0004020202020204" pitchFamily="34" charset="0"/>
              </a:rPr>
              <a:t>on: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push: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branches: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- main</a:t>
            </a:r>
          </a:p>
          <a:p>
            <a:r>
              <a:rPr lang="en-IN" sz="1600" dirty="0">
                <a:latin typeface="Aptos" panose="020B0004020202020204" pitchFamily="34" charset="0"/>
              </a:rPr>
              <a:t>jobs: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calculate: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runs-on: ubuntu-latest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steps: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- name: Checkout Code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 uses: actions/checkout@v4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  - name: Setup Python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 uses: actions/setup-python@v5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 with: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   python-version: '3.12'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  - name: Install </a:t>
            </a:r>
            <a:r>
              <a:rPr lang="en-IN" sz="1600" dirty="0" err="1">
                <a:latin typeface="Aptos" panose="020B0004020202020204" pitchFamily="34" charset="0"/>
              </a:rPr>
              <a:t>Pytest</a:t>
            </a:r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    run: pip install </a:t>
            </a:r>
            <a:r>
              <a:rPr lang="en-IN" sz="1600" dirty="0" err="1">
                <a:latin typeface="Aptos" panose="020B0004020202020204" pitchFamily="34" charset="0"/>
              </a:rPr>
              <a:t>pytest</a:t>
            </a:r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</a:t>
            </a:r>
          </a:p>
          <a:p>
            <a:r>
              <a:rPr lang="pt-BR" sz="1600" dirty="0">
                <a:latin typeface="Aptos" panose="020B0004020202020204" pitchFamily="34" charset="0"/>
              </a:rPr>
              <a:t>     - name: Run Python Program        </a:t>
            </a:r>
          </a:p>
          <a:p>
            <a:r>
              <a:rPr lang="pt-BR" sz="1600" dirty="0">
                <a:latin typeface="Aptos" panose="020B0004020202020204" pitchFamily="34" charset="0"/>
              </a:rPr>
              <a:t>        run: |          </a:t>
            </a:r>
          </a:p>
          <a:p>
            <a:r>
              <a:rPr lang="pt-BR" sz="1600" dirty="0">
                <a:latin typeface="Aptos" panose="020B0004020202020204" pitchFamily="34" charset="0"/>
              </a:rPr>
              <a:t>            echo -e "85\n78\n92\n88\n75" | python grade_calculator.py</a:t>
            </a:r>
            <a:endParaRPr lang="en-IN" sz="1600" dirty="0"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  - name: Run Tests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 run: </a:t>
            </a:r>
            <a:r>
              <a:rPr lang="en-IN" sz="1600" dirty="0" err="1">
                <a:latin typeface="Aptos" panose="020B0004020202020204" pitchFamily="34" charset="0"/>
              </a:rPr>
              <a:t>pytest</a:t>
            </a:r>
            <a:endParaRPr lang="en-IN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34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1171</TotalTime>
  <Words>410</Words>
  <Application>Microsoft Office PowerPoint</Application>
  <PresentationFormat>Custom</PresentationFormat>
  <Paragraphs>71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Century Gothic</vt:lpstr>
      <vt:lpstr>Class open house presentation</vt:lpstr>
      <vt:lpstr>Practical – 6  DevOps – Part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193</cp:revision>
  <dcterms:created xsi:type="dcterms:W3CDTF">2026-07-15T13:08:00Z</dcterms:created>
  <dcterms:modified xsi:type="dcterms:W3CDTF">2026-09-01T03:31:06Z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