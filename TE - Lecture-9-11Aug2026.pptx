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14"/>
  </p:notesMasterIdLst>
  <p:handoutMasterIdLst>
    <p:handoutMasterId r:id="rId15"/>
  </p:handoutMasterIdLst>
  <p:sldIdLst>
    <p:sldId id="257" r:id="rId2"/>
    <p:sldId id="267" r:id="rId3"/>
    <p:sldId id="268" r:id="rId4"/>
    <p:sldId id="269" r:id="rId5"/>
    <p:sldId id="270" r:id="rId6"/>
    <p:sldId id="271" r:id="rId7"/>
    <p:sldId id="272" r:id="rId8"/>
    <p:sldId id="273" r:id="rId9"/>
    <p:sldId id="274" r:id="rId10"/>
    <p:sldId id="275" r:id="rId11"/>
    <p:sldId id="276" r:id="rId12"/>
    <p:sldId id="277" r:id="rId1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82" autoAdjust="0"/>
  </p:normalViewPr>
  <p:slideViewPr>
    <p:cSldViewPr showGuides="1">
      <p:cViewPr varScale="1">
        <p:scale>
          <a:sx n="82" d="100"/>
          <a:sy n="82" d="100"/>
        </p:scale>
        <p:origin x="720" y="72"/>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2886"/>
    </p:cViewPr>
  </p:outlineViewPr>
  <p:notesTextViewPr>
    <p:cViewPr>
      <p:scale>
        <a:sx n="3" d="2"/>
        <a:sy n="3" d="2"/>
      </p:scale>
      <p:origin x="0" y="0"/>
    </p:cViewPr>
  </p:notesTextViewPr>
  <p:notesViewPr>
    <p:cSldViewPr>
      <p:cViewPr varScale="1">
        <p:scale>
          <a:sx n="79" d="100"/>
          <a:sy n="79" d="100"/>
        </p:scale>
        <p:origin x="164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8/10/2026</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8/10/2026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1</a:t>
            </a:fld>
            <a:endParaRPr lang="en-US"/>
          </a:p>
        </p:txBody>
      </p:sp>
    </p:spTree>
    <p:extLst>
      <p:ext uri="{BB962C8B-B14F-4D97-AF65-F5344CB8AC3E}">
        <p14:creationId xmlns:p14="http://schemas.microsoft.com/office/powerpoint/2010/main" val="16077057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p:cNvGrpSpPr/>
          <p:nvPr/>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42741" cy="6858000"/>
              <a:chOff x="0" y="0"/>
              <a:chExt cx="4742741" cy="6858000"/>
            </a:xfrm>
          </p:grpSpPr>
          <p:pic>
            <p:nvPicPr>
              <p:cNvPr id="9" name="Picture 8"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605581"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5706A09E-12D5-4B1D-B8BB-C300B1DDD423}" type="datetime1">
              <a:rPr lang="en-US" smtClean="0"/>
              <a:t>8/10/2026</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322012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5A9377B-053C-438C-8A98-92C419A6701C}" type="datetime1">
              <a:rPr lang="en-US" smtClean="0"/>
              <a:t>8/10/2026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DA60BA0E-20D0-4E7C-B286-26C960A6788F}" type="slidenum">
              <a:rPr lang="en-US" smtClean="0"/>
              <a:t>‹#›</a:t>
            </a:fld>
            <a:endParaRPr lang="en-US"/>
          </a:p>
        </p:txBody>
      </p:sp>
    </p:spTree>
    <p:extLst>
      <p:ext uri="{BB962C8B-B14F-4D97-AF65-F5344CB8AC3E}">
        <p14:creationId xmlns:p14="http://schemas.microsoft.com/office/powerpoint/2010/main" val="286535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B07CEF46-0123-4A75-9835-49DC49D53DE2}" type="datetime1">
              <a:rPr lang="en-US" smtClean="0"/>
              <a:t>8/10/2026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0525827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buFont typeface="Century Gothic" panose="020B0502020202020204" pitchFamily="34" charset="0"/>
              <a:buChar char="–"/>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8"/>
            <a:endParaRPr dirty="0"/>
          </a:p>
        </p:txBody>
      </p:sp>
      <p:sp>
        <p:nvSpPr>
          <p:cNvPr id="4" name="Content Placeholder 3"/>
          <p:cNvSpPr>
            <a:spLocks noGrp="1"/>
          </p:cNvSpPr>
          <p:nvPr>
            <p:ph sz="half" idx="2" hasCustomPrompt="1"/>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p>
            <a:fld id="{62A6378D-18AE-47D1-B10A-42F623B40082}" type="datetime1">
              <a:rPr lang="en-US" smtClean="0"/>
              <a:t>8/10/2026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02504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hasCustomPrompt="1"/>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hasCustomPrompt="1"/>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p>
            <a:fld id="{321F6AE8-D704-41F6-B16A-5547B5672AC1}" type="datetime1">
              <a:rPr lang="en-US" smtClean="0"/>
              <a:t>8/10/2026</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92007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8AB9538-6F63-4C0B-916D-ED3F4E0A1B28}" type="datetime1">
              <a:rPr lang="en-US" smtClean="0"/>
              <a:t>8/10/2026</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30484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F15BF-7116-4A9E-8022-5A2DC937F971}" type="datetime1">
              <a:rPr lang="en-US" smtClean="0"/>
              <a:t>8/10/2026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1950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hasCustomPrompt="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marL="2418976" indent="-285750">
              <a:buFont typeface="Century Gothic" panose="020B0502020202020204" pitchFamily="34" charset="0"/>
              <a:buChar cha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1B8DC91-5A3B-40CE-8C1D-279A8EF6E008}" type="datetime1">
              <a:rPr lang="en-US" smtClean="0"/>
              <a:t>8/10/2026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789110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36B7C20A-B94A-4E20-B4B2-88A7825AE904}" type="datetime1">
              <a:rPr lang="en-US" smtClean="0"/>
              <a:t>8/10/2026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3521372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D91CA53D-4C84-40AA-983E-A1E818A7FEFC}" type="datetime1">
              <a:rPr lang="en-US" smtClean="0"/>
              <a:t>8/10/2026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181761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a:p>
        </p:txBody>
      </p:sp>
      <p:sp>
        <p:nvSpPr>
          <p:cNvPr id="3" name="Vertical Text Placeholder 2"/>
          <p:cNvSpPr>
            <a:spLocks noGrp="1"/>
          </p:cNvSpPr>
          <p:nvPr>
            <p:ph type="body" orient="vert" idx="1" hasCustomPrompt="1"/>
          </p:nvPr>
        </p:nvSpPr>
        <p:spPr>
          <a:xfrm>
            <a:off x="1117309" y="274638"/>
            <a:ext cx="8532178" cy="5897561"/>
          </a:xfrm>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C8E2FCEE-AE66-4EAB-9C04-97F8A56A6354}" type="datetime1">
              <a:rPr lang="en-US" smtClean="0"/>
              <a:t>8/10/2026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372369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859468AF-EFCF-4AAD-ACF4-3BA83EC4AF4E}" type="datetime1">
              <a:rPr lang="en-US" smtClean="0"/>
              <a:pPr/>
              <a:t>8/10/2026</a:t>
            </a:fld>
            <a:endParaRPr lang="en-US" dirty="0"/>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2060187724"/>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133226" indent="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None/>
        <a:defRPr sz="1800" kern="1200">
          <a:solidFill>
            <a:schemeClr val="tx2">
              <a:lumMod val="50000"/>
            </a:schemeClr>
          </a:solidFill>
          <a:latin typeface="+mn-lt"/>
          <a:ea typeface="+mn-ea"/>
          <a:cs typeface="+mn-cs"/>
        </a:defRPr>
      </a:lvl6pPr>
      <a:lvl7pPr marL="284562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7pPr>
      <a:lvl8pPr marL="3272267"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8pPr>
      <a:lvl9pPr marL="375986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DevOps</a:t>
            </a:r>
            <a:endParaRPr lang="en-US" dirty="0"/>
          </a:p>
        </p:txBody>
      </p:sp>
      <p:sp>
        <p:nvSpPr>
          <p:cNvPr id="5" name="Subtitle 4"/>
          <p:cNvSpPr>
            <a:spLocks noGrp="1"/>
          </p:cNvSpPr>
          <p:nvPr>
            <p:ph type="subTitle" idx="1"/>
          </p:nvPr>
        </p:nvSpPr>
        <p:spPr>
          <a:xfrm>
            <a:off x="4879346" y="4941168"/>
            <a:ext cx="7008574" cy="1244600"/>
          </a:xfrm>
        </p:spPr>
        <p:txBody>
          <a:bodyPr/>
          <a:lstStyle/>
          <a:p>
            <a:r>
              <a:rPr lang="en-US" dirty="0"/>
              <a:t>Aruna Kumbhar</a:t>
            </a:r>
          </a:p>
        </p:txBody>
      </p:sp>
    </p:spTree>
    <p:extLst>
      <p:ext uri="{BB962C8B-B14F-4D97-AF65-F5344CB8AC3E}">
        <p14:creationId xmlns:p14="http://schemas.microsoft.com/office/powerpoint/2010/main" val="16898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3744-82BD-18CD-BD9F-BA4F2D7917BD}"/>
              </a:ext>
            </a:extLst>
          </p:cNvPr>
          <p:cNvSpPr>
            <a:spLocks noGrp="1"/>
          </p:cNvSpPr>
          <p:nvPr>
            <p:ph type="title"/>
          </p:nvPr>
        </p:nvSpPr>
        <p:spPr>
          <a:xfrm>
            <a:off x="1117309" y="76200"/>
            <a:ext cx="10157354" cy="904528"/>
          </a:xfrm>
        </p:spPr>
        <p:txBody>
          <a:bodyPr/>
          <a:lstStyle/>
          <a:p>
            <a:r>
              <a:rPr lang="en-IN" dirty="0"/>
              <a:t>Revise</a:t>
            </a:r>
          </a:p>
        </p:txBody>
      </p:sp>
      <p:sp>
        <p:nvSpPr>
          <p:cNvPr id="3" name="Content Placeholder 2">
            <a:extLst>
              <a:ext uri="{FF2B5EF4-FFF2-40B4-BE49-F238E27FC236}">
                <a16:creationId xmlns:a16="http://schemas.microsoft.com/office/drawing/2014/main" id="{2D861C79-8EB4-E7B5-84F2-09F2C4AB619D}"/>
              </a:ext>
            </a:extLst>
          </p:cNvPr>
          <p:cNvSpPr>
            <a:spLocks noGrp="1"/>
          </p:cNvSpPr>
          <p:nvPr>
            <p:ph idx="1"/>
          </p:nvPr>
        </p:nvSpPr>
        <p:spPr>
          <a:xfrm>
            <a:off x="909836" y="1193800"/>
            <a:ext cx="10157354" cy="4470400"/>
          </a:xfrm>
        </p:spPr>
        <p:txBody>
          <a:bodyPr>
            <a:normAutofit/>
          </a:bodyPr>
          <a:lstStyle/>
          <a:p>
            <a:r>
              <a:rPr lang="en-IN" dirty="0"/>
              <a:t>Advanced Agile Estimation</a:t>
            </a:r>
          </a:p>
          <a:p>
            <a:r>
              <a:rPr lang="en-IN" dirty="0"/>
              <a:t>Agile Metrics</a:t>
            </a:r>
          </a:p>
          <a:p>
            <a:r>
              <a:rPr lang="en-IN" dirty="0"/>
              <a:t>Agile Quality Assurance</a:t>
            </a:r>
          </a:p>
          <a:p>
            <a:r>
              <a:rPr lang="en-IN" dirty="0"/>
              <a:t>Software Testing – Functional Testing, UI Testing, Performance Testing, Security Testing</a:t>
            </a:r>
          </a:p>
          <a:p>
            <a:r>
              <a:rPr lang="en-IN" dirty="0"/>
              <a:t>Agile Testing Quadrants</a:t>
            </a:r>
          </a:p>
          <a:p>
            <a:r>
              <a:rPr lang="en-IN" dirty="0"/>
              <a:t>Test Automation Pyramid</a:t>
            </a:r>
          </a:p>
        </p:txBody>
      </p:sp>
    </p:spTree>
    <p:extLst>
      <p:ext uri="{BB962C8B-B14F-4D97-AF65-F5344CB8AC3E}">
        <p14:creationId xmlns:p14="http://schemas.microsoft.com/office/powerpoint/2010/main" val="3102947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D85C06-1825-0DA2-0857-5129ED21088A}"/>
              </a:ext>
            </a:extLst>
          </p:cNvPr>
          <p:cNvSpPr txBox="1"/>
          <p:nvPr/>
        </p:nvSpPr>
        <p:spPr>
          <a:xfrm>
            <a:off x="981844" y="476672"/>
            <a:ext cx="8130559" cy="443198"/>
          </a:xfrm>
          <a:prstGeom prst="rect">
            <a:avLst/>
          </a:prstGeom>
          <a:noFill/>
        </p:spPr>
        <p:txBody>
          <a:bodyPr wrap="none" rtlCol="0">
            <a:spAutoFit/>
          </a:bodyPr>
          <a:lstStyle/>
          <a:p>
            <a:pPr>
              <a:lnSpc>
                <a:spcPct val="95000"/>
              </a:lnSpc>
            </a:pPr>
            <a:r>
              <a:rPr lang="en-US" b="0" i="0" dirty="0">
                <a:effectLst/>
                <a:latin typeface="-apple-system"/>
              </a:rPr>
              <a:t>Imagine you and your roommate want to throw a surprise party</a:t>
            </a:r>
            <a:endParaRPr lang="en-IN" dirty="0"/>
          </a:p>
        </p:txBody>
      </p:sp>
      <p:sp>
        <p:nvSpPr>
          <p:cNvPr id="5" name="TextBox 4">
            <a:extLst>
              <a:ext uri="{FF2B5EF4-FFF2-40B4-BE49-F238E27FC236}">
                <a16:creationId xmlns:a16="http://schemas.microsoft.com/office/drawing/2014/main" id="{61E326E1-5557-15F1-DDD2-A24FDC243817}"/>
              </a:ext>
            </a:extLst>
          </p:cNvPr>
          <p:cNvSpPr txBox="1"/>
          <p:nvPr/>
        </p:nvSpPr>
        <p:spPr>
          <a:xfrm>
            <a:off x="956997" y="980728"/>
            <a:ext cx="9340377" cy="1181862"/>
          </a:xfrm>
          <a:prstGeom prst="rect">
            <a:avLst/>
          </a:prstGeom>
          <a:noFill/>
        </p:spPr>
        <p:txBody>
          <a:bodyPr wrap="none" rtlCol="0">
            <a:spAutoFit/>
          </a:bodyPr>
          <a:lstStyle/>
          <a:p>
            <a:pPr algn="l" fontAlgn="base">
              <a:buFont typeface="Arial" panose="020B0604020202020204" pitchFamily="34" charset="0"/>
              <a:buChar char="•"/>
            </a:pPr>
            <a:r>
              <a:rPr lang="en-US" b="1" i="0" dirty="0">
                <a:effectLst/>
                <a:latin typeface="inherit"/>
              </a:rPr>
              <a:t> You</a:t>
            </a:r>
            <a:r>
              <a:rPr lang="en-US" b="0" i="0" dirty="0">
                <a:effectLst/>
                <a:latin typeface="inherit"/>
              </a:rPr>
              <a:t> are great at buying decorations (the </a:t>
            </a:r>
            <a:r>
              <a:rPr lang="en-US" b="1" i="0" dirty="0">
                <a:effectLst/>
                <a:latin typeface="inherit"/>
              </a:rPr>
              <a:t>Developer</a:t>
            </a:r>
            <a:r>
              <a:rPr lang="en-US" b="0" i="0" dirty="0">
                <a:effectLst/>
                <a:latin typeface="inherit"/>
              </a:rPr>
              <a:t>).</a:t>
            </a:r>
          </a:p>
          <a:p>
            <a:pPr algn="l" fontAlgn="base">
              <a:buFont typeface="Arial" panose="020B0604020202020204" pitchFamily="34" charset="0"/>
              <a:buChar char="•"/>
            </a:pPr>
            <a:r>
              <a:rPr lang="en-US" b="1" i="0" dirty="0">
                <a:effectLst/>
                <a:latin typeface="inherit"/>
              </a:rPr>
              <a:t> Your roommate</a:t>
            </a:r>
            <a:r>
              <a:rPr lang="en-US" b="0" i="0" dirty="0">
                <a:effectLst/>
                <a:latin typeface="inherit"/>
              </a:rPr>
              <a:t> is great at setting up the music system (the </a:t>
            </a:r>
            <a:r>
              <a:rPr lang="en-US" b="1" i="0" dirty="0">
                <a:effectLst/>
                <a:latin typeface="inherit"/>
              </a:rPr>
              <a:t>Operations</a:t>
            </a:r>
            <a:r>
              <a:rPr lang="en-US" b="0" i="0" dirty="0">
                <a:effectLst/>
                <a:latin typeface="inherit"/>
              </a:rPr>
              <a:t>).</a:t>
            </a:r>
          </a:p>
          <a:p>
            <a:pPr>
              <a:lnSpc>
                <a:spcPct val="95000"/>
              </a:lnSpc>
            </a:pPr>
            <a:endParaRPr lang="en-IN" dirty="0"/>
          </a:p>
        </p:txBody>
      </p:sp>
      <p:sp>
        <p:nvSpPr>
          <p:cNvPr id="6" name="TextBox 5">
            <a:extLst>
              <a:ext uri="{FF2B5EF4-FFF2-40B4-BE49-F238E27FC236}">
                <a16:creationId xmlns:a16="http://schemas.microsoft.com/office/drawing/2014/main" id="{2213E04C-6634-B88E-F781-C67EA28C2F44}"/>
              </a:ext>
            </a:extLst>
          </p:cNvPr>
          <p:cNvSpPr txBox="1"/>
          <p:nvPr/>
        </p:nvSpPr>
        <p:spPr>
          <a:xfrm>
            <a:off x="956997" y="2162590"/>
            <a:ext cx="10081120" cy="794064"/>
          </a:xfrm>
          <a:prstGeom prst="rect">
            <a:avLst/>
          </a:prstGeom>
          <a:noFill/>
        </p:spPr>
        <p:txBody>
          <a:bodyPr wrap="square" rtlCol="0">
            <a:spAutoFit/>
          </a:bodyPr>
          <a:lstStyle/>
          <a:p>
            <a:pPr>
              <a:lnSpc>
                <a:spcPct val="95000"/>
              </a:lnSpc>
            </a:pPr>
            <a:r>
              <a:rPr lang="en-US" b="0" i="1" dirty="0">
                <a:effectLst/>
                <a:latin typeface="-apple-system"/>
              </a:rPr>
              <a:t>You never talked to each other or discussed anything about buying or setting things</a:t>
            </a:r>
            <a:endParaRPr lang="en-IN" dirty="0"/>
          </a:p>
        </p:txBody>
      </p:sp>
      <p:sp>
        <p:nvSpPr>
          <p:cNvPr id="7" name="TextBox 6">
            <a:extLst>
              <a:ext uri="{FF2B5EF4-FFF2-40B4-BE49-F238E27FC236}">
                <a16:creationId xmlns:a16="http://schemas.microsoft.com/office/drawing/2014/main" id="{EC83844D-45CB-828E-0BA0-8AD7171CD61C}"/>
              </a:ext>
            </a:extLst>
          </p:cNvPr>
          <p:cNvSpPr txBox="1"/>
          <p:nvPr/>
        </p:nvSpPr>
        <p:spPr>
          <a:xfrm>
            <a:off x="981845" y="3356992"/>
            <a:ext cx="9937104" cy="794064"/>
          </a:xfrm>
          <a:prstGeom prst="rect">
            <a:avLst/>
          </a:prstGeom>
          <a:noFill/>
        </p:spPr>
        <p:txBody>
          <a:bodyPr wrap="square" rtlCol="0">
            <a:spAutoFit/>
          </a:bodyPr>
          <a:lstStyle/>
          <a:p>
            <a:pPr>
              <a:lnSpc>
                <a:spcPct val="95000"/>
              </a:lnSpc>
            </a:pPr>
            <a:r>
              <a:rPr lang="en-US" b="0" i="0" dirty="0">
                <a:effectLst/>
                <a:latin typeface="-apple-system"/>
              </a:rPr>
              <a:t>You bought balloons that didn’t match the playlist vibe. Your roommate sets up speakers in a room that’s already full of tables. </a:t>
            </a:r>
            <a:r>
              <a:rPr lang="en-US" b="1" i="0" dirty="0">
                <a:effectLst/>
                <a:latin typeface="-apple-system"/>
              </a:rPr>
              <a:t>Chaos</a:t>
            </a:r>
            <a:endParaRPr lang="en-IN" dirty="0"/>
          </a:p>
        </p:txBody>
      </p:sp>
      <p:sp>
        <p:nvSpPr>
          <p:cNvPr id="8" name="TextBox 7">
            <a:extLst>
              <a:ext uri="{FF2B5EF4-FFF2-40B4-BE49-F238E27FC236}">
                <a16:creationId xmlns:a16="http://schemas.microsoft.com/office/drawing/2014/main" id="{C9F4BE8B-ED7A-9122-05A7-49047F035534}"/>
              </a:ext>
            </a:extLst>
          </p:cNvPr>
          <p:cNvSpPr txBox="1"/>
          <p:nvPr/>
        </p:nvSpPr>
        <p:spPr>
          <a:xfrm>
            <a:off x="1053852" y="4725144"/>
            <a:ext cx="9721080" cy="794064"/>
          </a:xfrm>
          <a:prstGeom prst="rect">
            <a:avLst/>
          </a:prstGeom>
          <a:noFill/>
        </p:spPr>
        <p:txBody>
          <a:bodyPr wrap="square" rtlCol="0">
            <a:spAutoFit/>
          </a:bodyPr>
          <a:lstStyle/>
          <a:p>
            <a:pPr>
              <a:lnSpc>
                <a:spcPct val="95000"/>
              </a:lnSpc>
            </a:pPr>
            <a:r>
              <a:rPr lang="en-US" b="1" i="0" dirty="0">
                <a:effectLst/>
                <a:latin typeface="-apple-system"/>
              </a:rPr>
              <a:t>DevOps</a:t>
            </a:r>
            <a:r>
              <a:rPr lang="en-US" b="0" i="0" dirty="0">
                <a:effectLst/>
                <a:latin typeface="-apple-system"/>
              </a:rPr>
              <a:t> is simply: </a:t>
            </a:r>
            <a:r>
              <a:rPr lang="en-US" b="1" i="0" dirty="0">
                <a:effectLst/>
                <a:latin typeface="-apple-system"/>
              </a:rPr>
              <a:t>You + Your Roommate + A Shared Plan + Constant Communication = Epic Party.</a:t>
            </a:r>
            <a:endParaRPr lang="en-IN" dirty="0"/>
          </a:p>
        </p:txBody>
      </p:sp>
    </p:spTree>
    <p:extLst>
      <p:ext uri="{BB962C8B-B14F-4D97-AF65-F5344CB8AC3E}">
        <p14:creationId xmlns:p14="http://schemas.microsoft.com/office/powerpoint/2010/main" val="2571596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321376-656F-10D1-34F9-CCE5B52869DE}"/>
              </a:ext>
            </a:extLst>
          </p:cNvPr>
          <p:cNvSpPr txBox="1"/>
          <p:nvPr/>
        </p:nvSpPr>
        <p:spPr>
          <a:xfrm>
            <a:off x="836916" y="276398"/>
            <a:ext cx="6564810" cy="812530"/>
          </a:xfrm>
          <a:prstGeom prst="rect">
            <a:avLst/>
          </a:prstGeom>
          <a:noFill/>
        </p:spPr>
        <p:txBody>
          <a:bodyPr wrap="none" rtlCol="0">
            <a:spAutoFit/>
          </a:bodyPr>
          <a:lstStyle/>
          <a:p>
            <a:pPr>
              <a:lnSpc>
                <a:spcPct val="95000"/>
              </a:lnSpc>
            </a:pPr>
            <a:r>
              <a:rPr lang="en-US" b="1" i="0" dirty="0">
                <a:effectLst/>
                <a:latin typeface="-apple-system"/>
              </a:rPr>
              <a:t>🍕 </a:t>
            </a:r>
            <a:r>
              <a:rPr lang="en-US" b="1" i="0" dirty="0">
                <a:effectLst/>
                <a:latin typeface="inherit"/>
              </a:rPr>
              <a:t>1. The Group Project (Culture &amp; Collaboration)</a:t>
            </a:r>
            <a:endParaRPr lang="en-US" b="1" i="0" dirty="0">
              <a:effectLst/>
              <a:latin typeface="-apple-system"/>
            </a:endParaRPr>
          </a:p>
          <a:p>
            <a:pPr>
              <a:lnSpc>
                <a:spcPct val="95000"/>
              </a:lnSpc>
            </a:pPr>
            <a:endParaRPr lang="en-IN" dirty="0"/>
          </a:p>
        </p:txBody>
      </p:sp>
      <p:sp>
        <p:nvSpPr>
          <p:cNvPr id="5" name="TextBox 4">
            <a:extLst>
              <a:ext uri="{FF2B5EF4-FFF2-40B4-BE49-F238E27FC236}">
                <a16:creationId xmlns:a16="http://schemas.microsoft.com/office/drawing/2014/main" id="{916542D4-25DB-9D74-FFB7-4A2DAA3E4302}"/>
              </a:ext>
            </a:extLst>
          </p:cNvPr>
          <p:cNvSpPr txBox="1"/>
          <p:nvPr/>
        </p:nvSpPr>
        <p:spPr>
          <a:xfrm>
            <a:off x="837828" y="860218"/>
            <a:ext cx="6912768" cy="3785652"/>
          </a:xfrm>
          <a:prstGeom prst="rect">
            <a:avLst/>
          </a:prstGeom>
          <a:noFill/>
        </p:spPr>
        <p:txBody>
          <a:bodyPr wrap="square" rtlCol="0">
            <a:spAutoFit/>
          </a:bodyPr>
          <a:lstStyle/>
          <a:p>
            <a:pPr algn="l" fontAlgn="base"/>
            <a:r>
              <a:rPr lang="en-US" b="0" i="0" dirty="0">
                <a:effectLst/>
                <a:latin typeface="-apple-system"/>
              </a:rPr>
              <a:t>You have a group assignment. One person writes the code, another makes the PPT, and the third handles the demo. But nobody talks until submission day.</a:t>
            </a:r>
          </a:p>
          <a:p>
            <a:pPr algn="l" fontAlgn="base"/>
            <a:endParaRPr lang="en-US" b="0" i="0" dirty="0">
              <a:effectLst/>
              <a:latin typeface="-apple-system"/>
            </a:endParaRPr>
          </a:p>
          <a:p>
            <a:pPr algn="l" fontAlgn="base">
              <a:buFont typeface="Arial" panose="020B0604020202020204" pitchFamily="34" charset="0"/>
              <a:buChar char="•"/>
            </a:pPr>
            <a:r>
              <a:rPr lang="en-US" b="0" i="0" dirty="0">
                <a:effectLst/>
                <a:latin typeface="inherit"/>
              </a:rPr>
              <a:t>The coder used Python 3.11. The demo guy's laptop has Python 3.8. </a:t>
            </a:r>
            <a:r>
              <a:rPr lang="en-US" b="1" i="0" dirty="0">
                <a:effectLst/>
                <a:latin typeface="inherit"/>
              </a:rPr>
              <a:t>It crashes.</a:t>
            </a:r>
            <a:endParaRPr lang="en-US" b="0" i="0" dirty="0">
              <a:effectLst/>
              <a:latin typeface="inherit"/>
            </a:endParaRPr>
          </a:p>
          <a:p>
            <a:pPr algn="l" fontAlgn="base">
              <a:buFont typeface="Arial" panose="020B0604020202020204" pitchFamily="34" charset="0"/>
              <a:buChar char="•"/>
            </a:pPr>
            <a:r>
              <a:rPr lang="en-US" b="0" i="0" dirty="0">
                <a:effectLst/>
                <a:latin typeface="inherit"/>
              </a:rPr>
              <a:t>The PPT person assumed a feature that was never built. </a:t>
            </a:r>
            <a:r>
              <a:rPr lang="en-US" b="1" i="0" dirty="0">
                <a:effectLst/>
                <a:latin typeface="inherit"/>
              </a:rPr>
              <a:t>Awkward silence during presentation.</a:t>
            </a:r>
            <a:endParaRPr lang="en-US" b="0" i="0" dirty="0">
              <a:effectLst/>
              <a:latin typeface="inherit"/>
            </a:endParaRPr>
          </a:p>
          <a:p>
            <a:pPr algn="l" fontAlgn="base">
              <a:buFont typeface="Arial" panose="020B0604020202020204" pitchFamily="34" charset="0"/>
              <a:buChar char="•"/>
            </a:pPr>
            <a:r>
              <a:rPr lang="en-US" b="0" i="0" dirty="0">
                <a:effectLst/>
                <a:latin typeface="inherit"/>
              </a:rPr>
              <a:t>Everyone blames everyone else. </a:t>
            </a:r>
            <a:r>
              <a:rPr lang="en-US" b="1" i="0" dirty="0">
                <a:effectLst/>
                <a:latin typeface="inherit"/>
              </a:rPr>
              <a:t>Friendship over.</a:t>
            </a:r>
            <a:endParaRPr lang="en-US" b="0" i="0" dirty="0">
              <a:effectLst/>
              <a:latin typeface="inherit"/>
            </a:endParaRPr>
          </a:p>
          <a:p>
            <a:endParaRPr lang="en-IN" dirty="0"/>
          </a:p>
        </p:txBody>
      </p:sp>
      <p:sp>
        <p:nvSpPr>
          <p:cNvPr id="6" name="TextBox 5">
            <a:extLst>
              <a:ext uri="{FF2B5EF4-FFF2-40B4-BE49-F238E27FC236}">
                <a16:creationId xmlns:a16="http://schemas.microsoft.com/office/drawing/2014/main" id="{0E591C3F-15B9-FD7E-4D69-F7587DBA4982}"/>
              </a:ext>
            </a:extLst>
          </p:cNvPr>
          <p:cNvSpPr txBox="1"/>
          <p:nvPr/>
        </p:nvSpPr>
        <p:spPr>
          <a:xfrm>
            <a:off x="837828" y="4882467"/>
            <a:ext cx="10513168" cy="1144929"/>
          </a:xfrm>
          <a:prstGeom prst="rect">
            <a:avLst/>
          </a:prstGeom>
          <a:noFill/>
        </p:spPr>
        <p:txBody>
          <a:bodyPr wrap="square" rtlCol="0">
            <a:spAutoFit/>
          </a:bodyPr>
          <a:lstStyle/>
          <a:p>
            <a:pPr>
              <a:lnSpc>
                <a:spcPct val="95000"/>
              </a:lnSpc>
            </a:pPr>
            <a:r>
              <a:rPr lang="en-US" b="1" i="0" dirty="0">
                <a:solidFill>
                  <a:srgbClr val="FF0000"/>
                </a:solidFill>
                <a:effectLst/>
                <a:latin typeface="-apple-system"/>
              </a:rPr>
              <a:t>DevOps Fix:</a:t>
            </a:r>
            <a:r>
              <a:rPr lang="en-US" b="0" i="0" dirty="0">
                <a:solidFill>
                  <a:srgbClr val="FF0000"/>
                </a:solidFill>
                <a:effectLst/>
                <a:latin typeface="-apple-system"/>
              </a:rPr>
              <a:t> One shared Google Doc (single source of truth), daily stand-ups ("What did I do? What will I do? Any blockers?"), and everyone tests the final demo together before D-day</a:t>
            </a:r>
            <a:endParaRPr lang="en-IN" dirty="0">
              <a:solidFill>
                <a:srgbClr val="FF0000"/>
              </a:solidFill>
            </a:endParaRPr>
          </a:p>
        </p:txBody>
      </p:sp>
      <p:pic>
        <p:nvPicPr>
          <p:cNvPr id="3074" name="Picture 2">
            <a:extLst>
              <a:ext uri="{FF2B5EF4-FFF2-40B4-BE49-F238E27FC236}">
                <a16:creationId xmlns:a16="http://schemas.microsoft.com/office/drawing/2014/main" id="{33DB09D1-808E-84AC-1085-93FC64EEF1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6580" y="980728"/>
            <a:ext cx="4163349" cy="3122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386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3B2EBA-EF94-5FCC-6DD8-A59873E0B899}"/>
              </a:ext>
            </a:extLst>
          </p:cNvPr>
          <p:cNvSpPr txBox="1"/>
          <p:nvPr/>
        </p:nvSpPr>
        <p:spPr>
          <a:xfrm>
            <a:off x="1092092" y="391729"/>
            <a:ext cx="4818627" cy="812530"/>
          </a:xfrm>
          <a:prstGeom prst="rect">
            <a:avLst/>
          </a:prstGeom>
          <a:noFill/>
        </p:spPr>
        <p:txBody>
          <a:bodyPr wrap="none" rtlCol="0">
            <a:spAutoFit/>
          </a:bodyPr>
          <a:lstStyle/>
          <a:p>
            <a:pPr>
              <a:lnSpc>
                <a:spcPct val="95000"/>
              </a:lnSpc>
            </a:pPr>
            <a:r>
              <a:rPr lang="en-US" b="1" i="0" dirty="0">
                <a:effectLst/>
                <a:latin typeface="-apple-system"/>
              </a:rPr>
              <a:t>🚗 </a:t>
            </a:r>
            <a:r>
              <a:rPr lang="en-US" b="1" i="0" dirty="0">
                <a:effectLst/>
                <a:latin typeface="inherit"/>
              </a:rPr>
              <a:t>2. The Road Trip (CI/CD Pipeline)</a:t>
            </a:r>
            <a:endParaRPr lang="en-US" b="1" i="0" dirty="0">
              <a:effectLst/>
              <a:latin typeface="-apple-system"/>
            </a:endParaRPr>
          </a:p>
          <a:p>
            <a:pPr>
              <a:lnSpc>
                <a:spcPct val="95000"/>
              </a:lnSpc>
            </a:pPr>
            <a:endParaRPr lang="en-IN" dirty="0"/>
          </a:p>
        </p:txBody>
      </p:sp>
      <p:sp>
        <p:nvSpPr>
          <p:cNvPr id="5" name="TextBox 4">
            <a:extLst>
              <a:ext uri="{FF2B5EF4-FFF2-40B4-BE49-F238E27FC236}">
                <a16:creationId xmlns:a16="http://schemas.microsoft.com/office/drawing/2014/main" id="{89445E4B-807A-C409-32F5-3DA5A81A5BEE}"/>
              </a:ext>
            </a:extLst>
          </p:cNvPr>
          <p:cNvSpPr txBox="1"/>
          <p:nvPr/>
        </p:nvSpPr>
        <p:spPr>
          <a:xfrm>
            <a:off x="1125860" y="995595"/>
            <a:ext cx="7504555" cy="443198"/>
          </a:xfrm>
          <a:prstGeom prst="rect">
            <a:avLst/>
          </a:prstGeom>
          <a:noFill/>
        </p:spPr>
        <p:txBody>
          <a:bodyPr wrap="none" rtlCol="0">
            <a:spAutoFit/>
          </a:bodyPr>
          <a:lstStyle/>
          <a:p>
            <a:pPr>
              <a:lnSpc>
                <a:spcPct val="95000"/>
              </a:lnSpc>
            </a:pPr>
            <a:r>
              <a:rPr lang="en-US" b="0" i="0" dirty="0">
                <a:effectLst/>
                <a:latin typeface="-apple-system"/>
              </a:rPr>
              <a:t>You and your friends plan a road trip from Mumbai to Goa.</a:t>
            </a:r>
            <a:endParaRPr lang="en-IN" dirty="0"/>
          </a:p>
        </p:txBody>
      </p:sp>
      <p:sp>
        <p:nvSpPr>
          <p:cNvPr id="6" name="TextBox 5">
            <a:extLst>
              <a:ext uri="{FF2B5EF4-FFF2-40B4-BE49-F238E27FC236}">
                <a16:creationId xmlns:a16="http://schemas.microsoft.com/office/drawing/2014/main" id="{B19D9F06-63AB-6968-D35D-B4B13DAF1049}"/>
              </a:ext>
            </a:extLst>
          </p:cNvPr>
          <p:cNvSpPr txBox="1"/>
          <p:nvPr/>
        </p:nvSpPr>
        <p:spPr>
          <a:xfrm>
            <a:off x="1101524" y="1484784"/>
            <a:ext cx="5496944" cy="3416320"/>
          </a:xfrm>
          <a:prstGeom prst="rect">
            <a:avLst/>
          </a:prstGeom>
          <a:noFill/>
        </p:spPr>
        <p:txBody>
          <a:bodyPr wrap="square" rtlCol="0">
            <a:spAutoFit/>
          </a:bodyPr>
          <a:lstStyle/>
          <a:p>
            <a:pPr algn="l" fontAlgn="base">
              <a:buFont typeface="Arial" panose="020B0604020202020204" pitchFamily="34" charset="0"/>
              <a:buChar char="•"/>
            </a:pPr>
            <a:r>
              <a:rPr lang="en-US" b="0" i="0" dirty="0">
                <a:effectLst/>
                <a:latin typeface="inherit"/>
              </a:rPr>
              <a:t> You pack everything on the morning of the trip. Someone forgot their charger. Someone else packed 3 hoodies but no shorts.</a:t>
            </a:r>
          </a:p>
          <a:p>
            <a:pPr algn="l" fontAlgn="base">
              <a:buFont typeface="Arial" panose="020B0604020202020204" pitchFamily="34" charset="0"/>
              <a:buChar char="•"/>
            </a:pPr>
            <a:r>
              <a:rPr lang="en-US" b="0" i="0" dirty="0">
                <a:effectLst/>
                <a:latin typeface="inherit"/>
              </a:rPr>
              <a:t> You start driving, realize the fuel tank is empty 10 km in. Turn back.</a:t>
            </a:r>
          </a:p>
          <a:p>
            <a:pPr algn="l" fontAlgn="base">
              <a:buFont typeface="Arial" panose="020B0604020202020204" pitchFamily="34" charset="0"/>
              <a:buChar char="•"/>
            </a:pPr>
            <a:r>
              <a:rPr lang="en-US" b="0" i="0" dirty="0">
                <a:effectLst/>
                <a:latin typeface="inherit"/>
              </a:rPr>
              <a:t> You reach Goa, but the hotel booking was for next weekend. </a:t>
            </a:r>
            <a:r>
              <a:rPr lang="en-US" b="1" i="0" dirty="0">
                <a:effectLst/>
                <a:latin typeface="inherit"/>
              </a:rPr>
              <a:t>Trip ruined.</a:t>
            </a:r>
            <a:endParaRPr lang="en-US" b="0" i="0" dirty="0">
              <a:effectLst/>
              <a:latin typeface="inherit"/>
            </a:endParaRPr>
          </a:p>
          <a:p>
            <a:endParaRPr lang="en-IN" dirty="0"/>
          </a:p>
        </p:txBody>
      </p:sp>
      <p:sp>
        <p:nvSpPr>
          <p:cNvPr id="7" name="TextBox 6">
            <a:extLst>
              <a:ext uri="{FF2B5EF4-FFF2-40B4-BE49-F238E27FC236}">
                <a16:creationId xmlns:a16="http://schemas.microsoft.com/office/drawing/2014/main" id="{DAD1A9FB-2C20-A9E1-BCF3-F5772C523670}"/>
              </a:ext>
            </a:extLst>
          </p:cNvPr>
          <p:cNvSpPr txBox="1"/>
          <p:nvPr/>
        </p:nvSpPr>
        <p:spPr>
          <a:xfrm>
            <a:off x="1101524" y="5629414"/>
            <a:ext cx="9987916" cy="794064"/>
          </a:xfrm>
          <a:prstGeom prst="rect">
            <a:avLst/>
          </a:prstGeom>
          <a:noFill/>
        </p:spPr>
        <p:txBody>
          <a:bodyPr wrap="square" rtlCol="0">
            <a:spAutoFit/>
          </a:bodyPr>
          <a:lstStyle>
            <a:defPPr>
              <a:defRPr lang="en-US"/>
            </a:defPPr>
            <a:lvl1pPr>
              <a:lnSpc>
                <a:spcPct val="95000"/>
              </a:lnSpc>
              <a:defRPr b="1" i="0">
                <a:solidFill>
                  <a:srgbClr val="FF0000"/>
                </a:solidFill>
                <a:effectLst/>
                <a:latin typeface="-apple-system"/>
              </a:defRPr>
            </a:lvl1pPr>
          </a:lstStyle>
          <a:p>
            <a:r>
              <a:rPr lang="en-US" dirty="0"/>
              <a:t>DevOps Fix: Every night for a week, you check one thing — fuel, tires, hotel confirmation, packing list. Small checks, early fixes</a:t>
            </a:r>
            <a:endParaRPr lang="en-IN" dirty="0"/>
          </a:p>
        </p:txBody>
      </p:sp>
      <p:pic>
        <p:nvPicPr>
          <p:cNvPr id="4098" name="Picture 2" descr="A Group Of Young Man Stock Illustration - Download Image Now - Adult, Art,  Boys - iStock">
            <a:extLst>
              <a:ext uri="{FF2B5EF4-FFF2-40B4-BE49-F238E27FC236}">
                <a16:creationId xmlns:a16="http://schemas.microsoft.com/office/drawing/2014/main" id="{9DC2D63F-6797-433A-E341-B2E255FEA1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6745" y="1484784"/>
            <a:ext cx="5297775" cy="3367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07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6DC476-B0BC-D55F-6387-784800A3B4E8}"/>
              </a:ext>
            </a:extLst>
          </p:cNvPr>
          <p:cNvSpPr txBox="1"/>
          <p:nvPr/>
        </p:nvSpPr>
        <p:spPr>
          <a:xfrm>
            <a:off x="1269876" y="332656"/>
            <a:ext cx="6310125" cy="812530"/>
          </a:xfrm>
          <a:prstGeom prst="rect">
            <a:avLst/>
          </a:prstGeom>
          <a:noFill/>
        </p:spPr>
        <p:txBody>
          <a:bodyPr wrap="none" rtlCol="0">
            <a:spAutoFit/>
          </a:bodyPr>
          <a:lstStyle/>
          <a:p>
            <a:pPr>
              <a:lnSpc>
                <a:spcPct val="95000"/>
              </a:lnSpc>
            </a:pPr>
            <a:r>
              <a:rPr lang="en-IN" b="1" i="0" dirty="0">
                <a:effectLst/>
                <a:latin typeface="-apple-system"/>
              </a:rPr>
              <a:t>🍳 </a:t>
            </a:r>
            <a:r>
              <a:rPr lang="en-IN" b="1" dirty="0">
                <a:latin typeface="inherit"/>
              </a:rPr>
              <a:t>3</a:t>
            </a:r>
            <a:r>
              <a:rPr lang="en-IN" b="1" i="0" dirty="0">
                <a:effectLst/>
                <a:latin typeface="inherit"/>
              </a:rPr>
              <a:t>. The Maggi Recipe (Infrastructure as Code)</a:t>
            </a:r>
            <a:endParaRPr lang="en-IN" b="1" i="0" dirty="0">
              <a:effectLst/>
              <a:latin typeface="-apple-system"/>
            </a:endParaRPr>
          </a:p>
          <a:p>
            <a:pPr>
              <a:lnSpc>
                <a:spcPct val="95000"/>
              </a:lnSpc>
            </a:pPr>
            <a:endParaRPr lang="en-IN" dirty="0"/>
          </a:p>
        </p:txBody>
      </p:sp>
      <p:sp>
        <p:nvSpPr>
          <p:cNvPr id="6" name="TextBox 5">
            <a:extLst>
              <a:ext uri="{FF2B5EF4-FFF2-40B4-BE49-F238E27FC236}">
                <a16:creationId xmlns:a16="http://schemas.microsoft.com/office/drawing/2014/main" id="{97A506E1-BDDC-4C57-43FB-C47876B5525D}"/>
              </a:ext>
            </a:extLst>
          </p:cNvPr>
          <p:cNvSpPr txBox="1"/>
          <p:nvPr/>
        </p:nvSpPr>
        <p:spPr>
          <a:xfrm>
            <a:off x="1239552" y="1032763"/>
            <a:ext cx="6310125" cy="794064"/>
          </a:xfrm>
          <a:prstGeom prst="rect">
            <a:avLst/>
          </a:prstGeom>
          <a:noFill/>
        </p:spPr>
        <p:txBody>
          <a:bodyPr wrap="square" rtlCol="0">
            <a:spAutoFit/>
          </a:bodyPr>
          <a:lstStyle/>
          <a:p>
            <a:pPr>
              <a:lnSpc>
                <a:spcPct val="95000"/>
              </a:lnSpc>
            </a:pPr>
            <a:r>
              <a:rPr lang="en-US" b="0" i="0" dirty="0">
                <a:effectLst/>
                <a:latin typeface="-apple-system"/>
              </a:rPr>
              <a:t>Your friend makes the </a:t>
            </a:r>
            <a:r>
              <a:rPr lang="en-US" b="0" i="1" dirty="0">
                <a:effectLst/>
                <a:latin typeface="-apple-system"/>
              </a:rPr>
              <a:t>best</a:t>
            </a:r>
            <a:r>
              <a:rPr lang="en-US" b="0" i="0" dirty="0">
                <a:effectLst/>
                <a:latin typeface="-apple-system"/>
              </a:rPr>
              <a:t> Maggi. You ask for the recipe.</a:t>
            </a:r>
            <a:endParaRPr lang="en-IN" dirty="0"/>
          </a:p>
        </p:txBody>
      </p:sp>
      <p:sp>
        <p:nvSpPr>
          <p:cNvPr id="7" name="TextBox 6">
            <a:extLst>
              <a:ext uri="{FF2B5EF4-FFF2-40B4-BE49-F238E27FC236}">
                <a16:creationId xmlns:a16="http://schemas.microsoft.com/office/drawing/2014/main" id="{27129CFA-7EED-3351-FD85-9DBB0CBEA9F5}"/>
              </a:ext>
            </a:extLst>
          </p:cNvPr>
          <p:cNvSpPr txBox="1"/>
          <p:nvPr/>
        </p:nvSpPr>
        <p:spPr>
          <a:xfrm>
            <a:off x="1245130" y="2003238"/>
            <a:ext cx="5805569" cy="2289858"/>
          </a:xfrm>
          <a:prstGeom prst="rect">
            <a:avLst/>
          </a:prstGeom>
          <a:noFill/>
        </p:spPr>
        <p:txBody>
          <a:bodyPr wrap="square" rtlCol="0">
            <a:spAutoFit/>
          </a:bodyPr>
          <a:lstStyle/>
          <a:p>
            <a:pPr algn="l" fontAlgn="base">
              <a:buFont typeface="Arial" panose="020B0604020202020204" pitchFamily="34" charset="0"/>
              <a:buChar char="•"/>
            </a:pPr>
            <a:r>
              <a:rPr lang="en-US" b="0" i="1" dirty="0">
                <a:effectLst/>
                <a:latin typeface="inherit"/>
              </a:rPr>
              <a:t>"Uh, add some water... not too much... boil it... then add the tastemaker... or was it before? Sometimes I add cheese. It depends on my mood."</a:t>
            </a:r>
            <a:endParaRPr lang="en-US" b="0" i="0" dirty="0">
              <a:effectLst/>
              <a:latin typeface="inherit"/>
            </a:endParaRPr>
          </a:p>
          <a:p>
            <a:pPr algn="l" fontAlgn="base">
              <a:buFont typeface="Arial" panose="020B0604020202020204" pitchFamily="34" charset="0"/>
              <a:buChar char="•"/>
            </a:pPr>
            <a:r>
              <a:rPr lang="en-US" b="0" i="0" dirty="0">
                <a:effectLst/>
                <a:latin typeface="inherit"/>
              </a:rPr>
              <a:t>You try it. It's soup. Theirs is perfect. </a:t>
            </a:r>
            <a:r>
              <a:rPr lang="en-US" b="1" i="0" dirty="0">
                <a:effectLst/>
                <a:latin typeface="inherit"/>
              </a:rPr>
              <a:t>Why?</a:t>
            </a:r>
            <a:endParaRPr lang="en-US" b="0" i="0" dirty="0">
              <a:effectLst/>
              <a:latin typeface="inherit"/>
            </a:endParaRPr>
          </a:p>
          <a:p>
            <a:pPr>
              <a:lnSpc>
                <a:spcPct val="95000"/>
              </a:lnSpc>
            </a:pPr>
            <a:endParaRPr lang="en-IN" dirty="0"/>
          </a:p>
        </p:txBody>
      </p:sp>
      <p:sp>
        <p:nvSpPr>
          <p:cNvPr id="8" name="TextBox 7">
            <a:extLst>
              <a:ext uri="{FF2B5EF4-FFF2-40B4-BE49-F238E27FC236}">
                <a16:creationId xmlns:a16="http://schemas.microsoft.com/office/drawing/2014/main" id="{7B2B2B6C-DE74-2827-D765-96E9D0CE751C}"/>
              </a:ext>
            </a:extLst>
          </p:cNvPr>
          <p:cNvSpPr txBox="1"/>
          <p:nvPr/>
        </p:nvSpPr>
        <p:spPr>
          <a:xfrm>
            <a:off x="1299592" y="4293096"/>
            <a:ext cx="10009112" cy="794064"/>
          </a:xfrm>
          <a:prstGeom prst="rect">
            <a:avLst/>
          </a:prstGeom>
          <a:noFill/>
        </p:spPr>
        <p:txBody>
          <a:bodyPr wrap="square" rtlCol="0">
            <a:spAutoFit/>
          </a:bodyPr>
          <a:lstStyle>
            <a:defPPr>
              <a:defRPr lang="en-US"/>
            </a:defPPr>
            <a:lvl1pPr>
              <a:lnSpc>
                <a:spcPct val="95000"/>
              </a:lnSpc>
              <a:defRPr b="1" i="0">
                <a:solidFill>
                  <a:srgbClr val="FF0000"/>
                </a:solidFill>
                <a:effectLst/>
                <a:latin typeface="-apple-system"/>
              </a:defRPr>
            </a:lvl1pPr>
          </a:lstStyle>
          <a:p>
            <a:r>
              <a:rPr lang="en-US" dirty="0"/>
              <a:t>DevOps Fix: write down the exact recipe: "1 cup water, 1 packet Maggi, boil 2 mins, add tastemaker, stir 30 seconds, add cheese, serve."</a:t>
            </a:r>
            <a:endParaRPr lang="en-IN" dirty="0"/>
          </a:p>
        </p:txBody>
      </p:sp>
      <p:sp>
        <p:nvSpPr>
          <p:cNvPr id="9" name="TextBox 8">
            <a:extLst>
              <a:ext uri="{FF2B5EF4-FFF2-40B4-BE49-F238E27FC236}">
                <a16:creationId xmlns:a16="http://schemas.microsoft.com/office/drawing/2014/main" id="{7604CAF2-4E2E-E6EC-67D4-3A43B9710DA8}"/>
              </a:ext>
            </a:extLst>
          </p:cNvPr>
          <p:cNvSpPr txBox="1"/>
          <p:nvPr/>
        </p:nvSpPr>
        <p:spPr>
          <a:xfrm>
            <a:off x="1368962" y="5222507"/>
            <a:ext cx="10009113" cy="1144929"/>
          </a:xfrm>
          <a:prstGeom prst="rect">
            <a:avLst/>
          </a:prstGeom>
          <a:noFill/>
        </p:spPr>
        <p:txBody>
          <a:bodyPr wrap="square" rtlCol="0">
            <a:spAutoFit/>
          </a:bodyPr>
          <a:lstStyle/>
          <a:p>
            <a:pPr>
              <a:lnSpc>
                <a:spcPct val="95000"/>
              </a:lnSpc>
            </a:pPr>
            <a:r>
              <a:rPr lang="en-US" b="0" i="0" dirty="0">
                <a:effectLst/>
                <a:latin typeface="inherit"/>
              </a:rPr>
              <a:t>Now </a:t>
            </a:r>
            <a:r>
              <a:rPr lang="en-US" b="0" i="1" dirty="0">
                <a:effectLst/>
                <a:latin typeface="inherit"/>
              </a:rPr>
              <a:t>anyone</a:t>
            </a:r>
            <a:r>
              <a:rPr lang="en-US" b="0" i="0" dirty="0">
                <a:effectLst/>
                <a:latin typeface="inherit"/>
              </a:rPr>
              <a:t> can make it exactly the same. Your roommate, your cousin, your future self at 3 AM.</a:t>
            </a:r>
          </a:p>
          <a:p>
            <a:pPr>
              <a:lnSpc>
                <a:spcPct val="95000"/>
              </a:lnSpc>
            </a:pPr>
            <a:endParaRPr lang="en-IN" dirty="0"/>
          </a:p>
        </p:txBody>
      </p:sp>
      <p:pic>
        <p:nvPicPr>
          <p:cNvPr id="5122" name="Picture 2" descr="Page 3 | Spicy szechuan noodle toppings Vectors - Download Free  High-Quality Vectors | Magnific (formerly Freepik)">
            <a:extLst>
              <a:ext uri="{FF2B5EF4-FFF2-40B4-BE49-F238E27FC236}">
                <a16:creationId xmlns:a16="http://schemas.microsoft.com/office/drawing/2014/main" id="{8D850EC3-7DEA-953C-7991-0F5E7E18FC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2305" y="70965"/>
            <a:ext cx="2992749" cy="4154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711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99B6E4-8CD9-4CB0-35C3-EE12B430389D}"/>
              </a:ext>
            </a:extLst>
          </p:cNvPr>
          <p:cNvSpPr txBox="1"/>
          <p:nvPr/>
        </p:nvSpPr>
        <p:spPr>
          <a:xfrm>
            <a:off x="1053852" y="404664"/>
            <a:ext cx="7736220" cy="812530"/>
          </a:xfrm>
          <a:prstGeom prst="rect">
            <a:avLst/>
          </a:prstGeom>
          <a:noFill/>
        </p:spPr>
        <p:txBody>
          <a:bodyPr wrap="none" rtlCol="0">
            <a:spAutoFit/>
          </a:bodyPr>
          <a:lstStyle/>
          <a:p>
            <a:pPr>
              <a:lnSpc>
                <a:spcPct val="95000"/>
              </a:lnSpc>
            </a:pPr>
            <a:r>
              <a:rPr lang="en-US" b="1" i="0" dirty="0">
                <a:effectLst/>
                <a:latin typeface="-apple-system"/>
              </a:rPr>
              <a:t>🏠 </a:t>
            </a:r>
            <a:r>
              <a:rPr lang="en-US" b="1" dirty="0">
                <a:latin typeface="inherit"/>
              </a:rPr>
              <a:t>4</a:t>
            </a:r>
            <a:r>
              <a:rPr lang="en-US" b="1" i="0" dirty="0">
                <a:effectLst/>
                <a:latin typeface="inherit"/>
              </a:rPr>
              <a:t>. The Hostel Room Setup (Configuration Management)</a:t>
            </a:r>
            <a:endParaRPr lang="en-US" b="1" i="0" dirty="0">
              <a:effectLst/>
              <a:latin typeface="-apple-system"/>
            </a:endParaRPr>
          </a:p>
          <a:p>
            <a:pPr>
              <a:lnSpc>
                <a:spcPct val="95000"/>
              </a:lnSpc>
            </a:pPr>
            <a:endParaRPr lang="en-IN" dirty="0"/>
          </a:p>
        </p:txBody>
      </p:sp>
      <p:sp>
        <p:nvSpPr>
          <p:cNvPr id="16" name="TextBox 15">
            <a:extLst>
              <a:ext uri="{FF2B5EF4-FFF2-40B4-BE49-F238E27FC236}">
                <a16:creationId xmlns:a16="http://schemas.microsoft.com/office/drawing/2014/main" id="{F105A684-7145-0EA0-7086-306F8A986453}"/>
              </a:ext>
            </a:extLst>
          </p:cNvPr>
          <p:cNvSpPr txBox="1"/>
          <p:nvPr/>
        </p:nvSpPr>
        <p:spPr>
          <a:xfrm>
            <a:off x="1053852" y="980728"/>
            <a:ext cx="6264696" cy="2289858"/>
          </a:xfrm>
          <a:prstGeom prst="rect">
            <a:avLst/>
          </a:prstGeom>
          <a:noFill/>
        </p:spPr>
        <p:txBody>
          <a:bodyPr wrap="square" rtlCol="0">
            <a:spAutoFit/>
          </a:bodyPr>
          <a:lstStyle/>
          <a:p>
            <a:pPr algn="l" fontAlgn="base"/>
            <a:r>
              <a:rPr lang="en-US" b="0" i="0" dirty="0">
                <a:effectLst/>
                <a:latin typeface="-apple-system"/>
              </a:rPr>
              <a:t>You set up your laptop perfectly for coding — VS Code, Python, Node, Git, 47 extensions, that cool dark theme.</a:t>
            </a:r>
          </a:p>
          <a:p>
            <a:pPr algn="l" fontAlgn="base"/>
            <a:r>
              <a:rPr lang="en-US" b="0" i="0" dirty="0">
                <a:effectLst/>
                <a:latin typeface="-apple-system"/>
              </a:rPr>
              <a:t>Your roommate asks you to set up their laptop too.</a:t>
            </a:r>
          </a:p>
          <a:p>
            <a:pPr>
              <a:lnSpc>
                <a:spcPct val="95000"/>
              </a:lnSpc>
            </a:pPr>
            <a:endParaRPr lang="en-IN" dirty="0"/>
          </a:p>
        </p:txBody>
      </p:sp>
      <p:sp>
        <p:nvSpPr>
          <p:cNvPr id="17" name="TextBox 16">
            <a:extLst>
              <a:ext uri="{FF2B5EF4-FFF2-40B4-BE49-F238E27FC236}">
                <a16:creationId xmlns:a16="http://schemas.microsoft.com/office/drawing/2014/main" id="{F5E2D50C-9F70-1038-BDE8-8F69B16BCABA}"/>
              </a:ext>
            </a:extLst>
          </p:cNvPr>
          <p:cNvSpPr txBox="1"/>
          <p:nvPr/>
        </p:nvSpPr>
        <p:spPr>
          <a:xfrm>
            <a:off x="1056489" y="2943762"/>
            <a:ext cx="6709081" cy="2289858"/>
          </a:xfrm>
          <a:prstGeom prst="rect">
            <a:avLst/>
          </a:prstGeom>
          <a:noFill/>
        </p:spPr>
        <p:txBody>
          <a:bodyPr wrap="square" rtlCol="0">
            <a:spAutoFit/>
          </a:bodyPr>
          <a:lstStyle/>
          <a:p>
            <a:pPr algn="l" fontAlgn="base">
              <a:buFont typeface="Arial" panose="020B0604020202020204" pitchFamily="34" charset="0"/>
              <a:buChar char="•"/>
            </a:pPr>
            <a:r>
              <a:rPr lang="en-US" b="0" i="0" dirty="0">
                <a:effectLst/>
                <a:latin typeface="inherit"/>
              </a:rPr>
              <a:t>You manually install everything. You forget one extension. Their code breaks. They spend 3 hours debugging. </a:t>
            </a:r>
            <a:r>
              <a:rPr lang="en-US" b="1" i="0" dirty="0">
                <a:effectLst/>
                <a:latin typeface="inherit"/>
              </a:rPr>
              <a:t>They blame you.</a:t>
            </a:r>
            <a:endParaRPr lang="en-US" b="0" i="0" dirty="0">
              <a:effectLst/>
              <a:latin typeface="inherit"/>
            </a:endParaRPr>
          </a:p>
          <a:p>
            <a:pPr algn="l" fontAlgn="base">
              <a:buFont typeface="Arial" panose="020B0604020202020204" pitchFamily="34" charset="0"/>
              <a:buChar char="•"/>
            </a:pPr>
            <a:r>
              <a:rPr lang="en-US" b="0" i="0" dirty="0">
                <a:effectLst/>
                <a:latin typeface="inherit"/>
              </a:rPr>
              <a:t>Now imagine doing this for 50 laptops in the lab. </a:t>
            </a:r>
            <a:r>
              <a:rPr lang="en-US" b="1" i="0" dirty="0">
                <a:effectLst/>
                <a:latin typeface="inherit"/>
              </a:rPr>
              <a:t>RIP.</a:t>
            </a:r>
            <a:endParaRPr lang="en-US" b="0" i="0" dirty="0">
              <a:effectLst/>
              <a:latin typeface="inherit"/>
            </a:endParaRPr>
          </a:p>
          <a:p>
            <a:pPr>
              <a:lnSpc>
                <a:spcPct val="95000"/>
              </a:lnSpc>
            </a:pPr>
            <a:endParaRPr lang="en-IN" dirty="0"/>
          </a:p>
        </p:txBody>
      </p:sp>
      <p:sp>
        <p:nvSpPr>
          <p:cNvPr id="18" name="TextBox 17">
            <a:extLst>
              <a:ext uri="{FF2B5EF4-FFF2-40B4-BE49-F238E27FC236}">
                <a16:creationId xmlns:a16="http://schemas.microsoft.com/office/drawing/2014/main" id="{08541A3F-6335-115B-F504-245E4AB714A8}"/>
              </a:ext>
            </a:extLst>
          </p:cNvPr>
          <p:cNvSpPr txBox="1"/>
          <p:nvPr/>
        </p:nvSpPr>
        <p:spPr>
          <a:xfrm>
            <a:off x="995840" y="5242833"/>
            <a:ext cx="10585176" cy="1144929"/>
          </a:xfrm>
          <a:prstGeom prst="rect">
            <a:avLst/>
          </a:prstGeom>
          <a:noFill/>
        </p:spPr>
        <p:txBody>
          <a:bodyPr wrap="square" rtlCol="0">
            <a:spAutoFit/>
          </a:bodyPr>
          <a:lstStyle>
            <a:defPPr>
              <a:defRPr lang="en-US"/>
            </a:defPPr>
            <a:lvl1pPr>
              <a:lnSpc>
                <a:spcPct val="95000"/>
              </a:lnSpc>
              <a:defRPr b="1" i="0">
                <a:solidFill>
                  <a:srgbClr val="FF0000"/>
                </a:solidFill>
                <a:effectLst/>
                <a:latin typeface="-apple-system"/>
              </a:defRPr>
            </a:lvl1pPr>
          </a:lstStyle>
          <a:p>
            <a:r>
              <a:rPr lang="en-US" dirty="0"/>
              <a:t>DevOps Fix: You write a script: "Install VS Code, install Python 3.11, install these 5 extensions, set dark theme."</a:t>
            </a:r>
          </a:p>
          <a:p>
            <a:endParaRPr lang="en-IN" dirty="0"/>
          </a:p>
        </p:txBody>
      </p:sp>
      <p:sp>
        <p:nvSpPr>
          <p:cNvPr id="19" name="TextBox 18">
            <a:extLst>
              <a:ext uri="{FF2B5EF4-FFF2-40B4-BE49-F238E27FC236}">
                <a16:creationId xmlns:a16="http://schemas.microsoft.com/office/drawing/2014/main" id="{B89BBA07-7136-80A0-05DC-EF0702CD7AE9}"/>
              </a:ext>
            </a:extLst>
          </p:cNvPr>
          <p:cNvSpPr txBox="1"/>
          <p:nvPr/>
        </p:nvSpPr>
        <p:spPr>
          <a:xfrm>
            <a:off x="1028801" y="6076302"/>
            <a:ext cx="6709081" cy="812530"/>
          </a:xfrm>
          <a:prstGeom prst="rect">
            <a:avLst/>
          </a:prstGeom>
          <a:noFill/>
        </p:spPr>
        <p:txBody>
          <a:bodyPr wrap="none" rtlCol="0">
            <a:spAutoFit/>
          </a:bodyPr>
          <a:lstStyle/>
          <a:p>
            <a:pPr>
              <a:lnSpc>
                <a:spcPct val="95000"/>
              </a:lnSpc>
            </a:pPr>
            <a:r>
              <a:rPr lang="en-US" b="0" i="0" dirty="0">
                <a:effectLst/>
                <a:latin typeface="inherit"/>
              </a:rPr>
              <a:t>Run it on any laptop. </a:t>
            </a:r>
            <a:r>
              <a:rPr lang="en-US" b="1" i="0" dirty="0">
                <a:effectLst/>
                <a:latin typeface="inherit"/>
              </a:rPr>
              <a:t>Identical setup in 10 minutes.</a:t>
            </a:r>
            <a:endParaRPr lang="en-US" b="0" i="0" dirty="0">
              <a:effectLst/>
              <a:latin typeface="inherit"/>
            </a:endParaRPr>
          </a:p>
          <a:p>
            <a:pPr>
              <a:lnSpc>
                <a:spcPct val="95000"/>
              </a:lnSpc>
            </a:pPr>
            <a:endParaRPr lang="en-IN" dirty="0"/>
          </a:p>
        </p:txBody>
      </p:sp>
      <p:pic>
        <p:nvPicPr>
          <p:cNvPr id="1037" name="Picture 13" descr="Computer Guy stock vector. Illustration of business, crash - 1952921">
            <a:extLst>
              <a:ext uri="{FF2B5EF4-FFF2-40B4-BE49-F238E27FC236}">
                <a16:creationId xmlns:a16="http://schemas.microsoft.com/office/drawing/2014/main" id="{9F2D8DA1-6821-D0B5-FA1C-152361F71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7049" y="941995"/>
            <a:ext cx="4429202" cy="3941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702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F2EE82-0733-0487-7506-026A5FB6F2EF}"/>
              </a:ext>
            </a:extLst>
          </p:cNvPr>
          <p:cNvSpPr txBox="1"/>
          <p:nvPr/>
        </p:nvSpPr>
        <p:spPr>
          <a:xfrm>
            <a:off x="837828" y="476672"/>
            <a:ext cx="7344816" cy="794064"/>
          </a:xfrm>
          <a:prstGeom prst="rect">
            <a:avLst/>
          </a:prstGeom>
          <a:noFill/>
        </p:spPr>
        <p:txBody>
          <a:bodyPr wrap="square" rtlCol="0">
            <a:spAutoFit/>
          </a:bodyPr>
          <a:lstStyle/>
          <a:p>
            <a:pPr>
              <a:lnSpc>
                <a:spcPct val="95000"/>
              </a:lnSpc>
            </a:pPr>
            <a:r>
              <a:rPr lang="en-US" b="1" i="0" dirty="0">
                <a:effectLst/>
                <a:latin typeface="-apple-system"/>
              </a:rPr>
              <a:t>📱 </a:t>
            </a:r>
            <a:r>
              <a:rPr lang="en-US" b="1" dirty="0">
                <a:latin typeface="inherit"/>
              </a:rPr>
              <a:t>5. </a:t>
            </a:r>
            <a:r>
              <a:rPr lang="en-US" b="1" i="0" dirty="0">
                <a:effectLst/>
                <a:latin typeface="inherit"/>
              </a:rPr>
              <a:t>Your Smartphone</a:t>
            </a:r>
            <a:r>
              <a:rPr lang="en-US" b="1" dirty="0">
                <a:latin typeface="-apple-system"/>
              </a:rPr>
              <a:t> </a:t>
            </a:r>
            <a:r>
              <a:rPr lang="en-US" b="1" i="0" dirty="0">
                <a:effectLst/>
                <a:latin typeface="inherit"/>
              </a:rPr>
              <a:t>(Microservices)</a:t>
            </a:r>
            <a:endParaRPr lang="en-US" b="1" i="0" dirty="0">
              <a:effectLst/>
              <a:latin typeface="-apple-system"/>
            </a:endParaRPr>
          </a:p>
          <a:p>
            <a:pPr>
              <a:lnSpc>
                <a:spcPct val="95000"/>
              </a:lnSpc>
            </a:pPr>
            <a:endParaRPr lang="en-IN" dirty="0"/>
          </a:p>
        </p:txBody>
      </p:sp>
      <p:sp>
        <p:nvSpPr>
          <p:cNvPr id="25" name="TextBox 24">
            <a:extLst>
              <a:ext uri="{FF2B5EF4-FFF2-40B4-BE49-F238E27FC236}">
                <a16:creationId xmlns:a16="http://schemas.microsoft.com/office/drawing/2014/main" id="{A0638422-AD52-0DAF-9E5F-AC01879035D2}"/>
              </a:ext>
            </a:extLst>
          </p:cNvPr>
          <p:cNvSpPr txBox="1"/>
          <p:nvPr/>
        </p:nvSpPr>
        <p:spPr>
          <a:xfrm>
            <a:off x="1053852" y="1124744"/>
            <a:ext cx="3228320" cy="443198"/>
          </a:xfrm>
          <a:prstGeom prst="rect">
            <a:avLst/>
          </a:prstGeom>
          <a:noFill/>
        </p:spPr>
        <p:txBody>
          <a:bodyPr wrap="none" rtlCol="0">
            <a:spAutoFit/>
          </a:bodyPr>
          <a:lstStyle/>
          <a:p>
            <a:pPr>
              <a:lnSpc>
                <a:spcPct val="95000"/>
              </a:lnSpc>
            </a:pPr>
            <a:r>
              <a:rPr lang="en-US" b="0" i="0" dirty="0">
                <a:effectLst/>
                <a:latin typeface="-apple-system"/>
              </a:rPr>
              <a:t>Your phone has 40 apps.</a:t>
            </a:r>
            <a:endParaRPr lang="en-IN" dirty="0"/>
          </a:p>
        </p:txBody>
      </p:sp>
      <p:sp>
        <p:nvSpPr>
          <p:cNvPr id="26" name="TextBox 25">
            <a:extLst>
              <a:ext uri="{FF2B5EF4-FFF2-40B4-BE49-F238E27FC236}">
                <a16:creationId xmlns:a16="http://schemas.microsoft.com/office/drawing/2014/main" id="{595EB5C4-ED64-C73C-B05F-B9C668BDB77D}"/>
              </a:ext>
            </a:extLst>
          </p:cNvPr>
          <p:cNvSpPr txBox="1"/>
          <p:nvPr/>
        </p:nvSpPr>
        <p:spPr>
          <a:xfrm>
            <a:off x="1053852" y="1574635"/>
            <a:ext cx="5832648" cy="3397853"/>
          </a:xfrm>
          <a:prstGeom prst="rect">
            <a:avLst/>
          </a:prstGeom>
          <a:noFill/>
        </p:spPr>
        <p:txBody>
          <a:bodyPr wrap="square" rtlCol="0">
            <a:spAutoFit/>
          </a:bodyPr>
          <a:lstStyle/>
          <a:p>
            <a:pPr algn="l" fontAlgn="base">
              <a:buFont typeface="Arial" panose="020B0604020202020204" pitchFamily="34" charset="0"/>
              <a:buChar char="•"/>
            </a:pPr>
            <a:r>
              <a:rPr lang="en-US" b="0" i="0" dirty="0">
                <a:effectLst/>
                <a:latin typeface="inherit"/>
              </a:rPr>
              <a:t>Imagine your phone had </a:t>
            </a:r>
            <a:r>
              <a:rPr lang="en-US" b="1" i="0" dirty="0">
                <a:effectLst/>
                <a:latin typeface="inherit"/>
              </a:rPr>
              <a:t>one giant "Super App"</a:t>
            </a:r>
            <a:r>
              <a:rPr lang="en-US" b="0" i="0" dirty="0">
                <a:effectLst/>
                <a:latin typeface="inherit"/>
              </a:rPr>
              <a:t> that did everything — WhatsApp, Camera, Music, Maps, Calculator, all in one.</a:t>
            </a:r>
          </a:p>
          <a:p>
            <a:pPr algn="l" fontAlgn="base">
              <a:buFont typeface="Arial" panose="020B0604020202020204" pitchFamily="34" charset="0"/>
              <a:buChar char="•"/>
            </a:pPr>
            <a:r>
              <a:rPr lang="en-US" b="0" i="0" dirty="0">
                <a:effectLst/>
                <a:latin typeface="inherit"/>
              </a:rPr>
              <a:t>If the Camera feature crashes, your entire phone freezes. You can't even call your mother.</a:t>
            </a:r>
          </a:p>
          <a:p>
            <a:pPr algn="l" fontAlgn="base">
              <a:buFont typeface="Arial" panose="020B0604020202020204" pitchFamily="34" charset="0"/>
              <a:buChar char="•"/>
            </a:pPr>
            <a:r>
              <a:rPr lang="en-US" b="0" i="0" dirty="0">
                <a:effectLst/>
                <a:latin typeface="inherit"/>
              </a:rPr>
              <a:t>Want to update the Calculator? You have to reinstall the entire Super App. Risky.</a:t>
            </a:r>
          </a:p>
          <a:p>
            <a:pPr>
              <a:lnSpc>
                <a:spcPct val="95000"/>
              </a:lnSpc>
            </a:pPr>
            <a:endParaRPr lang="en-IN" dirty="0"/>
          </a:p>
        </p:txBody>
      </p:sp>
      <p:sp>
        <p:nvSpPr>
          <p:cNvPr id="27" name="TextBox 26">
            <a:extLst>
              <a:ext uri="{FF2B5EF4-FFF2-40B4-BE49-F238E27FC236}">
                <a16:creationId xmlns:a16="http://schemas.microsoft.com/office/drawing/2014/main" id="{486DCA86-CAC7-4C06-8622-7F2B38A72E7C}"/>
              </a:ext>
            </a:extLst>
          </p:cNvPr>
          <p:cNvSpPr txBox="1"/>
          <p:nvPr/>
        </p:nvSpPr>
        <p:spPr>
          <a:xfrm>
            <a:off x="909836" y="5011341"/>
            <a:ext cx="10657184" cy="1846659"/>
          </a:xfrm>
          <a:prstGeom prst="rect">
            <a:avLst/>
          </a:prstGeom>
          <a:noFill/>
        </p:spPr>
        <p:txBody>
          <a:bodyPr wrap="square" rtlCol="0">
            <a:spAutoFit/>
          </a:bodyPr>
          <a:lstStyle>
            <a:defPPr>
              <a:defRPr lang="en-US"/>
            </a:defPPr>
            <a:lvl1pPr>
              <a:lnSpc>
                <a:spcPct val="95000"/>
              </a:lnSpc>
              <a:defRPr b="1" i="0">
                <a:solidFill>
                  <a:srgbClr val="FF0000"/>
                </a:solidFill>
                <a:effectLst/>
                <a:latin typeface="-apple-system"/>
              </a:defRPr>
            </a:lvl1pPr>
          </a:lstStyle>
          <a:p>
            <a:r>
              <a:rPr lang="en-IN" dirty="0"/>
              <a:t>DevOps Fix: Each app is independent. </a:t>
            </a:r>
            <a:r>
              <a:rPr lang="en-US" dirty="0"/>
              <a:t>Instagram crashes? Your Phone app, Spotify, and Calculator still work fine. Want to update WhatsApp? Just update that one app from Play Store. Other apps don’t get affected</a:t>
            </a:r>
          </a:p>
          <a:p>
            <a:endParaRPr lang="en-IN" dirty="0"/>
          </a:p>
          <a:p>
            <a:endParaRPr lang="en-IN" dirty="0"/>
          </a:p>
        </p:txBody>
      </p:sp>
      <p:sp>
        <p:nvSpPr>
          <p:cNvPr id="28" name="AutoShape 20" descr="A cartoon boy with messy hair sits, looking stressed and overwhelmed by a  glowing smartphone, surrounded by social media icons. on Craiyon">
            <a:extLst>
              <a:ext uri="{FF2B5EF4-FFF2-40B4-BE49-F238E27FC236}">
                <a16:creationId xmlns:a16="http://schemas.microsoft.com/office/drawing/2014/main" id="{77A810B9-4D7B-64BF-122E-1B9423169322}"/>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 name="Picture 29">
            <a:extLst>
              <a:ext uri="{FF2B5EF4-FFF2-40B4-BE49-F238E27FC236}">
                <a16:creationId xmlns:a16="http://schemas.microsoft.com/office/drawing/2014/main" id="{413D539B-1A78-08D2-589D-90BAD51AE8B3}"/>
              </a:ext>
            </a:extLst>
          </p:cNvPr>
          <p:cNvPicPr>
            <a:picLocks noChangeAspect="1"/>
          </p:cNvPicPr>
          <p:nvPr/>
        </p:nvPicPr>
        <p:blipFill>
          <a:blip r:embed="rId2"/>
          <a:stretch>
            <a:fillRect/>
          </a:stretch>
        </p:blipFill>
        <p:spPr>
          <a:xfrm>
            <a:off x="6987781" y="404664"/>
            <a:ext cx="4437112" cy="4437112"/>
          </a:xfrm>
          <a:prstGeom prst="rect">
            <a:avLst/>
          </a:prstGeom>
        </p:spPr>
      </p:pic>
    </p:spTree>
    <p:extLst>
      <p:ext uri="{BB962C8B-B14F-4D97-AF65-F5344CB8AC3E}">
        <p14:creationId xmlns:p14="http://schemas.microsoft.com/office/powerpoint/2010/main" val="1194666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7B2539-C85E-BAB7-8084-68EB4A4B4B6E}"/>
              </a:ext>
            </a:extLst>
          </p:cNvPr>
          <p:cNvSpPr txBox="1"/>
          <p:nvPr/>
        </p:nvSpPr>
        <p:spPr>
          <a:xfrm>
            <a:off x="909836" y="332656"/>
            <a:ext cx="5264070" cy="812530"/>
          </a:xfrm>
          <a:prstGeom prst="rect">
            <a:avLst/>
          </a:prstGeom>
          <a:noFill/>
        </p:spPr>
        <p:txBody>
          <a:bodyPr wrap="none" rtlCol="0">
            <a:spAutoFit/>
          </a:bodyPr>
          <a:lstStyle/>
          <a:p>
            <a:pPr>
              <a:lnSpc>
                <a:spcPct val="95000"/>
              </a:lnSpc>
            </a:pPr>
            <a:r>
              <a:rPr lang="en-US" b="1" i="0" dirty="0">
                <a:effectLst/>
                <a:latin typeface="-apple-system"/>
              </a:rPr>
              <a:t>📚 </a:t>
            </a:r>
            <a:r>
              <a:rPr lang="en-US" b="1" dirty="0">
                <a:latin typeface="inherit"/>
              </a:rPr>
              <a:t>6</a:t>
            </a:r>
            <a:r>
              <a:rPr lang="en-US" b="1" i="0" dirty="0">
                <a:effectLst/>
                <a:latin typeface="inherit"/>
              </a:rPr>
              <a:t>. The Exam Prep (Shift-Left Testing)</a:t>
            </a:r>
            <a:endParaRPr lang="en-US" b="1" i="0" dirty="0">
              <a:effectLst/>
              <a:latin typeface="-apple-system"/>
            </a:endParaRPr>
          </a:p>
          <a:p>
            <a:pPr>
              <a:lnSpc>
                <a:spcPct val="95000"/>
              </a:lnSpc>
            </a:pPr>
            <a:endParaRPr lang="en-IN" dirty="0"/>
          </a:p>
        </p:txBody>
      </p:sp>
      <p:sp>
        <p:nvSpPr>
          <p:cNvPr id="5" name="TextBox 4">
            <a:extLst>
              <a:ext uri="{FF2B5EF4-FFF2-40B4-BE49-F238E27FC236}">
                <a16:creationId xmlns:a16="http://schemas.microsoft.com/office/drawing/2014/main" id="{075A0F41-CCBF-6447-91B7-28CD3851987A}"/>
              </a:ext>
            </a:extLst>
          </p:cNvPr>
          <p:cNvSpPr txBox="1"/>
          <p:nvPr/>
        </p:nvSpPr>
        <p:spPr>
          <a:xfrm>
            <a:off x="1187016" y="979799"/>
            <a:ext cx="3803926" cy="443198"/>
          </a:xfrm>
          <a:prstGeom prst="rect">
            <a:avLst/>
          </a:prstGeom>
          <a:noFill/>
        </p:spPr>
        <p:txBody>
          <a:bodyPr wrap="none" rtlCol="0">
            <a:spAutoFit/>
          </a:bodyPr>
          <a:lstStyle/>
          <a:p>
            <a:pPr>
              <a:lnSpc>
                <a:spcPct val="95000"/>
              </a:lnSpc>
            </a:pPr>
            <a:r>
              <a:rPr lang="en-US" b="0" i="0" dirty="0">
                <a:effectLst/>
                <a:latin typeface="-apple-system"/>
              </a:rPr>
              <a:t>You have an exam in 30 days.</a:t>
            </a:r>
            <a:endParaRPr lang="en-IN" dirty="0"/>
          </a:p>
        </p:txBody>
      </p:sp>
      <p:sp>
        <p:nvSpPr>
          <p:cNvPr id="6" name="TextBox 5">
            <a:extLst>
              <a:ext uri="{FF2B5EF4-FFF2-40B4-BE49-F238E27FC236}">
                <a16:creationId xmlns:a16="http://schemas.microsoft.com/office/drawing/2014/main" id="{AE6D8AF4-0BC5-3A2C-A175-FBF81264420D}"/>
              </a:ext>
            </a:extLst>
          </p:cNvPr>
          <p:cNvSpPr txBox="1"/>
          <p:nvPr/>
        </p:nvSpPr>
        <p:spPr>
          <a:xfrm>
            <a:off x="1187016" y="1556792"/>
            <a:ext cx="4619364" cy="1920526"/>
          </a:xfrm>
          <a:prstGeom prst="rect">
            <a:avLst/>
          </a:prstGeom>
          <a:noFill/>
        </p:spPr>
        <p:txBody>
          <a:bodyPr wrap="square" rtlCol="0">
            <a:spAutoFit/>
          </a:bodyPr>
          <a:lstStyle/>
          <a:p>
            <a:pPr algn="l" fontAlgn="base">
              <a:buFont typeface="Arial" panose="020B0604020202020204" pitchFamily="34" charset="0"/>
              <a:buChar char="•"/>
            </a:pPr>
            <a:r>
              <a:rPr lang="en-US" b="0" i="0" dirty="0">
                <a:effectLst/>
                <a:latin typeface="inherit"/>
              </a:rPr>
              <a:t>You study nothing for 29 days.</a:t>
            </a:r>
          </a:p>
          <a:p>
            <a:pPr algn="l" fontAlgn="base">
              <a:buFont typeface="Arial" panose="020B0604020202020204" pitchFamily="34" charset="0"/>
              <a:buChar char="•"/>
            </a:pPr>
            <a:r>
              <a:rPr lang="en-US" b="0" i="0" dirty="0">
                <a:effectLst/>
                <a:latin typeface="inherit"/>
              </a:rPr>
              <a:t>On day 30, you open the book, realize you don't understand Chapter 1, panic, and fail.</a:t>
            </a:r>
          </a:p>
          <a:p>
            <a:pPr>
              <a:lnSpc>
                <a:spcPct val="95000"/>
              </a:lnSpc>
            </a:pPr>
            <a:endParaRPr lang="en-IN" dirty="0"/>
          </a:p>
        </p:txBody>
      </p:sp>
      <p:sp>
        <p:nvSpPr>
          <p:cNvPr id="7" name="TextBox 6">
            <a:extLst>
              <a:ext uri="{FF2B5EF4-FFF2-40B4-BE49-F238E27FC236}">
                <a16:creationId xmlns:a16="http://schemas.microsoft.com/office/drawing/2014/main" id="{41EBFBEF-893C-F67C-5B9D-516645D693FA}"/>
              </a:ext>
            </a:extLst>
          </p:cNvPr>
          <p:cNvSpPr txBox="1"/>
          <p:nvPr/>
        </p:nvSpPr>
        <p:spPr>
          <a:xfrm>
            <a:off x="1025334" y="4717856"/>
            <a:ext cx="10297144" cy="1144929"/>
          </a:xfrm>
          <a:prstGeom prst="rect">
            <a:avLst/>
          </a:prstGeom>
          <a:noFill/>
        </p:spPr>
        <p:txBody>
          <a:bodyPr wrap="square" rtlCol="0">
            <a:spAutoFit/>
          </a:bodyPr>
          <a:lstStyle>
            <a:defPPr>
              <a:defRPr lang="en-US"/>
            </a:defPPr>
            <a:lvl1pPr>
              <a:lnSpc>
                <a:spcPct val="95000"/>
              </a:lnSpc>
              <a:defRPr b="1" i="0">
                <a:solidFill>
                  <a:srgbClr val="FF0000"/>
                </a:solidFill>
                <a:effectLst/>
                <a:latin typeface="-apple-system"/>
              </a:defRPr>
            </a:lvl1pPr>
          </a:lstStyle>
          <a:p>
            <a:r>
              <a:rPr lang="en-US" dirty="0"/>
              <a:t>DevOps Fix: You solve one problem set every day, By day 5, you realize you don't understand pointers. You fix it then. By day 30, you've tested yourself so many times that the exam is just another practice round</a:t>
            </a:r>
            <a:endParaRPr lang="en-IN" dirty="0"/>
          </a:p>
        </p:txBody>
      </p:sp>
      <p:pic>
        <p:nvPicPr>
          <p:cNvPr id="6146" name="Picture 2" descr="Student Preparing for Exam, Taking Test Stock Illustration - Illustration  of person, education: 332688894">
            <a:extLst>
              <a:ext uri="{FF2B5EF4-FFF2-40B4-BE49-F238E27FC236}">
                <a16:creationId xmlns:a16="http://schemas.microsoft.com/office/drawing/2014/main" id="{5ED83C43-7382-545E-6EC1-25C41A60E0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1086" y="129945"/>
            <a:ext cx="4877755" cy="4451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856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D8B9B86-A709-6CAF-53DF-0BE02DA54FD2}"/>
              </a:ext>
            </a:extLst>
          </p:cNvPr>
          <p:cNvSpPr txBox="1"/>
          <p:nvPr/>
        </p:nvSpPr>
        <p:spPr>
          <a:xfrm>
            <a:off x="1197868" y="260648"/>
            <a:ext cx="5339154" cy="794064"/>
          </a:xfrm>
          <a:prstGeom prst="rect">
            <a:avLst/>
          </a:prstGeom>
          <a:noFill/>
        </p:spPr>
        <p:txBody>
          <a:bodyPr wrap="none" rtlCol="0">
            <a:spAutoFit/>
          </a:bodyPr>
          <a:lstStyle/>
          <a:p>
            <a:pPr>
              <a:lnSpc>
                <a:spcPct val="95000"/>
              </a:lnSpc>
            </a:pPr>
            <a:r>
              <a:rPr lang="en-US" b="1" i="0" dirty="0">
                <a:effectLst/>
                <a:latin typeface="-apple-system"/>
              </a:rPr>
              <a:t>🎬 </a:t>
            </a:r>
            <a:r>
              <a:rPr lang="en-US" b="1" dirty="0">
                <a:latin typeface="inherit"/>
              </a:rPr>
              <a:t>7</a:t>
            </a:r>
            <a:r>
              <a:rPr lang="en-US" b="1" i="0" dirty="0">
                <a:effectLst/>
                <a:latin typeface="inherit"/>
              </a:rPr>
              <a:t>. The Netflix (Rollback &amp; Resilience)</a:t>
            </a:r>
            <a:endParaRPr lang="en-US" b="1" i="0" dirty="0">
              <a:effectLst/>
              <a:latin typeface="-apple-system"/>
            </a:endParaRPr>
          </a:p>
          <a:p>
            <a:pPr>
              <a:lnSpc>
                <a:spcPct val="95000"/>
              </a:lnSpc>
            </a:pPr>
            <a:endParaRPr lang="en-IN" dirty="0"/>
          </a:p>
        </p:txBody>
      </p:sp>
      <p:sp>
        <p:nvSpPr>
          <p:cNvPr id="5" name="TextBox 4">
            <a:extLst>
              <a:ext uri="{FF2B5EF4-FFF2-40B4-BE49-F238E27FC236}">
                <a16:creationId xmlns:a16="http://schemas.microsoft.com/office/drawing/2014/main" id="{367A0E07-1F11-500D-D76B-9ACB962272BF}"/>
              </a:ext>
            </a:extLst>
          </p:cNvPr>
          <p:cNvSpPr txBox="1"/>
          <p:nvPr/>
        </p:nvSpPr>
        <p:spPr>
          <a:xfrm>
            <a:off x="1072735" y="1015961"/>
            <a:ext cx="5263429" cy="443198"/>
          </a:xfrm>
          <a:prstGeom prst="rect">
            <a:avLst/>
          </a:prstGeom>
          <a:noFill/>
        </p:spPr>
        <p:txBody>
          <a:bodyPr wrap="none" rtlCol="0">
            <a:spAutoFit/>
          </a:bodyPr>
          <a:lstStyle/>
          <a:p>
            <a:pPr>
              <a:lnSpc>
                <a:spcPct val="95000"/>
              </a:lnSpc>
            </a:pPr>
            <a:r>
              <a:rPr lang="en-US" b="0" i="0" dirty="0">
                <a:effectLst/>
                <a:latin typeface="-apple-system"/>
              </a:rPr>
              <a:t>Netflix pushes a new update to their app</a:t>
            </a:r>
            <a:endParaRPr lang="en-IN" dirty="0"/>
          </a:p>
        </p:txBody>
      </p:sp>
      <p:sp>
        <p:nvSpPr>
          <p:cNvPr id="6" name="TextBox 5">
            <a:extLst>
              <a:ext uri="{FF2B5EF4-FFF2-40B4-BE49-F238E27FC236}">
                <a16:creationId xmlns:a16="http://schemas.microsoft.com/office/drawing/2014/main" id="{3DC78DDD-C6E9-E306-5733-C2E3B49DFC52}"/>
              </a:ext>
            </a:extLst>
          </p:cNvPr>
          <p:cNvSpPr txBox="1"/>
          <p:nvPr/>
        </p:nvSpPr>
        <p:spPr>
          <a:xfrm>
            <a:off x="898187" y="1776258"/>
            <a:ext cx="5638835" cy="1920526"/>
          </a:xfrm>
          <a:prstGeom prst="rect">
            <a:avLst/>
          </a:prstGeom>
          <a:noFill/>
        </p:spPr>
        <p:txBody>
          <a:bodyPr wrap="square" rtlCol="0">
            <a:spAutoFit/>
          </a:bodyPr>
          <a:lstStyle/>
          <a:p>
            <a:pPr algn="l" fontAlgn="base">
              <a:buFont typeface="Arial" panose="020B0604020202020204" pitchFamily="34" charset="0"/>
              <a:buChar char="•"/>
            </a:pPr>
            <a:r>
              <a:rPr lang="en-US" b="0" i="0" dirty="0">
                <a:effectLst/>
                <a:latin typeface="inherit"/>
              </a:rPr>
              <a:t>The update crashes the app for 200 million users.</a:t>
            </a:r>
          </a:p>
          <a:p>
            <a:pPr algn="l" fontAlgn="base">
              <a:buFont typeface="Arial" panose="020B0604020202020204" pitchFamily="34" charset="0"/>
              <a:buChar char="•"/>
            </a:pPr>
            <a:r>
              <a:rPr lang="en-US" b="0" i="0" dirty="0">
                <a:effectLst/>
                <a:latin typeface="inherit"/>
              </a:rPr>
              <a:t>Engineers scramble for 6 hours. You miss your 9 PM episode. </a:t>
            </a:r>
            <a:r>
              <a:rPr lang="en-US" b="1" i="0" dirty="0">
                <a:effectLst/>
                <a:latin typeface="inherit"/>
              </a:rPr>
              <a:t>You riot on Twitter.</a:t>
            </a:r>
            <a:endParaRPr lang="en-US" b="0" i="0" dirty="0">
              <a:effectLst/>
              <a:latin typeface="inherit"/>
            </a:endParaRPr>
          </a:p>
          <a:p>
            <a:pPr>
              <a:lnSpc>
                <a:spcPct val="95000"/>
              </a:lnSpc>
            </a:pPr>
            <a:endParaRPr lang="en-IN" dirty="0"/>
          </a:p>
        </p:txBody>
      </p:sp>
      <p:sp>
        <p:nvSpPr>
          <p:cNvPr id="7" name="TextBox 6">
            <a:extLst>
              <a:ext uri="{FF2B5EF4-FFF2-40B4-BE49-F238E27FC236}">
                <a16:creationId xmlns:a16="http://schemas.microsoft.com/office/drawing/2014/main" id="{E76334A3-4FE7-4DB1-8612-F83AC048A2B0}"/>
              </a:ext>
            </a:extLst>
          </p:cNvPr>
          <p:cNvSpPr txBox="1"/>
          <p:nvPr/>
        </p:nvSpPr>
        <p:spPr>
          <a:xfrm>
            <a:off x="1163690" y="4553311"/>
            <a:ext cx="10344949" cy="1495794"/>
          </a:xfrm>
          <a:prstGeom prst="rect">
            <a:avLst/>
          </a:prstGeom>
          <a:noFill/>
        </p:spPr>
        <p:txBody>
          <a:bodyPr wrap="square" rtlCol="0">
            <a:spAutoFit/>
          </a:bodyPr>
          <a:lstStyle>
            <a:defPPr>
              <a:defRPr lang="en-US"/>
            </a:defPPr>
            <a:lvl1pPr>
              <a:lnSpc>
                <a:spcPct val="95000"/>
              </a:lnSpc>
              <a:defRPr b="1" i="0">
                <a:solidFill>
                  <a:srgbClr val="FF0000"/>
                </a:solidFill>
                <a:effectLst/>
                <a:latin typeface="-apple-system"/>
              </a:defRPr>
            </a:lvl1pPr>
          </a:lstStyle>
          <a:p>
            <a:r>
              <a:rPr lang="en-US" dirty="0"/>
              <a:t>DevOps Fix: The new feature starts rolling out to 1% of users. It breaks. Automatic rollback — everyone gets the old version back in 30 seconds. You never even noticed. Your episode plays uninterrupted. Engineers fix it quietly and updated app the next day</a:t>
            </a:r>
            <a:endParaRPr lang="en-IN" dirty="0"/>
          </a:p>
        </p:txBody>
      </p:sp>
      <p:pic>
        <p:nvPicPr>
          <p:cNvPr id="7170" name="Picture 2" descr="CancelNetflix: By Cancelling Our Favourite Shows, Netflix Is Taking Risks  the Streaming Giant Cannot Afford">
            <a:extLst>
              <a:ext uri="{FF2B5EF4-FFF2-40B4-BE49-F238E27FC236}">
                <a16:creationId xmlns:a16="http://schemas.microsoft.com/office/drawing/2014/main" id="{C242E88A-9DBF-F0CD-53FD-A48601E543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1297" y="783743"/>
            <a:ext cx="5232703" cy="3161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271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5D240D-9884-5F56-53FB-D485F434521C}"/>
              </a:ext>
            </a:extLst>
          </p:cNvPr>
          <p:cNvSpPr txBox="1"/>
          <p:nvPr/>
        </p:nvSpPr>
        <p:spPr>
          <a:xfrm>
            <a:off x="1125860" y="332656"/>
            <a:ext cx="2901756" cy="812530"/>
          </a:xfrm>
          <a:prstGeom prst="rect">
            <a:avLst/>
          </a:prstGeom>
          <a:noFill/>
        </p:spPr>
        <p:txBody>
          <a:bodyPr wrap="none" rtlCol="0">
            <a:spAutoFit/>
          </a:bodyPr>
          <a:lstStyle/>
          <a:p>
            <a:pPr>
              <a:lnSpc>
                <a:spcPct val="95000"/>
              </a:lnSpc>
            </a:pPr>
            <a:r>
              <a:rPr lang="en-IN" b="1" i="0" dirty="0">
                <a:effectLst/>
                <a:latin typeface="-apple-system"/>
              </a:rPr>
              <a:t>🗺️ The Analogy Map</a:t>
            </a:r>
          </a:p>
          <a:p>
            <a:pPr>
              <a:lnSpc>
                <a:spcPct val="95000"/>
              </a:lnSpc>
            </a:pPr>
            <a:endParaRPr lang="en-IN" dirty="0"/>
          </a:p>
        </p:txBody>
      </p:sp>
      <p:sp>
        <p:nvSpPr>
          <p:cNvPr id="5" name="TextBox 4">
            <a:extLst>
              <a:ext uri="{FF2B5EF4-FFF2-40B4-BE49-F238E27FC236}">
                <a16:creationId xmlns:a16="http://schemas.microsoft.com/office/drawing/2014/main" id="{74E3E558-B62D-35B5-EC21-41166CB4CAEE}"/>
              </a:ext>
            </a:extLst>
          </p:cNvPr>
          <p:cNvSpPr txBox="1"/>
          <p:nvPr/>
        </p:nvSpPr>
        <p:spPr>
          <a:xfrm>
            <a:off x="981844" y="980728"/>
            <a:ext cx="184731" cy="443198"/>
          </a:xfrm>
          <a:prstGeom prst="rect">
            <a:avLst/>
          </a:prstGeom>
          <a:noFill/>
        </p:spPr>
        <p:txBody>
          <a:bodyPr wrap="none" rtlCol="0">
            <a:spAutoFit/>
          </a:bodyPr>
          <a:lstStyle/>
          <a:p>
            <a:pPr>
              <a:lnSpc>
                <a:spcPct val="95000"/>
              </a:lnSpc>
            </a:pPr>
            <a:endParaRPr lang="en-IN" dirty="0"/>
          </a:p>
        </p:txBody>
      </p:sp>
      <p:pic>
        <p:nvPicPr>
          <p:cNvPr id="7" name="Picture 6">
            <a:extLst>
              <a:ext uri="{FF2B5EF4-FFF2-40B4-BE49-F238E27FC236}">
                <a16:creationId xmlns:a16="http://schemas.microsoft.com/office/drawing/2014/main" id="{E42A4834-DD01-3EDE-D96E-949262A6CBC7}"/>
              </a:ext>
            </a:extLst>
          </p:cNvPr>
          <p:cNvPicPr>
            <a:picLocks noChangeAspect="1"/>
          </p:cNvPicPr>
          <p:nvPr/>
        </p:nvPicPr>
        <p:blipFill>
          <a:blip r:embed="rId2"/>
          <a:stretch>
            <a:fillRect/>
          </a:stretch>
        </p:blipFill>
        <p:spPr>
          <a:xfrm>
            <a:off x="769537" y="1134232"/>
            <a:ext cx="10293428" cy="4310992"/>
          </a:xfrm>
          <a:prstGeom prst="rect">
            <a:avLst/>
          </a:prstGeom>
        </p:spPr>
      </p:pic>
    </p:spTree>
    <p:extLst>
      <p:ext uri="{BB962C8B-B14F-4D97-AF65-F5344CB8AC3E}">
        <p14:creationId xmlns:p14="http://schemas.microsoft.com/office/powerpoint/2010/main" val="396536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A89C6D-A937-3001-2478-0B6A5198A33A}"/>
              </a:ext>
            </a:extLst>
          </p:cNvPr>
          <p:cNvSpPr txBox="1"/>
          <p:nvPr/>
        </p:nvSpPr>
        <p:spPr>
          <a:xfrm>
            <a:off x="1917948" y="1412776"/>
            <a:ext cx="184731" cy="443198"/>
          </a:xfrm>
          <a:prstGeom prst="rect">
            <a:avLst/>
          </a:prstGeom>
          <a:noFill/>
        </p:spPr>
        <p:txBody>
          <a:bodyPr wrap="square" rtlCol="0">
            <a:spAutoFit/>
          </a:bodyPr>
          <a:lstStyle/>
          <a:p>
            <a:pPr>
              <a:lnSpc>
                <a:spcPct val="95000"/>
              </a:lnSpc>
            </a:pPr>
            <a:endParaRPr lang="en-IN" dirty="0"/>
          </a:p>
        </p:txBody>
      </p:sp>
      <p:sp>
        <p:nvSpPr>
          <p:cNvPr id="6" name="TextBox 5">
            <a:extLst>
              <a:ext uri="{FF2B5EF4-FFF2-40B4-BE49-F238E27FC236}">
                <a16:creationId xmlns:a16="http://schemas.microsoft.com/office/drawing/2014/main" id="{75AD8100-35A0-4AA9-D614-E0CE5D1B8419}"/>
              </a:ext>
            </a:extLst>
          </p:cNvPr>
          <p:cNvSpPr txBox="1"/>
          <p:nvPr/>
        </p:nvSpPr>
        <p:spPr>
          <a:xfrm>
            <a:off x="909837" y="476672"/>
            <a:ext cx="9937103" cy="2938625"/>
          </a:xfrm>
          <a:prstGeom prst="rect">
            <a:avLst/>
          </a:prstGeom>
          <a:noFill/>
        </p:spPr>
        <p:txBody>
          <a:bodyPr wrap="square" rtlCol="0">
            <a:spAutoFit/>
          </a:bodyPr>
          <a:lstStyle/>
          <a:p>
            <a:pPr>
              <a:lnSpc>
                <a:spcPct val="95000"/>
              </a:lnSpc>
            </a:pPr>
            <a:r>
              <a:rPr lang="en-IN" b="1" dirty="0"/>
              <a:t>DEVOPS IS NOT ABOUT TOOLS — IT'S ABOUT MINDSET.           </a:t>
            </a:r>
          </a:p>
          <a:p>
            <a:pPr>
              <a:lnSpc>
                <a:spcPct val="95000"/>
              </a:lnSpc>
            </a:pPr>
            <a:r>
              <a:rPr lang="en-IN" b="1" dirty="0"/>
              <a:t>                                                         </a:t>
            </a:r>
          </a:p>
          <a:p>
            <a:pPr>
              <a:lnSpc>
                <a:spcPct val="150000"/>
              </a:lnSpc>
            </a:pPr>
            <a:r>
              <a:rPr lang="en-IN" b="1" dirty="0"/>
              <a:t>Talk more (Culture)   →   Automate everything (CI/CD/</a:t>
            </a:r>
            <a:r>
              <a:rPr lang="en-IN" b="1" dirty="0" err="1"/>
              <a:t>IaC</a:t>
            </a:r>
            <a:r>
              <a:rPr lang="en-IN" b="1" dirty="0"/>
              <a:t>)   → Test early (Shift-Left)  →   Watch closely (Monitoring)   →   Break into pieces (Microservices)     →    Fail safely (Rollback)   →  Ship faster, sleep better</a:t>
            </a:r>
          </a:p>
        </p:txBody>
      </p:sp>
    </p:spTree>
    <p:extLst>
      <p:ext uri="{BB962C8B-B14F-4D97-AF65-F5344CB8AC3E}">
        <p14:creationId xmlns:p14="http://schemas.microsoft.com/office/powerpoint/2010/main" val="1045498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lass open house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Classroom open house presentation.potx" id="{AB7D8AB0-4323-4322-AB21-8CB398DB9E96}" vid="{5BFEA1FF-C39F-48A2-B239-4B55565FC3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Classroom open house presentation</Template>
  <TotalTime>2256</TotalTime>
  <Words>982</Words>
  <Application>Microsoft Office PowerPoint</Application>
  <PresentationFormat>Custom</PresentationFormat>
  <Paragraphs>62</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-apple-system</vt:lpstr>
      <vt:lpstr>Arial</vt:lpstr>
      <vt:lpstr>Century Gothic</vt:lpstr>
      <vt:lpstr>inherit</vt:lpstr>
      <vt:lpstr>Class open house presentation</vt:lpstr>
      <vt:lpstr>DevOps</vt:lpstr>
      <vt:lpstr>Revise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Aruna Inamdar</dc:creator>
  <cp:lastModifiedBy>Aruna Inamdar</cp:lastModifiedBy>
  <cp:revision>393</cp:revision>
  <dcterms:created xsi:type="dcterms:W3CDTF">2026-07-15T13:08:00Z</dcterms:created>
  <dcterms:modified xsi:type="dcterms:W3CDTF">2026-08-10T15:30:43Z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