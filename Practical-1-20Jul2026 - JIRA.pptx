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23"/>
  </p:notesMasterIdLst>
  <p:handoutMasterIdLst>
    <p:handoutMasterId r:id="rId24"/>
  </p:handoutMasterIdLst>
  <p:sldIdLst>
    <p:sldId id="257" r:id="rId2"/>
    <p:sldId id="267" r:id="rId3"/>
    <p:sldId id="303" r:id="rId4"/>
    <p:sldId id="287" r:id="rId5"/>
    <p:sldId id="258" r:id="rId6"/>
    <p:sldId id="259" r:id="rId7"/>
    <p:sldId id="288" r:id="rId8"/>
    <p:sldId id="289" r:id="rId9"/>
    <p:sldId id="290" r:id="rId10"/>
    <p:sldId id="291" r:id="rId11"/>
    <p:sldId id="292" r:id="rId12"/>
    <p:sldId id="293" r:id="rId13"/>
    <p:sldId id="302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7/19/2026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7/19/2026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0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7/19/2026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software/jira/fre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Practical – 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JIRA Fundamentals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3744-82BD-18CD-BD9F-BA4F2D79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1C79-8EB4-E7B5-84F2-09F2C4AB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193800"/>
            <a:ext cx="10157354" cy="4470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are employees of </a:t>
            </a:r>
            <a:r>
              <a:rPr lang="en-US" b="1" dirty="0" err="1"/>
              <a:t>TechSoft</a:t>
            </a:r>
            <a:r>
              <a:rPr lang="en-US" b="1" dirty="0"/>
              <a:t> Pvt. Ltd.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client wants us to build a </a:t>
            </a:r>
            <a:r>
              <a:rPr lang="en-US" b="1" dirty="0"/>
              <a:t>Food Delivery Application like Swiggy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manage this project using Jira.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94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1751-BE16-6C23-2ECC-679B2961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120552"/>
          </a:xfrm>
        </p:spPr>
        <p:txBody>
          <a:bodyPr/>
          <a:lstStyle/>
          <a:p>
            <a:r>
              <a:rPr lang="en-IN" dirty="0"/>
              <a:t>What is JIRA?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A7F25-C739-08CC-650D-5F325F23EC01}"/>
              </a:ext>
            </a:extLst>
          </p:cNvPr>
          <p:cNvSpPr txBox="1"/>
          <p:nvPr/>
        </p:nvSpPr>
        <p:spPr>
          <a:xfrm>
            <a:off x="1114166" y="1556792"/>
            <a:ext cx="10380846" cy="401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Jira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</a:t>
            </a:r>
            <a:b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Jira is an Agile project management and issue-tracking tool developed by </a:t>
            </a: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Atlassian</a:t>
            </a: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It is used for sprint planning, task management, bug tracking, and project monitoring.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b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Amazon uses Jira to manage software development tasks.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52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33C3AD-7F5D-51B0-BB6E-0E57D255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128A16-0115-49E3-3224-6F87171B4D9D}"/>
              </a:ext>
            </a:extLst>
          </p:cNvPr>
          <p:cNvSpPr txBox="1"/>
          <p:nvPr/>
        </p:nvSpPr>
        <p:spPr>
          <a:xfrm>
            <a:off x="979429" y="1335193"/>
            <a:ext cx="3833101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/>
              <a:t>Step 1: Create a Jira Site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A8029-2F07-E697-2390-24524AC92153}"/>
              </a:ext>
            </a:extLst>
          </p:cNvPr>
          <p:cNvSpPr txBox="1"/>
          <p:nvPr/>
        </p:nvSpPr>
        <p:spPr>
          <a:xfrm>
            <a:off x="991236" y="2095923"/>
            <a:ext cx="791274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Open: </a:t>
            </a:r>
            <a:r>
              <a:rPr lang="en-IN" b="1" dirty="0">
                <a:hlinkClick r:id="rId2"/>
              </a:rPr>
              <a:t>https://www.atlassian.com/software/jira/free</a:t>
            </a:r>
            <a:endParaRPr lang="en-IN" dirty="0"/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8DCF5-4741-72A2-07D2-6BF114F0AF1A}"/>
              </a:ext>
            </a:extLst>
          </p:cNvPr>
          <p:cNvSpPr txBox="1"/>
          <p:nvPr/>
        </p:nvSpPr>
        <p:spPr>
          <a:xfrm>
            <a:off x="1045013" y="2963501"/>
            <a:ext cx="2462534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Register / Login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D0532-9B8D-69B7-9CB9-0BD62AD4B702}"/>
              </a:ext>
            </a:extLst>
          </p:cNvPr>
          <p:cNvSpPr txBox="1"/>
          <p:nvPr/>
        </p:nvSpPr>
        <p:spPr>
          <a:xfrm>
            <a:off x="1067680" y="3815810"/>
            <a:ext cx="10256612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Once logged in, it will ask you to create “Site” first - </a:t>
            </a:r>
            <a:r>
              <a:rPr lang="en-US" dirty="0"/>
              <a:t>Think of this as your company's office building. Everything happens inside this Site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6E9E0-8A54-4764-AD63-0907E09F85A9}"/>
              </a:ext>
            </a:extLst>
          </p:cNvPr>
          <p:cNvSpPr txBox="1"/>
          <p:nvPr/>
        </p:nvSpPr>
        <p:spPr>
          <a:xfrm>
            <a:off x="1045013" y="5120199"/>
            <a:ext cx="10449711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>
                <a:solidFill>
                  <a:srgbClr val="FF0000"/>
                </a:solidFill>
              </a:rPr>
              <a:t>A Site is the main Jira workspace where all projects, users, dashboards, and settings are stored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6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879784-6406-272F-7AC0-49695187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E59A4-C0E7-D1B0-67FE-8479E8F18FBE}"/>
              </a:ext>
            </a:extLst>
          </p:cNvPr>
          <p:cNvSpPr txBox="1"/>
          <p:nvPr/>
        </p:nvSpPr>
        <p:spPr>
          <a:xfrm>
            <a:off x="1197868" y="1268760"/>
            <a:ext cx="3759362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/>
              <a:t>Step 2: Create a Project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B14F8-7305-166B-D964-53128AFE8BDC}"/>
              </a:ext>
            </a:extLst>
          </p:cNvPr>
          <p:cNvSpPr txBox="1"/>
          <p:nvPr/>
        </p:nvSpPr>
        <p:spPr>
          <a:xfrm>
            <a:off x="1197868" y="1844824"/>
            <a:ext cx="294664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/>
              <a:t>Click</a:t>
            </a:r>
          </a:p>
          <a:p>
            <a:endParaRPr lang="en-IN" dirty="0"/>
          </a:p>
          <a:p>
            <a:r>
              <a:rPr lang="en-IN" dirty="0"/>
              <a:t>Projects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Create Project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Scrum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Food Delivery App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504D4A-2B4F-1B72-3114-3684874005E7}"/>
              </a:ext>
            </a:extLst>
          </p:cNvPr>
          <p:cNvSpPr txBox="1"/>
          <p:nvPr/>
        </p:nvSpPr>
        <p:spPr>
          <a:xfrm>
            <a:off x="5734372" y="1711958"/>
            <a:ext cx="4899098" cy="376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Project = One software product</a:t>
            </a:r>
          </a:p>
          <a:p>
            <a:endParaRPr lang="en-IN" dirty="0"/>
          </a:p>
          <a:p>
            <a:r>
              <a:rPr lang="en-IN" dirty="0"/>
              <a:t>Examples:</a:t>
            </a:r>
          </a:p>
          <a:p>
            <a:endParaRPr lang="en-IN" dirty="0"/>
          </a:p>
          <a:p>
            <a:r>
              <a:rPr lang="en-IN" dirty="0"/>
              <a:t>WhatsApp</a:t>
            </a:r>
          </a:p>
          <a:p>
            <a:r>
              <a:rPr lang="en-IN" dirty="0"/>
              <a:t>Netflix</a:t>
            </a:r>
          </a:p>
          <a:p>
            <a:r>
              <a:rPr lang="en-IN" dirty="0"/>
              <a:t>College ERP</a:t>
            </a:r>
          </a:p>
          <a:p>
            <a:endParaRPr lang="en-IN" dirty="0"/>
          </a:p>
          <a:p>
            <a:endParaRPr lang="en-IN" dirty="0"/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827F20-B7B0-3BB4-37AB-9BA3D67C2D0B}"/>
              </a:ext>
            </a:extLst>
          </p:cNvPr>
          <p:cNvSpPr txBox="1"/>
          <p:nvPr/>
        </p:nvSpPr>
        <p:spPr>
          <a:xfrm>
            <a:off x="2884823" y="5726409"/>
            <a:ext cx="6622326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Can one company have multiple projects?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32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9C346B-996E-93CF-E63A-A72099EF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72A67-15AE-5217-047A-322BC32C084E}"/>
              </a:ext>
            </a:extLst>
          </p:cNvPr>
          <p:cNvSpPr txBox="1"/>
          <p:nvPr/>
        </p:nvSpPr>
        <p:spPr>
          <a:xfrm>
            <a:off x="1083603" y="1227181"/>
            <a:ext cx="3310522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/>
              <a:t>Step 3: The Left Menu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37A86-F23C-8E7D-3956-44DAA8A18753}"/>
              </a:ext>
            </a:extLst>
          </p:cNvPr>
          <p:cNvSpPr txBox="1"/>
          <p:nvPr/>
        </p:nvSpPr>
        <p:spPr>
          <a:xfrm>
            <a:off x="1083603" y="1916832"/>
            <a:ext cx="1704313" cy="465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Roadmap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Backlog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Board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Timeline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Releases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Issues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89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0BC35E-B3E4-982E-89A7-9A01FCD6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Need of Agile S/W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416BC-5C6B-7D3E-23F1-3575B6490A98}"/>
              </a:ext>
            </a:extLst>
          </p:cNvPr>
          <p:cNvSpPr txBox="1"/>
          <p:nvPr/>
        </p:nvSpPr>
        <p:spPr>
          <a:xfrm>
            <a:off x="792104" y="1196752"/>
            <a:ext cx="10540065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What if Amazon released only login and shopping cart in one month?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DC1D1-14AB-2622-57CE-54A5F420E7EC}"/>
              </a:ext>
            </a:extLst>
          </p:cNvPr>
          <p:cNvSpPr txBox="1"/>
          <p:nvPr/>
        </p:nvSpPr>
        <p:spPr>
          <a:xfrm>
            <a:off x="909836" y="1883282"/>
            <a:ext cx="3996607" cy="2105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 start using 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Feedback arrives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Developers improve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69547-62E4-1310-0838-B7F2AC22061C}"/>
              </a:ext>
            </a:extLst>
          </p:cNvPr>
          <p:cNvSpPr txBox="1"/>
          <p:nvPr/>
        </p:nvSpPr>
        <p:spPr>
          <a:xfrm>
            <a:off x="6043577" y="2487609"/>
            <a:ext cx="186461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>
                <a:solidFill>
                  <a:srgbClr val="FF0000"/>
                </a:solidFill>
              </a:rPr>
              <a:t>This is Agile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2B58B-B747-DE24-AB2C-699827CF1179}"/>
              </a:ext>
            </a:extLst>
          </p:cNvPr>
          <p:cNvSpPr txBox="1"/>
          <p:nvPr/>
        </p:nvSpPr>
        <p:spPr>
          <a:xfrm>
            <a:off x="907301" y="4015472"/>
            <a:ext cx="10540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b="1">
                <a:solidFill>
                  <a:srgbClr val="FF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Definition</a:t>
            </a:r>
          </a:p>
          <a:p>
            <a:endParaRPr lang="en-US" dirty="0"/>
          </a:p>
          <a:p>
            <a:r>
              <a:rPr lang="en-US" dirty="0"/>
              <a:t>According to Roger Pressman</a:t>
            </a:r>
          </a:p>
          <a:p>
            <a:endParaRPr lang="en-US" dirty="0"/>
          </a:p>
          <a:p>
            <a:r>
              <a:rPr lang="en-US" dirty="0"/>
              <a:t>Agile is a software development philosophy that emphasizes incremental delivery, customer collaboration, adaptability, and rapid response to change.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26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07EEA6-FE01-FD6D-1D28-B868A813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Why Traditional Methods Failed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D1262-C627-01EC-4165-D13446B9FBAC}"/>
              </a:ext>
            </a:extLst>
          </p:cNvPr>
          <p:cNvSpPr txBox="1"/>
          <p:nvPr/>
        </p:nvSpPr>
        <p:spPr>
          <a:xfrm>
            <a:off x="765820" y="1425960"/>
            <a:ext cx="21050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Requirement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Coding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Customer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74154-F070-2FF1-AB4D-99AE058D2337}"/>
              </a:ext>
            </a:extLst>
          </p:cNvPr>
          <p:cNvSpPr txBox="1"/>
          <p:nvPr/>
        </p:nvSpPr>
        <p:spPr>
          <a:xfrm>
            <a:off x="781742" y="5687910"/>
            <a:ext cx="391966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Customer waits 1–2 years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07788-396C-120E-DD47-6FD5EA52DBFB}"/>
              </a:ext>
            </a:extLst>
          </p:cNvPr>
          <p:cNvSpPr txBox="1"/>
          <p:nvPr/>
        </p:nvSpPr>
        <p:spPr>
          <a:xfrm>
            <a:off x="3574132" y="1284527"/>
            <a:ext cx="4320480" cy="432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Problems:</a:t>
            </a:r>
          </a:p>
          <a:p>
            <a:pPr>
              <a:lnSpc>
                <a:spcPct val="150000"/>
              </a:lnSpc>
            </a:pPr>
            <a:r>
              <a:rPr lang="en-US" dirty="0"/>
              <a:t>❌ Requirements change</a:t>
            </a:r>
          </a:p>
          <a:p>
            <a:pPr>
              <a:lnSpc>
                <a:spcPct val="150000"/>
              </a:lnSpc>
            </a:pPr>
            <a:r>
              <a:rPr lang="en-US" dirty="0"/>
              <a:t>❌ Market changes</a:t>
            </a:r>
          </a:p>
          <a:p>
            <a:pPr>
              <a:lnSpc>
                <a:spcPct val="150000"/>
              </a:lnSpc>
            </a:pPr>
            <a:r>
              <a:rPr lang="en-US" dirty="0"/>
              <a:t>❌ Technology changes</a:t>
            </a:r>
          </a:p>
          <a:p>
            <a:pPr>
              <a:lnSpc>
                <a:spcPct val="150000"/>
              </a:lnSpc>
            </a:pPr>
            <a:r>
              <a:rPr lang="en-US" dirty="0"/>
              <a:t>❌ Competitors launch earlier</a:t>
            </a:r>
          </a:p>
          <a:p>
            <a:pPr>
              <a:lnSpc>
                <a:spcPct val="150000"/>
              </a:lnSpc>
            </a:pPr>
            <a:r>
              <a:rPr lang="en-US" dirty="0"/>
              <a:t>❌ Customer dissatisfied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BA0B7-784E-5E18-13F1-66E1BD9A87BA}"/>
              </a:ext>
            </a:extLst>
          </p:cNvPr>
          <p:cNvSpPr txBox="1"/>
          <p:nvPr/>
        </p:nvSpPr>
        <p:spPr>
          <a:xfrm>
            <a:off x="8038628" y="1556792"/>
            <a:ext cx="3879588" cy="2659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Agile solved: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Frequent delivery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Customer involvement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Early testing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Faster feedback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Lower risk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71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6DA113-9A3E-3015-68B4-064C249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History of Agile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BB19A-0B28-1DD9-600A-37BB63CA1F64}"/>
              </a:ext>
            </a:extLst>
          </p:cNvPr>
          <p:cNvSpPr txBox="1"/>
          <p:nvPr/>
        </p:nvSpPr>
        <p:spPr>
          <a:xfrm>
            <a:off x="1108080" y="1124744"/>
            <a:ext cx="4855816" cy="376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Before Agile, Software followed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Waterfall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Spiral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Prototype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1221BD-3B97-64E5-14CF-8D29BB404682}"/>
              </a:ext>
            </a:extLst>
          </p:cNvPr>
          <p:cNvSpPr txBox="1"/>
          <p:nvPr/>
        </p:nvSpPr>
        <p:spPr>
          <a:xfrm>
            <a:off x="1117309" y="4725144"/>
            <a:ext cx="5136342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But, Software projects kept failing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507B5-DE89-8F11-A148-F4C8CFB7A4FD}"/>
              </a:ext>
            </a:extLst>
          </p:cNvPr>
          <p:cNvSpPr txBox="1"/>
          <p:nvPr/>
        </p:nvSpPr>
        <p:spPr>
          <a:xfrm>
            <a:off x="5230316" y="2039772"/>
            <a:ext cx="6408712" cy="210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Interesting Fact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 the 1990s, Nearly 70% software projects either failed or exceeded budget</a:t>
            </a:r>
            <a:endParaRPr lang="en-US" dirty="0"/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D4FC1-967E-DBC8-C8A2-1F34D26AD413}"/>
              </a:ext>
            </a:extLst>
          </p:cNvPr>
          <p:cNvSpPr txBox="1"/>
          <p:nvPr/>
        </p:nvSpPr>
        <p:spPr>
          <a:xfrm>
            <a:off x="1108080" y="5448738"/>
            <a:ext cx="568136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Many developers became frustrated</a:t>
            </a:r>
          </a:p>
        </p:txBody>
      </p:sp>
    </p:spTree>
    <p:extLst>
      <p:ext uri="{BB962C8B-B14F-4D97-AF65-F5344CB8AC3E}">
        <p14:creationId xmlns:p14="http://schemas.microsoft.com/office/powerpoint/2010/main" val="84123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E68E0-F440-D706-F6AF-85D7DE04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History of Agile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136DF-C990-E838-C696-B1F84790BED1}"/>
              </a:ext>
            </a:extLst>
          </p:cNvPr>
          <p:cNvSpPr txBox="1"/>
          <p:nvPr/>
        </p:nvSpPr>
        <p:spPr>
          <a:xfrm>
            <a:off x="946122" y="1277778"/>
            <a:ext cx="2598788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In February 2001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C3E06-9139-3CEC-B313-8605F2F1679F}"/>
              </a:ext>
            </a:extLst>
          </p:cNvPr>
          <p:cNvSpPr txBox="1"/>
          <p:nvPr/>
        </p:nvSpPr>
        <p:spPr>
          <a:xfrm>
            <a:off x="942166" y="1986812"/>
            <a:ext cx="4248473" cy="155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17</a:t>
            </a:r>
            <a:r>
              <a:rPr lang="en-IN" dirty="0"/>
              <a:t> software experts met At </a:t>
            </a:r>
            <a:r>
              <a:rPr lang="en-IN" b="1" dirty="0"/>
              <a:t>Snowbird Ski Resort, Utah, USA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E49B9-92B8-AE71-FAA1-AC932C6BF814}"/>
              </a:ext>
            </a:extLst>
          </p:cNvPr>
          <p:cNvSpPr txBox="1"/>
          <p:nvPr/>
        </p:nvSpPr>
        <p:spPr>
          <a:xfrm>
            <a:off x="942166" y="3803842"/>
            <a:ext cx="3822735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What were software engineers doing in a ski resort?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6DD1E-D3EF-E6E6-9CCC-8EDDEAE14A9C}"/>
              </a:ext>
            </a:extLst>
          </p:cNvPr>
          <p:cNvSpPr txBox="1"/>
          <p:nvPr/>
        </p:nvSpPr>
        <p:spPr>
          <a:xfrm>
            <a:off x="942166" y="5445224"/>
            <a:ext cx="3822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b="1">
                <a:solidFill>
                  <a:srgbClr val="FF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IN" sz="2400" dirty="0"/>
              <a:t>They changed software history</a:t>
            </a:r>
          </a:p>
        </p:txBody>
      </p:sp>
      <p:pic>
        <p:nvPicPr>
          <p:cNvPr id="5122" name="Picture 2" descr="The Agile Manifesto - How Well Did It Age? - Pragmatic Agility">
            <a:extLst>
              <a:ext uri="{FF2B5EF4-FFF2-40B4-BE49-F238E27FC236}">
                <a16:creationId xmlns:a16="http://schemas.microsoft.com/office/drawing/2014/main" id="{63752C8A-8DE5-6F7D-5776-C560CE9D8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820" y="178904"/>
            <a:ext cx="6500192" cy="650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64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CCF266-104B-D074-FA6F-778E50497E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764288"/>
              </p:ext>
            </p:extLst>
          </p:nvPr>
        </p:nvGraphicFramePr>
        <p:xfrm>
          <a:off x="4432941" y="1988841"/>
          <a:ext cx="2118672" cy="1835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282" imgH="792690" progId="Package">
                  <p:embed/>
                </p:oleObj>
              </mc:Choice>
              <mc:Fallback>
                <p:oleObj name="Packager Shell Object" showAsIcon="1" r:id="rId2" imgW="914282" imgH="79269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32941" y="1988841"/>
                        <a:ext cx="2118672" cy="1835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378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06E064-25B5-D080-D9E4-167D1C19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28" y="-55984"/>
            <a:ext cx="10157354" cy="904528"/>
          </a:xfrm>
        </p:spPr>
        <p:txBody>
          <a:bodyPr/>
          <a:lstStyle/>
          <a:p>
            <a:r>
              <a:rPr lang="en-IN" dirty="0"/>
              <a:t>Agile Manifesto – 4 VALUES</a:t>
            </a:r>
          </a:p>
        </p:txBody>
      </p:sp>
      <p:pic>
        <p:nvPicPr>
          <p:cNvPr id="8194" name="Picture 2" descr="What is Agile Software Development? Agile Principles and Values ⋆ Geneca">
            <a:extLst>
              <a:ext uri="{FF2B5EF4-FFF2-40B4-BE49-F238E27FC236}">
                <a16:creationId xmlns:a16="http://schemas.microsoft.com/office/drawing/2014/main" id="{D6F9E3CF-0065-5FEB-D095-83D843321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108" y="1772816"/>
            <a:ext cx="5827538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92FF83-CAF8-EB80-1AC3-40C00A278006}"/>
              </a:ext>
            </a:extLst>
          </p:cNvPr>
          <p:cNvSpPr txBox="1"/>
          <p:nvPr/>
        </p:nvSpPr>
        <p:spPr>
          <a:xfrm rot="19715926">
            <a:off x="1093487" y="1030000"/>
            <a:ext cx="48283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Suppose, Wi-Fi stops working.</a:t>
            </a:r>
          </a:p>
          <a:p>
            <a:r>
              <a:rPr lang="en-US" sz="1800" dirty="0"/>
              <a:t>Instead Following 10 documents</a:t>
            </a:r>
          </a:p>
          <a:p>
            <a:r>
              <a:rPr lang="en-US" sz="1800" dirty="0"/>
              <a:t>takes hours, Two developers discuss together</a:t>
            </a:r>
          </a:p>
          <a:p>
            <a:r>
              <a:rPr lang="en-US" sz="1800" dirty="0"/>
              <a:t>Problem solved</a:t>
            </a:r>
          </a:p>
          <a:p>
            <a:r>
              <a:rPr lang="en-US" sz="1800" dirty="0"/>
              <a:t>People matter more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23775-EFD3-6902-880A-ABB1EF055A4A}"/>
              </a:ext>
            </a:extLst>
          </p:cNvPr>
          <p:cNvSpPr txBox="1"/>
          <p:nvPr/>
        </p:nvSpPr>
        <p:spPr>
          <a:xfrm rot="1982265">
            <a:off x="1629142" y="4893956"/>
            <a:ext cx="32528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/>
            </a:lvl1pPr>
          </a:lstStyle>
          <a:p>
            <a:r>
              <a:rPr lang="en-US" dirty="0"/>
              <a:t>Which impresses customer?</a:t>
            </a:r>
          </a:p>
          <a:p>
            <a:r>
              <a:rPr lang="en-US" dirty="0"/>
              <a:t>100-page document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Working mobile app?</a:t>
            </a:r>
          </a:p>
          <a:p>
            <a:r>
              <a:rPr lang="en-US" dirty="0"/>
              <a:t>Obviously</a:t>
            </a:r>
          </a:p>
          <a:p>
            <a:r>
              <a:rPr lang="en-US" dirty="0"/>
              <a:t>Working software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48832-389E-D21F-9DAC-EA2A2C38D9C9}"/>
              </a:ext>
            </a:extLst>
          </p:cNvPr>
          <p:cNvSpPr txBox="1"/>
          <p:nvPr/>
        </p:nvSpPr>
        <p:spPr>
          <a:xfrm rot="19715926">
            <a:off x="8153053" y="4349147"/>
            <a:ext cx="2943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COVID arrived.</a:t>
            </a:r>
          </a:p>
          <a:p>
            <a:r>
              <a:rPr lang="en-US" sz="1800" dirty="0"/>
              <a:t>Food delivery apps started</a:t>
            </a:r>
          </a:p>
          <a:p>
            <a:r>
              <a:rPr lang="en-US" sz="1800" dirty="0"/>
              <a:t>Medicine delivery.</a:t>
            </a:r>
          </a:p>
          <a:p>
            <a:r>
              <a:rPr lang="en-US" sz="1800" dirty="0"/>
              <a:t>That's Agile thinking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046F4-EE3B-2137-5E05-6DAF58F2617A}"/>
              </a:ext>
            </a:extLst>
          </p:cNvPr>
          <p:cNvSpPr txBox="1"/>
          <p:nvPr/>
        </p:nvSpPr>
        <p:spPr>
          <a:xfrm rot="1982265">
            <a:off x="7592181" y="1155855"/>
            <a:ext cx="32528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/>
            </a:lvl1pPr>
          </a:lstStyle>
          <a:p>
            <a:r>
              <a:rPr lang="en-US" dirty="0"/>
              <a:t>Netflix continuously asks</a:t>
            </a:r>
          </a:p>
          <a:p>
            <a:r>
              <a:rPr lang="en-US" dirty="0"/>
              <a:t>"What features do users like?"</a:t>
            </a:r>
          </a:p>
          <a:p>
            <a:r>
              <a:rPr lang="en-US" dirty="0"/>
              <a:t>Instead of saying</a:t>
            </a:r>
          </a:p>
          <a:p>
            <a:r>
              <a:rPr lang="en-US" dirty="0"/>
              <a:t>"This wasn't in contract."</a:t>
            </a:r>
          </a:p>
        </p:txBody>
      </p:sp>
    </p:spTree>
    <p:extLst>
      <p:ext uri="{BB962C8B-B14F-4D97-AF65-F5344CB8AC3E}">
        <p14:creationId xmlns:p14="http://schemas.microsoft.com/office/powerpoint/2010/main" val="164035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948901-FF0D-C396-700B-05963496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28" y="-55984"/>
            <a:ext cx="10157354" cy="904528"/>
          </a:xfrm>
        </p:spPr>
        <p:txBody>
          <a:bodyPr/>
          <a:lstStyle/>
          <a:p>
            <a:r>
              <a:rPr lang="en-IN" dirty="0"/>
              <a:t>Agile Manifesto – 12 Principles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FDD2F-707B-B8ED-D12B-BA1FDF61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789" y="1052736"/>
            <a:ext cx="7573432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9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46708B-9E17-F4F3-08B2-4BFAB3C4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Traditional vs Agile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CC16C9-FB19-8003-97E1-AE8E238D7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826370"/>
              </p:ext>
            </p:extLst>
          </p:nvPr>
        </p:nvGraphicFramePr>
        <p:xfrm>
          <a:off x="1250348" y="1412776"/>
          <a:ext cx="10156824" cy="3657600"/>
        </p:xfrm>
        <a:graphic>
          <a:graphicData uri="http://schemas.openxmlformats.org/drawingml/2006/table">
            <a:tbl>
              <a:tblPr/>
              <a:tblGrid>
                <a:gridCol w="5078412">
                  <a:extLst>
                    <a:ext uri="{9D8B030D-6E8A-4147-A177-3AD203B41FA5}">
                      <a16:colId xmlns:a16="http://schemas.microsoft.com/office/drawing/2014/main" val="3021113499"/>
                    </a:ext>
                  </a:extLst>
                </a:gridCol>
                <a:gridCol w="5078412">
                  <a:extLst>
                    <a:ext uri="{9D8B030D-6E8A-4147-A177-3AD203B41FA5}">
                      <a16:colId xmlns:a16="http://schemas.microsoft.com/office/drawing/2014/main" val="50753202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/>
                        <a:t>Traditional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/>
                        <a:t>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3205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Big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Small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726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Late 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Early 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521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Customer at beginning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Customer throughout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6961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Testing at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Testing continuously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7620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Changes 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Changes welcome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998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High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Lower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575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Documentation heavy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Working software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615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E68348-935B-9E27-C0B3-19E2B711F2A6}"/>
              </a:ext>
            </a:extLst>
          </p:cNvPr>
          <p:cNvSpPr txBox="1"/>
          <p:nvPr/>
        </p:nvSpPr>
        <p:spPr>
          <a:xfrm>
            <a:off x="1053852" y="5499030"/>
            <a:ext cx="4392488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Traditional Write entire book Then publish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7BECB-CE71-13E0-5665-CD60D37DE54D}"/>
              </a:ext>
            </a:extLst>
          </p:cNvPr>
          <p:cNvSpPr txBox="1"/>
          <p:nvPr/>
        </p:nvSpPr>
        <p:spPr>
          <a:xfrm>
            <a:off x="6328760" y="5499030"/>
            <a:ext cx="5146724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Publish one chapter every week. Readers give feedback Improve next chapter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95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A755C5-2EB8-6407-EF55-335C713C326A}"/>
              </a:ext>
            </a:extLst>
          </p:cNvPr>
          <p:cNvSpPr txBox="1"/>
          <p:nvPr/>
        </p:nvSpPr>
        <p:spPr>
          <a:xfrm>
            <a:off x="1845940" y="908720"/>
            <a:ext cx="720080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is better – Traditional or Agile for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8E661-8E88-0D22-3E66-9FEE95F861E3}"/>
              </a:ext>
            </a:extLst>
          </p:cNvPr>
          <p:cNvSpPr txBox="1"/>
          <p:nvPr/>
        </p:nvSpPr>
        <p:spPr>
          <a:xfrm>
            <a:off x="1850098" y="1709282"/>
            <a:ext cx="1673856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Instagram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05EDE-1A6E-9197-8F61-155F5632BCB3}"/>
              </a:ext>
            </a:extLst>
          </p:cNvPr>
          <p:cNvSpPr txBox="1"/>
          <p:nvPr/>
        </p:nvSpPr>
        <p:spPr>
          <a:xfrm>
            <a:off x="1872614" y="2509844"/>
            <a:ext cx="1253869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Bridges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092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38049E-8003-5614-F0EC-5967579C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Stakeholders and Challenges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2668F-79E8-40E5-B110-E76CCDDC8DE2}"/>
              </a:ext>
            </a:extLst>
          </p:cNvPr>
          <p:cNvSpPr txBox="1"/>
          <p:nvPr/>
        </p:nvSpPr>
        <p:spPr>
          <a:xfrm>
            <a:off x="981844" y="1124744"/>
            <a:ext cx="3102131" cy="598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Stakeholders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Owner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Scrum Master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End Users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Business Team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Operations Team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0B605-00D6-2778-0967-577019FD101B}"/>
              </a:ext>
            </a:extLst>
          </p:cNvPr>
          <p:cNvSpPr txBox="1"/>
          <p:nvPr/>
        </p:nvSpPr>
        <p:spPr>
          <a:xfrm>
            <a:off x="6526460" y="1196752"/>
            <a:ext cx="3663182" cy="5429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Food Delivery App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Restaurant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Delivery Partner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Manager</a:t>
            </a:r>
          </a:p>
          <a:p>
            <a:pPr>
              <a:lnSpc>
                <a:spcPct val="150000"/>
              </a:lnSpc>
            </a:pPr>
            <a:r>
              <a:rPr lang="en-US" dirty="0"/>
              <a:t>Everyone is stakeholder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26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38049E-8003-5614-F0EC-5967579C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Stakeholders and Challenges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3AAA4A-F4BF-2D2D-2FBA-FE0097171B49}"/>
              </a:ext>
            </a:extLst>
          </p:cNvPr>
          <p:cNvSpPr txBox="1"/>
          <p:nvPr/>
        </p:nvSpPr>
        <p:spPr>
          <a:xfrm>
            <a:off x="1197868" y="1412776"/>
            <a:ext cx="4059125" cy="4875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Challenges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Changing requirements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Communication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Distributed teams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availability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Team resistance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Poor documentation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Scope creep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1B708-504A-41E0-BE6C-FDCA98B43F18}"/>
              </a:ext>
            </a:extLst>
          </p:cNvPr>
          <p:cNvSpPr txBox="1"/>
          <p:nvPr/>
        </p:nvSpPr>
        <p:spPr>
          <a:xfrm>
            <a:off x="6670476" y="2060848"/>
            <a:ext cx="2367956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Can Agile fail?</a:t>
            </a:r>
          </a:p>
        </p:txBody>
      </p:sp>
    </p:spTree>
    <p:extLst>
      <p:ext uri="{BB962C8B-B14F-4D97-AF65-F5344CB8AC3E}">
        <p14:creationId xmlns:p14="http://schemas.microsoft.com/office/powerpoint/2010/main" val="38584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8346FB-4896-B47F-FB5C-2895EF9C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Classification of Agile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FAAC4-000E-FCF6-89A1-26C600936E3C}"/>
              </a:ext>
            </a:extLst>
          </p:cNvPr>
          <p:cNvSpPr txBox="1"/>
          <p:nvPr/>
        </p:nvSpPr>
        <p:spPr>
          <a:xfrm>
            <a:off x="1197868" y="1196752"/>
            <a:ext cx="7064755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Agile is not one methodology. </a:t>
            </a:r>
            <a:r>
              <a:rPr lang="en-IN" dirty="0"/>
              <a:t>It is an umbrella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D4444-ABEE-AE60-DA23-3578C21A403B}"/>
              </a:ext>
            </a:extLst>
          </p:cNvPr>
          <p:cNvSpPr txBox="1"/>
          <p:nvPr/>
        </p:nvSpPr>
        <p:spPr>
          <a:xfrm>
            <a:off x="1269876" y="1852580"/>
            <a:ext cx="4448654" cy="456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1800" dirty="0"/>
              <a:t>Agile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Scrum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XP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Kanban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Lean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Crystal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Feature Driven Development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DSDM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└── Adaptive Software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EEC69F-3FB9-7629-BB84-A987485A766F}"/>
              </a:ext>
            </a:extLst>
          </p:cNvPr>
          <p:cNvSpPr txBox="1"/>
          <p:nvPr/>
        </p:nvSpPr>
        <p:spPr>
          <a:xfrm>
            <a:off x="6814492" y="1912596"/>
            <a:ext cx="3850734" cy="4505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Scrum → Sprint based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XP → Coding practices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Kanban → Visual board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Lean → Remove waste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Crystal → Team centric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FDD → Feature based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DSDM → Rapid delivery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ASD → Adapt continuously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36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38A8F7-69A9-3BCF-FB34-59EEA91BBF2F}"/>
              </a:ext>
            </a:extLst>
          </p:cNvPr>
          <p:cNvSpPr txBox="1"/>
          <p:nvPr/>
        </p:nvSpPr>
        <p:spPr>
          <a:xfrm>
            <a:off x="910344" y="399700"/>
            <a:ext cx="748794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You have visited a restaurant. And ordered food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AB8EA-3F34-FB60-FFAF-014958576642}"/>
              </a:ext>
            </a:extLst>
          </p:cNvPr>
          <p:cNvSpPr txBox="1"/>
          <p:nvPr/>
        </p:nvSpPr>
        <p:spPr>
          <a:xfrm>
            <a:off x="909836" y="900663"/>
            <a:ext cx="8417689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Now explain in waterfall model, how the food will arrive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742BF-F0C4-7D18-F7ED-06CFC8979D7F}"/>
              </a:ext>
            </a:extLst>
          </p:cNvPr>
          <p:cNvSpPr txBox="1"/>
          <p:nvPr/>
        </p:nvSpPr>
        <p:spPr>
          <a:xfrm>
            <a:off x="909836" y="1401626"/>
            <a:ext cx="7882286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Now explain in Agile model, how the food will arrive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27916-A9A1-E185-29EA-E89E520B4E10}"/>
              </a:ext>
            </a:extLst>
          </p:cNvPr>
          <p:cNvSpPr txBox="1"/>
          <p:nvPr/>
        </p:nvSpPr>
        <p:spPr>
          <a:xfrm>
            <a:off x="981844" y="2132856"/>
            <a:ext cx="3890809" cy="448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 3 hours.</a:t>
            </a:r>
          </a:p>
          <a:p>
            <a:r>
              <a:rPr lang="en-US" dirty="0"/>
              <a:t>Chef brings</a:t>
            </a:r>
          </a:p>
          <a:p>
            <a:r>
              <a:rPr lang="en-US" dirty="0"/>
              <a:t>Soup</a:t>
            </a:r>
          </a:p>
          <a:p>
            <a:r>
              <a:rPr lang="en-US" dirty="0"/>
              <a:t>Starter</a:t>
            </a:r>
          </a:p>
          <a:p>
            <a:r>
              <a:rPr lang="en-US" dirty="0"/>
              <a:t>Main Course</a:t>
            </a:r>
          </a:p>
          <a:p>
            <a:r>
              <a:rPr lang="en-US" dirty="0"/>
              <a:t>Dessert</a:t>
            </a:r>
          </a:p>
          <a:p>
            <a:r>
              <a:rPr lang="en-US" dirty="0"/>
              <a:t>all together</a:t>
            </a:r>
          </a:p>
          <a:p>
            <a:pPr>
              <a:lnSpc>
                <a:spcPct val="95000"/>
              </a:lnSpc>
            </a:pPr>
            <a:endParaRPr lang="en-IN" dirty="0"/>
          </a:p>
          <a:p>
            <a:r>
              <a:rPr lang="en-US" dirty="0"/>
              <a:t>Soup is cold.</a:t>
            </a:r>
          </a:p>
          <a:p>
            <a:r>
              <a:rPr lang="en-US" dirty="0"/>
              <a:t>You don't like spicy food.</a:t>
            </a:r>
          </a:p>
          <a:p>
            <a:r>
              <a:rPr lang="en-US" dirty="0"/>
              <a:t>Too late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E8DF6-C76C-DD08-3DCE-3458FD15E7FB}"/>
              </a:ext>
            </a:extLst>
          </p:cNvPr>
          <p:cNvSpPr txBox="1"/>
          <p:nvPr/>
        </p:nvSpPr>
        <p:spPr>
          <a:xfrm>
            <a:off x="6238428" y="2058521"/>
            <a:ext cx="5688632" cy="413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Soup first.</a:t>
            </a:r>
          </a:p>
          <a:p>
            <a:r>
              <a:rPr lang="en-US" dirty="0"/>
              <a:t>You give feedback.</a:t>
            </a:r>
          </a:p>
          <a:p>
            <a:r>
              <a:rPr lang="en-US" dirty="0"/>
              <a:t>Starter next.</a:t>
            </a:r>
          </a:p>
          <a:p>
            <a:r>
              <a:rPr lang="en-US" dirty="0"/>
              <a:t>Feedback.</a:t>
            </a:r>
          </a:p>
          <a:p>
            <a:r>
              <a:rPr lang="en-US" dirty="0"/>
              <a:t>Main course.</a:t>
            </a:r>
          </a:p>
          <a:p>
            <a:r>
              <a:rPr lang="en-US" dirty="0"/>
              <a:t>Feedback.</a:t>
            </a:r>
          </a:p>
          <a:p>
            <a:r>
              <a:rPr lang="en-US" dirty="0"/>
              <a:t>Dessert.</a:t>
            </a:r>
          </a:p>
          <a:p>
            <a:endParaRPr lang="en-US" dirty="0"/>
          </a:p>
          <a:p>
            <a:r>
              <a:rPr lang="en-US" dirty="0"/>
              <a:t>Everyone gets exactly what they want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31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E59658-A886-0996-3E8B-4AB799A4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Real World Agile Examples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CBD0CF-367E-411F-DEA8-F463502BB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053855"/>
              </p:ext>
            </p:extLst>
          </p:nvPr>
        </p:nvGraphicFramePr>
        <p:xfrm>
          <a:off x="910625" y="1412776"/>
          <a:ext cx="10156824" cy="3200400"/>
        </p:xfrm>
        <a:graphic>
          <a:graphicData uri="http://schemas.openxmlformats.org/drawingml/2006/table">
            <a:tbl>
              <a:tblPr/>
              <a:tblGrid>
                <a:gridCol w="5078412">
                  <a:extLst>
                    <a:ext uri="{9D8B030D-6E8A-4147-A177-3AD203B41FA5}">
                      <a16:colId xmlns:a16="http://schemas.microsoft.com/office/drawing/2014/main" val="2340186577"/>
                    </a:ext>
                  </a:extLst>
                </a:gridCol>
                <a:gridCol w="5078412">
                  <a:extLst>
                    <a:ext uri="{9D8B030D-6E8A-4147-A177-3AD203B41FA5}">
                      <a16:colId xmlns:a16="http://schemas.microsoft.com/office/drawing/2014/main" val="115431525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sz="2400" b="1" dirty="0"/>
                        <a:t>Company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Agile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0630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Weekly deployments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3041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Amazon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Continuous feature releases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1186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Google Maps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Frequent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1779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WhatsApp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Incremental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8670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Squad-based 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182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Instagram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Regular UI improvements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830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41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CA1A5C-B2CB-CE1B-ACC8-3250695D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13BFD-A08E-8B16-B3B8-CCC04F5CE5D5}"/>
              </a:ext>
            </a:extLst>
          </p:cNvPr>
          <p:cNvSpPr txBox="1"/>
          <p:nvPr/>
        </p:nvSpPr>
        <p:spPr>
          <a:xfrm>
            <a:off x="699221" y="984122"/>
            <a:ext cx="10580161" cy="5562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Software development evolved from rigid, long-cycle models to Agile because business needs and technology change rapidly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Agile is a mindset focused on delivering value, rather than just following a process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Agile Manifesto is built on 4 values and 12 principles that emphasize collaboration, adaptability, and working software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Agile involves multiple stakeholders working together continuously, with customer feedback guiding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Scrum, Kanban, XP, Lean, Crystal, FDD, DSDM, and ASD are all different Agile methods, each suited to different project needs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08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953</TotalTime>
  <Words>864</Words>
  <Application>Microsoft Office PowerPoint</Application>
  <PresentationFormat>Custom</PresentationFormat>
  <Paragraphs>250</Paragraphs>
  <Slides>21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Century Gothic</vt:lpstr>
      <vt:lpstr>Class open house presentation</vt:lpstr>
      <vt:lpstr>Packager Shell Object</vt:lpstr>
      <vt:lpstr>Practical – 1  JIRA Fundamentals</vt:lpstr>
      <vt:lpstr>Scenario</vt:lpstr>
      <vt:lpstr>What is JIRA?</vt:lpstr>
      <vt:lpstr>Implementation</vt:lpstr>
      <vt:lpstr>Implementation</vt:lpstr>
      <vt:lpstr>Implementation</vt:lpstr>
      <vt:lpstr>Need of Agile S/W Development</vt:lpstr>
      <vt:lpstr>Why Traditional Methods Failed</vt:lpstr>
      <vt:lpstr>History of Agile</vt:lpstr>
      <vt:lpstr>History of Agile</vt:lpstr>
      <vt:lpstr>PowerPoint Presentation</vt:lpstr>
      <vt:lpstr>Agile Manifesto – 4 VALUES</vt:lpstr>
      <vt:lpstr>Agile Manifesto – 12 Principles</vt:lpstr>
      <vt:lpstr>Traditional vs Agile</vt:lpstr>
      <vt:lpstr>PowerPoint Presentation</vt:lpstr>
      <vt:lpstr>Stakeholders and Challenges</vt:lpstr>
      <vt:lpstr>Stakeholders and Challenges</vt:lpstr>
      <vt:lpstr>Classification of Agile Methods</vt:lpstr>
      <vt:lpstr>PowerPoint Presentation</vt:lpstr>
      <vt:lpstr>Real World Agile Examples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89</cp:revision>
  <dcterms:created xsi:type="dcterms:W3CDTF">2026-07-15T13:08:00Z</dcterms:created>
  <dcterms:modified xsi:type="dcterms:W3CDTF">2026-07-19T16:42:59Z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