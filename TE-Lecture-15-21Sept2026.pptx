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82" r:id="rId21"/>
    <p:sldId id="281" r:id="rId22"/>
    <p:sldId id="283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5AD5E-C153-4112-87EC-E97B9EF9763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11700-1694-4395-85B8-55B86362F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984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11700-1694-4395-85B8-55B86362FCE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328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7663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SonarQube Cloud + Grafana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4218" y="2406551"/>
            <a:ext cx="3840480" cy="685800"/>
          </a:xfrm>
          <a:prstGeom prst="roundRect">
            <a:avLst/>
          </a:prstGeom>
          <a:solidFill>
            <a:srgbClr val="2D965F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303C"/>
                </a:solidFill>
              </a:defRPr>
            </a:pPr>
            <a:r>
              <a:t>Code Quality + Observability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By the end, students can explain, set up, and demonstrate both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8303C"/>
                </a:solidFill>
              </a:defRPr>
            </a:pPr>
            <a:r>
              <a:rPr lang="en-US" dirty="0"/>
              <a:t>Understand</a:t>
            </a:r>
            <a:r>
              <a:rPr dirty="0"/>
              <a:t> why DevOps teams need code quality checks and production monitoring.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C"/>
                </a:solidFill>
              </a:defRPr>
            </a:pPr>
            <a:r>
              <a:rPr dirty="0"/>
              <a:t>Create a simple SonarQube Cloud project and connect it to a GitHub Actions pipeline.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C"/>
                </a:solidFill>
              </a:defRPr>
            </a:pPr>
            <a:r>
              <a:rPr dirty="0"/>
              <a:t>Understand bugs, vulnerabilities, code smells, coverage, duplication and quality gates.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C"/>
                </a:solidFill>
              </a:defRPr>
            </a:pPr>
            <a:r>
              <a:rPr dirty="0"/>
              <a:t>Explain Grafana, Prometheus, metrics, dashboards and alerts.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C"/>
                </a:solidFill>
              </a:defRPr>
            </a:pPr>
            <a:r>
              <a:rPr dirty="0"/>
              <a:t>Run a small Python application, expose a metric, and visualize it in Grafana.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C"/>
                </a:solidFill>
              </a:defRPr>
            </a:pPr>
            <a:r>
              <a:rPr dirty="0"/>
              <a:t>Connect the two ideas: quality before release → monitoring after release.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Why Do We Need Both?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103120" cy="7315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303C"/>
                </a:solidFill>
              </a:defRPr>
            </a:pPr>
            <a:r>
              <a:t>Developer writes 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88920" y="2194560"/>
            <a:ext cx="868680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1600200"/>
            <a:ext cx="2194560" cy="1188720"/>
          </a:xfrm>
          <a:prstGeom prst="roundRect">
            <a:avLst/>
          </a:prstGeom>
          <a:solidFill>
            <a:srgbClr val="E1EEFA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303C"/>
                </a:solidFill>
              </a:defRPr>
            </a:pPr>
            <a:r>
              <a:t>SonarQube</a:t>
            </a:r>
            <a:br/>
            <a:r>
              <a:t>Code Quality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97880" y="2194560"/>
            <a:ext cx="868680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766560" y="1828800"/>
            <a:ext cx="1828800" cy="7315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303C"/>
                </a:solidFill>
              </a:defRPr>
            </a:pPr>
            <a:r>
              <a:t>CI/CD</a:t>
            </a:r>
            <a:br/>
            <a:r>
              <a:t>Release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1080" y="2194560"/>
            <a:ext cx="868680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509760" y="1600200"/>
            <a:ext cx="2011680" cy="1188720"/>
          </a:xfrm>
          <a:prstGeom prst="roundRect">
            <a:avLst/>
          </a:prstGeom>
          <a:solidFill>
            <a:srgbClr val="E1F5EB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303C"/>
                </a:solidFill>
              </a:defRPr>
            </a:pPr>
            <a:r>
              <a:t>Application</a:t>
            </a:r>
            <a:br/>
            <a:r>
              <a:t>in 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840480"/>
            <a:ext cx="2926080" cy="914400"/>
          </a:xfrm>
          <a:prstGeom prst="roundRect">
            <a:avLst/>
          </a:prstGeom>
          <a:solidFill>
            <a:srgbClr val="EBF5FA"/>
          </a:solidFill>
          <a:ln w="1905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303C"/>
                </a:solidFill>
              </a:defRPr>
            </a:pPr>
            <a:r>
              <a:t>Grafana</a:t>
            </a:r>
            <a:br/>
            <a:r>
              <a:t>Observe &amp; Alert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498079" y="2834640"/>
            <a:ext cx="3017521" cy="1417320"/>
          </a:xfrm>
          <a:prstGeom prst="line">
            <a:avLst/>
          </a:prstGeom>
          <a:ln w="3175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920240" y="2834640"/>
            <a:ext cx="2651760" cy="1417320"/>
          </a:xfrm>
          <a:prstGeom prst="line">
            <a:avLst/>
          </a:prstGeom>
          <a:ln w="3175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5212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6233A"/>
                </a:solidFill>
              </a:defRPr>
            </a:pPr>
            <a:r>
              <a:t>Think: “Is the code healthy?”  →  “Is the running system healthy?”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SonarQube Cloud — What Is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8303C"/>
                </a:solidFill>
              </a:defRPr>
            </a:pPr>
            <a:r>
              <a:rPr dirty="0"/>
              <a:t>Cloud-based code quality and security analysis platform from Sonar.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8303C"/>
                </a:solidFill>
              </a:defRPr>
            </a:pPr>
            <a:r>
              <a:rPr dirty="0"/>
              <a:t>Analyzes source code using language-specific rules and reports issues.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8303C"/>
                </a:solidFill>
              </a:defRPr>
            </a:pPr>
            <a:r>
              <a:rPr dirty="0"/>
              <a:t>Common findings: Bugs • Vulnerabilities • Code Smells • Security Hotspots.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8303C"/>
                </a:solidFill>
              </a:defRPr>
            </a:pPr>
            <a:r>
              <a:rPr dirty="0"/>
              <a:t>Also shows useful measures such as coverage, duplication and maintainability.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8303C"/>
                </a:solidFill>
              </a:defRPr>
            </a:pPr>
            <a:r>
              <a:rPr dirty="0"/>
              <a:t>Quality Gate = a pass/fail-style checkpoint used by a team before accepting code.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8303C"/>
                </a:solidFill>
              </a:defRPr>
            </a:pPr>
            <a:r>
              <a:rPr dirty="0"/>
              <a:t>Typical DevOps use: Pull Request → analysis → quality gate → merge/release.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SonarQube Vocabulary — Simple Meaning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94960" cy="502920"/>
          </a:xfrm>
          <a:prstGeom prst="roundRect">
            <a:avLst/>
          </a:prstGeom>
          <a:solidFill>
            <a:srgbClr val="2A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Bug — code that can behave incorrectly.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Vulnerability — security weakness that can be exploited.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Code smell — maintainability/design problem.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Security hotspot — code needing security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394960" cy="502920"/>
          </a:xfrm>
          <a:prstGeom prst="round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74519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Coverage — how much code is exercised by tests.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Duplications — repeated blocks of code.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Quality Gate — rules that determine pass/fail.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Technical debt — estimated effort to fix maintainability issues.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452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rPr dirty="0"/>
              <a:t>Example</a:t>
            </a:r>
            <a:r>
              <a:rPr lang="en-US" dirty="0"/>
              <a:t> – What is wrong here??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881360" cy="4023360"/>
          </a:xfrm>
          <a:prstGeom prst="round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71600"/>
            <a:ext cx="10552176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def calculate_total(price, discount):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    total = price - price * discount / 100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    print("Total:", total)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    return total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def calculate_total_again(price, discount):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    total = price - price * discount / 100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    print("Total:", total)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    return total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password = "admin123"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print(password)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SonarQube Cloud — Setup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737360" cy="1143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303C"/>
                </a:solidFill>
              </a:defRPr>
            </a:pPr>
            <a:r>
              <a:t>1</a:t>
            </a:r>
            <a:br/>
            <a:r>
              <a:t>Create / sign 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23160" y="2487168"/>
            <a:ext cx="301751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1920240"/>
            <a:ext cx="1737360" cy="1143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303C"/>
                </a:solidFill>
              </a:defRPr>
            </a:pPr>
            <a:r>
              <a:t>2</a:t>
            </a:r>
            <a:br/>
            <a:r>
              <a:t>Connect GitHub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26280" y="2487168"/>
            <a:ext cx="301751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46320" y="1920240"/>
            <a:ext cx="1737360" cy="1143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303C"/>
                </a:solidFill>
              </a:defRPr>
            </a:pPr>
            <a:r>
              <a:t>3</a:t>
            </a:r>
            <a:br/>
            <a:r>
              <a:t>Create / import project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29400" y="2487168"/>
            <a:ext cx="301752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49440" y="1920240"/>
            <a:ext cx="1737360" cy="1143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E6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303C"/>
                </a:solidFill>
              </a:defRPr>
            </a:pPr>
            <a:r>
              <a:t>4</a:t>
            </a:r>
            <a:br/>
            <a:r>
              <a:t>Generate token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32519" y="2487168"/>
            <a:ext cx="301753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0" y="1920240"/>
            <a:ext cx="1737360" cy="1143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303C"/>
                </a:solidFill>
              </a:defRPr>
            </a:pPr>
            <a:r>
              <a:t>5</a:t>
            </a:r>
            <a:br/>
            <a:r>
              <a:t>Add CI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4160520"/>
            <a:ext cx="8138160" cy="914400"/>
          </a:xfrm>
          <a:prstGeom prst="roundRect">
            <a:avLst/>
          </a:prstGeom>
          <a:solidFill>
            <a:srgbClr val="EBF5FA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303C"/>
                </a:solidFill>
              </a:defRPr>
            </a:pPr>
            <a:r>
              <a:t>6  →  Run pipeline  →  Open report  →  Check Quality Gate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GitHub Actions — Simple SonarQube Cloud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881360" cy="4297680"/>
          </a:xfrm>
          <a:prstGeom prst="round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371600"/>
            <a:ext cx="10552176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name: SonarQube Analysis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on: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push: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  branches: [ "main" ]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jobs: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sonar: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  runs-on: ubuntu-latest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  steps: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    - uses: actions/checkout@v4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    - name: SonarQube Cloud Scan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      uses: SonarSource/sonarqube-scan-action@v6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      env: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        SONAR_TOKEN: ${{ secrets.SONAR_TOKEN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8303C"/>
                </a:solidFill>
              </a:defRPr>
            </a:pPr>
            <a:r>
              <a:t>Key DevOps idea: the scanner runs automatically when code is pushed.</a:t>
            </a:r>
          </a:p>
          <a:p>
            <a:pPr>
              <a:spcAft>
                <a:spcPts val="1000"/>
              </a:spcAft>
              <a:defRPr sz="1400" b="0">
                <a:solidFill>
                  <a:srgbClr val="28303C"/>
                </a:solidFill>
              </a:defRPr>
            </a:pPr>
            <a:r>
              <a:t>Never hard-code tokens in source code; store secrets in GitHub repository secrets.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Where SonarQube Fits in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1417320" cy="10058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303C"/>
                </a:solidFill>
              </a:defRPr>
            </a:pPr>
            <a:r>
              <a:t>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65960" y="2560320"/>
            <a:ext cx="320040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31720" y="2057400"/>
            <a:ext cx="1417320" cy="10058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303C"/>
                </a:solidFill>
              </a:defRPr>
            </a:pPr>
            <a:r>
              <a:t>Build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94760" y="2560320"/>
            <a:ext cx="320040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60520" y="2057400"/>
            <a:ext cx="1417320" cy="10058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303C"/>
                </a:solidFill>
              </a:defRPr>
            </a:pPr>
            <a:r>
              <a:t>Test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23560" y="2560320"/>
            <a:ext cx="320040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89320" y="2057400"/>
            <a:ext cx="1417320" cy="10058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E6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303C"/>
                </a:solidFill>
              </a:defRPr>
            </a:pPr>
            <a:r>
              <a:t>Sonar</a:t>
            </a:r>
            <a:br/>
            <a:r>
              <a:t>Analysis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2560320"/>
            <a:ext cx="320040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18120" y="2057400"/>
            <a:ext cx="1417320" cy="10058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303C"/>
                </a:solidFill>
              </a:defRPr>
            </a:pPr>
            <a:r>
              <a:t>Quality</a:t>
            </a:r>
            <a:br/>
            <a:r>
              <a:t>Gate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60" y="2560320"/>
            <a:ext cx="320040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46920" y="2057400"/>
            <a:ext cx="1417320" cy="10058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303C"/>
                </a:solidFill>
              </a:defRPr>
            </a:pPr>
            <a:r>
              <a:t>Deploy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069080"/>
            <a:ext cx="8503920" cy="914400"/>
          </a:xfrm>
          <a:prstGeom prst="roundRect">
            <a:avLst/>
          </a:prstGeom>
          <a:solidFill>
            <a:srgbClr val="FAF2E6"/>
          </a:solidFill>
          <a:ln w="19050">
            <a:solidFill>
              <a:srgbClr val="E6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303C"/>
                </a:solidFill>
              </a:defRPr>
            </a:pPr>
            <a:r>
              <a:t>If the quality gate fails, the team investigates before promoting the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Grafana — What Is Monitoring?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8303C"/>
                </a:solidFill>
              </a:defRPr>
            </a:pPr>
            <a:r>
              <a:rPr dirty="0"/>
              <a:t>Monitoring = continuously collecting signals about a system and checking its health.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8303C"/>
                </a:solidFill>
              </a:defRPr>
            </a:pPr>
            <a:r>
              <a:rPr dirty="0"/>
              <a:t>Metrics are numerical measurements over time: CPU %, memory, requests/sec, latency, errors.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8303C"/>
                </a:solidFill>
              </a:defRPr>
            </a:pPr>
            <a:r>
              <a:rPr dirty="0"/>
              <a:t>Logs are event records: “login failed”, “database connection timed out”.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8303C"/>
                </a:solidFill>
              </a:defRPr>
            </a:pPr>
            <a:r>
              <a:rPr dirty="0"/>
              <a:t>Traces show the path of a request across services.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8303C"/>
                </a:solidFill>
              </a:defRPr>
            </a:pPr>
            <a:r>
              <a:rPr dirty="0"/>
              <a:t>Grafana is a visualization and observability platform that connects to data sources and displays dashboards and alerts.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Grafana Architecture — Simple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920240" cy="9144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303C"/>
                </a:solidFill>
              </a:defRPr>
            </a:pPr>
            <a:r>
              <a:t>Application</a:t>
            </a:r>
            <a:br/>
            <a:r>
              <a:t>/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828800"/>
            <a:ext cx="2011680" cy="9144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303C"/>
                </a:solidFill>
              </a:defRPr>
            </a:pPr>
            <a:r>
              <a:t>Exporter /</a:t>
            </a:r>
            <a:br/>
            <a:r>
              <a:t>Instrumentation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828800"/>
            <a:ext cx="2011680" cy="9144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E6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303C"/>
                </a:solidFill>
              </a:defRPr>
            </a:pPr>
            <a:r>
              <a:t>Prometheus</a:t>
            </a:r>
            <a:br/>
            <a:r>
              <a:t>Metrics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2011680" cy="9144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303C"/>
                </a:solidFill>
              </a:defRPr>
            </a:pPr>
            <a:r>
              <a:t>Grafana</a:t>
            </a:r>
            <a:br/>
            <a:r>
              <a:t>Dashboard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286000"/>
            <a:ext cx="548640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2286000"/>
            <a:ext cx="548640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286000"/>
            <a:ext cx="548640" cy="0"/>
          </a:xfrm>
          <a:prstGeom prst="line">
            <a:avLst/>
          </a:prstGeom>
          <a:ln w="3175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3977639"/>
            <a:ext cx="6675120" cy="777240"/>
          </a:xfrm>
          <a:prstGeom prst="roundRect">
            <a:avLst/>
          </a:prstGeom>
          <a:solidFill>
            <a:srgbClr val="EBF5FA"/>
          </a:solidFill>
          <a:ln w="1905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303C"/>
                </a:solidFill>
              </a:defRPr>
            </a:pPr>
            <a:r>
              <a:t>CPU • Memory • Requests • Errors • Latency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Grafana Setup — Easiest Classroom Options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94960" cy="502920"/>
          </a:xfrm>
          <a:prstGeom prst="roundRect">
            <a:avLst/>
          </a:prstGeom>
          <a:solidFill>
            <a:srgbClr val="2A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Option A — Grafana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Create a Grafana Cloud account.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Use a hosted Grafana stack.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Connect / send metrics to the stack.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Good for classroom demonstrations with minimal installation.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394960" cy="502920"/>
          </a:xfrm>
          <a:prstGeom prst="round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Option B — Local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74519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Run Grafana in Docker.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Run Prometheus locally.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Expose application metrics on /metrics.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Connect Prometheus → Grafana.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Run Grafana + Prometheus with Docker Compose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881360" cy="4297680"/>
          </a:xfrm>
          <a:prstGeom prst="round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71600"/>
            <a:ext cx="10552176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services: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prometheus: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image: prom/prometheus:latest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ports: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  - "9090:9090"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volumes: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  - ./prometheus.yml:/etc/prometheus/prometheus.yml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grafana: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image: grafana/grafana:latest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ports: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  - "3000:3000"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depends_on: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  - prometheus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8303C"/>
                </a:solidFill>
              </a:defRPr>
            </a:pPr>
            <a:r>
              <a:t>Start: docker compose up -d</a:t>
            </a:r>
          </a:p>
          <a:p>
            <a:pPr>
              <a:spcAft>
                <a:spcPts val="1000"/>
              </a:spcAft>
              <a:defRPr sz="1400" b="0">
                <a:solidFill>
                  <a:srgbClr val="28303C"/>
                </a:solidFill>
              </a:defRPr>
            </a:pPr>
            <a:r>
              <a:t>Open Grafana: http://localhost:3000</a:t>
            </a:r>
          </a:p>
          <a:p>
            <a:pPr>
              <a:spcAft>
                <a:spcPts val="1000"/>
              </a:spcAft>
              <a:defRPr sz="1400" b="0">
                <a:solidFill>
                  <a:srgbClr val="28303C"/>
                </a:solidFill>
              </a:defRPr>
            </a:pPr>
            <a:r>
              <a:t>Prometheus: http://localhost:9090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Prometheus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881360" cy="2926080"/>
          </a:xfrm>
          <a:prstGeom prst="round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71600"/>
            <a:ext cx="10552176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global: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  scrape_interval: 5s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scrape_configs: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  - job_name: "student-app"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    static_configs: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      - targets: ["host.docker.internal:8000"]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3484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8303C"/>
                </a:solidFill>
              </a:defRPr>
            </a:pPr>
            <a:r>
              <a:t>Prometheus periodically scrapes the target's /metrics endpoint.</a:t>
            </a:r>
          </a:p>
          <a:p>
            <a:pPr>
              <a:spcAft>
                <a:spcPts val="1000"/>
              </a:spcAft>
              <a:defRPr sz="1600" b="0">
                <a:solidFill>
                  <a:srgbClr val="28303C"/>
                </a:solidFill>
              </a:defRPr>
            </a:pPr>
            <a:r>
              <a:t>On Linux, host.docker.internal may require extra Docker configuration; alternatively run all services in one Compose network.</a:t>
            </a:r>
          </a:p>
          <a:p>
            <a:pPr>
              <a:spcAft>
                <a:spcPts val="1000"/>
              </a:spcAft>
              <a:defRPr sz="1600" b="0">
                <a:solidFill>
                  <a:srgbClr val="28303C"/>
                </a:solidFill>
              </a:defRPr>
            </a:pPr>
            <a:r>
              <a:t>Concept to remember: Prometheus collects/stores metrics; Grafana visualizes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Third Year Engineering • DevOps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Python App — Expose a Custom Metric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881360" cy="3931920"/>
          </a:xfrm>
          <a:prstGeom prst="round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71600"/>
            <a:ext cx="10552176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from prometheus_client import start_http_server, Counter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import time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requests = Counter("student_requests_total",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               "Total requests handled")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start_http_server(8000)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while True: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requests.inc()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print("Request processed")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  time.sleep(2)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8303C"/>
                </a:solidFill>
              </a:defRPr>
            </a:pPr>
            <a:r>
              <a:t>Run: pip install prometheus-client</a:t>
            </a:r>
          </a:p>
          <a:p>
            <a:pPr>
              <a:spcAft>
                <a:spcPts val="1000"/>
              </a:spcAft>
              <a:defRPr sz="1500" b="0">
                <a:solidFill>
                  <a:srgbClr val="28303C"/>
                </a:solidFill>
              </a:defRPr>
            </a:pPr>
            <a:r>
              <a:t>The app exposes metrics at http://localhost:8000/metrics</a:t>
            </a:r>
          </a:p>
          <a:p>
            <a:pPr>
              <a:spcAft>
                <a:spcPts val="1000"/>
              </a:spcAft>
              <a:defRPr sz="1500" b="0">
                <a:solidFill>
                  <a:srgbClr val="28303C"/>
                </a:solidFill>
              </a:defRPr>
            </a:pPr>
            <a:r>
              <a:t>Every 2 seconds, the counter increases.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Third Year Engineering • DevOps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Build the First Grafana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1. Open Grafana → Connections → Data sources.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2. Add Prometheus and enter the Prometheus server URL.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3. Click Save &amp; test.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4. Create Dashboard → Add visualization.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5. Select Prometheus as the data source.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6. Try this PromQL query: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572000"/>
            <a:ext cx="10058400" cy="731520"/>
          </a:xfrm>
          <a:prstGeom prst="round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4709160"/>
            <a:ext cx="9729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2000">
                <a:solidFill>
                  <a:srgbClr val="FFFFFF"/>
                </a:solidFill>
                <a:latin typeface="Consolas"/>
              </a:defRPr>
            </a:pPr>
            <a:r>
              <a:t>rate(student_requests_total[1m])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Third Year Engineering • DevOps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What Would a Real Dashboard Monitor?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828800" cy="594360"/>
          </a:xfrm>
          <a:prstGeom prst="roundRect">
            <a:avLst/>
          </a:prstGeom>
          <a:solidFill>
            <a:srgbClr val="E1F5EB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303C"/>
                </a:solidFill>
              </a:defRPr>
            </a:pPr>
            <a:r>
              <a:t>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325880"/>
            <a:ext cx="347472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8303C"/>
                </a:solidFill>
              </a:defRPr>
            </a:pPr>
            <a:r>
              <a:t>Request rate • Error rate • Response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1828800" cy="594360"/>
          </a:xfrm>
          <a:prstGeom prst="roundRect">
            <a:avLst/>
          </a:prstGeom>
          <a:solidFill>
            <a:srgbClr val="E1F5EB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303C"/>
                </a:solidFill>
              </a:defRPr>
            </a:pPr>
            <a:r>
              <a:t>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25880"/>
            <a:ext cx="347472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8303C"/>
                </a:solidFill>
              </a:defRPr>
            </a:pPr>
            <a:r>
              <a:t>CPU • Memory • Disk •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91839"/>
            <a:ext cx="1828800" cy="594360"/>
          </a:xfrm>
          <a:prstGeom prst="roundRect">
            <a:avLst/>
          </a:prstGeom>
          <a:solidFill>
            <a:srgbClr val="E1F5EB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303C"/>
                </a:solidFill>
              </a:defRPr>
            </a:pPr>
            <a:r>
              <a:t>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291839"/>
            <a:ext cx="347472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8303C"/>
                </a:solidFill>
              </a:defRPr>
            </a:pPr>
            <a:r>
              <a:t>Connections • Query latency •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39"/>
            <a:ext cx="1828800" cy="594360"/>
          </a:xfrm>
          <a:prstGeom prst="roundRect">
            <a:avLst/>
          </a:prstGeom>
          <a:solidFill>
            <a:srgbClr val="E1F5EB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303C"/>
                </a:solidFill>
              </a:defRPr>
            </a:pPr>
            <a:r>
              <a:t>Availability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291839"/>
            <a:ext cx="347472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8303C"/>
                </a:solidFill>
              </a:defRPr>
            </a:pPr>
            <a:r>
              <a:t>Uptime • Health checks • Service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5349240"/>
            <a:ext cx="6492240" cy="731520"/>
          </a:xfrm>
          <a:prstGeom prst="roundRect">
            <a:avLst/>
          </a:prstGeom>
          <a:solidFill>
            <a:srgbClr val="EBF5FA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8303C"/>
                </a:solidFill>
              </a:defRPr>
            </a:pPr>
            <a:r>
              <a:t>Goal: detect → understand → respond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Third Year Engineering • DevOps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SonarQube vs Grafana — Do Not Confuse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94960" cy="502920"/>
          </a:xfrm>
          <a:prstGeom prst="roundRect">
            <a:avLst/>
          </a:prstGeom>
          <a:solidFill>
            <a:srgbClr val="2A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SonarQube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Focus: source code quality &amp; security.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Mostly used during development / CI.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Answers: “Is our code healthy?”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Typical input: source code + test/coverage data.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Output: issues, measures, quality gate.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394960" cy="502920"/>
          </a:xfrm>
          <a:prstGeom prst="round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Grafana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74519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Focus: system/application observability.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Mostly used while systems are running.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Answers: “Is our system healthy now?”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Typical input: metrics/logs/traces.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Output: dashboards, queries, alerts.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Third Year Engineering • DevOps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0427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rPr dirty="0"/>
              <a:t>Common 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94960" cy="502920"/>
          </a:xfrm>
          <a:prstGeom prst="roundRect">
            <a:avLst/>
          </a:prstGeom>
          <a:solidFill>
            <a:srgbClr val="2A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SonarQube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Analysis not appearing → check workflow logs.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Authentication error → verify repository secret/token.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No project → verify organization/project configuration.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Quality gate failed → inspect the actual findings; do not blindly ignore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394960" cy="502920"/>
          </a:xfrm>
          <a:prstGeom prst="round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Grafana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74519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No data → check Prometheus target status.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Connection refused → verify ports/processes.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Wrong localhost → remember container network boundaries.</a:t>
            </a:r>
          </a:p>
          <a:p>
            <a:pPr>
              <a:spcAft>
                <a:spcPts val="1000"/>
              </a:spcAft>
              <a:defRPr sz="1700" b="0">
                <a:solidFill>
                  <a:srgbClr val="28303C"/>
                </a:solidFill>
              </a:defRPr>
            </a:pPr>
            <a:r>
              <a:t>Empty panel → test the PromQL query in Explore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Third Year Engineering • DevOps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348847-194C-30A3-ECF2-E0D780F83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16" y="344129"/>
            <a:ext cx="11557652" cy="617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32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8ECFCE-3AA6-D92F-7897-2B324959E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32" y="1230439"/>
            <a:ext cx="11484335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840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5E81B2-A936-91EA-2091-941217A24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18" y="776903"/>
            <a:ext cx="11359480" cy="503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92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Quick Quiz — Check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1. What is the difference between a bug and a code smell?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2. Why should a SonarQube token be stored as a secret?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3. What is a Quality Gate?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4. What is a metric? Give two examples.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5. What is Prometheus used for?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6. What is Grafana used for?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7. What does /metrics expose in our Python example?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8. Where would you use SonarQube vs Grafana in a DevOps lifecycle?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Third Year Engineering • DevOps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017520" cy="1097280"/>
          </a:xfrm>
          <a:prstGeom prst="roundRect">
            <a:avLst/>
          </a:prstGeom>
          <a:solidFill>
            <a:srgbClr val="2A68B4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303C"/>
                </a:solidFill>
              </a:defRPr>
            </a:pPr>
            <a:r>
              <a:t>SonarQube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54680"/>
            <a:ext cx="301752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303C"/>
                </a:solidFill>
              </a:defRPr>
            </a:pPr>
            <a:r>
              <a:t>Quality before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017520" cy="1097280"/>
          </a:xfrm>
          <a:prstGeom prst="roundRect">
            <a:avLst/>
          </a:prstGeom>
          <a:solidFill>
            <a:srgbClr val="008791"/>
          </a:solidFill>
          <a:ln w="1905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303C"/>
                </a:solidFill>
              </a:defRPr>
            </a:pPr>
            <a:r>
              <a:t>Grafana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154680"/>
            <a:ext cx="301752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303C"/>
                </a:solidFill>
              </a:defRPr>
            </a:pPr>
            <a:r>
              <a:t>Visibility after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2743200" cy="1097280"/>
          </a:xfrm>
          <a:prstGeom prst="roundRect">
            <a:avLst/>
          </a:prstGeom>
          <a:solidFill>
            <a:srgbClr val="2D965F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303C"/>
                </a:solidFill>
              </a:defRPr>
            </a:pPr>
            <a:r>
              <a:t>DevOps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154680"/>
            <a:ext cx="274320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303C"/>
                </a:solidFill>
              </a:defRPr>
            </a:pPr>
            <a:r>
              <a:t>Feedback → improve → repeat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749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FFFFFF"/>
                </a:solidFill>
              </a:defRPr>
            </a:pPr>
            <a:r>
              <a:t>Good software is not only built correctly — it is continuously checked and observed.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A"/>
                </a:solidFill>
              </a:defRPr>
            </a:pPr>
            <a:r>
              <a:t>Official Learning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SonarQube Cloud documentation: docs.sonarsource.com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Grafana documentation: grafana.com/docs/grafana/latest/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Grafana Cloud getting started: grafana.com/docs/grafana-cloud/learn-and-build/get-started/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Grafana + Prometheus getting started: grafana.com/docs/grafana/latest/fundamentals/getting-started/first-dashboards/get-started-grafana-prometheus/</a:t>
            </a:r>
          </a:p>
          <a:p>
            <a:pPr>
              <a:spcAft>
                <a:spcPts val="1000"/>
              </a:spcAft>
              <a:defRPr sz="1800" b="0">
                <a:solidFill>
                  <a:srgbClr val="28303C"/>
                </a:solidFill>
              </a:defRPr>
            </a:pPr>
            <a:r>
              <a:t>Use the current product documentation during the live lab because action versions, UI labels and cloud setup steps can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References checked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1549</Words>
  <Application>Microsoft Office PowerPoint</Application>
  <PresentationFormat>Widescreen</PresentationFormat>
  <Paragraphs>224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Aruna Inamdar</cp:lastModifiedBy>
  <cp:revision>9</cp:revision>
  <dcterms:created xsi:type="dcterms:W3CDTF">2013-01-27T09:14:16Z</dcterms:created>
  <dcterms:modified xsi:type="dcterms:W3CDTF">2026-09-20T08:20:10Z</dcterms:modified>
  <cp:category/>
</cp:coreProperties>
</file>