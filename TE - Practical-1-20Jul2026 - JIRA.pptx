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8"/>
  </p:notesMasterIdLst>
  <p:handoutMasterIdLst>
    <p:handoutMasterId r:id="rId9"/>
  </p:handoutMasterIdLst>
  <p:sldIdLst>
    <p:sldId id="257" r:id="rId2"/>
    <p:sldId id="267" r:id="rId3"/>
    <p:sldId id="303" r:id="rId4"/>
    <p:sldId id="287" r:id="rId5"/>
    <p:sldId id="258" r:id="rId6"/>
    <p:sldId id="259" r:id="rId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945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2">
          <p15:clr>
            <a:srgbClr val="A4A3A4"/>
          </p15:clr>
        </p15:guide>
        <p15:guide id="5" orient="horz" pos="1072">
          <p15:clr>
            <a:srgbClr val="A4A3A4"/>
          </p15:clr>
        </p15:guide>
        <p15:guide id="6" pos="3839">
          <p15:clr>
            <a:srgbClr val="A4A3A4"/>
          </p15:clr>
        </p15:guide>
        <p15:guide id="7" pos="704">
          <p15:clr>
            <a:srgbClr val="A4A3A4"/>
          </p15:clr>
        </p15:guide>
        <p15:guide id="8" pos="71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182" autoAdjust="0"/>
  </p:normalViewPr>
  <p:slideViewPr>
    <p:cSldViewPr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orient="horz" pos="945"/>
        <p:guide orient="horz" pos="3888"/>
        <p:guide orient="horz" pos="192"/>
        <p:guide orient="horz" pos="1072"/>
        <p:guide pos="3839"/>
        <p:guide pos="704"/>
        <p:guide pos="7102"/>
      </p:guideLst>
    </p:cSldViewPr>
  </p:slideViewPr>
  <p:outlineViewPr>
    <p:cViewPr>
      <p:scale>
        <a:sx n="33" d="100"/>
        <a:sy n="33" d="100"/>
      </p:scale>
      <p:origin x="0" y="-2886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164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7/26/2026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7/26/2026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05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04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12190572" cy="6858000"/>
            <a:chOff x="0" y="0"/>
            <a:chExt cx="12190572" cy="6858000"/>
          </a:xfrm>
        </p:grpSpPr>
        <p:sp>
          <p:nvSpPr>
            <p:cNvPr id="13" name="Rectangle 12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0" y="0"/>
              <a:ext cx="4742741" cy="6858000"/>
              <a:chOff x="0" y="0"/>
              <a:chExt cx="4742741" cy="6858000"/>
            </a:xfrm>
          </p:grpSpPr>
          <p:pic>
            <p:nvPicPr>
              <p:cNvPr id="9" name="Picture 8" descr="Stacked books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4591594" cy="6858000"/>
              </a:xfrm>
              <a:prstGeom prst="rect">
                <a:avLst/>
              </a:prstGeom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4605581" y="0"/>
                <a:ext cx="137160" cy="6858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9346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79346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6A09E-12D5-4B1D-B8BB-C300B1DDD423}" type="datetime1">
              <a:rPr lang="en-US" smtClean="0"/>
              <a:t>7/26/2026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12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377B-053C-438C-8A98-92C419A6701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5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4" name="Rectangle 3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818" y="0"/>
              <a:ext cx="4591594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7481252" y="0"/>
              <a:ext cx="137160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tx2"/>
                </a:solidFill>
              </a:endParaRPr>
            </a:p>
          </p:txBody>
        </p:sp>
      </p:grpSp>
      <p:pic>
        <p:nvPicPr>
          <p:cNvPr id="5" name="Picture 4" descr="Stacked book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818" y="0"/>
            <a:ext cx="4591594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237149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237149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EF46-0123-4A75-9835-49DC49D53DE2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82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buFont typeface="Century Gothic" panose="020B0502020202020204" pitchFamily="34" charset="0"/>
              <a:buChar char="–"/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8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378D-18AE-47D1-B10A-42F623B40082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F6AE8-D704-41F6-B16A-5547B5672AC1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7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9538-6F63-4C0B-916D-ED3F4E0A1B28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15BF-7116-4A9E-8022-5A2DC937F971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2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418976" indent="-285750">
              <a:buFont typeface="Century Gothic" panose="020B0502020202020204" pitchFamily="34" charset="0"/>
              <a:buChar char="–"/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5612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8DC91-5A3B-40CE-8C1D-279A8EF6E00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1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C20A-B94A-4E20-B4B2-88A7825AE904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7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CA53D-4C84-40AA-983E-A1E818A7FE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1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CEE-AE66-4EAB-9C04-97F8A56A6354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9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10" name="Rectangle 9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721" y="0"/>
              <a:ext cx="11579384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859468AF-EFCF-4AAD-ACF4-3BA83EC4AF4E}" type="datetime1">
              <a:rPr lang="en-US" smtClean="0"/>
              <a:pPr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8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b="0" kern="1200" cap="none" baseline="0">
          <a:solidFill>
            <a:schemeClr val="accent2">
              <a:lumMod val="5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Clr>
          <a:schemeClr val="accent6">
            <a:lumMod val="50000"/>
          </a:schemeClr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33226" indent="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None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6pPr>
      <a:lvl7pPr marL="284562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7pPr>
      <a:lvl8pPr marL="3272267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8pPr>
      <a:lvl9pPr marL="375986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tlassian.com/software/jira/fre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Practical – 1</a:t>
            </a:r>
            <a:br>
              <a:rPr lang="en-IN" dirty="0"/>
            </a:br>
            <a:br>
              <a:rPr lang="en-IN" dirty="0"/>
            </a:br>
            <a:r>
              <a:rPr lang="en-IN" dirty="0"/>
              <a:t>JIRA Fundamentals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879346" y="4941168"/>
            <a:ext cx="7008574" cy="1244600"/>
          </a:xfrm>
        </p:spPr>
        <p:txBody>
          <a:bodyPr/>
          <a:lstStyle/>
          <a:p>
            <a:r>
              <a:rPr lang="en-US" dirty="0"/>
              <a:t>Aruna Kumbhar</a:t>
            </a:r>
          </a:p>
        </p:txBody>
      </p:sp>
    </p:spTree>
    <p:extLst>
      <p:ext uri="{BB962C8B-B14F-4D97-AF65-F5344CB8AC3E}">
        <p14:creationId xmlns:p14="http://schemas.microsoft.com/office/powerpoint/2010/main" val="16898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A3744-82BD-18CD-BD9F-BA4F2D79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61C79-8EB4-E7B5-84F2-09F2C4AB6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6" y="1193800"/>
            <a:ext cx="10157354" cy="4470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are employees of </a:t>
            </a:r>
            <a:r>
              <a:rPr lang="en-US" b="1" dirty="0" err="1"/>
              <a:t>TechSoft</a:t>
            </a:r>
            <a:r>
              <a:rPr lang="en-US" b="1" dirty="0"/>
              <a:t> Pvt. Ltd.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Our client wants us to build a </a:t>
            </a:r>
            <a:r>
              <a:rPr lang="en-US" b="1" dirty="0"/>
              <a:t>Food Delivery Application like Swiggy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will manage this project using Jira.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2947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F1751-BE16-6C23-2ECC-679B29617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120552"/>
          </a:xfrm>
        </p:spPr>
        <p:txBody>
          <a:bodyPr/>
          <a:lstStyle/>
          <a:p>
            <a:r>
              <a:rPr lang="en-IN" dirty="0"/>
              <a:t>What is JIRA?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EA7F25-C739-08CC-650D-5F325F23EC01}"/>
              </a:ext>
            </a:extLst>
          </p:cNvPr>
          <p:cNvSpPr txBox="1"/>
          <p:nvPr/>
        </p:nvSpPr>
        <p:spPr>
          <a:xfrm>
            <a:off x="1114166" y="1556792"/>
            <a:ext cx="10380846" cy="4014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Jira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Definition:</a:t>
            </a:r>
            <a:b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Jira is an Agile project management and issue-tracking tool developed by </a:t>
            </a:r>
            <a:r>
              <a:rPr lang="en-IN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Atlassian</a:t>
            </a: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It is used for sprint planning, task management, bug tracking, and project monitoring.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</a:t>
            </a:r>
            <a:b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Amazon uses Jira to manage software development tasks.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0522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B33C3AD-7F5D-51B0-BB6E-0E57D2553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128A16-0115-49E3-3224-6F87171B4D9D}"/>
              </a:ext>
            </a:extLst>
          </p:cNvPr>
          <p:cNvSpPr txBox="1"/>
          <p:nvPr/>
        </p:nvSpPr>
        <p:spPr>
          <a:xfrm>
            <a:off x="979429" y="1335193"/>
            <a:ext cx="3833101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b="1" dirty="0"/>
              <a:t>Step 1: Create a Jira Site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A8029-2F07-E697-2390-24524AC92153}"/>
              </a:ext>
            </a:extLst>
          </p:cNvPr>
          <p:cNvSpPr txBox="1"/>
          <p:nvPr/>
        </p:nvSpPr>
        <p:spPr>
          <a:xfrm>
            <a:off x="991236" y="2095923"/>
            <a:ext cx="7912744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Open: </a:t>
            </a:r>
            <a:r>
              <a:rPr lang="en-IN" b="1" dirty="0">
                <a:hlinkClick r:id="rId2"/>
              </a:rPr>
              <a:t>https://www.atlassian.com/software/jira/free</a:t>
            </a:r>
            <a:endParaRPr lang="en-IN" dirty="0"/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68DCF5-4741-72A2-07D2-6BF114F0AF1A}"/>
              </a:ext>
            </a:extLst>
          </p:cNvPr>
          <p:cNvSpPr txBox="1"/>
          <p:nvPr/>
        </p:nvSpPr>
        <p:spPr>
          <a:xfrm>
            <a:off x="1045013" y="2963501"/>
            <a:ext cx="2462534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dirty="0"/>
              <a:t>Register / Login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3D0532-9B8D-69B7-9CB9-0BD62AD4B702}"/>
              </a:ext>
            </a:extLst>
          </p:cNvPr>
          <p:cNvSpPr txBox="1"/>
          <p:nvPr/>
        </p:nvSpPr>
        <p:spPr>
          <a:xfrm>
            <a:off x="1067680" y="3815810"/>
            <a:ext cx="10256612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dirty="0"/>
              <a:t>Once logged in, it will ask you to create “Site” first - </a:t>
            </a:r>
            <a:r>
              <a:rPr lang="en-US" dirty="0"/>
              <a:t>Think of this as your company's office building. Everything happens inside this Site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36E9E0-8A54-4764-AD63-0907E09F85A9}"/>
              </a:ext>
            </a:extLst>
          </p:cNvPr>
          <p:cNvSpPr txBox="1"/>
          <p:nvPr/>
        </p:nvSpPr>
        <p:spPr>
          <a:xfrm>
            <a:off x="1045013" y="5120199"/>
            <a:ext cx="10449711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>
                <a:solidFill>
                  <a:srgbClr val="FF0000"/>
                </a:solidFill>
              </a:rPr>
              <a:t>A Site is the main Jira workspace where all projects, users, dashboards, and settings are stored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6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D879784-6406-272F-7AC0-496951877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6E59A4-C0E7-D1B0-67FE-8479E8F18FBE}"/>
              </a:ext>
            </a:extLst>
          </p:cNvPr>
          <p:cNvSpPr txBox="1"/>
          <p:nvPr/>
        </p:nvSpPr>
        <p:spPr>
          <a:xfrm>
            <a:off x="1197868" y="1268760"/>
            <a:ext cx="3759362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b="1" dirty="0"/>
              <a:t>Step 2: Create a Project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1B14F8-7305-166B-D964-53128AFE8BDC}"/>
              </a:ext>
            </a:extLst>
          </p:cNvPr>
          <p:cNvSpPr txBox="1"/>
          <p:nvPr/>
        </p:nvSpPr>
        <p:spPr>
          <a:xfrm>
            <a:off x="1197868" y="1844824"/>
            <a:ext cx="2946640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IN" dirty="0"/>
              <a:t>Click</a:t>
            </a:r>
          </a:p>
          <a:p>
            <a:endParaRPr lang="en-IN" dirty="0"/>
          </a:p>
          <a:p>
            <a:r>
              <a:rPr lang="en-IN" dirty="0"/>
              <a:t>Projects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Create Project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Scrum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Food Delivery App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504D4A-2B4F-1B72-3114-3684874005E7}"/>
              </a:ext>
            </a:extLst>
          </p:cNvPr>
          <p:cNvSpPr txBox="1"/>
          <p:nvPr/>
        </p:nvSpPr>
        <p:spPr>
          <a:xfrm>
            <a:off x="5734372" y="1711958"/>
            <a:ext cx="4899098" cy="376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Project = One software product</a:t>
            </a:r>
          </a:p>
          <a:p>
            <a:endParaRPr lang="en-IN" dirty="0"/>
          </a:p>
          <a:p>
            <a:r>
              <a:rPr lang="en-IN" dirty="0"/>
              <a:t>Examples:</a:t>
            </a:r>
          </a:p>
          <a:p>
            <a:endParaRPr lang="en-IN" dirty="0"/>
          </a:p>
          <a:p>
            <a:r>
              <a:rPr lang="en-IN" dirty="0"/>
              <a:t>WhatsApp</a:t>
            </a:r>
          </a:p>
          <a:p>
            <a:r>
              <a:rPr lang="en-IN" dirty="0"/>
              <a:t>Netflix</a:t>
            </a:r>
          </a:p>
          <a:p>
            <a:r>
              <a:rPr lang="en-IN" dirty="0"/>
              <a:t>College ERP</a:t>
            </a:r>
          </a:p>
          <a:p>
            <a:endParaRPr lang="en-IN" dirty="0"/>
          </a:p>
          <a:p>
            <a:endParaRPr lang="en-IN" dirty="0"/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827F20-B7B0-3BB4-37AB-9BA3D67C2D0B}"/>
              </a:ext>
            </a:extLst>
          </p:cNvPr>
          <p:cNvSpPr txBox="1"/>
          <p:nvPr/>
        </p:nvSpPr>
        <p:spPr>
          <a:xfrm>
            <a:off x="2884823" y="5726409"/>
            <a:ext cx="6622326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Can one company have multiple projects?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532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99C346B-996E-93CF-E63A-A72099EF4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72A67-15AE-5217-047A-322BC32C084E}"/>
              </a:ext>
            </a:extLst>
          </p:cNvPr>
          <p:cNvSpPr txBox="1"/>
          <p:nvPr/>
        </p:nvSpPr>
        <p:spPr>
          <a:xfrm>
            <a:off x="1083603" y="1227181"/>
            <a:ext cx="3310522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b="1" dirty="0"/>
              <a:t>Step 3: The Left Menu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D37A86-F23C-8E7D-3956-44DAA8A18753}"/>
              </a:ext>
            </a:extLst>
          </p:cNvPr>
          <p:cNvSpPr txBox="1"/>
          <p:nvPr/>
        </p:nvSpPr>
        <p:spPr>
          <a:xfrm>
            <a:off x="1083603" y="1916832"/>
            <a:ext cx="1704313" cy="4653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Roadmap</a:t>
            </a:r>
          </a:p>
          <a:p>
            <a:pPr>
              <a:lnSpc>
                <a:spcPct val="95000"/>
              </a:lnSpc>
            </a:pPr>
            <a:endParaRPr lang="en-US" dirty="0"/>
          </a:p>
          <a:p>
            <a:pPr>
              <a:lnSpc>
                <a:spcPct val="95000"/>
              </a:lnSpc>
            </a:pPr>
            <a:r>
              <a:rPr lang="en-US" dirty="0"/>
              <a:t>Backlog</a:t>
            </a:r>
          </a:p>
          <a:p>
            <a:pPr>
              <a:lnSpc>
                <a:spcPct val="95000"/>
              </a:lnSpc>
            </a:pPr>
            <a:endParaRPr lang="en-US" dirty="0"/>
          </a:p>
          <a:p>
            <a:pPr>
              <a:lnSpc>
                <a:spcPct val="95000"/>
              </a:lnSpc>
            </a:pPr>
            <a:r>
              <a:rPr lang="en-US" dirty="0"/>
              <a:t>Board</a:t>
            </a:r>
          </a:p>
          <a:p>
            <a:pPr>
              <a:lnSpc>
                <a:spcPct val="95000"/>
              </a:lnSpc>
            </a:pPr>
            <a:endParaRPr lang="en-US" dirty="0"/>
          </a:p>
          <a:p>
            <a:pPr>
              <a:lnSpc>
                <a:spcPct val="95000"/>
              </a:lnSpc>
            </a:pPr>
            <a:r>
              <a:rPr lang="en-US" dirty="0"/>
              <a:t>Timeline</a:t>
            </a:r>
          </a:p>
          <a:p>
            <a:pPr>
              <a:lnSpc>
                <a:spcPct val="95000"/>
              </a:lnSpc>
            </a:pPr>
            <a:endParaRPr lang="en-US" dirty="0"/>
          </a:p>
          <a:p>
            <a:pPr>
              <a:lnSpc>
                <a:spcPct val="95000"/>
              </a:lnSpc>
            </a:pPr>
            <a:r>
              <a:rPr lang="en-US" dirty="0"/>
              <a:t>Releases</a:t>
            </a:r>
          </a:p>
          <a:p>
            <a:pPr>
              <a:lnSpc>
                <a:spcPct val="95000"/>
              </a:lnSpc>
            </a:pPr>
            <a:endParaRPr lang="en-US" dirty="0"/>
          </a:p>
          <a:p>
            <a:pPr>
              <a:lnSpc>
                <a:spcPct val="95000"/>
              </a:lnSpc>
            </a:pPr>
            <a:r>
              <a:rPr lang="en-US" dirty="0"/>
              <a:t>Issues</a:t>
            </a:r>
          </a:p>
          <a:p>
            <a:pPr>
              <a:lnSpc>
                <a:spcPct val="95000"/>
              </a:lnSpc>
            </a:pPr>
            <a:endParaRPr lang="en-US" dirty="0"/>
          </a:p>
          <a:p>
            <a:pPr>
              <a:lnSpc>
                <a:spcPct val="95000"/>
              </a:lnSpc>
            </a:pPr>
            <a:r>
              <a:rPr lang="en-US" dirty="0"/>
              <a:t>Reports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289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lass open house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5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Classroom open house presentation.potx" id="{AB7D8AB0-4323-4322-AB21-8CB398DB9E96}" vid="{5BFEA1FF-C39F-48A2-B239-4B55565FC3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Classroom open house presentation</Template>
  <TotalTime>953</TotalTime>
  <Words>216</Words>
  <Application>Microsoft Office PowerPoint</Application>
  <PresentationFormat>Custom</PresentationFormat>
  <Paragraphs>56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Century Gothic</vt:lpstr>
      <vt:lpstr>Class open house presentation</vt:lpstr>
      <vt:lpstr>Practical – 1  JIRA Fundamentals</vt:lpstr>
      <vt:lpstr>Scenario</vt:lpstr>
      <vt:lpstr>What is JIRA?</vt:lpstr>
      <vt:lpstr>Implementation</vt:lpstr>
      <vt:lpstr>Implementation</vt:lpstr>
      <vt:lpstr>Implementation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Aruna Inamdar</dc:creator>
  <cp:lastModifiedBy>Aruna Inamdar</cp:lastModifiedBy>
  <cp:revision>90</cp:revision>
  <dcterms:created xsi:type="dcterms:W3CDTF">2026-07-15T13:08:00Z</dcterms:created>
  <dcterms:modified xsi:type="dcterms:W3CDTF">2026-07-26T10:33:52Z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