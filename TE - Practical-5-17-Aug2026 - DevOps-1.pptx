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</p:sldMasterIdLst>
  <p:notesMasterIdLst>
    <p:notesMasterId r:id="rId19"/>
  </p:notesMasterIdLst>
  <p:handoutMasterIdLst>
    <p:handoutMasterId r:id="rId20"/>
  </p:handoutMasterIdLst>
  <p:sldIdLst>
    <p:sldId id="257" r:id="rId2"/>
    <p:sldId id="291" r:id="rId3"/>
    <p:sldId id="292" r:id="rId4"/>
    <p:sldId id="293" r:id="rId5"/>
    <p:sldId id="294" r:id="rId6"/>
    <p:sldId id="297" r:id="rId7"/>
    <p:sldId id="295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296" r:id="rId17"/>
    <p:sldId id="306" r:id="rId18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945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2">
          <p15:clr>
            <a:srgbClr val="A4A3A4"/>
          </p15:clr>
        </p15:guide>
        <p15:guide id="5" orient="horz" pos="1072">
          <p15:clr>
            <a:srgbClr val="A4A3A4"/>
          </p15:clr>
        </p15:guide>
        <p15:guide id="6" pos="3839">
          <p15:clr>
            <a:srgbClr val="A4A3A4"/>
          </p15:clr>
        </p15:guide>
        <p15:guide id="7" pos="704">
          <p15:clr>
            <a:srgbClr val="A4A3A4"/>
          </p15:clr>
        </p15:guide>
        <p15:guide id="8" pos="71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182" autoAdjust="0"/>
  </p:normalViewPr>
  <p:slideViewPr>
    <p:cSldViewPr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orient="horz" pos="945"/>
        <p:guide orient="horz" pos="3888"/>
        <p:guide orient="horz" pos="192"/>
        <p:guide orient="horz" pos="1072"/>
        <p:guide pos="3839"/>
        <p:guide pos="704"/>
        <p:guide pos="7102"/>
      </p:guideLst>
    </p:cSldViewPr>
  </p:slideViewPr>
  <p:outlineViewPr>
    <p:cViewPr>
      <p:scale>
        <a:sx n="33" d="100"/>
        <a:sy n="33" d="100"/>
      </p:scale>
      <p:origin x="0" y="-2886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1644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8/16/2026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8/16/2026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05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12190572" cy="6858000"/>
            <a:chOff x="0" y="0"/>
            <a:chExt cx="12190572" cy="6858000"/>
          </a:xfrm>
        </p:grpSpPr>
        <p:sp>
          <p:nvSpPr>
            <p:cNvPr id="13" name="Rectangle 12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0" y="0"/>
              <a:ext cx="4742741" cy="6858000"/>
              <a:chOff x="0" y="0"/>
              <a:chExt cx="4742741" cy="6858000"/>
            </a:xfrm>
          </p:grpSpPr>
          <p:pic>
            <p:nvPicPr>
              <p:cNvPr id="9" name="Picture 8" descr="Stacked books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4591594" cy="6858000"/>
              </a:xfrm>
              <a:prstGeom prst="rect">
                <a:avLst/>
              </a:prstGeom>
            </p:spPr>
          </p:pic>
          <p:sp>
            <p:nvSpPr>
              <p:cNvPr id="10" name="Rectangle 9"/>
              <p:cNvSpPr/>
              <p:nvPr/>
            </p:nvSpPr>
            <p:spPr>
              <a:xfrm>
                <a:off x="4605581" y="0"/>
                <a:ext cx="137160" cy="6858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79346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79346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6A09E-12D5-4B1D-B8BB-C300B1DDD423}" type="datetime1">
              <a:rPr lang="en-US" smtClean="0"/>
              <a:t>8/16/2026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12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377B-053C-438C-8A98-92C419A6701C}" type="datetime1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5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4" name="Rectangle 3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8818" y="0"/>
              <a:ext cx="4591594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7481252" y="0"/>
              <a:ext cx="137160" cy="685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tx2"/>
                </a:solidFill>
              </a:endParaRPr>
            </a:p>
          </p:txBody>
        </p:sp>
      </p:grpSp>
      <p:pic>
        <p:nvPicPr>
          <p:cNvPr id="5" name="Picture 4" descr="Stacked book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818" y="0"/>
            <a:ext cx="4591594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237149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237149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CEF46-0123-4A75-9835-49DC49D53DE2}" type="datetime1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82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buFont typeface="Century Gothic" panose="020B0502020202020204" pitchFamily="34" charset="0"/>
              <a:buChar char="–"/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8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378D-18AE-47D1-B10A-42F623B40082}" type="datetime1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4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F6AE8-D704-41F6-B16A-5547B5672AC1}" type="datetime1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7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B9538-6F63-4C0B-916D-ED3F4E0A1B28}" type="datetime1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4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15BF-7116-4A9E-8022-5A2DC937F971}" type="datetime1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12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418976" indent="-285750">
              <a:buFont typeface="Century Gothic" panose="020B0502020202020204" pitchFamily="34" charset="0"/>
              <a:buChar char="–"/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5612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8DC91-5A3B-40CE-8C1D-279A8EF6E008}" type="datetime1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1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C20A-B94A-4E20-B4B2-88A7825AE904}" type="datetime1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72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CA53D-4C84-40AA-983E-A1E818A7FEFC}" type="datetime1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1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FCEE-AE66-4EAB-9C04-97F8A56A6354}" type="datetime1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9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10" name="Rectangle 9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4721" y="0"/>
              <a:ext cx="11579384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859468AF-EFCF-4AAD-ACF4-3BA83EC4AF4E}" type="datetime1">
              <a:rPr lang="en-US" smtClean="0"/>
              <a:pPr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8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b="0" kern="1200" cap="none" baseline="0">
          <a:solidFill>
            <a:schemeClr val="accent2">
              <a:lumMod val="5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Clr>
          <a:schemeClr val="accent6">
            <a:lumMod val="50000"/>
          </a:schemeClr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133226" indent="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None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6pPr>
      <a:lvl7pPr marL="284562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7pPr>
      <a:lvl8pPr marL="3272267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8pPr>
      <a:lvl9pPr marL="375986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Practical – 4</a:t>
            </a:r>
            <a:br>
              <a:rPr lang="en-IN" dirty="0"/>
            </a:br>
            <a:br>
              <a:rPr lang="en-IN" dirty="0"/>
            </a:br>
            <a:r>
              <a:rPr lang="en-IN" dirty="0"/>
              <a:t>DevOps – Part 1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879346" y="4941168"/>
            <a:ext cx="7008574" cy="1244600"/>
          </a:xfrm>
        </p:spPr>
        <p:txBody>
          <a:bodyPr/>
          <a:lstStyle/>
          <a:p>
            <a:r>
              <a:rPr lang="en-US" dirty="0"/>
              <a:t>Aruna Kumbhar</a:t>
            </a:r>
          </a:p>
        </p:txBody>
      </p:sp>
    </p:spTree>
    <p:extLst>
      <p:ext uri="{BB962C8B-B14F-4D97-AF65-F5344CB8AC3E}">
        <p14:creationId xmlns:p14="http://schemas.microsoft.com/office/powerpoint/2010/main" val="168988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AE86F-BCE3-0C27-7EAA-85E399019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https://classroom.google.com/c/ODcyMDU5MTU2OTYz?cjc=mls6kf2n</a:t>
            </a:r>
          </a:p>
        </p:txBody>
      </p:sp>
    </p:spTree>
    <p:extLst>
      <p:ext uri="{BB962C8B-B14F-4D97-AF65-F5344CB8AC3E}">
        <p14:creationId xmlns:p14="http://schemas.microsoft.com/office/powerpoint/2010/main" val="235400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6C5B1D-F7E1-5649-1E7F-9BC5513D2627}"/>
              </a:ext>
            </a:extLst>
          </p:cNvPr>
          <p:cNvSpPr txBox="1"/>
          <p:nvPr/>
        </p:nvSpPr>
        <p:spPr>
          <a:xfrm>
            <a:off x="765820" y="332656"/>
            <a:ext cx="6819624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Introduction to CI using GitHub Actions</a:t>
            </a:r>
            <a:endParaRPr lang="en-IN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D40B27-4854-3B09-1493-91B13E0A5348}"/>
              </a:ext>
            </a:extLst>
          </p:cNvPr>
          <p:cNvSpPr txBox="1"/>
          <p:nvPr/>
        </p:nvSpPr>
        <p:spPr>
          <a:xfrm>
            <a:off x="749897" y="1052736"/>
            <a:ext cx="6208611" cy="1378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dirty="0">
                <a:latin typeface="Book Antiqua" panose="02040602050305030304" pitchFamily="18" charset="0"/>
              </a:rPr>
              <a:t>"Suppose 5 developers are working on an AIML project. Every time someone changes the code, should another developer manually check whether the program still works?"</a:t>
            </a:r>
            <a:endParaRPr lang="en-IN" sz="2200" dirty="0">
              <a:latin typeface="Book Antiqua" panose="0204060205030503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B27FBE-4EA4-E42A-7864-A60F7AF0EEAA}"/>
              </a:ext>
            </a:extLst>
          </p:cNvPr>
          <p:cNvSpPr txBox="1"/>
          <p:nvPr/>
        </p:nvSpPr>
        <p:spPr>
          <a:xfrm>
            <a:off x="765820" y="3134477"/>
            <a:ext cx="3999487" cy="41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>
                <a:latin typeface="Book Antiqua" panose="02040602050305030304" pitchFamily="18" charset="0"/>
              </a:defRPr>
            </a:lvl1pPr>
          </a:lstStyle>
          <a:p>
            <a:r>
              <a:rPr lang="en-IN" b="1" dirty="0"/>
              <a:t>Continuous Integration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358D08-D6EA-F084-DA04-2E5D0F83B61A}"/>
              </a:ext>
            </a:extLst>
          </p:cNvPr>
          <p:cNvSpPr txBox="1"/>
          <p:nvPr/>
        </p:nvSpPr>
        <p:spPr>
          <a:xfrm>
            <a:off x="749897" y="3717032"/>
            <a:ext cx="6280619" cy="1057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>
                <a:latin typeface="Book Antiqua" panose="02040602050305030304" pitchFamily="18" charset="0"/>
              </a:defRPr>
            </a:lvl1pPr>
          </a:lstStyle>
          <a:p>
            <a:r>
              <a:rPr lang="en-US" dirty="0"/>
              <a:t>Continuous Integration = Automatically building and testing code whenever developers integrate their changes.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0351A2-12AD-BBE8-620D-37EF406E9006}"/>
              </a:ext>
            </a:extLst>
          </p:cNvPr>
          <p:cNvSpPr txBox="1"/>
          <p:nvPr/>
        </p:nvSpPr>
        <p:spPr>
          <a:xfrm>
            <a:off x="8830716" y="1046212"/>
            <a:ext cx="2411238" cy="5004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>
                <a:latin typeface="Book Antiqua" panose="02040602050305030304" pitchFamily="18" charset="0"/>
              </a:defRPr>
            </a:lvl1pPr>
          </a:lstStyle>
          <a:p>
            <a:r>
              <a:rPr lang="en-IN" dirty="0"/>
              <a:t>Developer</a:t>
            </a:r>
          </a:p>
          <a:p>
            <a:r>
              <a:rPr lang="en-IN" dirty="0"/>
              <a:t>    ↓</a:t>
            </a:r>
          </a:p>
          <a:p>
            <a:r>
              <a:rPr lang="en-IN" dirty="0"/>
              <a:t>git push</a:t>
            </a:r>
          </a:p>
          <a:p>
            <a:r>
              <a:rPr lang="en-IN" dirty="0"/>
              <a:t>    ↓</a:t>
            </a:r>
          </a:p>
          <a:p>
            <a:r>
              <a:rPr lang="en-IN" dirty="0"/>
              <a:t>GitHub</a:t>
            </a:r>
          </a:p>
          <a:p>
            <a:r>
              <a:rPr lang="en-IN" dirty="0"/>
              <a:t>    ↓</a:t>
            </a:r>
          </a:p>
          <a:p>
            <a:r>
              <a:rPr lang="en-IN" dirty="0"/>
              <a:t>GitHub Actions</a:t>
            </a:r>
          </a:p>
          <a:p>
            <a:r>
              <a:rPr lang="en-IN" dirty="0"/>
              <a:t>    ↓</a:t>
            </a:r>
          </a:p>
          <a:p>
            <a:r>
              <a:rPr lang="en-IN" dirty="0"/>
              <a:t>Build</a:t>
            </a:r>
          </a:p>
          <a:p>
            <a:r>
              <a:rPr lang="en-IN" dirty="0"/>
              <a:t>    ↓</a:t>
            </a:r>
          </a:p>
          <a:p>
            <a:r>
              <a:rPr lang="en-IN" dirty="0"/>
              <a:t>Run Tests</a:t>
            </a:r>
          </a:p>
          <a:p>
            <a:r>
              <a:rPr lang="en-IN" dirty="0"/>
              <a:t>    ↓</a:t>
            </a:r>
          </a:p>
          <a:p>
            <a:r>
              <a:rPr lang="en-IN" dirty="0"/>
              <a:t>    ├── ✅ Pass</a:t>
            </a:r>
          </a:p>
          <a:p>
            <a:r>
              <a:rPr lang="en-IN" dirty="0"/>
              <a:t>    └── ❌ Fail</a:t>
            </a:r>
          </a:p>
        </p:txBody>
      </p:sp>
    </p:spTree>
    <p:extLst>
      <p:ext uri="{BB962C8B-B14F-4D97-AF65-F5344CB8AC3E}">
        <p14:creationId xmlns:p14="http://schemas.microsoft.com/office/powerpoint/2010/main" val="340211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33ECDF-2CC2-0FC5-235A-65EB94668A67}"/>
              </a:ext>
            </a:extLst>
          </p:cNvPr>
          <p:cNvSpPr txBox="1"/>
          <p:nvPr/>
        </p:nvSpPr>
        <p:spPr>
          <a:xfrm>
            <a:off x="1053852" y="476672"/>
            <a:ext cx="1443024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>
                <a:solidFill>
                  <a:srgbClr val="FF000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dirty="0"/>
              <a:t>CI vs CD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2F6275-7755-5A28-9598-B4E47BDEB9F0}"/>
              </a:ext>
            </a:extLst>
          </p:cNvPr>
          <p:cNvSpPr txBox="1"/>
          <p:nvPr/>
        </p:nvSpPr>
        <p:spPr>
          <a:xfrm>
            <a:off x="1197868" y="1196752"/>
            <a:ext cx="9577064" cy="1378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>
                <a:latin typeface="Book Antiqua" panose="02040602050305030304" pitchFamily="18" charset="0"/>
              </a:defRPr>
            </a:lvl1pPr>
          </a:lstStyle>
          <a:p>
            <a:r>
              <a:rPr lang="en-IN" dirty="0"/>
              <a:t>CI: </a:t>
            </a:r>
            <a:r>
              <a:rPr lang="en-US" dirty="0"/>
              <a:t>"Did my new code break the application?"</a:t>
            </a:r>
          </a:p>
          <a:p>
            <a:endParaRPr lang="en-IN" dirty="0"/>
          </a:p>
          <a:p>
            <a:r>
              <a:rPr lang="en-IN" dirty="0"/>
              <a:t>CD: </a:t>
            </a:r>
            <a:r>
              <a:rPr lang="en-US" dirty="0"/>
              <a:t>"If everything is okay, can we automatically deliver/deploy it?"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EEB0C-1C75-0E93-3E52-1ADFF3D72601}"/>
              </a:ext>
            </a:extLst>
          </p:cNvPr>
          <p:cNvSpPr txBox="1"/>
          <p:nvPr/>
        </p:nvSpPr>
        <p:spPr>
          <a:xfrm>
            <a:off x="1193474" y="2693414"/>
            <a:ext cx="2924198" cy="1057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>
                <a:latin typeface="Book Antiqua" panose="02040602050305030304" pitchFamily="18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dirty="0"/>
              <a:t>CI = Build + Test</a:t>
            </a:r>
          </a:p>
          <a:p>
            <a:pPr>
              <a:lnSpc>
                <a:spcPct val="150000"/>
              </a:lnSpc>
            </a:pPr>
            <a:r>
              <a:rPr lang="en-US" dirty="0"/>
              <a:t>CD = Deliver/Deploy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63255D-EDD3-1D57-652F-34E09DF5CF4E}"/>
              </a:ext>
            </a:extLst>
          </p:cNvPr>
          <p:cNvSpPr txBox="1"/>
          <p:nvPr/>
        </p:nvSpPr>
        <p:spPr>
          <a:xfrm>
            <a:off x="1193474" y="4274149"/>
            <a:ext cx="8727069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>
                <a:latin typeface="Book Antiqua" panose="02040602050305030304" pitchFamily="18" charset="0"/>
              </a:defRPr>
            </a:lvl1pPr>
          </a:lstStyle>
          <a:p>
            <a:r>
              <a:rPr lang="en-US" dirty="0"/>
              <a:t>CI/CD = Automate the journey from code to deployment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8500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E44702-F16E-1DB1-4033-B0426B6EBEB1}"/>
              </a:ext>
            </a:extLst>
          </p:cNvPr>
          <p:cNvSpPr txBox="1"/>
          <p:nvPr/>
        </p:nvSpPr>
        <p:spPr>
          <a:xfrm>
            <a:off x="981844" y="260648"/>
            <a:ext cx="2730235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>
                <a:solidFill>
                  <a:srgbClr val="FF000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dirty="0"/>
              <a:t>GitHub Actions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4322C4-DFC1-715F-CD14-CF0BF00EA073}"/>
              </a:ext>
            </a:extLst>
          </p:cNvPr>
          <p:cNvSpPr txBox="1"/>
          <p:nvPr/>
        </p:nvSpPr>
        <p:spPr>
          <a:xfrm>
            <a:off x="981844" y="908720"/>
            <a:ext cx="9990235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>
                <a:latin typeface="Book Antiqua" panose="02040602050305030304" pitchFamily="18" charset="0"/>
              </a:defRPr>
            </a:lvl1pPr>
          </a:lstStyle>
          <a:p>
            <a:r>
              <a:rPr lang="en-US" dirty="0"/>
              <a:t>GitHub Actions is a CI/CD automation service provided by GitHub</a:t>
            </a: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D049F7F-D79F-D97E-391F-A035B7AB8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398780"/>
              </p:ext>
            </p:extLst>
          </p:nvPr>
        </p:nvGraphicFramePr>
        <p:xfrm>
          <a:off x="1125860" y="1844824"/>
          <a:ext cx="10156824" cy="4153584"/>
        </p:xfrm>
        <a:graphic>
          <a:graphicData uri="http://schemas.openxmlformats.org/drawingml/2006/table">
            <a:tbl>
              <a:tblPr/>
              <a:tblGrid>
                <a:gridCol w="2698271">
                  <a:extLst>
                    <a:ext uri="{9D8B030D-6E8A-4147-A177-3AD203B41FA5}">
                      <a16:colId xmlns:a16="http://schemas.microsoft.com/office/drawing/2014/main" val="1073955074"/>
                    </a:ext>
                  </a:extLst>
                </a:gridCol>
                <a:gridCol w="7458553">
                  <a:extLst>
                    <a:ext uri="{9D8B030D-6E8A-4147-A177-3AD203B41FA5}">
                      <a16:colId xmlns:a16="http://schemas.microsoft.com/office/drawing/2014/main" val="175228637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IN" sz="2200" b="1" dirty="0">
                          <a:latin typeface="Book Antiqua" panose="02040602050305030304" pitchFamily="18" charset="0"/>
                        </a:rPr>
                        <a:t>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b="1" dirty="0">
                          <a:latin typeface="Book Antiqua" panose="02040602050305030304" pitchFamily="18" charset="0"/>
                        </a:rPr>
                        <a:t>Simple 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641784"/>
                  </a:ext>
                </a:extLst>
              </a:tr>
              <a:tr h="622920"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Book Antiqua" panose="02040602050305030304" pitchFamily="18" charset="0"/>
                        </a:rPr>
                        <a:t>Workflow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Book Antiqua" panose="02040602050305030304" pitchFamily="18" charset="0"/>
                        </a:rPr>
                        <a:t>Complete automation 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231174"/>
                  </a:ext>
                </a:extLst>
              </a:tr>
              <a:tr h="597768">
                <a:tc>
                  <a:txBody>
                    <a:bodyPr/>
                    <a:lstStyle/>
                    <a:p>
                      <a:r>
                        <a:rPr lang="en-IN" sz="2200">
                          <a:latin typeface="Book Antiqua" panose="02040602050305030304" pitchFamily="18" charset="0"/>
                        </a:rPr>
                        <a:t>Event/Trigger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Book Antiqua" panose="02040602050305030304" pitchFamily="18" charset="0"/>
                        </a:rPr>
                        <a:t>What starts the workflow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2294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200">
                          <a:latin typeface="Book Antiqua" panose="02040602050305030304" pitchFamily="18" charset="0"/>
                        </a:rPr>
                        <a:t>Job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Book Antiqua" panose="02040602050305030304" pitchFamily="18" charset="0"/>
                        </a:rPr>
                        <a:t>A major 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187731"/>
                  </a:ext>
                </a:extLst>
              </a:tr>
              <a:tr h="547464">
                <a:tc>
                  <a:txBody>
                    <a:bodyPr/>
                    <a:lstStyle/>
                    <a:p>
                      <a:r>
                        <a:rPr lang="en-IN" sz="2200">
                          <a:latin typeface="Book Antiqua" panose="02040602050305030304" pitchFamily="18" charset="0"/>
                        </a:rPr>
                        <a:t>Step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Book Antiqua" panose="02040602050305030304" pitchFamily="18" charset="0"/>
                        </a:rPr>
                        <a:t>Individual instruction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288437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Book Antiqua" panose="02040602050305030304" pitchFamily="18" charset="0"/>
                        </a:rPr>
                        <a:t>Runner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Book Antiqua" panose="02040602050305030304" pitchFamily="18" charset="0"/>
                        </a:rPr>
                        <a:t>Machine that executes the job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655345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Book Antiqua" panose="02040602050305030304" pitchFamily="18" charset="0"/>
                        </a:rPr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Book Antiqua" panose="02040602050305030304" pitchFamily="18" charset="0"/>
                        </a:rPr>
                        <a:t>Reusable automation 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166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69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60C1E7-9A67-9876-1082-63251D7E9C59}"/>
              </a:ext>
            </a:extLst>
          </p:cNvPr>
          <p:cNvSpPr txBox="1"/>
          <p:nvPr/>
        </p:nvSpPr>
        <p:spPr>
          <a:xfrm>
            <a:off x="909836" y="404664"/>
            <a:ext cx="9865096" cy="1495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>
                <a:latin typeface="Book Antiqua" panose="02040602050305030304" pitchFamily="18" charset="0"/>
              </a:defRPr>
            </a:lvl1pPr>
          </a:lstStyle>
          <a:p>
            <a:r>
              <a:rPr lang="en-US" dirty="0"/>
              <a:t>Think of GitHub Actions as a robot assistant that lives inside your GitHub repository. Every time something happens in your repo (like pushing code, creating a pull request, or tagging a release), this robot wakes up and performs tasks for you — automatically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3D213C-F80B-3B1E-B806-079D6D2AEDD8}"/>
              </a:ext>
            </a:extLst>
          </p:cNvPr>
          <p:cNvSpPr txBox="1"/>
          <p:nvPr/>
        </p:nvSpPr>
        <p:spPr>
          <a:xfrm>
            <a:off x="850604" y="2672109"/>
            <a:ext cx="10591361" cy="46127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base">
              <a:lnSpc>
                <a:spcPct val="150000"/>
              </a:lnSpc>
            </a:pPr>
            <a:r>
              <a:rPr lang="en-US" sz="2200" b="1" i="0" dirty="0">
                <a:effectLst/>
                <a:latin typeface="Book Antiqua" panose="02040602050305030304" pitchFamily="18" charset="0"/>
              </a:rPr>
              <a:t>The "Coffee Shop" Analogy ☕</a:t>
            </a:r>
          </a:p>
          <a:p>
            <a:pPr algn="l" fontAlgn="base">
              <a:lnSpc>
                <a:spcPct val="150000"/>
              </a:lnSpc>
            </a:pPr>
            <a:r>
              <a:rPr lang="en-US" sz="2200" b="0" i="0" dirty="0">
                <a:effectLst/>
                <a:latin typeface="Book Antiqua" panose="02040602050305030304" pitchFamily="18" charset="0"/>
              </a:rPr>
              <a:t>Imagine you own a coffee shop:</a:t>
            </a:r>
          </a:p>
          <a:p>
            <a:pPr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i="0" dirty="0">
                <a:effectLst/>
                <a:latin typeface="Book Antiqua" panose="02040602050305030304" pitchFamily="18" charset="0"/>
              </a:rPr>
              <a:t>Your repository</a:t>
            </a:r>
            <a:r>
              <a:rPr lang="en-US" sz="2200" b="0" i="0" dirty="0">
                <a:effectLst/>
                <a:latin typeface="Book Antiqua" panose="02040602050305030304" pitchFamily="18" charset="0"/>
              </a:rPr>
              <a:t> = The coffee shop</a:t>
            </a:r>
          </a:p>
          <a:p>
            <a:pPr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i="0" dirty="0">
                <a:effectLst/>
                <a:latin typeface="Book Antiqua" panose="02040602050305030304" pitchFamily="18" charset="0"/>
              </a:rPr>
              <a:t>Events</a:t>
            </a:r>
            <a:r>
              <a:rPr lang="en-US" sz="2200" b="0" i="0" dirty="0">
                <a:effectLst/>
                <a:latin typeface="Book Antiqua" panose="02040602050305030304" pitchFamily="18" charset="0"/>
              </a:rPr>
              <a:t> = A customer walking in, an order being placed, a delivery arriving</a:t>
            </a:r>
          </a:p>
          <a:p>
            <a:pPr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i="0" dirty="0">
                <a:effectLst/>
                <a:latin typeface="Book Antiqua" panose="02040602050305030304" pitchFamily="18" charset="0"/>
              </a:rPr>
              <a:t>Workflows</a:t>
            </a:r>
            <a:r>
              <a:rPr lang="en-US" sz="2200" b="0" i="0" dirty="0">
                <a:effectLst/>
                <a:latin typeface="Book Antiqua" panose="02040602050305030304" pitchFamily="18" charset="0"/>
              </a:rPr>
              <a:t> = The recipe cards that tell staff what to do when something happens</a:t>
            </a:r>
          </a:p>
          <a:p>
            <a:pPr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i="0" dirty="0">
                <a:effectLst/>
                <a:latin typeface="Book Antiqua" panose="02040602050305030304" pitchFamily="18" charset="0"/>
              </a:rPr>
              <a:t>Actions</a:t>
            </a:r>
            <a:r>
              <a:rPr lang="en-US" sz="2200" b="0" i="0" dirty="0">
                <a:effectLst/>
                <a:latin typeface="Book Antiqua" panose="02040602050305030304" pitchFamily="18" charset="0"/>
              </a:rPr>
              <a:t> = Pre-made ingredients or tools (like pre-ground coffee, pre-made syrups)</a:t>
            </a:r>
          </a:p>
          <a:p>
            <a:pPr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i="0" dirty="0">
                <a:effectLst/>
                <a:latin typeface="Book Antiqua" panose="02040602050305030304" pitchFamily="18" charset="0"/>
              </a:rPr>
              <a:t>Runners</a:t>
            </a:r>
            <a:r>
              <a:rPr lang="en-US" sz="2200" b="0" i="0" dirty="0">
                <a:effectLst/>
                <a:latin typeface="Book Antiqua" panose="02040602050305030304" pitchFamily="18" charset="0"/>
              </a:rPr>
              <a:t> = The actual baristas who do the work</a:t>
            </a:r>
          </a:p>
          <a:p>
            <a:pPr>
              <a:lnSpc>
                <a:spcPct val="150000"/>
              </a:lnSpc>
            </a:pPr>
            <a:br>
              <a:rPr lang="en-US" sz="2200" dirty="0">
                <a:latin typeface="Book Antiqua" panose="02040602050305030304" pitchFamily="18" charset="0"/>
              </a:rPr>
            </a:br>
            <a:endParaRPr lang="en-IN" sz="22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760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D14EAB-EDD8-1182-5133-B5C1AF96D23E}"/>
              </a:ext>
            </a:extLst>
          </p:cNvPr>
          <p:cNvSpPr txBox="1"/>
          <p:nvPr/>
        </p:nvSpPr>
        <p:spPr>
          <a:xfrm>
            <a:off x="981844" y="476672"/>
            <a:ext cx="1467068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>
                <a:solidFill>
                  <a:srgbClr val="FF000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CBFF99-8BC2-8507-4C09-63E422889825}"/>
              </a:ext>
            </a:extLst>
          </p:cNvPr>
          <p:cNvSpPr txBox="1"/>
          <p:nvPr/>
        </p:nvSpPr>
        <p:spPr>
          <a:xfrm>
            <a:off x="1125860" y="1196752"/>
            <a:ext cx="9793088" cy="3597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>
                <a:latin typeface="Book Antiqua" panose="02040602050305030304" pitchFamily="18" charset="0"/>
              </a:defRPr>
            </a:lvl1pPr>
          </a:lstStyle>
          <a:p>
            <a:r>
              <a:rPr lang="en-US" b="1" dirty="0"/>
              <a:t>College analogy</a:t>
            </a:r>
          </a:p>
          <a:p>
            <a:r>
              <a:rPr lang="en-US" dirty="0"/>
              <a:t>Workflow = Complete ASDD practical</a:t>
            </a:r>
          </a:p>
          <a:p>
            <a:r>
              <a:rPr lang="en-US" dirty="0"/>
              <a:t>Job = One experiment (e.g. Git &amp; GitHub)</a:t>
            </a:r>
          </a:p>
          <a:p>
            <a:r>
              <a:rPr lang="en-US" dirty="0"/>
              <a:t>Step = Individual activity (e.g. pushing code to repository) </a:t>
            </a:r>
          </a:p>
          <a:p>
            <a:r>
              <a:rPr lang="en-US" dirty="0"/>
              <a:t>Runner = Lab computer </a:t>
            </a:r>
          </a:p>
          <a:p>
            <a:r>
              <a:rPr lang="en-US" dirty="0"/>
              <a:t>Trigger = Bell announcing the practical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3125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11C731-472D-C2FA-20FA-3978C7964051}"/>
              </a:ext>
            </a:extLst>
          </p:cNvPr>
          <p:cNvSpPr txBox="1"/>
          <p:nvPr/>
        </p:nvSpPr>
        <p:spPr>
          <a:xfrm>
            <a:off x="981844" y="332656"/>
            <a:ext cx="3240360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>
                <a:solidFill>
                  <a:srgbClr val="FF000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dirty="0"/>
              <a:t>1. Workflow 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0707B5-458E-D03D-D9FB-D6E088E911F1}"/>
              </a:ext>
            </a:extLst>
          </p:cNvPr>
          <p:cNvSpPr txBox="1"/>
          <p:nvPr/>
        </p:nvSpPr>
        <p:spPr>
          <a:xfrm>
            <a:off x="8758708" y="637626"/>
            <a:ext cx="2744662" cy="5627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 b="1">
                <a:latin typeface="Book Antiqua" panose="02040602050305030304" pitchFamily="18" charset="0"/>
              </a:defRPr>
            </a:lvl1pPr>
          </a:lstStyle>
          <a:p>
            <a:r>
              <a:rPr lang="en-IN" dirty="0"/>
              <a:t>       Git Push</a:t>
            </a:r>
          </a:p>
          <a:p>
            <a:r>
              <a:rPr lang="en-IN" dirty="0"/>
              <a:t>             ↓</a:t>
            </a:r>
          </a:p>
          <a:p>
            <a:r>
              <a:rPr lang="en-IN" dirty="0"/>
              <a:t>       GitHub Actions</a:t>
            </a:r>
          </a:p>
          <a:p>
            <a:r>
              <a:rPr lang="en-IN" dirty="0"/>
              <a:t>             ↓</a:t>
            </a:r>
          </a:p>
          <a:p>
            <a:r>
              <a:rPr lang="en-IN" dirty="0"/>
              <a:t>        Start Runner</a:t>
            </a:r>
          </a:p>
          <a:p>
            <a:r>
              <a:rPr lang="en-IN" dirty="0"/>
              <a:t>             ↓</a:t>
            </a:r>
          </a:p>
          <a:p>
            <a:r>
              <a:rPr lang="en-IN" dirty="0"/>
              <a:t>       Setup Python</a:t>
            </a:r>
          </a:p>
          <a:p>
            <a:r>
              <a:rPr lang="en-IN" dirty="0"/>
              <a:t>             ↓</a:t>
            </a:r>
          </a:p>
          <a:p>
            <a:r>
              <a:rPr lang="en-IN" dirty="0"/>
              <a:t>        Run Program</a:t>
            </a:r>
          </a:p>
          <a:p>
            <a:r>
              <a:rPr lang="en-IN" dirty="0"/>
              <a:t>             ↓</a:t>
            </a:r>
          </a:p>
          <a:p>
            <a:r>
              <a:rPr lang="en-IN" dirty="0"/>
              <a:t>        Show Result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A3BE17-B377-7E5B-EAB6-961FC9332A12}"/>
              </a:ext>
            </a:extLst>
          </p:cNvPr>
          <p:cNvSpPr txBox="1"/>
          <p:nvPr/>
        </p:nvSpPr>
        <p:spPr>
          <a:xfrm>
            <a:off x="981844" y="848935"/>
            <a:ext cx="7416824" cy="156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 b="1">
                <a:latin typeface="Book Antiqua" panose="02040602050305030304" pitchFamily="18" charset="0"/>
              </a:defRPr>
            </a:lvl1pPr>
          </a:lstStyle>
          <a:p>
            <a:r>
              <a:rPr lang="en-US" b="0" dirty="0"/>
              <a:t>A workflow is an automated process defined in a YAML file (.</a:t>
            </a:r>
            <a:r>
              <a:rPr lang="en-US" b="0" dirty="0" err="1"/>
              <a:t>github</a:t>
            </a:r>
            <a:r>
              <a:rPr lang="en-US" b="0" dirty="0"/>
              <a:t>/workflows/*.</a:t>
            </a:r>
            <a:r>
              <a:rPr lang="en-US" b="0" dirty="0" err="1"/>
              <a:t>yml</a:t>
            </a:r>
            <a:r>
              <a:rPr lang="en-US" b="0" dirty="0"/>
              <a:t>). It's like a recipe that says: "When X happens, do Y, then Z."</a:t>
            </a:r>
            <a:endParaRPr lang="en-IN" b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420ACF-4E84-61A5-DE35-84C8A28CC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10" y="2708920"/>
            <a:ext cx="6821794" cy="386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485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D02BB7-63DA-7767-9AFD-C48B8EEADCCC}"/>
              </a:ext>
            </a:extLst>
          </p:cNvPr>
          <p:cNvSpPr txBox="1"/>
          <p:nvPr/>
        </p:nvSpPr>
        <p:spPr>
          <a:xfrm>
            <a:off x="1269876" y="548680"/>
            <a:ext cx="1685783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>
                <a:solidFill>
                  <a:srgbClr val="FF000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dirty="0"/>
              <a:t>2. Event 🔔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912929-EF28-298A-9B31-20519183E708}"/>
              </a:ext>
            </a:extLst>
          </p:cNvPr>
          <p:cNvSpPr txBox="1"/>
          <p:nvPr/>
        </p:nvSpPr>
        <p:spPr>
          <a:xfrm>
            <a:off x="1180386" y="1067700"/>
            <a:ext cx="9738563" cy="550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 b="0">
                <a:latin typeface="Book Antiqua" panose="02040602050305030304" pitchFamily="18" charset="0"/>
              </a:defRPr>
            </a:lvl1pPr>
          </a:lstStyle>
          <a:p>
            <a:r>
              <a:rPr lang="en-US" dirty="0"/>
              <a:t>An event is what triggers your workflow. It's the "When this happens..." part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79DE37-43E2-8E4D-AA81-A5B1D6F12763}"/>
              </a:ext>
            </a:extLst>
          </p:cNvPr>
          <p:cNvSpPr txBox="1"/>
          <p:nvPr/>
        </p:nvSpPr>
        <p:spPr>
          <a:xfrm>
            <a:off x="1269876" y="1916832"/>
            <a:ext cx="184731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4BBFB5-9B18-E077-1489-4718DD738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527" y="2060848"/>
            <a:ext cx="10521553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635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5F37FE-B496-FEFF-CDEE-E1D62FD482D4}"/>
              </a:ext>
            </a:extLst>
          </p:cNvPr>
          <p:cNvSpPr txBox="1"/>
          <p:nvPr/>
        </p:nvSpPr>
        <p:spPr>
          <a:xfrm>
            <a:off x="1053852" y="404664"/>
            <a:ext cx="1407758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>
                <a:solidFill>
                  <a:srgbClr val="FF000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dirty="0"/>
              <a:t>3. Job 👷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655180-9335-AB3B-0B6A-014733DBF58E}"/>
              </a:ext>
            </a:extLst>
          </p:cNvPr>
          <p:cNvSpPr txBox="1"/>
          <p:nvPr/>
        </p:nvSpPr>
        <p:spPr>
          <a:xfrm>
            <a:off x="693812" y="801696"/>
            <a:ext cx="11495013" cy="2073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 b="0">
                <a:latin typeface="Book Antiqua" panose="02040602050305030304" pitchFamily="18" charset="0"/>
              </a:defRPr>
            </a:lvl1pPr>
          </a:lstStyle>
          <a:p>
            <a:r>
              <a:rPr lang="en-US" dirty="0"/>
              <a:t>A job is a set of steps that run on the same machine. Jobs can run:</a:t>
            </a:r>
          </a:p>
          <a:p>
            <a:r>
              <a:rPr lang="en-US" dirty="0"/>
              <a:t>Sequentially (one after another) — "Build first, then deploy"</a:t>
            </a:r>
          </a:p>
          <a:p>
            <a:r>
              <a:rPr lang="en-US" dirty="0"/>
              <a:t>In parallel (at the same time) — "Run tests on Linux, Windows, and Mac simultaneously"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F69267-49F8-1632-0EDD-2B8DAD4A2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884" y="2636912"/>
            <a:ext cx="9207582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887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0583CA-3A26-6273-30D4-E9918F018198}"/>
              </a:ext>
            </a:extLst>
          </p:cNvPr>
          <p:cNvSpPr txBox="1"/>
          <p:nvPr/>
        </p:nvSpPr>
        <p:spPr>
          <a:xfrm>
            <a:off x="1269876" y="332656"/>
            <a:ext cx="1545038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>
                <a:solidFill>
                  <a:srgbClr val="FF000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dirty="0"/>
              <a:t>4. Step 🪜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3F01C-F54A-9DF9-5027-C5775C393676}"/>
              </a:ext>
            </a:extLst>
          </p:cNvPr>
          <p:cNvSpPr txBox="1"/>
          <p:nvPr/>
        </p:nvSpPr>
        <p:spPr>
          <a:xfrm>
            <a:off x="1125860" y="764726"/>
            <a:ext cx="10328468" cy="2073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 b="0">
                <a:latin typeface="Book Antiqua" panose="02040602050305030304" pitchFamily="18" charset="0"/>
              </a:defRPr>
            </a:lvl1pPr>
          </a:lstStyle>
          <a:p>
            <a:r>
              <a:rPr lang="en-US" dirty="0"/>
              <a:t>A step is a single task inside a job. Steps run one after another. Each step is either:</a:t>
            </a:r>
          </a:p>
          <a:p>
            <a:r>
              <a:rPr lang="en-US" dirty="0"/>
              <a:t>A shell command you write (run: </a:t>
            </a:r>
            <a:r>
              <a:rPr lang="en-US" dirty="0" err="1"/>
              <a:t>npm</a:t>
            </a:r>
            <a:r>
              <a:rPr lang="en-US" dirty="0"/>
              <a:t> test)</a:t>
            </a:r>
          </a:p>
          <a:p>
            <a:r>
              <a:rPr lang="en-US" dirty="0"/>
              <a:t>An Action you use (uses: actions/checkout@v4)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F0217B-7375-810C-F8D7-445632432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884" y="2838307"/>
            <a:ext cx="9171426" cy="295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748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14BD1D-2D10-C3E2-D849-EA6B81A9C1EE}"/>
              </a:ext>
            </a:extLst>
          </p:cNvPr>
          <p:cNvSpPr txBox="1"/>
          <p:nvPr/>
        </p:nvSpPr>
        <p:spPr>
          <a:xfrm>
            <a:off x="881643" y="215747"/>
            <a:ext cx="2214068" cy="7940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>
                <a:solidFill>
                  <a:srgbClr val="FF000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dirty="0"/>
              <a:t>5. Action 🧩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D55284-37C4-A2A6-47F8-6FFF522A9B33}"/>
              </a:ext>
            </a:extLst>
          </p:cNvPr>
          <p:cNvSpPr txBox="1"/>
          <p:nvPr/>
        </p:nvSpPr>
        <p:spPr>
          <a:xfrm>
            <a:off x="693812" y="692696"/>
            <a:ext cx="10297144" cy="1057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 b="0">
                <a:latin typeface="Book Antiqua" panose="02040602050305030304" pitchFamily="18" charset="0"/>
              </a:defRPr>
            </a:lvl1pPr>
          </a:lstStyle>
          <a:p>
            <a:r>
              <a:rPr lang="en-US" dirty="0"/>
              <a:t>An Action is a reusable, pre-built automation block that someone else (or you) created. Instead of writing 50 lines of shell script to clone your repo, you just say: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A4AD3A-4351-4DDE-D01D-0FA92B68A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88" y="2852936"/>
            <a:ext cx="5848252" cy="15841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A597CD-EC0D-6A01-C8B5-E71D0FF9405A}"/>
              </a:ext>
            </a:extLst>
          </p:cNvPr>
          <p:cNvSpPr txBox="1"/>
          <p:nvPr/>
        </p:nvSpPr>
        <p:spPr>
          <a:xfrm>
            <a:off x="6742483" y="1750101"/>
            <a:ext cx="4968553" cy="5120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 b="0">
                <a:latin typeface="Book Antiqua" panose="02040602050305030304" pitchFamily="18" charset="0"/>
              </a:defRPr>
            </a:lvl1pPr>
          </a:lstStyle>
          <a:p>
            <a:r>
              <a:rPr lang="en-IN" b="1" dirty="0"/>
              <a:t>Popular official Actions:</a:t>
            </a:r>
          </a:p>
          <a:p>
            <a:r>
              <a:rPr lang="en-US" b="1" dirty="0"/>
              <a:t>actions/checkout@v4 </a:t>
            </a:r>
            <a:r>
              <a:rPr lang="en-US" dirty="0"/>
              <a:t>— Downloads your repository code</a:t>
            </a:r>
          </a:p>
          <a:p>
            <a:r>
              <a:rPr lang="en-IN" b="1" dirty="0"/>
              <a:t>actions/setup-node@v4 </a:t>
            </a:r>
            <a:r>
              <a:rPr lang="en-IN" dirty="0"/>
              <a:t>— Installs Node.js</a:t>
            </a:r>
          </a:p>
          <a:p>
            <a:r>
              <a:rPr lang="en-US" b="1" dirty="0"/>
              <a:t>actions/upload-artifact@v4 </a:t>
            </a:r>
            <a:r>
              <a:rPr lang="en-US" dirty="0"/>
              <a:t>— Saves files (build outputs, test reports)</a:t>
            </a:r>
          </a:p>
          <a:p>
            <a:r>
              <a:rPr lang="en-US" b="1" dirty="0"/>
              <a:t>actions/cache@v4 </a:t>
            </a:r>
            <a:r>
              <a:rPr lang="en-US" dirty="0"/>
              <a:t>— Speeds up builds by caching dependencies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49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85745E-824A-5A79-2C46-D8EC63601F9B}"/>
              </a:ext>
            </a:extLst>
          </p:cNvPr>
          <p:cNvSpPr txBox="1"/>
          <p:nvPr/>
        </p:nvSpPr>
        <p:spPr>
          <a:xfrm>
            <a:off x="1053852" y="404664"/>
            <a:ext cx="1907895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>
                <a:solidFill>
                  <a:srgbClr val="FF000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dirty="0"/>
              <a:t>6. Runner 🖥️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E907D5-E9F1-3CF8-BCFD-7C0E28282A93}"/>
              </a:ext>
            </a:extLst>
          </p:cNvPr>
          <p:cNvSpPr txBox="1"/>
          <p:nvPr/>
        </p:nvSpPr>
        <p:spPr>
          <a:xfrm>
            <a:off x="1053852" y="1052736"/>
            <a:ext cx="10081121" cy="1057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 b="0">
                <a:latin typeface="Book Antiqua" panose="02040602050305030304" pitchFamily="18" charset="0"/>
              </a:defRPr>
            </a:lvl1pPr>
          </a:lstStyle>
          <a:p>
            <a:r>
              <a:rPr lang="en-US" dirty="0"/>
              <a:t>A runner is the virtual machine that actually executes your workflow. GitHub provides them for free: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5378A3-41C3-0333-6F9D-E094D6921753}"/>
              </a:ext>
            </a:extLst>
          </p:cNvPr>
          <p:cNvSpPr txBox="1"/>
          <p:nvPr/>
        </p:nvSpPr>
        <p:spPr>
          <a:xfrm>
            <a:off x="1197868" y="2492896"/>
            <a:ext cx="184731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7CA166-14C9-F718-771C-75DCAC861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137" y="2492896"/>
            <a:ext cx="5272749" cy="17281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B22F44-903E-4940-3BE5-7BA45C08AA9D}"/>
              </a:ext>
            </a:extLst>
          </p:cNvPr>
          <p:cNvSpPr txBox="1"/>
          <p:nvPr/>
        </p:nvSpPr>
        <p:spPr>
          <a:xfrm>
            <a:off x="1053852" y="4797152"/>
            <a:ext cx="9289032" cy="1057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 b="0">
                <a:latin typeface="Book Antiqua" panose="02040602050305030304" pitchFamily="18" charset="0"/>
              </a:defRPr>
            </a:lvl1pPr>
          </a:lstStyle>
          <a:p>
            <a:r>
              <a:rPr lang="en-US" dirty="0"/>
              <a:t>You can also use your own servers as "self-hosted runners" if you need special hardware or security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802E49-650D-1878-F8B7-A33882B8E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034" y="2118801"/>
            <a:ext cx="5535994" cy="225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635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03B8E1-AFE5-03FF-0BDF-F62B72A18120}"/>
              </a:ext>
            </a:extLst>
          </p:cNvPr>
          <p:cNvSpPr txBox="1"/>
          <p:nvPr/>
        </p:nvSpPr>
        <p:spPr>
          <a:xfrm>
            <a:off x="837828" y="476672"/>
            <a:ext cx="1938351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>
                <a:solidFill>
                  <a:srgbClr val="FF000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dirty="0"/>
              <a:t>7. Artifact 📦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920947-F527-EFA1-066B-DA989A8BC5F1}"/>
              </a:ext>
            </a:extLst>
          </p:cNvPr>
          <p:cNvSpPr txBox="1"/>
          <p:nvPr/>
        </p:nvSpPr>
        <p:spPr>
          <a:xfrm>
            <a:off x="813590" y="980728"/>
            <a:ext cx="10513168" cy="1057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 b="0">
                <a:latin typeface="Book Antiqua" panose="02040602050305030304" pitchFamily="18" charset="0"/>
              </a:defRPr>
            </a:lvl1pPr>
          </a:lstStyle>
          <a:p>
            <a:r>
              <a:rPr lang="en-US" dirty="0"/>
              <a:t>An artifact is a file produced by your workflow that you want to keep. Like a build log, a compiled app, or test screenshots.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9E0629-95AE-AF7C-EFA7-3854F582E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843" y="2348879"/>
            <a:ext cx="5768559" cy="247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884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3CCF05-5345-0956-9115-54B40629958A}"/>
              </a:ext>
            </a:extLst>
          </p:cNvPr>
          <p:cNvSpPr txBox="1"/>
          <p:nvPr/>
        </p:nvSpPr>
        <p:spPr>
          <a:xfrm>
            <a:off x="549796" y="188640"/>
            <a:ext cx="6480720" cy="7114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 b="0">
                <a:latin typeface="Book Antiqua" panose="02040602050305030304" pitchFamily="18" charset="0"/>
              </a:defRPr>
            </a:lvl1pPr>
          </a:lstStyle>
          <a:p>
            <a:r>
              <a:rPr lang="en-US" sz="1800" dirty="0"/>
              <a:t>name: Build and Deploy</a:t>
            </a:r>
          </a:p>
          <a:p>
            <a:r>
              <a:rPr lang="en-US" sz="1800" dirty="0"/>
              <a:t>on:</a:t>
            </a:r>
          </a:p>
          <a:p>
            <a:r>
              <a:rPr lang="en-US" sz="1800" dirty="0"/>
              <a:t>  push:</a:t>
            </a:r>
          </a:p>
          <a:p>
            <a:r>
              <a:rPr lang="en-US" sz="1800" dirty="0"/>
              <a:t>    branches: [main]        # Trigger: push to main branch</a:t>
            </a:r>
          </a:p>
          <a:p>
            <a:r>
              <a:rPr lang="en-US" sz="1800" dirty="0"/>
              <a:t>jobs:</a:t>
            </a:r>
          </a:p>
          <a:p>
            <a:r>
              <a:rPr lang="en-US" sz="1800" dirty="0"/>
              <a:t>  build-and-deploy:</a:t>
            </a:r>
          </a:p>
          <a:p>
            <a:r>
              <a:rPr lang="en-US" sz="1800" dirty="0"/>
              <a:t>    runs-on: ubuntu-latest  # Runner: Linux machine</a:t>
            </a:r>
          </a:p>
          <a:p>
            <a:r>
              <a:rPr lang="en-US" sz="1800" dirty="0"/>
              <a:t>    steps:</a:t>
            </a:r>
          </a:p>
          <a:p>
            <a:r>
              <a:rPr lang="en-US" sz="1800" dirty="0"/>
              <a:t>      # Step 1: Get the code</a:t>
            </a:r>
          </a:p>
          <a:p>
            <a:r>
              <a:rPr lang="en-US" sz="1800" dirty="0"/>
              <a:t>      - uses: actions/checkout@v4</a:t>
            </a:r>
          </a:p>
          <a:p>
            <a:r>
              <a:rPr lang="en-US" sz="1800" dirty="0"/>
              <a:t>      </a:t>
            </a:r>
          </a:p>
          <a:p>
            <a:r>
              <a:rPr lang="en-US" sz="1800" dirty="0"/>
              <a:t>      # Step 2: Set up Node.js</a:t>
            </a:r>
          </a:p>
          <a:p>
            <a:r>
              <a:rPr lang="en-US" sz="1800" dirty="0"/>
              <a:t>      - uses: actions/setup-node@v4</a:t>
            </a:r>
          </a:p>
          <a:p>
            <a:r>
              <a:rPr lang="en-US" sz="1800" dirty="0"/>
              <a:t>        with:</a:t>
            </a:r>
          </a:p>
          <a:p>
            <a:r>
              <a:rPr lang="en-US" sz="1800" dirty="0"/>
              <a:t>          node-version: '20'</a:t>
            </a:r>
          </a:p>
          <a:p>
            <a:r>
              <a:rPr lang="en-US" sz="1800" dirty="0"/>
              <a:t>      </a:t>
            </a:r>
          </a:p>
          <a:p>
            <a:r>
              <a:rPr lang="en-US" sz="1800" dirty="0"/>
              <a:t>      </a:t>
            </a:r>
            <a:endParaRPr lang="en-IN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2CFEA-BF9C-0C34-B8DF-BDA43671E038}"/>
              </a:ext>
            </a:extLst>
          </p:cNvPr>
          <p:cNvSpPr txBox="1"/>
          <p:nvPr/>
        </p:nvSpPr>
        <p:spPr>
          <a:xfrm>
            <a:off x="7174532" y="836712"/>
            <a:ext cx="3693640" cy="5064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800" b="0">
                <a:latin typeface="Book Antiqua" panose="02040602050305030304" pitchFamily="18" charset="0"/>
              </a:defRPr>
            </a:lvl1pPr>
          </a:lstStyle>
          <a:p>
            <a:r>
              <a:rPr lang="en-US" dirty="0"/>
              <a:t>  # Step 3: Install dependencies</a:t>
            </a:r>
          </a:p>
          <a:p>
            <a:r>
              <a:rPr lang="en-US" dirty="0"/>
              <a:t>      - run: </a:t>
            </a:r>
            <a:r>
              <a:rPr lang="en-US" dirty="0" err="1"/>
              <a:t>npm</a:t>
            </a:r>
            <a:r>
              <a:rPr lang="en-US" dirty="0"/>
              <a:t> ci</a:t>
            </a:r>
          </a:p>
          <a:p>
            <a:r>
              <a:rPr lang="en-US" dirty="0"/>
              <a:t>      </a:t>
            </a:r>
          </a:p>
          <a:p>
            <a:r>
              <a:rPr lang="en-US" dirty="0"/>
              <a:t>      # Step 4: Run tests</a:t>
            </a:r>
          </a:p>
          <a:p>
            <a:r>
              <a:rPr lang="en-US" dirty="0"/>
              <a:t>      - run: </a:t>
            </a:r>
            <a:r>
              <a:rPr lang="en-US" dirty="0" err="1"/>
              <a:t>npm</a:t>
            </a:r>
            <a:r>
              <a:rPr lang="en-US" dirty="0"/>
              <a:t> test</a:t>
            </a:r>
          </a:p>
          <a:p>
            <a:r>
              <a:rPr lang="en-US" dirty="0"/>
              <a:t>      </a:t>
            </a:r>
          </a:p>
          <a:p>
            <a:r>
              <a:rPr lang="en-US" dirty="0"/>
              <a:t>      # Step 5: Build the app</a:t>
            </a:r>
          </a:p>
          <a:p>
            <a:r>
              <a:rPr lang="en-US" dirty="0"/>
              <a:t>      - run: </a:t>
            </a:r>
            <a:r>
              <a:rPr lang="en-US" dirty="0" err="1"/>
              <a:t>npm</a:t>
            </a:r>
            <a:r>
              <a:rPr lang="en-US" dirty="0"/>
              <a:t> run build</a:t>
            </a:r>
          </a:p>
          <a:p>
            <a:r>
              <a:rPr lang="en-US" dirty="0"/>
              <a:t>      </a:t>
            </a:r>
          </a:p>
          <a:p>
            <a:r>
              <a:rPr lang="en-US" dirty="0"/>
              <a:t>      # Step 6: Deploy to production</a:t>
            </a:r>
          </a:p>
          <a:p>
            <a:r>
              <a:rPr lang="en-US" dirty="0"/>
              <a:t>      - run: </a:t>
            </a:r>
            <a:r>
              <a:rPr lang="en-US" dirty="0" err="1"/>
              <a:t>npm</a:t>
            </a:r>
            <a:r>
              <a:rPr lang="en-US" dirty="0"/>
              <a:t> run deploy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137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AA93F8-749E-2EF3-4F11-8E102428211E}"/>
              </a:ext>
            </a:extLst>
          </p:cNvPr>
          <p:cNvSpPr txBox="1"/>
          <p:nvPr/>
        </p:nvSpPr>
        <p:spPr>
          <a:xfrm>
            <a:off x="837828" y="548680"/>
            <a:ext cx="7497565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>
                <a:latin typeface="Book Antiqua" panose="02040602050305030304" pitchFamily="18" charset="0"/>
              </a:defRPr>
            </a:lvl1pPr>
          </a:lstStyle>
          <a:p>
            <a:r>
              <a:rPr lang="en-US" dirty="0"/>
              <a:t>1. Create a repository “</a:t>
            </a:r>
            <a:r>
              <a:rPr lang="en-US" dirty="0" err="1"/>
              <a:t>devops</a:t>
            </a:r>
            <a:r>
              <a:rPr lang="en-US" dirty="0"/>
              <a:t>-demo” on </a:t>
            </a:r>
            <a:r>
              <a:rPr lang="en-US" dirty="0" err="1"/>
              <a:t>Github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749A1C-E71C-DB80-112B-5BECAE34C98C}"/>
              </a:ext>
            </a:extLst>
          </p:cNvPr>
          <p:cNvSpPr txBox="1"/>
          <p:nvPr/>
        </p:nvSpPr>
        <p:spPr>
          <a:xfrm>
            <a:off x="837828" y="1268760"/>
            <a:ext cx="3073277" cy="550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>
                <a:latin typeface="Book Antiqua" panose="02040602050305030304" pitchFamily="18" charset="0"/>
              </a:defRPr>
            </a:lvl1pPr>
          </a:lstStyle>
          <a:p>
            <a:r>
              <a:rPr lang="en-US" dirty="0"/>
              <a:t>2. Add a file “hello.py”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25396A-2601-B457-1A70-1714E1FD456E}"/>
              </a:ext>
            </a:extLst>
          </p:cNvPr>
          <p:cNvSpPr txBox="1"/>
          <p:nvPr/>
        </p:nvSpPr>
        <p:spPr>
          <a:xfrm>
            <a:off x="4366220" y="1268759"/>
            <a:ext cx="3738524" cy="550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>
                <a:latin typeface="Book Antiqua" panose="02040602050305030304" pitchFamily="18" charset="0"/>
              </a:defRPr>
            </a:lvl1pPr>
          </a:lstStyle>
          <a:p>
            <a:r>
              <a:rPr lang="en-IN" dirty="0"/>
              <a:t>print("Hello from DevOps!")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A5EBB4-70B1-1AA5-0FFD-DD8155493DED}"/>
              </a:ext>
            </a:extLst>
          </p:cNvPr>
          <p:cNvSpPr txBox="1"/>
          <p:nvPr/>
        </p:nvSpPr>
        <p:spPr>
          <a:xfrm>
            <a:off x="837828" y="2060848"/>
            <a:ext cx="3666388" cy="550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>
                <a:latin typeface="Book Antiqua" panose="02040602050305030304" pitchFamily="18" charset="0"/>
              </a:defRPr>
            </a:lvl1pPr>
          </a:lstStyle>
          <a:p>
            <a:r>
              <a:rPr lang="en-IN" dirty="0"/>
              <a:t>3. Then create the workflow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2D3F51-28EB-41EF-24D7-7CFAE92DD2C7}"/>
              </a:ext>
            </a:extLst>
          </p:cNvPr>
          <p:cNvSpPr txBox="1"/>
          <p:nvPr/>
        </p:nvSpPr>
        <p:spPr>
          <a:xfrm>
            <a:off x="981844" y="2924944"/>
            <a:ext cx="3796232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>
                <a:latin typeface="Book Antiqua" panose="02040602050305030304" pitchFamily="18" charset="0"/>
              </a:defRPr>
            </a:lvl1pPr>
          </a:lstStyle>
          <a:p>
            <a:r>
              <a:rPr lang="en-IN" dirty="0"/>
              <a:t>.</a:t>
            </a:r>
            <a:r>
              <a:rPr lang="en-IN" dirty="0" err="1"/>
              <a:t>github</a:t>
            </a:r>
            <a:r>
              <a:rPr lang="en-IN" dirty="0"/>
              <a:t>/workflows/</a:t>
            </a:r>
            <a:r>
              <a:rPr lang="en-IN" dirty="0" err="1"/>
              <a:t>ci.yml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A357C8-9883-B305-5339-2D5DEF17FF50}"/>
              </a:ext>
            </a:extLst>
          </p:cNvPr>
          <p:cNvSpPr/>
          <p:nvPr/>
        </p:nvSpPr>
        <p:spPr>
          <a:xfrm>
            <a:off x="5727015" y="2204864"/>
            <a:ext cx="1944216" cy="550087"/>
          </a:xfrm>
          <a:prstGeom prst="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.</a:t>
            </a:r>
            <a:r>
              <a:rPr lang="en-IN" dirty="0" err="1"/>
              <a:t>github</a:t>
            </a:r>
            <a:endParaRPr lang="en-IN" dirty="0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49358847-F922-BC6C-CEA0-B439BADC4946}"/>
              </a:ext>
            </a:extLst>
          </p:cNvPr>
          <p:cNvCxnSpPr>
            <a:stCxn id="10" idx="2"/>
          </p:cNvCxnSpPr>
          <p:nvPr/>
        </p:nvCxnSpPr>
        <p:spPr>
          <a:xfrm rot="16200000" flipH="1">
            <a:off x="6776145" y="2677929"/>
            <a:ext cx="818065" cy="972108"/>
          </a:xfrm>
          <a:prstGeom prst="bentConnector2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2786C7D-A5BE-AAA0-7364-5E6B52CE349C}"/>
              </a:ext>
            </a:extLst>
          </p:cNvPr>
          <p:cNvSpPr/>
          <p:nvPr/>
        </p:nvSpPr>
        <p:spPr>
          <a:xfrm>
            <a:off x="7684983" y="3274024"/>
            <a:ext cx="1944216" cy="550087"/>
          </a:xfrm>
          <a:prstGeom prst="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workflows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FAAAFC0F-830F-51BF-9A67-3B3C7AB6090B}"/>
              </a:ext>
            </a:extLst>
          </p:cNvPr>
          <p:cNvCxnSpPr/>
          <p:nvPr/>
        </p:nvCxnSpPr>
        <p:spPr>
          <a:xfrm rot="16200000" flipH="1">
            <a:off x="8712819" y="3747090"/>
            <a:ext cx="818065" cy="972108"/>
          </a:xfrm>
          <a:prstGeom prst="bentConnector2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4B4C5BF-8175-D5B2-06A8-08E23338CBB9}"/>
              </a:ext>
            </a:extLst>
          </p:cNvPr>
          <p:cNvSpPr/>
          <p:nvPr/>
        </p:nvSpPr>
        <p:spPr>
          <a:xfrm>
            <a:off x="9586612" y="4367133"/>
            <a:ext cx="1944216" cy="550087"/>
          </a:xfrm>
          <a:prstGeom prst="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ci.yml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917AA7-C82A-9656-E129-D8A034E32B04}"/>
              </a:ext>
            </a:extLst>
          </p:cNvPr>
          <p:cNvSpPr txBox="1"/>
          <p:nvPr/>
        </p:nvSpPr>
        <p:spPr>
          <a:xfrm>
            <a:off x="6565702" y="5039155"/>
            <a:ext cx="5112297" cy="550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>
                <a:latin typeface="Book Antiqua" panose="02040602050305030304" pitchFamily="18" charset="0"/>
              </a:defRPr>
            </a:lvl1pPr>
          </a:lstStyle>
          <a:p>
            <a:r>
              <a:rPr lang="en-US" dirty="0"/>
              <a:t>This is where the automation is defined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5052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1E624B-ECB7-F0D2-BE8A-3D8CC4DF3188}"/>
              </a:ext>
            </a:extLst>
          </p:cNvPr>
          <p:cNvSpPr txBox="1"/>
          <p:nvPr/>
        </p:nvSpPr>
        <p:spPr>
          <a:xfrm>
            <a:off x="765820" y="404664"/>
            <a:ext cx="1082348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b="1" dirty="0" err="1"/>
              <a:t>ci.yml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0F09E1-88BA-DC18-18BA-6E8D9885D5BD}"/>
              </a:ext>
            </a:extLst>
          </p:cNvPr>
          <p:cNvSpPr txBox="1"/>
          <p:nvPr/>
        </p:nvSpPr>
        <p:spPr>
          <a:xfrm>
            <a:off x="5806380" y="116632"/>
            <a:ext cx="5256584" cy="6283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800" b="0">
                <a:latin typeface="Book Antiqua" panose="02040602050305030304" pitchFamily="18" charset="0"/>
              </a:defRPr>
            </a:lvl1pPr>
          </a:lstStyle>
          <a:p>
            <a:r>
              <a:rPr lang="en-IN" dirty="0"/>
              <a:t>name: First CI Pipeline</a:t>
            </a:r>
          </a:p>
          <a:p>
            <a:r>
              <a:rPr lang="en-IN" dirty="0"/>
              <a:t>on:</a:t>
            </a:r>
          </a:p>
          <a:p>
            <a:r>
              <a:rPr lang="en-IN" dirty="0"/>
              <a:t>   push:</a:t>
            </a:r>
          </a:p>
          <a:p>
            <a:r>
              <a:rPr lang="en-IN" dirty="0"/>
              <a:t>jobs:</a:t>
            </a:r>
          </a:p>
          <a:p>
            <a:r>
              <a:rPr lang="en-IN" dirty="0"/>
              <a:t>   build:</a:t>
            </a:r>
          </a:p>
          <a:p>
            <a:r>
              <a:rPr lang="en-IN" dirty="0"/>
              <a:t>     runs-on: ubuntu-latest</a:t>
            </a:r>
          </a:p>
          <a:p>
            <a:r>
              <a:rPr lang="en-IN" dirty="0"/>
              <a:t>     steps:</a:t>
            </a:r>
          </a:p>
          <a:p>
            <a:r>
              <a:rPr lang="en-IN" dirty="0"/>
              <a:t>       - name: Checkout code</a:t>
            </a:r>
          </a:p>
          <a:p>
            <a:r>
              <a:rPr lang="en-IN" dirty="0"/>
              <a:t>         uses: actions/checkout@v4</a:t>
            </a:r>
          </a:p>
          <a:p>
            <a:r>
              <a:rPr lang="en-IN" dirty="0"/>
              <a:t>       - name: Setup Python</a:t>
            </a:r>
          </a:p>
          <a:p>
            <a:r>
              <a:rPr lang="en-IN" dirty="0"/>
              <a:t>         uses: actions/setup-python@v5</a:t>
            </a:r>
          </a:p>
          <a:p>
            <a:r>
              <a:rPr lang="en-IN" dirty="0"/>
              <a:t>         with:</a:t>
            </a:r>
          </a:p>
          <a:p>
            <a:r>
              <a:rPr lang="en-IN" dirty="0"/>
              <a:t>           python-version: '3.12'</a:t>
            </a:r>
          </a:p>
          <a:p>
            <a:r>
              <a:rPr lang="en-IN" dirty="0"/>
              <a:t>       - name: Run program</a:t>
            </a:r>
          </a:p>
          <a:p>
            <a:r>
              <a:rPr lang="en-IN" dirty="0"/>
              <a:t>         run: python hello.py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C8F741-BCB7-8152-F81C-29B79F90D319}"/>
              </a:ext>
            </a:extLst>
          </p:cNvPr>
          <p:cNvSpPr txBox="1"/>
          <p:nvPr/>
        </p:nvSpPr>
        <p:spPr>
          <a:xfrm>
            <a:off x="477788" y="1340768"/>
            <a:ext cx="4392488" cy="546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 b="0">
                <a:latin typeface="Book Antiqua" panose="02040602050305030304" pitchFamily="18" charset="0"/>
              </a:defRPr>
            </a:lvl1pPr>
          </a:lstStyle>
          <a:p>
            <a:r>
              <a:rPr lang="en-IN" b="1" dirty="0"/>
              <a:t>Push → Watch → Celebrate 🎉</a:t>
            </a:r>
          </a:p>
        </p:txBody>
      </p:sp>
    </p:spTree>
    <p:extLst>
      <p:ext uri="{BB962C8B-B14F-4D97-AF65-F5344CB8AC3E}">
        <p14:creationId xmlns:p14="http://schemas.microsoft.com/office/powerpoint/2010/main" val="1023855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lass open house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5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Classroom open house presentation.potx" id="{AB7D8AB0-4323-4322-AB21-8CB398DB9E96}" vid="{5BFEA1FF-C39F-48A2-B239-4B55565FC3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Classroom open house presentation</Template>
  <TotalTime>1151</TotalTime>
  <Words>1005</Words>
  <Application>Microsoft Office PowerPoint</Application>
  <PresentationFormat>Custom</PresentationFormat>
  <Paragraphs>150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Black</vt:lpstr>
      <vt:lpstr>Book Antiqua</vt:lpstr>
      <vt:lpstr>Century Gothic</vt:lpstr>
      <vt:lpstr>Class open house presentation</vt:lpstr>
      <vt:lpstr>Practical – 4  DevOps – Part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Aruna Inamdar</dc:creator>
  <cp:lastModifiedBy>Aruna Inamdar</cp:lastModifiedBy>
  <cp:revision>180</cp:revision>
  <dcterms:created xsi:type="dcterms:W3CDTF">2026-07-15T13:08:00Z</dcterms:created>
  <dcterms:modified xsi:type="dcterms:W3CDTF">2026-08-16T15:59:49Z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