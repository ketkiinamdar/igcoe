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4" r:id="rId3"/>
    <p:sldId id="263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82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9/5/2026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9/5/2026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9/5/2026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Practical – 7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DevOps – Part 3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9346" y="4941168"/>
            <a:ext cx="7008574" cy="1244600"/>
          </a:xfrm>
        </p:spPr>
        <p:txBody>
          <a:bodyPr/>
          <a:lstStyle/>
          <a:p>
            <a:r>
              <a:rPr lang="en-US" dirty="0"/>
              <a:t>Aruna Kumbhar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D46B6D-91A6-683E-E05F-0AB654BAC069}"/>
              </a:ext>
            </a:extLst>
          </p:cNvPr>
          <p:cNvSpPr txBox="1"/>
          <p:nvPr/>
        </p:nvSpPr>
        <p:spPr>
          <a:xfrm>
            <a:off x="729816" y="476672"/>
            <a:ext cx="10729192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Aptos" panose="020B0004020202020204" pitchFamily="34" charset="0"/>
              </a:rPr>
              <a:t>DevOps Lab: Automated Log Analyzer</a:t>
            </a:r>
          </a:p>
          <a:p>
            <a:endParaRPr lang="en-US" sz="2200" b="1" dirty="0">
              <a:latin typeface="Aptos" panose="020B0004020202020204" pitchFamily="34" charset="0"/>
            </a:endParaRPr>
          </a:p>
          <a:p>
            <a:r>
              <a:rPr lang="en-US" sz="2200" b="1" dirty="0">
                <a:latin typeface="Aptos" panose="020B0004020202020204" pitchFamily="34" charset="0"/>
              </a:rPr>
              <a:t>Industry Scenario</a:t>
            </a:r>
          </a:p>
          <a:p>
            <a:r>
              <a:rPr lang="en-US" sz="2200" dirty="0">
                <a:latin typeface="Aptos" panose="020B0004020202020204" pitchFamily="34" charset="0"/>
              </a:rPr>
              <a:t>In a software company, applications continuously generate log files. DevOps/support engineers need to identify how many errors, warnings and informational messages are present in the logs.</a:t>
            </a:r>
          </a:p>
          <a:p>
            <a:endParaRPr lang="en-US" sz="2200" dirty="0">
              <a:latin typeface="Aptos" panose="020B0004020202020204" pitchFamily="34" charset="0"/>
            </a:endParaRPr>
          </a:p>
          <a:p>
            <a:r>
              <a:rPr lang="en-US" sz="2200" dirty="0">
                <a:latin typeface="Aptos" panose="020B0004020202020204" pitchFamily="34" charset="0"/>
              </a:rPr>
              <a:t>The organization wants a simple automated tool that reads an application log file and produces a summary.</a:t>
            </a:r>
          </a:p>
          <a:p>
            <a:endParaRPr lang="en-US" sz="2200" dirty="0">
              <a:latin typeface="Aptos" panose="020B0004020202020204" pitchFamily="34" charset="0"/>
            </a:endParaRPr>
          </a:p>
          <a:p>
            <a:r>
              <a:rPr lang="en-US" sz="2200" dirty="0">
                <a:latin typeface="Aptos" panose="020B0004020202020204" pitchFamily="34" charset="0"/>
              </a:rPr>
              <a:t>Build this tool to understand the complete DevOps lifecycle:</a:t>
            </a:r>
          </a:p>
          <a:p>
            <a:r>
              <a:rPr lang="en-US" sz="2200" b="1" dirty="0">
                <a:latin typeface="Aptos" panose="020B0004020202020204" pitchFamily="34" charset="0"/>
              </a:rPr>
              <a:t>Jira → Python → </a:t>
            </a:r>
            <a:r>
              <a:rPr lang="en-US" sz="2200" b="1" dirty="0" err="1">
                <a:latin typeface="Aptos" panose="020B0004020202020204" pitchFamily="34" charset="0"/>
              </a:rPr>
              <a:t>Pytest</a:t>
            </a:r>
            <a:r>
              <a:rPr lang="en-US" sz="2200" b="1" dirty="0">
                <a:latin typeface="Aptos" panose="020B0004020202020204" pitchFamily="34" charset="0"/>
              </a:rPr>
              <a:t> → Git → GitHub → GitHub Actions CI → Docker → Terraform → GitHub Actions CD → Deployment</a:t>
            </a:r>
            <a:endParaRPr lang="en-US" sz="2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677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7B2B53-6CF0-ED0D-F8C6-B42EE5925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12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5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92E36F6-4984-C1DC-0EC2-044B30F0A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88" y="404664"/>
            <a:ext cx="11017224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Problem Statement: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Develop a Python-based Log Analyzer that reads an application log file and counts the number of INFO, WARNING and ERROR messages. The application should display a summary of the log contents and identify whether the application health is NORMAL or requires ATTENTION.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A26AC-41A7-9DB1-8031-BF2804D3504C}"/>
              </a:ext>
            </a:extLst>
          </p:cNvPr>
          <p:cNvSpPr txBox="1"/>
          <p:nvPr/>
        </p:nvSpPr>
        <p:spPr>
          <a:xfrm>
            <a:off x="593204" y="2852936"/>
            <a:ext cx="60975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Aptos" panose="020B0004020202020204" pitchFamily="34" charset="0"/>
              </a:rPr>
              <a:t>Example log file: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97A97-8B20-A405-4262-BE823ED61FB4}"/>
              </a:ext>
            </a:extLst>
          </p:cNvPr>
          <p:cNvSpPr txBox="1"/>
          <p:nvPr/>
        </p:nvSpPr>
        <p:spPr>
          <a:xfrm>
            <a:off x="593204" y="3424679"/>
            <a:ext cx="60975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2026-09-05 09:00:01 INFO Application started</a:t>
            </a:r>
          </a:p>
          <a:p>
            <a:r>
              <a:rPr lang="en-IN" sz="1600" dirty="0">
                <a:latin typeface="Aptos" panose="020B0004020202020204" pitchFamily="34" charset="0"/>
              </a:rPr>
              <a:t>2026-09-05 09:01:10 INFO Database connection successful</a:t>
            </a:r>
          </a:p>
          <a:p>
            <a:r>
              <a:rPr lang="en-IN" sz="1600" dirty="0">
                <a:latin typeface="Aptos" panose="020B0004020202020204" pitchFamily="34" charset="0"/>
              </a:rPr>
              <a:t>2026-09-05 09:02:15 WARNING High memory usage</a:t>
            </a:r>
          </a:p>
          <a:p>
            <a:r>
              <a:rPr lang="en-IN" sz="1600" dirty="0">
                <a:latin typeface="Aptos" panose="020B0004020202020204" pitchFamily="34" charset="0"/>
              </a:rPr>
              <a:t>2026-09-05 09:03:20 ERROR Database connection failed</a:t>
            </a:r>
          </a:p>
          <a:p>
            <a:r>
              <a:rPr lang="en-IN" sz="1600" dirty="0">
                <a:latin typeface="Aptos" panose="020B0004020202020204" pitchFamily="34" charset="0"/>
              </a:rPr>
              <a:t>2026-09-05 09:04:11 INFO Request processed</a:t>
            </a:r>
          </a:p>
          <a:p>
            <a:r>
              <a:rPr lang="en-IN" sz="1600" dirty="0">
                <a:latin typeface="Aptos" panose="020B0004020202020204" pitchFamily="34" charset="0"/>
              </a:rPr>
              <a:t>2026-09-05 09:05:30 ERROR Payment service unavailable</a:t>
            </a:r>
          </a:p>
          <a:p>
            <a:r>
              <a:rPr lang="en-IN" sz="1600" dirty="0">
                <a:latin typeface="Aptos" panose="020B0004020202020204" pitchFamily="34" charset="0"/>
              </a:rPr>
              <a:t>2026-09-05 09:06:40 WARNING Response time is high</a:t>
            </a:r>
          </a:p>
          <a:p>
            <a:r>
              <a:rPr lang="en-IN" sz="1600" dirty="0">
                <a:latin typeface="Aptos" panose="020B0004020202020204" pitchFamily="34" charset="0"/>
              </a:rPr>
              <a:t>2026-09-05 09:07:50 INFO Application running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D715F1-D57E-426F-D4D3-1BE2F30D5E7E}"/>
              </a:ext>
            </a:extLst>
          </p:cNvPr>
          <p:cNvSpPr txBox="1"/>
          <p:nvPr/>
        </p:nvSpPr>
        <p:spPr>
          <a:xfrm>
            <a:off x="6970882" y="2653227"/>
            <a:ext cx="47322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The program should produce: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93DCB4-3ED4-B7A7-D4A5-923674945ACD}"/>
              </a:ext>
            </a:extLst>
          </p:cNvPr>
          <p:cNvSpPr txBox="1"/>
          <p:nvPr/>
        </p:nvSpPr>
        <p:spPr>
          <a:xfrm>
            <a:off x="7002220" y="3212976"/>
            <a:ext cx="418478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================================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 LOG ANALYSIS REPORT</a:t>
            </a:r>
          </a:p>
          <a:p>
            <a:r>
              <a:rPr lang="en-IN" sz="1600" dirty="0">
                <a:latin typeface="Aptos" panose="020B0004020202020204" pitchFamily="34" charset="0"/>
              </a:rPr>
              <a:t>================================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INFO     : 4</a:t>
            </a:r>
          </a:p>
          <a:p>
            <a:r>
              <a:rPr lang="en-IN" sz="1600" dirty="0">
                <a:latin typeface="Aptos" panose="020B0004020202020204" pitchFamily="34" charset="0"/>
              </a:rPr>
              <a:t>WARNING  : 2</a:t>
            </a:r>
          </a:p>
          <a:p>
            <a:r>
              <a:rPr lang="en-IN" sz="1600" dirty="0">
                <a:latin typeface="Aptos" panose="020B0004020202020204" pitchFamily="34" charset="0"/>
              </a:rPr>
              <a:t>ERROR    : 2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Total Logs: 8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Application Health: ATTENTION</a:t>
            </a:r>
          </a:p>
          <a:p>
            <a:r>
              <a:rPr lang="en-IN" sz="1600" dirty="0">
                <a:latin typeface="Aptos" panose="020B0004020202020204" pitchFamily="34" charset="0"/>
              </a:rPr>
              <a:t>================================</a:t>
            </a:r>
          </a:p>
        </p:txBody>
      </p:sp>
    </p:spTree>
    <p:extLst>
      <p:ext uri="{BB962C8B-B14F-4D97-AF65-F5344CB8AC3E}">
        <p14:creationId xmlns:p14="http://schemas.microsoft.com/office/powerpoint/2010/main" val="963179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A96129-F201-CF22-B0B7-DB647E334C94}"/>
              </a:ext>
            </a:extLst>
          </p:cNvPr>
          <p:cNvSpPr txBox="1"/>
          <p:nvPr/>
        </p:nvSpPr>
        <p:spPr>
          <a:xfrm>
            <a:off x="621804" y="260648"/>
            <a:ext cx="10441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1: Create Jira User Story, subtasks and estimate each task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95397-8546-1133-4936-A6104D8C8170}"/>
              </a:ext>
            </a:extLst>
          </p:cNvPr>
          <p:cNvSpPr txBox="1"/>
          <p:nvPr/>
        </p:nvSpPr>
        <p:spPr>
          <a:xfrm>
            <a:off x="616124" y="836712"/>
            <a:ext cx="110949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ptos" panose="020B0004020202020204" pitchFamily="34" charset="0"/>
              </a:rPr>
              <a:t>Story Title: Develop Automated Application Log Analyzer</a:t>
            </a:r>
          </a:p>
          <a:p>
            <a:endParaRPr lang="en-US" sz="1800" dirty="0">
              <a:latin typeface="Aptos" panose="020B0004020202020204" pitchFamily="34" charset="0"/>
            </a:endParaRPr>
          </a:p>
          <a:p>
            <a:r>
              <a:rPr lang="en-US" sz="1800" dirty="0">
                <a:latin typeface="Aptos" panose="020B0004020202020204" pitchFamily="34" charset="0"/>
              </a:rPr>
              <a:t>Description: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As a DevOps engineer, I want a tool that analyzes application logs and counts INFO, WARNING and ERROR messages so that I can quickly identify whether an application requires attention.</a:t>
            </a:r>
          </a:p>
          <a:p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E478BCB-9C7C-9B33-B5FA-0FDFF9C76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124" y="2420303"/>
            <a:ext cx="825912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Acceptance Criteria: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Application counts INFO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Application counts WARNING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Application counts ERROR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Application displays the total number of log entries.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Application reports NORMAL when there are no ERROR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Application reports ATTENTION when one or more ERROR messages are present.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Automated unit tests are created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pytest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All automated tests must pass before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Application is packaged as a Docker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Terraform is used to create the local Docker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GitHub Actions automatically executes the tests.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GitHub Actions builds the Docker image after successful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GitHub Actions deploys the application using Terraform.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70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6CCDBB-D890-83E6-EAFE-D60F65F318C1}"/>
              </a:ext>
            </a:extLst>
          </p:cNvPr>
          <p:cNvSpPr txBox="1"/>
          <p:nvPr/>
        </p:nvSpPr>
        <p:spPr>
          <a:xfrm>
            <a:off x="621804" y="260648"/>
            <a:ext cx="8712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2: Clone Existing </a:t>
            </a:r>
            <a:r>
              <a:rPr lang="en-IN" sz="2200" b="1" dirty="0" err="1">
                <a:latin typeface="Aptos" panose="020B0004020202020204" pitchFamily="34" charset="0"/>
              </a:rPr>
              <a:t>Github</a:t>
            </a:r>
            <a:r>
              <a:rPr lang="en-IN" sz="2200" b="1" dirty="0">
                <a:latin typeface="Aptos" panose="020B0004020202020204" pitchFamily="34" charset="0"/>
              </a:rPr>
              <a:t> Repository on the local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55F37-00FB-CC59-20B5-258900070409}"/>
              </a:ext>
            </a:extLst>
          </p:cNvPr>
          <p:cNvSpPr txBox="1"/>
          <p:nvPr/>
        </p:nvSpPr>
        <p:spPr>
          <a:xfrm>
            <a:off x="621804" y="908720"/>
            <a:ext cx="8712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3: Create folder structure as below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237D44-B02A-2BB9-5CD9-FECB77FEEB33}"/>
              </a:ext>
            </a:extLst>
          </p:cNvPr>
          <p:cNvSpPr txBox="1"/>
          <p:nvPr/>
        </p:nvSpPr>
        <p:spPr>
          <a:xfrm>
            <a:off x="621804" y="1412776"/>
            <a:ext cx="609755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>
                <a:latin typeface="Aptos" panose="020B0004020202020204" pitchFamily="34" charset="0"/>
              </a:rPr>
              <a:t>devops</a:t>
            </a:r>
            <a:r>
              <a:rPr lang="en-IN" sz="2000" dirty="0">
                <a:latin typeface="Aptos" panose="020B0004020202020204" pitchFamily="34" charset="0"/>
              </a:rPr>
              <a:t>-log-</a:t>
            </a:r>
            <a:r>
              <a:rPr lang="en-IN" sz="2000" dirty="0" err="1">
                <a:latin typeface="Aptos" panose="020B0004020202020204" pitchFamily="34" charset="0"/>
              </a:rPr>
              <a:t>analyzer</a:t>
            </a:r>
            <a:r>
              <a:rPr lang="en-IN" sz="2000" dirty="0">
                <a:latin typeface="Aptos" panose="020B0004020202020204" pitchFamily="34" charset="0"/>
              </a:rPr>
              <a:t>/</a:t>
            </a:r>
          </a:p>
          <a:p>
            <a:r>
              <a:rPr lang="en-IN" sz="2000" dirty="0">
                <a:latin typeface="Aptos" panose="020B0004020202020204" pitchFamily="34" charset="0"/>
              </a:rPr>
              <a:t>│</a:t>
            </a:r>
          </a:p>
          <a:p>
            <a:r>
              <a:rPr lang="en-IN" sz="2000" dirty="0">
                <a:latin typeface="Aptos" panose="020B0004020202020204" pitchFamily="34" charset="0"/>
              </a:rPr>
              <a:t>├── log_analyzer.py</a:t>
            </a:r>
          </a:p>
          <a:p>
            <a:r>
              <a:rPr lang="en-IN" sz="2000" dirty="0">
                <a:latin typeface="Aptos" panose="020B0004020202020204" pitchFamily="34" charset="0"/>
              </a:rPr>
              <a:t>├── test_log_analyzer.py</a:t>
            </a:r>
          </a:p>
          <a:p>
            <a:r>
              <a:rPr lang="en-IN" sz="2000" dirty="0">
                <a:latin typeface="Aptos" panose="020B0004020202020204" pitchFamily="34" charset="0"/>
              </a:rPr>
              <a:t>├── app.log</a:t>
            </a:r>
          </a:p>
          <a:p>
            <a:r>
              <a:rPr lang="en-IN" sz="2000" dirty="0">
                <a:latin typeface="Aptos" panose="020B0004020202020204" pitchFamily="34" charset="0"/>
              </a:rPr>
              <a:t>├── requirements.txt</a:t>
            </a:r>
          </a:p>
          <a:p>
            <a:r>
              <a:rPr lang="en-IN" sz="2000" dirty="0">
                <a:latin typeface="Aptos" panose="020B0004020202020204" pitchFamily="34" charset="0"/>
              </a:rPr>
              <a:t>├── </a:t>
            </a:r>
            <a:r>
              <a:rPr lang="en-IN" sz="2000" dirty="0" err="1">
                <a:latin typeface="Aptos" panose="020B0004020202020204" pitchFamily="34" charset="0"/>
              </a:rPr>
              <a:t>Dockerfile</a:t>
            </a:r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latin typeface="Aptos" panose="020B0004020202020204" pitchFamily="34" charset="0"/>
              </a:rPr>
              <a:t>│</a:t>
            </a:r>
          </a:p>
          <a:p>
            <a:r>
              <a:rPr lang="en-IN" sz="2000" dirty="0">
                <a:latin typeface="Aptos" panose="020B0004020202020204" pitchFamily="34" charset="0"/>
              </a:rPr>
              <a:t>├── terraform/</a:t>
            </a:r>
          </a:p>
          <a:p>
            <a:r>
              <a:rPr lang="en-IN" sz="2000" dirty="0">
                <a:latin typeface="Aptos" panose="020B0004020202020204" pitchFamily="34" charset="0"/>
              </a:rPr>
              <a:t>│   └── main.tf</a:t>
            </a:r>
          </a:p>
          <a:p>
            <a:r>
              <a:rPr lang="en-IN" sz="2000" dirty="0">
                <a:latin typeface="Aptos" panose="020B0004020202020204" pitchFamily="34" charset="0"/>
              </a:rPr>
              <a:t>│</a:t>
            </a:r>
          </a:p>
          <a:p>
            <a:r>
              <a:rPr lang="en-IN" sz="2000" dirty="0">
                <a:latin typeface="Aptos" panose="020B0004020202020204" pitchFamily="34" charset="0"/>
              </a:rPr>
              <a:t>└── .</a:t>
            </a:r>
            <a:r>
              <a:rPr lang="en-IN" sz="2000" dirty="0" err="1">
                <a:latin typeface="Aptos" panose="020B0004020202020204" pitchFamily="34" charset="0"/>
              </a:rPr>
              <a:t>github</a:t>
            </a:r>
            <a:r>
              <a:rPr lang="en-IN" sz="2000" dirty="0">
                <a:latin typeface="Aptos" panose="020B0004020202020204" pitchFamily="34" charset="0"/>
              </a:rPr>
              <a:t>/</a:t>
            </a:r>
          </a:p>
          <a:p>
            <a:r>
              <a:rPr lang="en-IN" sz="2000" dirty="0">
                <a:latin typeface="Aptos" panose="020B0004020202020204" pitchFamily="34" charset="0"/>
              </a:rPr>
              <a:t>    └── workflows/</a:t>
            </a:r>
          </a:p>
          <a:p>
            <a:r>
              <a:rPr lang="en-IN" sz="2000" dirty="0">
                <a:latin typeface="Aptos" panose="020B0004020202020204" pitchFamily="34" charset="0"/>
              </a:rPr>
              <a:t>        └── ci-</a:t>
            </a:r>
            <a:r>
              <a:rPr lang="en-IN" sz="2000" dirty="0" err="1">
                <a:latin typeface="Aptos" panose="020B0004020202020204" pitchFamily="34" charset="0"/>
              </a:rPr>
              <a:t>cd.yml</a:t>
            </a:r>
            <a:endParaRPr lang="en-IN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DCCEEE-253A-0836-5C4F-8834176D2BA1}"/>
              </a:ext>
            </a:extLst>
          </p:cNvPr>
          <p:cNvSpPr txBox="1"/>
          <p:nvPr/>
        </p:nvSpPr>
        <p:spPr>
          <a:xfrm>
            <a:off x="477788" y="404664"/>
            <a:ext cx="8712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4: Write a python application for log analyser and test locally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74F11-16DE-3534-7360-532A76C1DD4C}"/>
              </a:ext>
            </a:extLst>
          </p:cNvPr>
          <p:cNvSpPr txBox="1"/>
          <p:nvPr/>
        </p:nvSpPr>
        <p:spPr>
          <a:xfrm>
            <a:off x="693812" y="1052736"/>
            <a:ext cx="48965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def </a:t>
            </a:r>
            <a:r>
              <a:rPr lang="en-IN" sz="1600" dirty="0" err="1">
                <a:latin typeface="Aptos" panose="020B0004020202020204" pitchFamily="34" charset="0"/>
              </a:rPr>
              <a:t>analyze_log_file</a:t>
            </a:r>
            <a:r>
              <a:rPr lang="en-IN" sz="1600" dirty="0">
                <a:latin typeface="Aptos" panose="020B0004020202020204" pitchFamily="34" charset="0"/>
              </a:rPr>
              <a:t>(filename):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</a:t>
            </a:r>
            <a:r>
              <a:rPr lang="en-IN" sz="1600" dirty="0" err="1">
                <a:latin typeface="Aptos" panose="020B0004020202020204" pitchFamily="34" charset="0"/>
              </a:rPr>
              <a:t>info_count</a:t>
            </a:r>
            <a:r>
              <a:rPr lang="en-IN" sz="1600" dirty="0">
                <a:latin typeface="Aptos" panose="020B0004020202020204" pitchFamily="34" charset="0"/>
              </a:rPr>
              <a:t> = 0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</a:t>
            </a:r>
            <a:r>
              <a:rPr lang="en-IN" sz="1600" dirty="0" err="1">
                <a:latin typeface="Aptos" panose="020B0004020202020204" pitchFamily="34" charset="0"/>
              </a:rPr>
              <a:t>warning_count</a:t>
            </a:r>
            <a:r>
              <a:rPr lang="en-IN" sz="1600" dirty="0">
                <a:latin typeface="Aptos" panose="020B0004020202020204" pitchFamily="34" charset="0"/>
              </a:rPr>
              <a:t> = 0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</a:t>
            </a:r>
            <a:r>
              <a:rPr lang="en-IN" sz="1600" dirty="0" err="1">
                <a:latin typeface="Aptos" panose="020B0004020202020204" pitchFamily="34" charset="0"/>
              </a:rPr>
              <a:t>error_count</a:t>
            </a:r>
            <a:r>
              <a:rPr lang="en-IN" sz="1600" dirty="0">
                <a:latin typeface="Aptos" panose="020B0004020202020204" pitchFamily="34" charset="0"/>
              </a:rPr>
              <a:t> = 0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  with open(filename, "r") as file: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  for line in file: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          if "INFO" in line: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          </a:t>
            </a:r>
            <a:r>
              <a:rPr lang="en-IN" sz="1600" dirty="0" err="1">
                <a:latin typeface="Aptos" panose="020B0004020202020204" pitchFamily="34" charset="0"/>
              </a:rPr>
              <a:t>info_count</a:t>
            </a:r>
            <a:r>
              <a:rPr lang="en-IN" sz="1600" dirty="0">
                <a:latin typeface="Aptos" panose="020B0004020202020204" pitchFamily="34" charset="0"/>
              </a:rPr>
              <a:t> += 1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          </a:t>
            </a:r>
            <a:r>
              <a:rPr lang="en-IN" sz="1600" dirty="0" err="1">
                <a:latin typeface="Aptos" panose="020B0004020202020204" pitchFamily="34" charset="0"/>
              </a:rPr>
              <a:t>elif</a:t>
            </a:r>
            <a:r>
              <a:rPr lang="en-IN" sz="1600" dirty="0">
                <a:latin typeface="Aptos" panose="020B0004020202020204" pitchFamily="34" charset="0"/>
              </a:rPr>
              <a:t> "WARNING" in line: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          </a:t>
            </a:r>
            <a:r>
              <a:rPr lang="en-IN" sz="1600" dirty="0" err="1">
                <a:latin typeface="Aptos" panose="020B0004020202020204" pitchFamily="34" charset="0"/>
              </a:rPr>
              <a:t>warning_count</a:t>
            </a:r>
            <a:r>
              <a:rPr lang="en-IN" sz="1600" dirty="0">
                <a:latin typeface="Aptos" panose="020B0004020202020204" pitchFamily="34" charset="0"/>
              </a:rPr>
              <a:t> += 1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          </a:t>
            </a:r>
            <a:r>
              <a:rPr lang="en-IN" sz="1600" dirty="0" err="1">
                <a:latin typeface="Aptos" panose="020B0004020202020204" pitchFamily="34" charset="0"/>
              </a:rPr>
              <a:t>elif</a:t>
            </a:r>
            <a:r>
              <a:rPr lang="en-IN" sz="1600" dirty="0">
                <a:latin typeface="Aptos" panose="020B0004020202020204" pitchFamily="34" charset="0"/>
              </a:rPr>
              <a:t> "ERROR" in line: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          </a:t>
            </a:r>
            <a:r>
              <a:rPr lang="en-IN" sz="1600" dirty="0" err="1">
                <a:latin typeface="Aptos" panose="020B0004020202020204" pitchFamily="34" charset="0"/>
              </a:rPr>
              <a:t>error_count</a:t>
            </a:r>
            <a:r>
              <a:rPr lang="en-IN" sz="1600" dirty="0">
                <a:latin typeface="Aptos" panose="020B0004020202020204" pitchFamily="34" charset="0"/>
              </a:rPr>
              <a:t> += 1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  return </a:t>
            </a:r>
            <a:r>
              <a:rPr lang="en-IN" sz="1600" dirty="0" err="1">
                <a:latin typeface="Aptos" panose="020B0004020202020204" pitchFamily="34" charset="0"/>
              </a:rPr>
              <a:t>info_count</a:t>
            </a:r>
            <a:r>
              <a:rPr lang="en-IN" sz="1600" dirty="0">
                <a:latin typeface="Aptos" panose="020B0004020202020204" pitchFamily="34" charset="0"/>
              </a:rPr>
              <a:t>, </a:t>
            </a:r>
            <a:r>
              <a:rPr lang="en-IN" sz="1600" dirty="0" err="1">
                <a:latin typeface="Aptos" panose="020B0004020202020204" pitchFamily="34" charset="0"/>
              </a:rPr>
              <a:t>warning_count</a:t>
            </a:r>
            <a:r>
              <a:rPr lang="en-IN" sz="1600" dirty="0">
                <a:latin typeface="Aptos" panose="020B0004020202020204" pitchFamily="34" charset="0"/>
              </a:rPr>
              <a:t>, </a:t>
            </a:r>
            <a:r>
              <a:rPr lang="en-IN" sz="1600" dirty="0" err="1">
                <a:latin typeface="Aptos" panose="020B0004020202020204" pitchFamily="34" charset="0"/>
              </a:rPr>
              <a:t>error_count</a:t>
            </a:r>
            <a:endParaRPr lang="en-IN" sz="1600" dirty="0">
              <a:latin typeface="Aptos" panose="020B0004020202020204" pitchFamily="34" charset="0"/>
            </a:endParaRPr>
          </a:p>
          <a:p>
            <a:endParaRPr lang="en-IN" sz="1600" dirty="0">
              <a:latin typeface="Aptos" panose="020B0004020202020204" pitchFamily="34" charset="0"/>
            </a:endParaRPr>
          </a:p>
          <a:p>
            <a:endParaRPr lang="en-IN" sz="1600" dirty="0">
              <a:latin typeface="Aptos" panose="020B0004020202020204" pitchFamily="34" charset="0"/>
            </a:endParaRPr>
          </a:p>
          <a:p>
            <a:endParaRPr lang="en-IN" sz="1600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505870-3077-43B6-59DC-4FA082408B6D}"/>
              </a:ext>
            </a:extLst>
          </p:cNvPr>
          <p:cNvSpPr txBox="1"/>
          <p:nvPr/>
        </p:nvSpPr>
        <p:spPr>
          <a:xfrm>
            <a:off x="6598470" y="856357"/>
            <a:ext cx="609755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def </a:t>
            </a:r>
            <a:r>
              <a:rPr lang="en-IN" dirty="0" err="1"/>
              <a:t>get_health_status</a:t>
            </a:r>
            <a:r>
              <a:rPr lang="en-IN" dirty="0"/>
              <a:t>(</a:t>
            </a:r>
            <a:r>
              <a:rPr lang="en-IN" dirty="0" err="1"/>
              <a:t>error_count</a:t>
            </a:r>
            <a:r>
              <a:rPr lang="en-IN" dirty="0"/>
              <a:t>):</a:t>
            </a:r>
          </a:p>
          <a:p>
            <a:r>
              <a:rPr lang="en-IN" dirty="0"/>
              <a:t>    if </a:t>
            </a:r>
            <a:r>
              <a:rPr lang="en-IN" dirty="0" err="1"/>
              <a:t>error_count</a:t>
            </a:r>
            <a:r>
              <a:rPr lang="en-IN" dirty="0"/>
              <a:t> == 0:</a:t>
            </a:r>
          </a:p>
          <a:p>
            <a:r>
              <a:rPr lang="en-IN" dirty="0"/>
              <a:t>        return "NORMAL"</a:t>
            </a:r>
          </a:p>
          <a:p>
            <a:r>
              <a:rPr lang="en-IN" dirty="0"/>
              <a:t>    return "ATTENTION"</a:t>
            </a:r>
          </a:p>
          <a:p>
            <a:endParaRPr lang="en-IN" dirty="0"/>
          </a:p>
          <a:p>
            <a:r>
              <a:rPr lang="en-IN" dirty="0"/>
              <a:t>def </a:t>
            </a:r>
            <a:r>
              <a:rPr lang="en-IN" dirty="0" err="1"/>
              <a:t>display_report</a:t>
            </a:r>
            <a:r>
              <a:rPr lang="en-IN" dirty="0"/>
              <a:t>(filename):</a:t>
            </a:r>
          </a:p>
          <a:p>
            <a:r>
              <a:rPr lang="en-IN" dirty="0"/>
              <a:t>    info, warning, error = </a:t>
            </a:r>
            <a:r>
              <a:rPr lang="en-IN" dirty="0" err="1"/>
              <a:t>analyze_log_file</a:t>
            </a:r>
            <a:r>
              <a:rPr lang="en-IN" dirty="0"/>
              <a:t>(filename)</a:t>
            </a:r>
          </a:p>
          <a:p>
            <a:r>
              <a:rPr lang="en-IN" dirty="0"/>
              <a:t>    total = info + warning + error</a:t>
            </a:r>
          </a:p>
          <a:p>
            <a:r>
              <a:rPr lang="en-IN" dirty="0"/>
              <a:t>    health = </a:t>
            </a:r>
            <a:r>
              <a:rPr lang="en-IN" dirty="0" err="1"/>
              <a:t>get_health_status</a:t>
            </a:r>
            <a:r>
              <a:rPr lang="en-IN" dirty="0"/>
              <a:t>(error)</a:t>
            </a:r>
          </a:p>
          <a:p>
            <a:endParaRPr lang="en-IN" dirty="0"/>
          </a:p>
          <a:p>
            <a:r>
              <a:rPr lang="en-IN" dirty="0"/>
              <a:t>    print("================================")</a:t>
            </a:r>
          </a:p>
          <a:p>
            <a:r>
              <a:rPr lang="en-IN" dirty="0"/>
              <a:t>    print("       LOG ANALYSIS REPORT")</a:t>
            </a:r>
          </a:p>
          <a:p>
            <a:r>
              <a:rPr lang="en-IN" dirty="0"/>
              <a:t>    print("================================")</a:t>
            </a:r>
          </a:p>
          <a:p>
            <a:endParaRPr lang="en-IN" dirty="0"/>
          </a:p>
          <a:p>
            <a:r>
              <a:rPr lang="en-IN" dirty="0"/>
              <a:t>    print(</a:t>
            </a:r>
            <a:r>
              <a:rPr lang="en-IN" dirty="0" err="1"/>
              <a:t>f"INFO</a:t>
            </a:r>
            <a:r>
              <a:rPr lang="en-IN" dirty="0"/>
              <a:t>     : {info}")</a:t>
            </a:r>
          </a:p>
          <a:p>
            <a:r>
              <a:rPr lang="en-IN" dirty="0"/>
              <a:t>    print(</a:t>
            </a:r>
            <a:r>
              <a:rPr lang="en-IN" dirty="0" err="1"/>
              <a:t>f"WARNING</a:t>
            </a:r>
            <a:r>
              <a:rPr lang="en-IN" dirty="0"/>
              <a:t>  : {warning}")</a:t>
            </a:r>
          </a:p>
          <a:p>
            <a:r>
              <a:rPr lang="en-IN" dirty="0"/>
              <a:t>    print(</a:t>
            </a:r>
            <a:r>
              <a:rPr lang="en-IN" dirty="0" err="1"/>
              <a:t>f"ERROR</a:t>
            </a:r>
            <a:r>
              <a:rPr lang="en-IN" dirty="0"/>
              <a:t>    : {error}")</a:t>
            </a:r>
          </a:p>
          <a:p>
            <a:r>
              <a:rPr lang="en-IN" dirty="0"/>
              <a:t>    print(f"\</a:t>
            </a:r>
            <a:r>
              <a:rPr lang="en-IN" dirty="0" err="1"/>
              <a:t>nTotal</a:t>
            </a:r>
            <a:r>
              <a:rPr lang="en-IN" dirty="0"/>
              <a:t> Logs: {total}")</a:t>
            </a:r>
          </a:p>
          <a:p>
            <a:r>
              <a:rPr lang="en-IN" dirty="0"/>
              <a:t>    print(f"\</a:t>
            </a:r>
            <a:r>
              <a:rPr lang="en-IN" dirty="0" err="1"/>
              <a:t>nApplication</a:t>
            </a:r>
            <a:r>
              <a:rPr lang="en-IN" dirty="0"/>
              <a:t> Health: {health}")</a:t>
            </a:r>
          </a:p>
          <a:p>
            <a:r>
              <a:rPr lang="en-IN" dirty="0"/>
              <a:t>    print("================================")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if __name__ == "__main__":</a:t>
            </a:r>
          </a:p>
          <a:p>
            <a:r>
              <a:rPr lang="en-IN" dirty="0"/>
              <a:t>    </a:t>
            </a:r>
            <a:r>
              <a:rPr lang="en-IN" dirty="0" err="1"/>
              <a:t>display_report</a:t>
            </a:r>
            <a:r>
              <a:rPr lang="en-IN" dirty="0"/>
              <a:t>("app.log")</a:t>
            </a:r>
          </a:p>
        </p:txBody>
      </p:sp>
    </p:spTree>
    <p:extLst>
      <p:ext uri="{BB962C8B-B14F-4D97-AF65-F5344CB8AC3E}">
        <p14:creationId xmlns:p14="http://schemas.microsoft.com/office/powerpoint/2010/main" val="240230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41239D-0F56-0298-003C-CF9BFA56AFB2}"/>
              </a:ext>
            </a:extLst>
          </p:cNvPr>
          <p:cNvSpPr txBox="1"/>
          <p:nvPr/>
        </p:nvSpPr>
        <p:spPr>
          <a:xfrm>
            <a:off x="2638028" y="836712"/>
            <a:ext cx="609755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Aptos" panose="020B0004020202020204" pitchFamily="34" charset="0"/>
              </a:rPr>
              <a:t>from </a:t>
            </a:r>
            <a:r>
              <a:rPr lang="en-IN" sz="1800" dirty="0" err="1">
                <a:latin typeface="Aptos" panose="020B0004020202020204" pitchFamily="34" charset="0"/>
              </a:rPr>
              <a:t>log_analyzer</a:t>
            </a:r>
            <a:r>
              <a:rPr lang="en-IN" sz="1800" dirty="0">
                <a:latin typeface="Aptos" panose="020B0004020202020204" pitchFamily="34" charset="0"/>
              </a:rPr>
              <a:t> import </a:t>
            </a:r>
            <a:r>
              <a:rPr lang="en-IN" sz="1800" dirty="0" err="1">
                <a:latin typeface="Aptos" panose="020B0004020202020204" pitchFamily="34" charset="0"/>
              </a:rPr>
              <a:t>analyze_log_file</a:t>
            </a:r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dirty="0">
                <a:latin typeface="Aptos" panose="020B0004020202020204" pitchFamily="34" charset="0"/>
              </a:rPr>
              <a:t>from </a:t>
            </a:r>
            <a:r>
              <a:rPr lang="en-IN" sz="1800" dirty="0" err="1">
                <a:latin typeface="Aptos" panose="020B0004020202020204" pitchFamily="34" charset="0"/>
              </a:rPr>
              <a:t>log_analyzer</a:t>
            </a:r>
            <a:r>
              <a:rPr lang="en-IN" sz="1800" dirty="0">
                <a:latin typeface="Aptos" panose="020B0004020202020204" pitchFamily="34" charset="0"/>
              </a:rPr>
              <a:t> import </a:t>
            </a:r>
            <a:r>
              <a:rPr lang="en-IN" sz="1800" dirty="0" err="1">
                <a:latin typeface="Aptos" panose="020B0004020202020204" pitchFamily="34" charset="0"/>
              </a:rPr>
              <a:t>get_health_status</a:t>
            </a: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dirty="0">
                <a:latin typeface="Aptos" panose="020B0004020202020204" pitchFamily="34" charset="0"/>
              </a:rPr>
              <a:t>def </a:t>
            </a:r>
            <a:r>
              <a:rPr lang="en-IN" sz="1800" dirty="0" err="1">
                <a:latin typeface="Aptos" panose="020B0004020202020204" pitchFamily="34" charset="0"/>
              </a:rPr>
              <a:t>test_log_analysis</a:t>
            </a:r>
            <a:r>
              <a:rPr lang="en-IN" sz="1800" dirty="0">
                <a:latin typeface="Aptos" panose="020B0004020202020204" pitchFamily="34" charset="0"/>
              </a:rPr>
              <a:t>():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dirty="0">
                <a:latin typeface="Aptos" panose="020B0004020202020204" pitchFamily="34" charset="0"/>
              </a:rPr>
              <a:t>    info, warning, error = </a:t>
            </a:r>
            <a:r>
              <a:rPr lang="en-IN" sz="1800" dirty="0" err="1">
                <a:latin typeface="Aptos" panose="020B0004020202020204" pitchFamily="34" charset="0"/>
              </a:rPr>
              <a:t>analyze_log_file</a:t>
            </a:r>
            <a:r>
              <a:rPr lang="en-IN" sz="1800" dirty="0">
                <a:latin typeface="Aptos" panose="020B0004020202020204" pitchFamily="34" charset="0"/>
              </a:rPr>
              <a:t>("app.log")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dirty="0">
                <a:latin typeface="Aptos" panose="020B0004020202020204" pitchFamily="34" charset="0"/>
              </a:rPr>
              <a:t>    assert info == 4</a:t>
            </a:r>
          </a:p>
          <a:p>
            <a:r>
              <a:rPr lang="en-IN" sz="1800" dirty="0">
                <a:latin typeface="Aptos" panose="020B0004020202020204" pitchFamily="34" charset="0"/>
              </a:rPr>
              <a:t>    assert warning == 2</a:t>
            </a:r>
          </a:p>
          <a:p>
            <a:r>
              <a:rPr lang="en-IN" sz="1800" dirty="0">
                <a:latin typeface="Aptos" panose="020B0004020202020204" pitchFamily="34" charset="0"/>
              </a:rPr>
              <a:t>    assert error == 2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dirty="0">
                <a:latin typeface="Aptos" panose="020B0004020202020204" pitchFamily="34" charset="0"/>
              </a:rPr>
              <a:t>def </a:t>
            </a:r>
            <a:r>
              <a:rPr lang="en-IN" sz="1800" dirty="0" err="1">
                <a:latin typeface="Aptos" panose="020B0004020202020204" pitchFamily="34" charset="0"/>
              </a:rPr>
              <a:t>test_health_with_errors</a:t>
            </a:r>
            <a:r>
              <a:rPr lang="en-IN" sz="1800" dirty="0">
                <a:latin typeface="Aptos" panose="020B0004020202020204" pitchFamily="34" charset="0"/>
              </a:rPr>
              <a:t>():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dirty="0">
                <a:latin typeface="Aptos" panose="020B0004020202020204" pitchFamily="34" charset="0"/>
              </a:rPr>
              <a:t>    assert </a:t>
            </a:r>
            <a:r>
              <a:rPr lang="en-IN" sz="1800" dirty="0" err="1">
                <a:latin typeface="Aptos" panose="020B0004020202020204" pitchFamily="34" charset="0"/>
              </a:rPr>
              <a:t>get_health_status</a:t>
            </a:r>
            <a:r>
              <a:rPr lang="en-IN" sz="1800" dirty="0">
                <a:latin typeface="Aptos" panose="020B0004020202020204" pitchFamily="34" charset="0"/>
              </a:rPr>
              <a:t>(2) == "ATTENTION"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dirty="0">
                <a:latin typeface="Aptos" panose="020B0004020202020204" pitchFamily="34" charset="0"/>
              </a:rPr>
              <a:t>def </a:t>
            </a:r>
            <a:r>
              <a:rPr lang="en-IN" sz="1800" dirty="0" err="1">
                <a:latin typeface="Aptos" panose="020B0004020202020204" pitchFamily="34" charset="0"/>
              </a:rPr>
              <a:t>test_health_without_errors</a:t>
            </a:r>
            <a:r>
              <a:rPr lang="en-IN" sz="1800" dirty="0">
                <a:latin typeface="Aptos" panose="020B0004020202020204" pitchFamily="34" charset="0"/>
              </a:rPr>
              <a:t>():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dirty="0">
                <a:latin typeface="Aptos" panose="020B0004020202020204" pitchFamily="34" charset="0"/>
              </a:rPr>
              <a:t>    assert </a:t>
            </a:r>
            <a:r>
              <a:rPr lang="en-IN" sz="1800" dirty="0" err="1">
                <a:latin typeface="Aptos" panose="020B0004020202020204" pitchFamily="34" charset="0"/>
              </a:rPr>
              <a:t>get_health_status</a:t>
            </a:r>
            <a:r>
              <a:rPr lang="en-IN" sz="1800" dirty="0">
                <a:latin typeface="Aptos" panose="020B0004020202020204" pitchFamily="34" charset="0"/>
              </a:rPr>
              <a:t>(0) == "NORMAL"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6CCD6-7961-4001-1A1A-BB448A9A4B38}"/>
              </a:ext>
            </a:extLst>
          </p:cNvPr>
          <p:cNvSpPr txBox="1"/>
          <p:nvPr/>
        </p:nvSpPr>
        <p:spPr>
          <a:xfrm>
            <a:off x="621804" y="260648"/>
            <a:ext cx="8712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5: Write a </a:t>
            </a:r>
            <a:r>
              <a:rPr lang="en-IN" sz="2200" b="1" dirty="0" err="1">
                <a:latin typeface="Aptos" panose="020B0004020202020204" pitchFamily="34" charset="0"/>
              </a:rPr>
              <a:t>pytest</a:t>
            </a:r>
            <a:r>
              <a:rPr lang="en-IN" sz="2200" b="1" dirty="0">
                <a:latin typeface="Aptos" panose="020B0004020202020204" pitchFamily="34" charset="0"/>
              </a:rPr>
              <a:t> file for automated testing</a:t>
            </a:r>
          </a:p>
        </p:txBody>
      </p:sp>
    </p:spTree>
    <p:extLst>
      <p:ext uri="{BB962C8B-B14F-4D97-AF65-F5344CB8AC3E}">
        <p14:creationId xmlns:p14="http://schemas.microsoft.com/office/powerpoint/2010/main" val="106616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040184-0FD3-517D-A7D8-81719DDF77B7}"/>
              </a:ext>
            </a:extLst>
          </p:cNvPr>
          <p:cNvSpPr txBox="1"/>
          <p:nvPr/>
        </p:nvSpPr>
        <p:spPr>
          <a:xfrm>
            <a:off x="621804" y="260648"/>
            <a:ext cx="8712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6: Push the code into </a:t>
            </a:r>
            <a:r>
              <a:rPr lang="en-IN" sz="2200" b="1" dirty="0" err="1">
                <a:latin typeface="Aptos" panose="020B0004020202020204" pitchFamily="34" charset="0"/>
              </a:rPr>
              <a:t>Github</a:t>
            </a:r>
            <a:r>
              <a:rPr lang="en-IN" sz="2200" b="1" dirty="0">
                <a:latin typeface="Aptos" panose="020B0004020202020204" pitchFamily="34" charset="0"/>
              </a:rPr>
              <a:t> Repository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ECF06-0BEC-295A-083F-AB6D47DBF348}"/>
              </a:ext>
            </a:extLst>
          </p:cNvPr>
          <p:cNvSpPr txBox="1"/>
          <p:nvPr/>
        </p:nvSpPr>
        <p:spPr>
          <a:xfrm>
            <a:off x="621804" y="836712"/>
            <a:ext cx="8712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7: Create CI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C3B3A1-3FCF-070F-24B7-52F9882B4F88}"/>
              </a:ext>
            </a:extLst>
          </p:cNvPr>
          <p:cNvSpPr txBox="1"/>
          <p:nvPr/>
        </p:nvSpPr>
        <p:spPr>
          <a:xfrm>
            <a:off x="549796" y="1484784"/>
            <a:ext cx="43924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name: Log Analyzer CI-CD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on: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push: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branches: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- main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</a:t>
            </a:r>
            <a:r>
              <a:rPr lang="en-IN" sz="1600" dirty="0" err="1">
                <a:latin typeface="Aptos" panose="020B0004020202020204" pitchFamily="34" charset="0"/>
              </a:rPr>
              <a:t>pull_request</a:t>
            </a:r>
            <a:r>
              <a:rPr lang="en-IN" sz="1600" dirty="0">
                <a:latin typeface="Aptos" panose="020B0004020202020204" pitchFamily="34" charset="0"/>
              </a:rPr>
              <a:t>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branches: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- main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endParaRPr lang="en-IN" sz="1600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585E9D-92A4-E3C3-8820-0B61A1F0A5FC}"/>
              </a:ext>
            </a:extLst>
          </p:cNvPr>
          <p:cNvSpPr txBox="1"/>
          <p:nvPr/>
        </p:nvSpPr>
        <p:spPr>
          <a:xfrm>
            <a:off x="5662364" y="1580594"/>
            <a:ext cx="609755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jobs:</a:t>
            </a:r>
          </a:p>
          <a:p>
            <a:r>
              <a:rPr lang="en-IN" dirty="0"/>
              <a:t>  test:</a:t>
            </a:r>
          </a:p>
          <a:p>
            <a:r>
              <a:rPr lang="en-IN" dirty="0"/>
              <a:t>    runs-on: ubuntu-latest</a:t>
            </a:r>
          </a:p>
          <a:p>
            <a:endParaRPr lang="en-IN" dirty="0"/>
          </a:p>
          <a:p>
            <a:r>
              <a:rPr lang="en-IN" dirty="0"/>
              <a:t>    steps:</a:t>
            </a:r>
          </a:p>
          <a:p>
            <a:r>
              <a:rPr lang="en-IN" dirty="0"/>
              <a:t>      - name: Checkout Code</a:t>
            </a:r>
          </a:p>
          <a:p>
            <a:r>
              <a:rPr lang="en-IN" dirty="0"/>
              <a:t>        uses: actions/checkout@v4</a:t>
            </a:r>
          </a:p>
          <a:p>
            <a:endParaRPr lang="en-IN" dirty="0"/>
          </a:p>
          <a:p>
            <a:r>
              <a:rPr lang="en-IN" dirty="0"/>
              <a:t>      - name: Setup Python</a:t>
            </a:r>
          </a:p>
          <a:p>
            <a:r>
              <a:rPr lang="en-IN" dirty="0"/>
              <a:t>        uses: actions/setup-python@v5</a:t>
            </a:r>
          </a:p>
          <a:p>
            <a:r>
              <a:rPr lang="en-IN" dirty="0"/>
              <a:t>        with:</a:t>
            </a:r>
          </a:p>
          <a:p>
            <a:r>
              <a:rPr lang="en-IN" dirty="0"/>
              <a:t>          python-version: "3.12"</a:t>
            </a:r>
          </a:p>
          <a:p>
            <a:endParaRPr lang="en-IN" dirty="0"/>
          </a:p>
          <a:p>
            <a:r>
              <a:rPr lang="en-IN" dirty="0"/>
              <a:t>      - name: Install Dependencies</a:t>
            </a:r>
          </a:p>
          <a:p>
            <a:r>
              <a:rPr lang="en-IN" dirty="0"/>
              <a:t>        run: |</a:t>
            </a:r>
          </a:p>
          <a:p>
            <a:r>
              <a:rPr lang="en-IN" dirty="0"/>
              <a:t>          pip install -r requirements.txt</a:t>
            </a:r>
          </a:p>
          <a:p>
            <a:endParaRPr lang="en-IN" dirty="0"/>
          </a:p>
          <a:p>
            <a:r>
              <a:rPr lang="en-IN" dirty="0"/>
              <a:t>      - name: Run Automated Tests</a:t>
            </a:r>
          </a:p>
          <a:p>
            <a:r>
              <a:rPr lang="en-IN" dirty="0"/>
              <a:t>        run: |</a:t>
            </a:r>
          </a:p>
          <a:p>
            <a:r>
              <a:rPr lang="en-IN" dirty="0"/>
              <a:t>          </a:t>
            </a:r>
            <a:r>
              <a:rPr lang="en-IN" dirty="0" err="1"/>
              <a:t>pytest</a:t>
            </a:r>
            <a:r>
              <a:rPr lang="en-IN" dirty="0"/>
              <a:t> -v</a:t>
            </a:r>
          </a:p>
        </p:txBody>
      </p:sp>
    </p:spTree>
    <p:extLst>
      <p:ext uri="{BB962C8B-B14F-4D97-AF65-F5344CB8AC3E}">
        <p14:creationId xmlns:p14="http://schemas.microsoft.com/office/powerpoint/2010/main" val="205256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F99CFB-343C-173D-50E1-8189748986AE}"/>
              </a:ext>
            </a:extLst>
          </p:cNvPr>
          <p:cNvSpPr txBox="1"/>
          <p:nvPr/>
        </p:nvSpPr>
        <p:spPr>
          <a:xfrm>
            <a:off x="549796" y="260648"/>
            <a:ext cx="8712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8: Add dependency in requirement.txt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A39B8-CB7D-A9C8-07D1-DF3A8BE18E0D}"/>
              </a:ext>
            </a:extLst>
          </p:cNvPr>
          <p:cNvSpPr txBox="1"/>
          <p:nvPr/>
        </p:nvSpPr>
        <p:spPr>
          <a:xfrm>
            <a:off x="549796" y="691535"/>
            <a:ext cx="8712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000" dirty="0">
                <a:latin typeface="Aptos" panose="020B0004020202020204" pitchFamily="34" charset="0"/>
              </a:rPr>
              <a:t>Add </a:t>
            </a:r>
            <a:r>
              <a:rPr lang="en-IN" sz="2000" dirty="0" err="1">
                <a:latin typeface="Aptos" panose="020B0004020202020204" pitchFamily="34" charset="0"/>
              </a:rPr>
              <a:t>pytest</a:t>
            </a:r>
            <a:r>
              <a:rPr lang="en-IN" sz="2000" dirty="0">
                <a:latin typeface="Aptos" panose="020B0004020202020204" pitchFamily="34" charset="0"/>
              </a:rPr>
              <a:t> in requirements.txt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31F10-1D5A-97AF-E1C2-A6248160D16B}"/>
              </a:ext>
            </a:extLst>
          </p:cNvPr>
          <p:cNvSpPr txBox="1"/>
          <p:nvPr/>
        </p:nvSpPr>
        <p:spPr>
          <a:xfrm>
            <a:off x="532452" y="1307088"/>
            <a:ext cx="94503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9: Push the CI code into </a:t>
            </a:r>
            <a:r>
              <a:rPr lang="en-IN" sz="2200" b="1" dirty="0" err="1">
                <a:latin typeface="Aptos" panose="020B0004020202020204" pitchFamily="34" charset="0"/>
              </a:rPr>
              <a:t>Github</a:t>
            </a:r>
            <a:r>
              <a:rPr lang="en-IN" sz="2200" b="1" dirty="0">
                <a:latin typeface="Aptos" panose="020B0004020202020204" pitchFamily="34" charset="0"/>
              </a:rPr>
              <a:t> Repository and check the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1073DF-1501-0126-70D2-BF6E4A1C4AB7}"/>
              </a:ext>
            </a:extLst>
          </p:cNvPr>
          <p:cNvSpPr txBox="1"/>
          <p:nvPr/>
        </p:nvSpPr>
        <p:spPr>
          <a:xfrm>
            <a:off x="521298" y="2060848"/>
            <a:ext cx="94503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10: </a:t>
            </a:r>
            <a:r>
              <a:rPr lang="en-IN" sz="2200" b="1" dirty="0" err="1">
                <a:latin typeface="Aptos" panose="020B0004020202020204" pitchFamily="34" charset="0"/>
              </a:rPr>
              <a:t>Dockerize</a:t>
            </a:r>
            <a:r>
              <a:rPr lang="en-IN" sz="2200" b="1" dirty="0">
                <a:latin typeface="Aptos" panose="020B0004020202020204" pitchFamily="34" charset="0"/>
              </a:rPr>
              <a:t> the Application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A3D90-AA37-9939-78A3-BF978CFA2464}"/>
              </a:ext>
            </a:extLst>
          </p:cNvPr>
          <p:cNvSpPr txBox="1"/>
          <p:nvPr/>
        </p:nvSpPr>
        <p:spPr>
          <a:xfrm>
            <a:off x="549796" y="2811371"/>
            <a:ext cx="60975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ptos" panose="020B0004020202020204" pitchFamily="34" charset="0"/>
              </a:rPr>
              <a:t>FROM python:3.12-slim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latin typeface="Aptos" panose="020B0004020202020204" pitchFamily="34" charset="0"/>
              </a:rPr>
              <a:t>WORKDIR /app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latin typeface="Aptos" panose="020B0004020202020204" pitchFamily="34" charset="0"/>
              </a:rPr>
              <a:t>COPY app.py .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latin typeface="Aptos" panose="020B0004020202020204" pitchFamily="34" charset="0"/>
              </a:rPr>
              <a:t>CMD ["python", "app.py"]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63AD7E-110E-54DD-A187-E6AD077EE0FE}"/>
              </a:ext>
            </a:extLst>
          </p:cNvPr>
          <p:cNvSpPr txBox="1"/>
          <p:nvPr/>
        </p:nvSpPr>
        <p:spPr>
          <a:xfrm>
            <a:off x="5806380" y="3228945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Aptos" panose="020B0004020202020204" pitchFamily="34" charset="0"/>
              </a:defRPr>
            </a:lvl1pPr>
          </a:lstStyle>
          <a:p>
            <a:r>
              <a:rPr lang="de-DE" dirty="0"/>
              <a:t>docker build -t log-analyzer:latest 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28FEF2-D3B9-3C3D-04EC-660FD3A9447E}"/>
              </a:ext>
            </a:extLst>
          </p:cNvPr>
          <p:cNvSpPr txBox="1"/>
          <p:nvPr/>
        </p:nvSpPr>
        <p:spPr>
          <a:xfrm>
            <a:off x="5807902" y="3782650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docker run </a:t>
            </a:r>
            <a:r>
              <a:rPr lang="en-IN" dirty="0" err="1"/>
              <a:t>log-analyzer:latest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403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E70BFB-8CD4-961C-8D2E-08926C5112CE}"/>
              </a:ext>
            </a:extLst>
          </p:cNvPr>
          <p:cNvSpPr txBox="1"/>
          <p:nvPr/>
        </p:nvSpPr>
        <p:spPr>
          <a:xfrm>
            <a:off x="621804" y="188640"/>
            <a:ext cx="94503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11: Terraform – Local Infrastructure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200" b="1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4AFDC-C11A-174F-7CF3-843B1B714B25}"/>
              </a:ext>
            </a:extLst>
          </p:cNvPr>
          <p:cNvSpPr txBox="1"/>
          <p:nvPr/>
        </p:nvSpPr>
        <p:spPr>
          <a:xfrm>
            <a:off x="1053852" y="610136"/>
            <a:ext cx="609755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terraform {</a:t>
            </a:r>
          </a:p>
          <a:p>
            <a:r>
              <a:rPr lang="en-IN" sz="1600" dirty="0">
                <a:latin typeface="Aptos" panose="020B0004020202020204" pitchFamily="34" charset="0"/>
              </a:rPr>
              <a:t>  </a:t>
            </a:r>
            <a:r>
              <a:rPr lang="en-IN" sz="1600" dirty="0" err="1">
                <a:latin typeface="Aptos" panose="020B0004020202020204" pitchFamily="34" charset="0"/>
              </a:rPr>
              <a:t>required_providers</a:t>
            </a:r>
            <a:r>
              <a:rPr lang="en-IN" sz="1600" dirty="0">
                <a:latin typeface="Aptos" panose="020B0004020202020204" pitchFamily="34" charset="0"/>
              </a:rPr>
              <a:t> {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docker = {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source  = "</a:t>
            </a:r>
            <a:r>
              <a:rPr lang="en-IN" sz="1600" dirty="0" err="1">
                <a:latin typeface="Aptos" panose="020B0004020202020204" pitchFamily="34" charset="0"/>
              </a:rPr>
              <a:t>kreuzwerker</a:t>
            </a:r>
            <a:r>
              <a:rPr lang="en-IN" sz="1600" dirty="0">
                <a:latin typeface="Aptos" panose="020B0004020202020204" pitchFamily="34" charset="0"/>
              </a:rPr>
              <a:t>/docker"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version = "~&gt; 3.0"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}</a:t>
            </a:r>
          </a:p>
          <a:p>
            <a:r>
              <a:rPr lang="en-IN" sz="1600" dirty="0">
                <a:latin typeface="Aptos" panose="020B0004020202020204" pitchFamily="34" charset="0"/>
              </a:rPr>
              <a:t>  }</a:t>
            </a:r>
          </a:p>
          <a:p>
            <a:r>
              <a:rPr lang="en-IN" sz="1600" dirty="0">
                <a:latin typeface="Aptos" panose="020B0004020202020204" pitchFamily="34" charset="0"/>
              </a:rPr>
              <a:t>}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provider "docker" {}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resource "</a:t>
            </a:r>
            <a:r>
              <a:rPr lang="en-IN" sz="1600" dirty="0" err="1">
                <a:latin typeface="Aptos" panose="020B0004020202020204" pitchFamily="34" charset="0"/>
              </a:rPr>
              <a:t>docker_network</a:t>
            </a:r>
            <a:r>
              <a:rPr lang="en-IN" sz="1600" dirty="0">
                <a:latin typeface="Aptos" panose="020B0004020202020204" pitchFamily="34" charset="0"/>
              </a:rPr>
              <a:t>" "</a:t>
            </a:r>
            <a:r>
              <a:rPr lang="en-IN" sz="1600" dirty="0" err="1">
                <a:latin typeface="Aptos" panose="020B0004020202020204" pitchFamily="34" charset="0"/>
              </a:rPr>
              <a:t>log_network</a:t>
            </a:r>
            <a:r>
              <a:rPr lang="en-IN" sz="1600" dirty="0">
                <a:latin typeface="Aptos" panose="020B0004020202020204" pitchFamily="34" charset="0"/>
              </a:rPr>
              <a:t>" {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name = "log-</a:t>
            </a:r>
            <a:r>
              <a:rPr lang="en-IN" sz="1600" dirty="0" err="1">
                <a:latin typeface="Aptos" panose="020B0004020202020204" pitchFamily="34" charset="0"/>
              </a:rPr>
              <a:t>analyzer</a:t>
            </a:r>
            <a:r>
              <a:rPr lang="en-IN" sz="1600" dirty="0">
                <a:latin typeface="Aptos" panose="020B0004020202020204" pitchFamily="34" charset="0"/>
              </a:rPr>
              <a:t>-network"</a:t>
            </a:r>
          </a:p>
          <a:p>
            <a:r>
              <a:rPr lang="en-IN" sz="1600" dirty="0">
                <a:latin typeface="Aptos" panose="020B0004020202020204" pitchFamily="34" charset="0"/>
              </a:rPr>
              <a:t>}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resource "</a:t>
            </a:r>
            <a:r>
              <a:rPr lang="en-IN" sz="1600" dirty="0" err="1">
                <a:latin typeface="Aptos" panose="020B0004020202020204" pitchFamily="34" charset="0"/>
              </a:rPr>
              <a:t>docker_container</a:t>
            </a:r>
            <a:r>
              <a:rPr lang="en-IN" sz="1600" dirty="0">
                <a:latin typeface="Aptos" panose="020B0004020202020204" pitchFamily="34" charset="0"/>
              </a:rPr>
              <a:t>" "</a:t>
            </a:r>
            <a:r>
              <a:rPr lang="en-IN" sz="1600" dirty="0" err="1">
                <a:latin typeface="Aptos" panose="020B0004020202020204" pitchFamily="34" charset="0"/>
              </a:rPr>
              <a:t>log_analyzer</a:t>
            </a:r>
            <a:r>
              <a:rPr lang="en-IN" sz="1600" dirty="0">
                <a:latin typeface="Aptos" panose="020B0004020202020204" pitchFamily="34" charset="0"/>
              </a:rPr>
              <a:t>" {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name  = "log-</a:t>
            </a:r>
            <a:r>
              <a:rPr lang="en-IN" sz="1600" dirty="0" err="1">
                <a:latin typeface="Aptos" panose="020B0004020202020204" pitchFamily="34" charset="0"/>
              </a:rPr>
              <a:t>analyzer</a:t>
            </a:r>
            <a:r>
              <a:rPr lang="en-IN" sz="1600" dirty="0">
                <a:latin typeface="Aptos" panose="020B0004020202020204" pitchFamily="34" charset="0"/>
              </a:rPr>
              <a:t>"</a:t>
            </a:r>
          </a:p>
          <a:p>
            <a:r>
              <a:rPr lang="en-IN" sz="1600" dirty="0">
                <a:latin typeface="Aptos" panose="020B0004020202020204" pitchFamily="34" charset="0"/>
              </a:rPr>
              <a:t>  image = "</a:t>
            </a:r>
            <a:r>
              <a:rPr lang="en-IN" sz="1600" dirty="0" err="1">
                <a:latin typeface="Aptos" panose="020B0004020202020204" pitchFamily="34" charset="0"/>
              </a:rPr>
              <a:t>log-analyzer:latest</a:t>
            </a:r>
            <a:r>
              <a:rPr lang="en-IN" sz="1600" dirty="0">
                <a:latin typeface="Aptos" panose="020B0004020202020204" pitchFamily="34" charset="0"/>
              </a:rPr>
              <a:t>"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  </a:t>
            </a:r>
            <a:r>
              <a:rPr lang="en-IN" sz="1600" dirty="0" err="1">
                <a:latin typeface="Aptos" panose="020B0004020202020204" pitchFamily="34" charset="0"/>
              </a:rPr>
              <a:t>networks_advanced</a:t>
            </a:r>
            <a:r>
              <a:rPr lang="en-IN" sz="1600" dirty="0">
                <a:latin typeface="Aptos" panose="020B0004020202020204" pitchFamily="34" charset="0"/>
              </a:rPr>
              <a:t> {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name = docker_network.log_network.name</a:t>
            </a:r>
          </a:p>
          <a:p>
            <a:r>
              <a:rPr lang="en-IN" sz="1600" dirty="0">
                <a:latin typeface="Aptos" panose="020B0004020202020204" pitchFamily="34" charset="0"/>
              </a:rPr>
              <a:t>  }</a:t>
            </a:r>
          </a:p>
          <a:p>
            <a:r>
              <a:rPr lang="en-IN" sz="1600" dirty="0">
                <a:latin typeface="Aptos" panose="020B0004020202020204" pitchFamily="34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031045-D45A-BC44-91A7-7CB6DA58E6D9}"/>
              </a:ext>
            </a:extLst>
          </p:cNvPr>
          <p:cNvSpPr txBox="1"/>
          <p:nvPr/>
        </p:nvSpPr>
        <p:spPr>
          <a:xfrm>
            <a:off x="6793095" y="719822"/>
            <a:ext cx="362179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latin typeface="Aptos" panose="020B0004020202020204" pitchFamily="34" charset="0"/>
              </a:defRPr>
            </a:lvl1pPr>
          </a:lstStyle>
          <a:p>
            <a:r>
              <a:rPr lang="en-IN" sz="2000" dirty="0"/>
              <a:t>terraform </a:t>
            </a:r>
            <a:r>
              <a:rPr lang="en-IN" sz="2000" dirty="0" err="1"/>
              <a:t>init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terraform plan</a:t>
            </a:r>
          </a:p>
          <a:p>
            <a:endParaRPr lang="en-IN" sz="2000" dirty="0"/>
          </a:p>
          <a:p>
            <a:r>
              <a:rPr lang="en-IN" sz="2000" dirty="0"/>
              <a:t>terraform apply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7E7DC-00DD-4475-5457-45328542866E}"/>
              </a:ext>
            </a:extLst>
          </p:cNvPr>
          <p:cNvSpPr txBox="1"/>
          <p:nvPr/>
        </p:nvSpPr>
        <p:spPr>
          <a:xfrm>
            <a:off x="6793095" y="2953064"/>
            <a:ext cx="43204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Terraform</a:t>
            </a:r>
          </a:p>
          <a:p>
            <a:r>
              <a:rPr lang="en-IN" sz="2000" dirty="0"/>
              <a:t>    │</a:t>
            </a:r>
          </a:p>
          <a:p>
            <a:r>
              <a:rPr lang="en-IN" sz="2000" dirty="0"/>
              <a:t>    ▼</a:t>
            </a:r>
          </a:p>
          <a:p>
            <a:r>
              <a:rPr lang="en-IN" sz="2000" dirty="0"/>
              <a:t>Docker Network</a:t>
            </a:r>
          </a:p>
          <a:p>
            <a:r>
              <a:rPr lang="en-IN" sz="2000" dirty="0"/>
              <a:t>    │</a:t>
            </a:r>
          </a:p>
          <a:p>
            <a:r>
              <a:rPr lang="en-IN" sz="2000" dirty="0"/>
              <a:t>    ▼</a:t>
            </a:r>
          </a:p>
          <a:p>
            <a:r>
              <a:rPr lang="en-IN" sz="2000" dirty="0"/>
              <a:t>Docker Container</a:t>
            </a:r>
          </a:p>
          <a:p>
            <a:r>
              <a:rPr lang="en-IN" sz="2000" dirty="0"/>
              <a:t>    │</a:t>
            </a:r>
          </a:p>
          <a:p>
            <a:r>
              <a:rPr lang="en-IN" sz="2000" dirty="0"/>
              <a:t>    ▼</a:t>
            </a:r>
          </a:p>
          <a:p>
            <a:r>
              <a:rPr lang="en-IN" sz="2000" dirty="0"/>
              <a:t>Log Analyzer</a:t>
            </a:r>
          </a:p>
        </p:txBody>
      </p:sp>
    </p:spTree>
    <p:extLst>
      <p:ext uri="{BB962C8B-B14F-4D97-AF65-F5344CB8AC3E}">
        <p14:creationId xmlns:p14="http://schemas.microsoft.com/office/powerpoint/2010/main" val="144344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65D592-874D-193E-F159-B6CF20E6B345}"/>
              </a:ext>
            </a:extLst>
          </p:cNvPr>
          <p:cNvSpPr txBox="1"/>
          <p:nvPr/>
        </p:nvSpPr>
        <p:spPr>
          <a:xfrm>
            <a:off x="765820" y="1628800"/>
            <a:ext cx="74888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112: Run complete CI/CD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200" b="1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0C9C16-360C-105B-FB53-25A528CEE674}"/>
              </a:ext>
            </a:extLst>
          </p:cNvPr>
          <p:cNvSpPr txBox="1"/>
          <p:nvPr/>
        </p:nvSpPr>
        <p:spPr>
          <a:xfrm>
            <a:off x="765820" y="548680"/>
            <a:ext cx="92890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Aptos" panose="020B0004020202020204" pitchFamily="34" charset="0"/>
              </a:rPr>
              <a:t>STEP 11: Configure self-hosted runner in Settings -&gt; Actions -&gt; Runner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2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180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1242</TotalTime>
  <Words>1192</Words>
  <Application>Microsoft Office PowerPoint</Application>
  <PresentationFormat>Custom</PresentationFormat>
  <Paragraphs>224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Century Gothic</vt:lpstr>
      <vt:lpstr>Class open house presentation</vt:lpstr>
      <vt:lpstr>Practical – 7  DevOps – Part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Inamdar</dc:creator>
  <cp:lastModifiedBy>Aruna Inamdar</cp:lastModifiedBy>
  <cp:revision>219</cp:revision>
  <dcterms:created xsi:type="dcterms:W3CDTF">2026-07-15T13:08:00Z</dcterms:created>
  <dcterms:modified xsi:type="dcterms:W3CDTF">2026-09-05T16:34:15Z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