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2" r:id="rId1"/>
  </p:sldMasterIdLst>
  <p:notesMasterIdLst>
    <p:notesMasterId r:id="rId32"/>
  </p:notesMasterIdLst>
  <p:handoutMasterIdLst>
    <p:handoutMasterId r:id="rId33"/>
  </p:handoutMasterIdLst>
  <p:sldIdLst>
    <p:sldId id="257" r:id="rId2"/>
    <p:sldId id="267" r:id="rId3"/>
    <p:sldId id="258" r:id="rId4"/>
    <p:sldId id="259" r:id="rId5"/>
    <p:sldId id="261" r:id="rId6"/>
    <p:sldId id="260" r:id="rId7"/>
    <p:sldId id="262" r:id="rId8"/>
    <p:sldId id="263" r:id="rId9"/>
    <p:sldId id="264" r:id="rId10"/>
    <p:sldId id="265" r:id="rId11"/>
    <p:sldId id="266" r:id="rId12"/>
    <p:sldId id="268" r:id="rId13"/>
    <p:sldId id="270" r:id="rId14"/>
    <p:sldId id="269"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945">
          <p15:clr>
            <a:srgbClr val="A4A3A4"/>
          </p15:clr>
        </p15:guide>
        <p15:guide id="3" orient="horz" pos="3888">
          <p15:clr>
            <a:srgbClr val="A4A3A4"/>
          </p15:clr>
        </p15:guide>
        <p15:guide id="4" orient="horz" pos="192">
          <p15:clr>
            <a:srgbClr val="A4A3A4"/>
          </p15:clr>
        </p15:guide>
        <p15:guide id="5" orient="horz" pos="1072">
          <p15:clr>
            <a:srgbClr val="A4A3A4"/>
          </p15:clr>
        </p15:guide>
        <p15:guide id="6" pos="3839">
          <p15:clr>
            <a:srgbClr val="A4A3A4"/>
          </p15:clr>
        </p15:guide>
        <p15:guide id="7" pos="704">
          <p15:clr>
            <a:srgbClr val="A4A3A4"/>
          </p15:clr>
        </p15:guide>
        <p15:guide id="8" pos="710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DBED569-4797-4DF1-A0F4-6AAB3CD982D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182" autoAdjust="0"/>
  </p:normalViewPr>
  <p:slideViewPr>
    <p:cSldViewPr showGuides="1">
      <p:cViewPr varScale="1">
        <p:scale>
          <a:sx n="82" d="100"/>
          <a:sy n="82" d="100"/>
        </p:scale>
        <p:origin x="720" y="72"/>
      </p:cViewPr>
      <p:guideLst>
        <p:guide orient="horz" pos="2160"/>
        <p:guide orient="horz" pos="945"/>
        <p:guide orient="horz" pos="3888"/>
        <p:guide orient="horz" pos="192"/>
        <p:guide orient="horz" pos="1072"/>
        <p:guide pos="3839"/>
        <p:guide pos="704"/>
        <p:guide pos="7102"/>
      </p:guideLst>
    </p:cSldViewPr>
  </p:slideViewPr>
  <p:outlineViewPr>
    <p:cViewPr>
      <p:scale>
        <a:sx n="33" d="100"/>
        <a:sy n="33" d="100"/>
      </p:scale>
      <p:origin x="0" y="-2886"/>
    </p:cViewPr>
  </p:outlineViewPr>
  <p:notesTextViewPr>
    <p:cViewPr>
      <p:scale>
        <a:sx n="3" d="2"/>
        <a:sy n="3" d="2"/>
      </p:scale>
      <p:origin x="0" y="0"/>
    </p:cViewPr>
  </p:notesTextViewPr>
  <p:notesViewPr>
    <p:cSldViewPr>
      <p:cViewPr varScale="1">
        <p:scale>
          <a:sx n="79" d="100"/>
          <a:sy n="79" d="100"/>
        </p:scale>
        <p:origin x="1644"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solidFill>
                <a:schemeClr val="tx2"/>
              </a:solidFill>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973C59C-4E16-4A64-A766-34DB213E11B3}" type="datetimeFigureOut">
              <a:rPr lang="en-US">
                <a:solidFill>
                  <a:schemeClr val="tx2"/>
                </a:solidFill>
              </a:rPr>
              <a:t>7/15/2026</a:t>
            </a:fld>
            <a:endParaRPr>
              <a:solidFill>
                <a:schemeClr val="tx2"/>
              </a:solidFill>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solidFill>
                <a:schemeClr val="tx2"/>
              </a:solidFill>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FD77566-CD65-4859-9FA1-43956DC85B8C}" type="slidenum">
              <a:rPr>
                <a:solidFill>
                  <a:schemeClr val="tx2"/>
                </a:solidFill>
              </a:rPr>
              <a:t>‹#›</a:t>
            </a:fld>
            <a:endParaRPr>
              <a:solidFill>
                <a:schemeClr val="tx2"/>
              </a:solidFill>
            </a:endParaRPr>
          </a:p>
        </p:txBody>
      </p:sp>
    </p:spTree>
    <p:extLst>
      <p:ext uri="{BB962C8B-B14F-4D97-AF65-F5344CB8AC3E}">
        <p14:creationId xmlns:p14="http://schemas.microsoft.com/office/powerpoint/2010/main" val="27087983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solidFill>
                  <a:schemeClr val="tx2"/>
                </a:solidFill>
              </a:defRPr>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solidFill>
                  <a:schemeClr val="tx2"/>
                </a:solidFill>
              </a:defRPr>
            </a:lvl1pPr>
          </a:lstStyle>
          <a:p>
            <a:fld id="{F95CF31C-F757-429C-A789-86504F04C3BE}" type="datetimeFigureOut">
              <a:rPr lang="en-US"/>
              <a:pPr/>
              <a:t>7/15/2026</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solidFill>
                  <a:schemeClr val="tx2"/>
                </a:solidFill>
              </a:defRPr>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solidFill>
                  <a:schemeClr val="tx2"/>
                </a:solidFill>
              </a:defRPr>
            </a:lvl1pPr>
          </a:lstStyle>
          <a:p>
            <a:fld id="{B8796F01-7154-41E0-B48B-A6921757531A}" type="slidenum">
              <a:rPr/>
              <a:pPr/>
              <a:t>‹#›</a:t>
            </a:fld>
            <a:endParaRPr/>
          </a:p>
        </p:txBody>
      </p:sp>
    </p:spTree>
    <p:extLst>
      <p:ext uri="{BB962C8B-B14F-4D97-AF65-F5344CB8AC3E}">
        <p14:creationId xmlns:p14="http://schemas.microsoft.com/office/powerpoint/2010/main" val="44077566"/>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2"/>
        </a:solidFill>
        <a:latin typeface="+mn-lt"/>
        <a:ea typeface="+mn-ea"/>
        <a:cs typeface="+mn-cs"/>
      </a:defRPr>
    </a:lvl1pPr>
    <a:lvl2pPr marL="609493" algn="l" defTabSz="1218987" rtl="0" eaLnBrk="1" latinLnBrk="0" hangingPunct="1">
      <a:defRPr sz="1600" kern="1200">
        <a:solidFill>
          <a:schemeClr val="tx2"/>
        </a:solidFill>
        <a:latin typeface="+mn-lt"/>
        <a:ea typeface="+mn-ea"/>
        <a:cs typeface="+mn-cs"/>
      </a:defRPr>
    </a:lvl2pPr>
    <a:lvl3pPr marL="1218987" algn="l" defTabSz="1218987" rtl="0" eaLnBrk="1" latinLnBrk="0" hangingPunct="1">
      <a:defRPr sz="1600" kern="1200">
        <a:solidFill>
          <a:schemeClr val="tx2"/>
        </a:solidFill>
        <a:latin typeface="+mn-lt"/>
        <a:ea typeface="+mn-ea"/>
        <a:cs typeface="+mn-cs"/>
      </a:defRPr>
    </a:lvl3pPr>
    <a:lvl4pPr marL="1828480" algn="l" defTabSz="1218987" rtl="0" eaLnBrk="1" latinLnBrk="0" hangingPunct="1">
      <a:defRPr sz="1600" kern="1200">
        <a:solidFill>
          <a:schemeClr val="tx2"/>
        </a:solidFill>
        <a:latin typeface="+mn-lt"/>
        <a:ea typeface="+mn-ea"/>
        <a:cs typeface="+mn-cs"/>
      </a:defRPr>
    </a:lvl4pPr>
    <a:lvl5pPr marL="2437973" algn="l" defTabSz="1218987" rtl="0" eaLnBrk="1" latinLnBrk="0" hangingPunct="1">
      <a:defRPr sz="1600" kern="1200">
        <a:solidFill>
          <a:schemeClr val="tx2"/>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8796F01-7154-41E0-B48B-A6921757531A}" type="slidenum">
              <a:rPr lang="en-US" smtClean="0"/>
              <a:pPr/>
              <a:t>1</a:t>
            </a:fld>
            <a:endParaRPr lang="en-US"/>
          </a:p>
        </p:txBody>
      </p:sp>
    </p:spTree>
    <p:extLst>
      <p:ext uri="{BB962C8B-B14F-4D97-AF65-F5344CB8AC3E}">
        <p14:creationId xmlns:p14="http://schemas.microsoft.com/office/powerpoint/2010/main" val="16077057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8796F01-7154-41E0-B48B-A6921757531A}" type="slidenum">
              <a:rPr lang="en-US" smtClean="0"/>
              <a:pPr/>
              <a:t>3</a:t>
            </a:fld>
            <a:endParaRPr lang="en-US"/>
          </a:p>
        </p:txBody>
      </p:sp>
    </p:spTree>
    <p:extLst>
      <p:ext uri="{BB962C8B-B14F-4D97-AF65-F5344CB8AC3E}">
        <p14:creationId xmlns:p14="http://schemas.microsoft.com/office/powerpoint/2010/main" val="128480472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bwMode="auto">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4" name="Group 13"/>
          <p:cNvGrpSpPr/>
          <p:nvPr/>
        </p:nvGrpSpPr>
        <p:grpSpPr>
          <a:xfrm>
            <a:off x="0" y="0"/>
            <a:ext cx="12190572" cy="6858000"/>
            <a:chOff x="0" y="0"/>
            <a:chExt cx="12190572" cy="6858000"/>
          </a:xfrm>
        </p:grpSpPr>
        <p:sp>
          <p:nvSpPr>
            <p:cNvPr id="13" name="Rectangle 12"/>
            <p:cNvSpPr/>
            <p:nvPr/>
          </p:nvSpPr>
          <p:spPr>
            <a:xfrm>
              <a:off x="1620" y="0"/>
              <a:ext cx="12188952" cy="6858000"/>
            </a:xfrm>
            <a:prstGeom prst="rect">
              <a:avLst/>
            </a:prstGeom>
            <a:gradFill flip="none" rotWithShape="1">
              <a:gsLst>
                <a:gs pos="0">
                  <a:schemeClr val="accent1">
                    <a:lumMod val="50000"/>
                  </a:schemeClr>
                </a:gs>
                <a:gs pos="58000">
                  <a:schemeClr val="accent1">
                    <a:lumMod val="40000"/>
                    <a:lumOff val="60000"/>
                  </a:schemeClr>
                </a:gs>
                <a:gs pos="100000">
                  <a:schemeClr val="accent1">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grpSp>
          <p:nvGrpSpPr>
            <p:cNvPr id="12" name="Group 11"/>
            <p:cNvGrpSpPr/>
            <p:nvPr/>
          </p:nvGrpSpPr>
          <p:grpSpPr>
            <a:xfrm>
              <a:off x="0" y="0"/>
              <a:ext cx="4742741" cy="6858000"/>
              <a:chOff x="0" y="0"/>
              <a:chExt cx="4742741" cy="6858000"/>
            </a:xfrm>
          </p:grpSpPr>
          <p:pic>
            <p:nvPicPr>
              <p:cNvPr id="9" name="Picture 8" descr="Stacked book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91594" cy="6858000"/>
              </a:xfrm>
              <a:prstGeom prst="rect">
                <a:avLst/>
              </a:prstGeom>
            </p:spPr>
          </p:pic>
          <p:sp>
            <p:nvSpPr>
              <p:cNvPr id="10" name="Rectangle 9"/>
              <p:cNvSpPr/>
              <p:nvPr/>
            </p:nvSpPr>
            <p:spPr>
              <a:xfrm>
                <a:off x="4605581" y="0"/>
                <a:ext cx="13716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 name="Title 1"/>
          <p:cNvSpPr>
            <a:spLocks noGrp="1"/>
          </p:cNvSpPr>
          <p:nvPr>
            <p:ph type="ctrTitle"/>
          </p:nvPr>
        </p:nvSpPr>
        <p:spPr>
          <a:xfrm>
            <a:off x="4879346" y="1498601"/>
            <a:ext cx="7008574" cy="3298825"/>
          </a:xfrm>
        </p:spPr>
        <p:txBody>
          <a:bodyPr>
            <a:normAutofit/>
          </a:bodyPr>
          <a:lstStyle>
            <a:lvl1pPr algn="l">
              <a:lnSpc>
                <a:spcPct val="90000"/>
              </a:lnSpc>
              <a:defRPr sz="5400" b="0" cap="none" spc="0" baseline="0">
                <a:ln w="0"/>
                <a:solidFill>
                  <a:schemeClr val="tx2"/>
                </a:solidFill>
                <a:effectLst/>
              </a:defRPr>
            </a:lvl1pPr>
          </a:lstStyle>
          <a:p>
            <a:r>
              <a:rPr lang="en-US"/>
              <a:t>Click to edit Master title style</a:t>
            </a:r>
            <a:endParaRPr dirty="0"/>
          </a:p>
        </p:txBody>
      </p:sp>
      <p:sp>
        <p:nvSpPr>
          <p:cNvPr id="3" name="Subtitle 2"/>
          <p:cNvSpPr>
            <a:spLocks noGrp="1"/>
          </p:cNvSpPr>
          <p:nvPr>
            <p:ph type="subTitle" idx="1"/>
          </p:nvPr>
        </p:nvSpPr>
        <p:spPr>
          <a:xfrm>
            <a:off x="4879346" y="4927600"/>
            <a:ext cx="7008574" cy="1244600"/>
          </a:xfrm>
        </p:spPr>
        <p:txBody>
          <a:bodyPr>
            <a:normAutofit/>
          </a:bodyPr>
          <a:lstStyle>
            <a:lvl1pPr marL="0" indent="0" algn="l">
              <a:spcBef>
                <a:spcPts val="0"/>
              </a:spcBef>
              <a:buNone/>
              <a:defRPr sz="2800" b="0" cap="none" spc="0">
                <a:ln w="0"/>
                <a:solidFill>
                  <a:schemeClr val="accent2">
                    <a:lumMod val="50000"/>
                  </a:schemeClr>
                </a:solidFill>
                <a:effectLst/>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dirty="0"/>
          </a:p>
        </p:txBody>
      </p:sp>
      <p:sp>
        <p:nvSpPr>
          <p:cNvPr id="5" name="Date Placeholder 4"/>
          <p:cNvSpPr>
            <a:spLocks noGrp="1"/>
          </p:cNvSpPr>
          <p:nvPr>
            <p:ph type="dt" sz="half" idx="10"/>
          </p:nvPr>
        </p:nvSpPr>
        <p:spPr/>
        <p:txBody>
          <a:bodyPr/>
          <a:lstStyle/>
          <a:p>
            <a:fld id="{5706A09E-12D5-4B1D-B8BB-C300B1DDD423}" type="datetime1">
              <a:rPr lang="en-US" smtClean="0"/>
              <a:t>7/15/2026</a:t>
            </a:fld>
            <a:endParaRPr lang="en-US"/>
          </a:p>
        </p:txBody>
      </p:sp>
      <p:sp>
        <p:nvSpPr>
          <p:cNvPr id="7" name="Footer Placeholder 6"/>
          <p:cNvSpPr>
            <a:spLocks noGrp="1"/>
          </p:cNvSpPr>
          <p:nvPr>
            <p:ph type="ftr" sz="quarter" idx="11"/>
          </p:nvPr>
        </p:nvSpPr>
        <p:spPr/>
        <p:txBody>
          <a:bodyPr/>
          <a:lstStyle/>
          <a:p>
            <a:r>
              <a:rPr lang="en-US" dirty="0"/>
              <a:t>Add a footer</a:t>
            </a:r>
          </a:p>
        </p:txBody>
      </p:sp>
      <p:sp>
        <p:nvSpPr>
          <p:cNvPr id="11" name="Slide Number Placeholder 10"/>
          <p:cNvSpPr>
            <a:spLocks noGrp="1"/>
          </p:cNvSpPr>
          <p:nvPr>
            <p:ph type="sldNum" sz="quarter" idx="12"/>
          </p:nvPr>
        </p:nvSpPr>
        <p:spPr/>
        <p:txBody>
          <a:bodyPr/>
          <a:lstStyle/>
          <a:p>
            <a:fld id="{EB37DED6-D4C7-42EE-AB49-D2E39E64FDE4}" type="slidenum">
              <a:rPr lang="en-US" smtClean="0"/>
              <a:pPr/>
              <a:t>‹#›</a:t>
            </a:fld>
            <a:endParaRPr lang="en-US"/>
          </a:p>
        </p:txBody>
      </p:sp>
    </p:spTree>
    <p:extLst>
      <p:ext uri="{BB962C8B-B14F-4D97-AF65-F5344CB8AC3E}">
        <p14:creationId xmlns:p14="http://schemas.microsoft.com/office/powerpoint/2010/main" val="33220121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baseline="0"/>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15A9377B-053C-438C-8A98-92C419A6701C}" type="datetime1">
              <a:rPr lang="en-US" smtClean="0"/>
              <a:t>7/15/2026</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DA60BA0E-20D0-4E7C-B286-26C960A6788F}" type="slidenum">
              <a:rPr lang="en-US" smtClean="0"/>
              <a:t>‹#›</a:t>
            </a:fld>
            <a:endParaRPr lang="en-US"/>
          </a:p>
        </p:txBody>
      </p:sp>
    </p:spTree>
    <p:extLst>
      <p:ext uri="{BB962C8B-B14F-4D97-AF65-F5344CB8AC3E}">
        <p14:creationId xmlns:p14="http://schemas.microsoft.com/office/powerpoint/2010/main" val="2865359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Header">
    <p:bg bwMode="auto">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2" name="Group 11"/>
          <p:cNvGrpSpPr/>
          <p:nvPr/>
        </p:nvGrpSpPr>
        <p:grpSpPr>
          <a:xfrm>
            <a:off x="1620" y="0"/>
            <a:ext cx="12188952" cy="6858000"/>
            <a:chOff x="1620" y="0"/>
            <a:chExt cx="12188952" cy="6858000"/>
          </a:xfrm>
        </p:grpSpPr>
        <p:sp>
          <p:nvSpPr>
            <p:cNvPr id="4" name="Rectangle 3"/>
            <p:cNvSpPr/>
            <p:nvPr/>
          </p:nvSpPr>
          <p:spPr>
            <a:xfrm>
              <a:off x="1620" y="0"/>
              <a:ext cx="12188952" cy="6858000"/>
            </a:xfrm>
            <a:prstGeom prst="rect">
              <a:avLst/>
            </a:prstGeom>
            <a:gradFill flip="none" rotWithShape="1">
              <a:gsLst>
                <a:gs pos="0">
                  <a:schemeClr val="accent1">
                    <a:lumMod val="50000"/>
                  </a:schemeClr>
                </a:gs>
                <a:gs pos="58000">
                  <a:schemeClr val="accent1">
                    <a:lumMod val="40000"/>
                    <a:lumOff val="60000"/>
                  </a:schemeClr>
                </a:gs>
                <a:gs pos="100000">
                  <a:schemeClr val="accent1">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8818" y="0"/>
              <a:ext cx="4591594" cy="6858000"/>
            </a:xfrm>
            <a:prstGeom prst="rect">
              <a:avLst/>
            </a:prstGeom>
          </p:spPr>
        </p:pic>
        <p:sp>
          <p:nvSpPr>
            <p:cNvPr id="11" name="Rectangle 10"/>
            <p:cNvSpPr/>
            <p:nvPr/>
          </p:nvSpPr>
          <p:spPr>
            <a:xfrm>
              <a:off x="7481252" y="0"/>
              <a:ext cx="13716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a:solidFill>
                  <a:schemeClr val="tx2"/>
                </a:solidFill>
              </a:endParaRPr>
            </a:p>
          </p:txBody>
        </p:sp>
      </p:grpSp>
      <p:pic>
        <p:nvPicPr>
          <p:cNvPr id="5" name="Picture 4" descr="Stacked book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8818" y="0"/>
            <a:ext cx="4591594" cy="6858000"/>
          </a:xfrm>
          <a:prstGeom prst="rect">
            <a:avLst/>
          </a:prstGeom>
        </p:spPr>
      </p:pic>
      <p:sp>
        <p:nvSpPr>
          <p:cNvPr id="7" name="Title 1"/>
          <p:cNvSpPr>
            <a:spLocks noGrp="1"/>
          </p:cNvSpPr>
          <p:nvPr>
            <p:ph type="ctrTitle"/>
          </p:nvPr>
        </p:nvSpPr>
        <p:spPr>
          <a:xfrm>
            <a:off x="237149" y="1498601"/>
            <a:ext cx="7008574" cy="3298825"/>
          </a:xfrm>
        </p:spPr>
        <p:txBody>
          <a:bodyPr>
            <a:normAutofit/>
          </a:bodyPr>
          <a:lstStyle>
            <a:lvl1pPr algn="l">
              <a:lnSpc>
                <a:spcPct val="90000"/>
              </a:lnSpc>
              <a:defRPr sz="5400" b="0" cap="none" spc="0" baseline="0">
                <a:ln w="0"/>
                <a:solidFill>
                  <a:schemeClr val="tx2"/>
                </a:solidFill>
                <a:effectLst/>
              </a:defRPr>
            </a:lvl1pPr>
          </a:lstStyle>
          <a:p>
            <a:r>
              <a:rPr lang="en-US"/>
              <a:t>Click to edit Master title style</a:t>
            </a:r>
            <a:endParaRPr dirty="0"/>
          </a:p>
        </p:txBody>
      </p:sp>
      <p:sp>
        <p:nvSpPr>
          <p:cNvPr id="8" name="Subtitle 2"/>
          <p:cNvSpPr>
            <a:spLocks noGrp="1"/>
          </p:cNvSpPr>
          <p:nvPr>
            <p:ph type="subTitle" idx="1"/>
          </p:nvPr>
        </p:nvSpPr>
        <p:spPr>
          <a:xfrm>
            <a:off x="237149" y="4927600"/>
            <a:ext cx="7008574" cy="1244600"/>
          </a:xfrm>
        </p:spPr>
        <p:txBody>
          <a:bodyPr>
            <a:normAutofit/>
          </a:bodyPr>
          <a:lstStyle>
            <a:lvl1pPr marL="0" indent="0" algn="l">
              <a:spcBef>
                <a:spcPts val="0"/>
              </a:spcBef>
              <a:buNone/>
              <a:defRPr sz="2800" b="0" cap="none" spc="0">
                <a:ln w="0"/>
                <a:solidFill>
                  <a:schemeClr val="accent2">
                    <a:lumMod val="50000"/>
                  </a:schemeClr>
                </a:solidFill>
                <a:effectLst/>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dirty="0"/>
          </a:p>
        </p:txBody>
      </p:sp>
      <p:sp>
        <p:nvSpPr>
          <p:cNvPr id="2" name="Date Placeholder 1"/>
          <p:cNvSpPr>
            <a:spLocks noGrp="1"/>
          </p:cNvSpPr>
          <p:nvPr>
            <p:ph type="dt" sz="half" idx="10"/>
          </p:nvPr>
        </p:nvSpPr>
        <p:spPr/>
        <p:txBody>
          <a:bodyPr/>
          <a:lstStyle/>
          <a:p>
            <a:fld id="{B07CEF46-0123-4A75-9835-49DC49D53DE2}" type="datetime1">
              <a:rPr lang="en-US" smtClean="0"/>
              <a:t>7/15/2026</a:t>
            </a:fld>
            <a:endParaRPr lang="en-US"/>
          </a:p>
        </p:txBody>
      </p:sp>
      <p:sp>
        <p:nvSpPr>
          <p:cNvPr id="3" name="Footer Placeholder 2"/>
          <p:cNvSpPr>
            <a:spLocks noGrp="1"/>
          </p:cNvSpPr>
          <p:nvPr>
            <p:ph type="ftr" sz="quarter" idx="11"/>
          </p:nvPr>
        </p:nvSpPr>
        <p:spPr/>
        <p:txBody>
          <a:bodyPr/>
          <a:lstStyle/>
          <a:p>
            <a:r>
              <a:rPr lang="en-US" dirty="0"/>
              <a:t>Add a footer</a:t>
            </a:r>
          </a:p>
        </p:txBody>
      </p:sp>
      <p:sp>
        <p:nvSpPr>
          <p:cNvPr id="9" name="Slide Number Placeholder 8"/>
          <p:cNvSpPr>
            <a:spLocks noGrp="1"/>
          </p:cNvSpPr>
          <p:nvPr>
            <p:ph type="sldNum" sz="quarter" idx="12"/>
          </p:nvPr>
        </p:nvSpPr>
        <p:spPr/>
        <p:txBody>
          <a:bodyPr/>
          <a:lstStyle/>
          <a:p>
            <a:fld id="{EB37DED6-D4C7-42EE-AB49-D2E39E64FDE4}" type="slidenum">
              <a:rPr lang="en-US" smtClean="0"/>
              <a:pPr/>
              <a:t>‹#›</a:t>
            </a:fld>
            <a:endParaRPr lang="en-US"/>
          </a:p>
        </p:txBody>
      </p:sp>
    </p:spTree>
    <p:extLst>
      <p:ext uri="{BB962C8B-B14F-4D97-AF65-F5344CB8AC3E}">
        <p14:creationId xmlns:p14="http://schemas.microsoft.com/office/powerpoint/2010/main" val="30525827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hasCustomPrompt="1"/>
          </p:nvPr>
        </p:nvSpPr>
        <p:spPr>
          <a:xfrm>
            <a:off x="1117309" y="1701800"/>
            <a:ext cx="4977104" cy="4470400"/>
          </a:xfrm>
        </p:spPr>
        <p:txBody>
          <a:bodyPr>
            <a:normAutofit/>
          </a:bodyPr>
          <a:lstStyle>
            <a:lvl1pPr>
              <a:defRPr sz="2400"/>
            </a:lvl1pPr>
            <a:lvl2pPr>
              <a:defRPr sz="2000"/>
            </a:lvl2pPr>
            <a:lvl3pPr>
              <a:defRPr sz="1800"/>
            </a:lvl3pPr>
            <a:lvl4pPr>
              <a:defRPr sz="1800"/>
            </a:lvl4pPr>
            <a:lvl5pPr marL="2011328">
              <a:defRPr sz="1800"/>
            </a:lvl5pPr>
            <a:lvl6pPr marL="2297078" indent="-285750">
              <a:buFont typeface="Century Gothic" panose="020B0502020202020204" pitchFamily="34" charset="0"/>
              <a:buChar char="–"/>
              <a:defRPr sz="1800"/>
            </a:lvl6pPr>
            <a:lvl7pPr marL="2568575" indent="-285750">
              <a:buFont typeface="Century Gothic" panose="020B0502020202020204" pitchFamily="34" charset="0"/>
              <a:buChar char="–"/>
              <a:defRPr sz="1800"/>
            </a:lvl7pPr>
            <a:lvl8pPr marL="2860675" indent="-285750">
              <a:defRPr sz="1800"/>
            </a:lvl8pPr>
            <a:lvl9pPr marL="3151188" indent="-285750">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8"/>
            <a:endParaRPr dirty="0"/>
          </a:p>
        </p:txBody>
      </p:sp>
      <p:sp>
        <p:nvSpPr>
          <p:cNvPr id="4" name="Content Placeholder 3"/>
          <p:cNvSpPr>
            <a:spLocks noGrp="1"/>
          </p:cNvSpPr>
          <p:nvPr>
            <p:ph sz="half" idx="2" hasCustomPrompt="1"/>
          </p:nvPr>
        </p:nvSpPr>
        <p:spPr>
          <a:xfrm>
            <a:off x="6297559" y="1701800"/>
            <a:ext cx="4977104" cy="4470400"/>
          </a:xfrm>
        </p:spPr>
        <p:txBody>
          <a:bodyPr>
            <a:normAutofit/>
          </a:bodyPr>
          <a:lstStyle>
            <a:lvl1pPr>
              <a:defRPr sz="2400"/>
            </a:lvl1pPr>
            <a:lvl2pPr>
              <a:defRPr sz="2000"/>
            </a:lvl2pPr>
            <a:lvl3pPr>
              <a:defRPr sz="1800"/>
            </a:lvl3pPr>
            <a:lvl4pPr>
              <a:defRPr sz="1800"/>
            </a:lvl4pPr>
            <a:lvl5pPr marL="2011328">
              <a:defRPr sz="1800"/>
            </a:lvl5pPr>
            <a:lvl6pPr marL="2297078" indent="-285750">
              <a:buFont typeface="Century Gothic" panose="020B0502020202020204" pitchFamily="34" charset="0"/>
              <a:buChar char="–"/>
              <a:defRPr sz="1800"/>
            </a:lvl6pPr>
            <a:lvl7pPr marL="2568575" indent="-285750">
              <a:defRPr sz="1800"/>
            </a:lvl7pPr>
            <a:lvl8pPr marL="2860675" indent="-285750">
              <a:defRPr sz="1800"/>
            </a:lvl8pPr>
            <a:lvl9pPr marL="3151188" indent="-285750">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Date Placeholder 4"/>
          <p:cNvSpPr>
            <a:spLocks noGrp="1"/>
          </p:cNvSpPr>
          <p:nvPr>
            <p:ph type="dt" sz="half" idx="10"/>
          </p:nvPr>
        </p:nvSpPr>
        <p:spPr/>
        <p:txBody>
          <a:bodyPr/>
          <a:lstStyle/>
          <a:p>
            <a:fld id="{62A6378D-18AE-47D1-B10A-42F623B40082}" type="datetime1">
              <a:rPr lang="en-US" smtClean="0"/>
              <a:t>7/15/2026</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2025045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121372" y="1608836"/>
            <a:ext cx="4973041" cy="512064"/>
          </a:xfrm>
        </p:spPr>
        <p:txBody>
          <a:bodyPr anchor="b">
            <a:noAutofit/>
          </a:bodyPr>
          <a:lstStyle>
            <a:lvl1pPr marL="0" indent="0">
              <a:spcBef>
                <a:spcPts val="0"/>
              </a:spcBef>
              <a:buNone/>
              <a:defRPr sz="2400" b="1"/>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hasCustomPrompt="1"/>
          </p:nvPr>
        </p:nvSpPr>
        <p:spPr>
          <a:xfrm>
            <a:off x="1117309" y="2209800"/>
            <a:ext cx="4977104" cy="3962400"/>
          </a:xfrm>
        </p:spPr>
        <p:txBody>
          <a:bodyPr>
            <a:normAutofit/>
          </a:bodyPr>
          <a:lstStyle>
            <a:lvl1pPr>
              <a:defRPr sz="2000"/>
            </a:lvl1pPr>
            <a:lvl2pPr>
              <a:defRPr sz="1800"/>
            </a:lvl2pPr>
            <a:lvl3pPr>
              <a:defRPr sz="1800"/>
            </a:lvl3pPr>
            <a:lvl4pPr>
              <a:defRPr sz="1800"/>
            </a:lvl4pPr>
            <a:lvl5pPr marL="2011328">
              <a:defRPr sz="1800"/>
            </a:lvl5pPr>
            <a:lvl6pPr marL="2297078" indent="-285750">
              <a:buFont typeface="Century Gothic" panose="020B0502020202020204" pitchFamily="34" charset="0"/>
              <a:buChar char="–"/>
              <a:defRPr sz="1800"/>
            </a:lvl6pPr>
            <a:lvl7pPr marL="2568575" indent="-285750">
              <a:defRPr sz="1800"/>
            </a:lvl7pPr>
            <a:lvl8pPr marL="2860675" indent="-285750">
              <a:defRPr sz="1800"/>
            </a:lvl8pPr>
            <a:lvl9pPr marL="3151188" indent="-285750">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ext Placeholder 4"/>
          <p:cNvSpPr>
            <a:spLocks noGrp="1"/>
          </p:cNvSpPr>
          <p:nvPr>
            <p:ph type="body" sz="quarter" idx="3"/>
          </p:nvPr>
        </p:nvSpPr>
        <p:spPr>
          <a:xfrm>
            <a:off x="6301622" y="1608836"/>
            <a:ext cx="4973041" cy="512064"/>
          </a:xfrm>
        </p:spPr>
        <p:txBody>
          <a:bodyPr anchor="b">
            <a:noAutofit/>
          </a:bodyPr>
          <a:lstStyle>
            <a:lvl1pPr marL="0" indent="0">
              <a:spcBef>
                <a:spcPts val="0"/>
              </a:spcBef>
              <a:buNone/>
              <a:defRPr sz="2400" b="1"/>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hasCustomPrompt="1"/>
          </p:nvPr>
        </p:nvSpPr>
        <p:spPr>
          <a:xfrm>
            <a:off x="6297559" y="2209800"/>
            <a:ext cx="4977104" cy="3962400"/>
          </a:xfrm>
        </p:spPr>
        <p:txBody>
          <a:bodyPr>
            <a:normAutofit/>
          </a:bodyPr>
          <a:lstStyle>
            <a:lvl1pPr>
              <a:defRPr sz="2000"/>
            </a:lvl1pPr>
            <a:lvl2pPr>
              <a:defRPr sz="1800"/>
            </a:lvl2pPr>
            <a:lvl3pPr>
              <a:defRPr sz="1800"/>
            </a:lvl3pPr>
            <a:lvl4pPr>
              <a:defRPr sz="1800"/>
            </a:lvl4pPr>
            <a:lvl5pPr marL="2011328">
              <a:defRPr sz="1800"/>
            </a:lvl5pPr>
            <a:lvl6pPr marL="2297078" indent="-285750">
              <a:buFont typeface="Century Gothic" panose="020B0502020202020204" pitchFamily="34" charset="0"/>
              <a:buChar char="–"/>
              <a:defRPr sz="1800"/>
            </a:lvl6pPr>
            <a:lvl7pPr marL="2568575" indent="-285750">
              <a:defRPr sz="1800"/>
            </a:lvl7pPr>
            <a:lvl8pPr marL="2860675" indent="-285750">
              <a:defRPr sz="1800"/>
            </a:lvl8pPr>
            <a:lvl9pPr marL="3151188" indent="-285750">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7" name="Date Placeholder 6"/>
          <p:cNvSpPr>
            <a:spLocks noGrp="1"/>
          </p:cNvSpPr>
          <p:nvPr>
            <p:ph type="dt" sz="half" idx="10"/>
          </p:nvPr>
        </p:nvSpPr>
        <p:spPr/>
        <p:txBody>
          <a:bodyPr/>
          <a:lstStyle/>
          <a:p>
            <a:fld id="{321F6AE8-D704-41F6-B16A-5547B5672AC1}" type="datetime1">
              <a:rPr lang="en-US" smtClean="0"/>
              <a:t>7/15/2026</a:t>
            </a:fld>
            <a:endParaRPr lang="en-US"/>
          </a:p>
        </p:txBody>
      </p:sp>
      <p:sp>
        <p:nvSpPr>
          <p:cNvPr id="8" name="Footer Placeholder 7"/>
          <p:cNvSpPr>
            <a:spLocks noGrp="1"/>
          </p:cNvSpPr>
          <p:nvPr>
            <p:ph type="ftr" sz="quarter" idx="11"/>
          </p:nvPr>
        </p:nvSpPr>
        <p:spPr/>
        <p:txBody>
          <a:bodyPr/>
          <a:lstStyle/>
          <a:p>
            <a:r>
              <a:rPr lang="en-US" dirty="0"/>
              <a:t>Add a footer</a:t>
            </a:r>
          </a:p>
        </p:txBody>
      </p:sp>
      <p:sp>
        <p:nvSpPr>
          <p:cNvPr id="9" name="Slide Number Placeholder 8"/>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920072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58AB9538-6F63-4C0B-916D-ED3F4E0A1B28}" type="datetime1">
              <a:rPr lang="en-US" smtClean="0"/>
              <a:t>7/15/2026</a:t>
            </a:fld>
            <a:endParaRPr lang="en-US"/>
          </a:p>
        </p:txBody>
      </p:sp>
      <p:sp>
        <p:nvSpPr>
          <p:cNvPr id="4" name="Footer Placeholder 3"/>
          <p:cNvSpPr>
            <a:spLocks noGrp="1"/>
          </p:cNvSpPr>
          <p:nvPr>
            <p:ph type="ftr" sz="quarter" idx="11"/>
          </p:nvPr>
        </p:nvSpPr>
        <p:spPr/>
        <p:txBody>
          <a:bodyPr/>
          <a:lstStyle/>
          <a:p>
            <a:r>
              <a:rPr lang="en-US" dirty="0"/>
              <a:t>Add a footer</a:t>
            </a:r>
          </a:p>
        </p:txBody>
      </p:sp>
      <p:sp>
        <p:nvSpPr>
          <p:cNvPr id="5" name="Slide Number Placeholder 4"/>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2304845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8F15BF-7116-4A9E-8022-5A2DC937F971}" type="datetime1">
              <a:rPr lang="en-US" smtClean="0"/>
              <a:t>7/15/2026</a:t>
            </a:fld>
            <a:endParaRPr lang="en-US"/>
          </a:p>
        </p:txBody>
      </p:sp>
      <p:sp>
        <p:nvSpPr>
          <p:cNvPr id="3" name="Footer Placeholder 2"/>
          <p:cNvSpPr>
            <a:spLocks noGrp="1"/>
          </p:cNvSpPr>
          <p:nvPr>
            <p:ph type="ftr" sz="quarter" idx="11"/>
          </p:nvPr>
        </p:nvSpPr>
        <p:spPr/>
        <p:txBody>
          <a:bodyPr/>
          <a:lstStyle/>
          <a:p>
            <a:r>
              <a:rPr lang="en-US" dirty="0"/>
              <a:t>Add a footer</a:t>
            </a:r>
          </a:p>
        </p:txBody>
      </p:sp>
      <p:sp>
        <p:nvSpPr>
          <p:cNvPr id="4" name="Slide Number Placeholder 3"/>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219507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3961368" y="0"/>
            <a:ext cx="7922736" cy="6858000"/>
          </a:xfrm>
          <a:prstGeom prst="rect">
            <a:avLst/>
          </a:prstGeom>
          <a:gradFill flip="none" rotWithShape="1">
            <a:gsLst>
              <a:gs pos="0">
                <a:schemeClr val="bg1">
                  <a:alpha val="0"/>
                </a:schemeClr>
              </a:gs>
              <a:gs pos="100000">
                <a:schemeClr val="bg1">
                  <a:alpha val="55000"/>
                </a:schemeClr>
              </a:gs>
            </a:gsLst>
            <a:lin ang="7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 name="Title 1"/>
          <p:cNvSpPr>
            <a:spLocks noGrp="1"/>
          </p:cNvSpPr>
          <p:nvPr>
            <p:ph type="title"/>
          </p:nvPr>
        </p:nvSpPr>
        <p:spPr>
          <a:xfrm>
            <a:off x="455612" y="1701800"/>
            <a:ext cx="3351927" cy="2844800"/>
          </a:xfrm>
        </p:spPr>
        <p:txBody>
          <a:bodyPr anchor="b">
            <a:normAutofit/>
          </a:bodyPr>
          <a:lstStyle>
            <a:lvl1pPr algn="l">
              <a:defRPr sz="2000" b="1">
                <a:effectLst/>
              </a:defRPr>
            </a:lvl1pPr>
          </a:lstStyle>
          <a:p>
            <a:r>
              <a:rPr lang="en-US"/>
              <a:t>Click to edit Master title style</a:t>
            </a:r>
            <a:endParaRPr dirty="0"/>
          </a:p>
        </p:txBody>
      </p:sp>
      <p:sp>
        <p:nvSpPr>
          <p:cNvPr id="3" name="Content Placeholder 2"/>
          <p:cNvSpPr>
            <a:spLocks noGrp="1"/>
          </p:cNvSpPr>
          <p:nvPr>
            <p:ph idx="1" hasCustomPrompt="1"/>
          </p:nvPr>
        </p:nvSpPr>
        <p:spPr>
          <a:xfrm>
            <a:off x="4469236" y="482600"/>
            <a:ext cx="6805427" cy="5892800"/>
          </a:xfrm>
        </p:spPr>
        <p:txBody>
          <a:bodyPr>
            <a:normAutofit/>
          </a:bodyPr>
          <a:lstStyle>
            <a:lvl1pPr>
              <a:defRPr sz="2400"/>
            </a:lvl1pPr>
            <a:lvl2pPr>
              <a:defRPr sz="2000"/>
            </a:lvl2pPr>
            <a:lvl3pPr>
              <a:defRPr sz="1800"/>
            </a:lvl3pPr>
            <a:lvl4pPr>
              <a:defRPr sz="1800"/>
            </a:lvl4pPr>
            <a:lvl5pPr>
              <a:defRPr sz="1800"/>
            </a:lvl5pPr>
            <a:lvl6pPr marL="2418976" indent="-285750">
              <a:buFont typeface="Century Gothic" panose="020B0502020202020204" pitchFamily="34" charset="0"/>
              <a:buChar cha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Text Placeholder 3"/>
          <p:cNvSpPr>
            <a:spLocks noGrp="1"/>
          </p:cNvSpPr>
          <p:nvPr>
            <p:ph type="body" sz="half" idx="2"/>
          </p:nvPr>
        </p:nvSpPr>
        <p:spPr>
          <a:xfrm>
            <a:off x="455612" y="4648200"/>
            <a:ext cx="3351927" cy="1727200"/>
          </a:xfrm>
        </p:spPr>
        <p:txBody>
          <a:bodyPr>
            <a:normAutofit/>
          </a:bodyPr>
          <a:lstStyle>
            <a:lvl1pPr marL="0" indent="0">
              <a:spcBef>
                <a:spcPts val="1200"/>
              </a:spcBef>
              <a:buNone/>
              <a:defRPr sz="16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41B8DC91-5A3B-40CE-8C1D-279A8EF6E008}" type="datetime1">
              <a:rPr lang="en-US" smtClean="0"/>
              <a:t>7/15/2026</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2DFBB78A-01B4-41F2-96B0-677A4A282832}" type="slidenum">
              <a:rPr lang="en-US" smtClean="0"/>
              <a:t>‹#›</a:t>
            </a:fld>
            <a:endParaRPr lang="en-US"/>
          </a:p>
        </p:txBody>
      </p:sp>
    </p:spTree>
    <p:extLst>
      <p:ext uri="{BB962C8B-B14F-4D97-AF65-F5344CB8AC3E}">
        <p14:creationId xmlns:p14="http://schemas.microsoft.com/office/powerpoint/2010/main" val="789110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082258" y="0"/>
            <a:ext cx="8024310" cy="6858000"/>
          </a:xfrm>
          <a:prstGeom prst="rect">
            <a:avLst/>
          </a:prstGeom>
          <a:gradFill flip="none" rotWithShape="1">
            <a:gsLst>
              <a:gs pos="0">
                <a:schemeClr val="bg1">
                  <a:alpha val="0"/>
                </a:schemeClr>
              </a:gs>
              <a:gs pos="100000">
                <a:schemeClr val="bg1">
                  <a:alpha val="55000"/>
                </a:schemeClr>
              </a:gs>
            </a:gsLst>
            <a:lin ang="7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 name="Title 1"/>
          <p:cNvSpPr>
            <a:spLocks noGrp="1"/>
          </p:cNvSpPr>
          <p:nvPr>
            <p:ph type="title"/>
          </p:nvPr>
        </p:nvSpPr>
        <p:spPr>
          <a:xfrm>
            <a:off x="2437765" y="4800600"/>
            <a:ext cx="7313295" cy="762000"/>
          </a:xfrm>
        </p:spPr>
        <p:txBody>
          <a:bodyPr anchor="b">
            <a:normAutofit/>
          </a:bodyPr>
          <a:lstStyle>
            <a:lvl1pPr algn="l">
              <a:defRPr sz="2000" b="1">
                <a:effectLst/>
              </a:defRPr>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2437765" y="279401"/>
            <a:ext cx="7313295" cy="4448175"/>
          </a:xfrm>
        </p:spPr>
        <p:txBody>
          <a:bodyPr>
            <a:normAutofit/>
          </a:bodyPr>
          <a:lstStyle>
            <a:lvl1pPr marL="0" indent="0">
              <a:buNone/>
              <a:defRPr sz="28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4" name="Text Placeholder 3"/>
          <p:cNvSpPr>
            <a:spLocks noGrp="1"/>
          </p:cNvSpPr>
          <p:nvPr>
            <p:ph type="body" sz="half" idx="2"/>
          </p:nvPr>
        </p:nvSpPr>
        <p:spPr>
          <a:xfrm>
            <a:off x="2437765" y="5562600"/>
            <a:ext cx="7313295" cy="812800"/>
          </a:xfrm>
        </p:spPr>
        <p:txBody>
          <a:bodyPr>
            <a:normAutofit/>
          </a:bodyPr>
          <a:lstStyle>
            <a:lvl1pPr marL="0" indent="0">
              <a:spcBef>
                <a:spcPts val="0"/>
              </a:spcBef>
              <a:buNone/>
              <a:defRPr sz="16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36B7C20A-B94A-4E20-B4B2-88A7825AE904}" type="datetime1">
              <a:rPr lang="en-US" smtClean="0"/>
              <a:t>7/15/2026</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2DFBB78A-01B4-41F2-96B0-677A4A282832}" type="slidenum">
              <a:rPr lang="en-US" smtClean="0"/>
              <a:t>‹#›</a:t>
            </a:fld>
            <a:endParaRPr lang="en-US"/>
          </a:p>
        </p:txBody>
      </p:sp>
    </p:spTree>
    <p:extLst>
      <p:ext uri="{BB962C8B-B14F-4D97-AF65-F5344CB8AC3E}">
        <p14:creationId xmlns:p14="http://schemas.microsoft.com/office/powerpoint/2010/main" val="3521372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hasCustomPrompt="1"/>
          </p:nvPr>
        </p:nvSpPr>
        <p:spPr/>
        <p:txBody>
          <a:bodyPr vert="eaVert"/>
          <a:lstStyle>
            <a:lvl5pPr>
              <a:defRPr/>
            </a:lvl5pPr>
            <a:lvl6pPr marL="2418976" indent="-285750">
              <a:buFont typeface="Century Gothic" panose="020B0502020202020204" pitchFamily="34" charset="0"/>
              <a:buChar cha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10"/>
          </p:nvPr>
        </p:nvSpPr>
        <p:spPr/>
        <p:txBody>
          <a:bodyPr/>
          <a:lstStyle/>
          <a:p>
            <a:fld id="{D91CA53D-4C84-40AA-983E-A1E818A7FEFC}" type="datetime1">
              <a:rPr lang="en-US" smtClean="0"/>
              <a:t>7/15/2026</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591C5AD9-787D-40FA-8A4D-16A055B9AF81}" type="slidenum">
              <a:rPr lang="en-US" smtClean="0"/>
              <a:t>‹#›</a:t>
            </a:fld>
            <a:endParaRPr lang="en-US"/>
          </a:p>
        </p:txBody>
      </p:sp>
    </p:spTree>
    <p:extLst>
      <p:ext uri="{BB962C8B-B14F-4D97-AF65-F5344CB8AC3E}">
        <p14:creationId xmlns:p14="http://schemas.microsoft.com/office/powerpoint/2010/main" val="1817619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852633" y="274638"/>
            <a:ext cx="1422030" cy="5897561"/>
          </a:xfrm>
        </p:spPr>
        <p:txBody>
          <a:bodyPr vert="eaVert"/>
          <a:lstStyle/>
          <a:p>
            <a:r>
              <a:rPr lang="en-US"/>
              <a:t>Click to edit Master title style</a:t>
            </a:r>
            <a:endParaRPr/>
          </a:p>
        </p:txBody>
      </p:sp>
      <p:sp>
        <p:nvSpPr>
          <p:cNvPr id="3" name="Vertical Text Placeholder 2"/>
          <p:cNvSpPr>
            <a:spLocks noGrp="1"/>
          </p:cNvSpPr>
          <p:nvPr>
            <p:ph type="body" orient="vert" idx="1" hasCustomPrompt="1"/>
          </p:nvPr>
        </p:nvSpPr>
        <p:spPr>
          <a:xfrm>
            <a:off x="1117309" y="274638"/>
            <a:ext cx="8532178" cy="5897561"/>
          </a:xfrm>
        </p:spPr>
        <p:txBody>
          <a:bodyPr vert="eaVert"/>
          <a:lstStyle>
            <a:lvl5pPr>
              <a:defRPr/>
            </a:lvl5pPr>
            <a:lvl6pPr marL="2418976" indent="-285750">
              <a:buFont typeface="Century Gothic" panose="020B0502020202020204" pitchFamily="34" charset="0"/>
              <a:buChar cha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10"/>
          </p:nvPr>
        </p:nvSpPr>
        <p:spPr/>
        <p:txBody>
          <a:bodyPr/>
          <a:lstStyle/>
          <a:p>
            <a:fld id="{C8E2FCEE-AE66-4EAB-9C04-97F8A56A6354}" type="datetime1">
              <a:rPr lang="en-US" smtClean="0"/>
              <a:t>7/15/2026</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591C5AD9-787D-40FA-8A4D-16A055B9AF81}" type="slidenum">
              <a:rPr lang="en-US" smtClean="0"/>
              <a:t>‹#›</a:t>
            </a:fld>
            <a:endParaRPr lang="en-US"/>
          </a:p>
        </p:txBody>
      </p:sp>
    </p:spTree>
    <p:extLst>
      <p:ext uri="{BB962C8B-B14F-4D97-AF65-F5344CB8AC3E}">
        <p14:creationId xmlns:p14="http://schemas.microsoft.com/office/powerpoint/2010/main" val="3723691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grpSp>
        <p:nvGrpSpPr>
          <p:cNvPr id="7" name="Group 6"/>
          <p:cNvGrpSpPr/>
          <p:nvPr/>
        </p:nvGrpSpPr>
        <p:grpSpPr>
          <a:xfrm>
            <a:off x="1620" y="0"/>
            <a:ext cx="12188952" cy="6858000"/>
            <a:chOff x="1620" y="0"/>
            <a:chExt cx="12188952" cy="6858000"/>
          </a:xfrm>
        </p:grpSpPr>
        <p:sp>
          <p:nvSpPr>
            <p:cNvPr id="10" name="Rectangle 9"/>
            <p:cNvSpPr/>
            <p:nvPr/>
          </p:nvSpPr>
          <p:spPr>
            <a:xfrm>
              <a:off x="1620" y="0"/>
              <a:ext cx="12188952" cy="6858000"/>
            </a:xfrm>
            <a:prstGeom prst="rect">
              <a:avLst/>
            </a:prstGeom>
            <a:gradFill flip="none" rotWithShape="1">
              <a:gsLst>
                <a:gs pos="0">
                  <a:schemeClr val="accent1">
                    <a:lumMod val="50000"/>
                  </a:schemeClr>
                </a:gs>
                <a:gs pos="58000">
                  <a:schemeClr val="accent1">
                    <a:lumMod val="40000"/>
                    <a:lumOff val="60000"/>
                  </a:schemeClr>
                </a:gs>
                <a:gs pos="100000">
                  <a:schemeClr val="accent1">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8" name="Rectangle 7"/>
            <p:cNvSpPr/>
            <p:nvPr/>
          </p:nvSpPr>
          <p:spPr>
            <a:xfrm>
              <a:off x="304721" y="0"/>
              <a:ext cx="11579384" cy="6858000"/>
            </a:xfrm>
            <a:prstGeom prst="rect">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grpSp>
      <p:sp>
        <p:nvSpPr>
          <p:cNvPr id="2" name="Title Placeholder 1"/>
          <p:cNvSpPr>
            <a:spLocks noGrp="1"/>
          </p:cNvSpPr>
          <p:nvPr>
            <p:ph type="title"/>
          </p:nvPr>
        </p:nvSpPr>
        <p:spPr>
          <a:xfrm>
            <a:off x="1117309" y="76200"/>
            <a:ext cx="10157354" cy="1397000"/>
          </a:xfrm>
          <a:prstGeom prst="rect">
            <a:avLst/>
          </a:prstGeom>
        </p:spPr>
        <p:txBody>
          <a:bodyPr vert="horz" lIns="121899" tIns="60949" rIns="121899" bIns="60949" rtlCol="0" anchor="b">
            <a:normAutofit/>
          </a:bodyPr>
          <a:lstStyle/>
          <a:p>
            <a:r>
              <a:rPr lang="en-US"/>
              <a:t>Click to edit Master title style</a:t>
            </a:r>
            <a:endParaRPr dirty="0"/>
          </a:p>
        </p:txBody>
      </p:sp>
      <p:sp>
        <p:nvSpPr>
          <p:cNvPr id="3" name="Text Placeholder 2"/>
          <p:cNvSpPr>
            <a:spLocks noGrp="1"/>
          </p:cNvSpPr>
          <p:nvPr>
            <p:ph type="body" idx="1"/>
          </p:nvPr>
        </p:nvSpPr>
        <p:spPr>
          <a:xfrm>
            <a:off x="1117309" y="1701800"/>
            <a:ext cx="10157354" cy="4470400"/>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17309" y="6400801"/>
            <a:ext cx="2742486" cy="320675"/>
          </a:xfrm>
          <a:prstGeom prst="rect">
            <a:avLst/>
          </a:prstGeom>
        </p:spPr>
        <p:txBody>
          <a:bodyPr vert="horz" lIns="121899" tIns="60949" rIns="121899" bIns="60949" rtlCol="0" anchor="b"/>
          <a:lstStyle>
            <a:lvl1pPr algn="l">
              <a:defRPr sz="1200">
                <a:solidFill>
                  <a:schemeClr val="tx2">
                    <a:lumMod val="50000"/>
                  </a:schemeClr>
                </a:solidFill>
              </a:defRPr>
            </a:lvl1pPr>
          </a:lstStyle>
          <a:p>
            <a:fld id="{859468AF-EFCF-4AAD-ACF4-3BA83EC4AF4E}" type="datetime1">
              <a:rPr lang="en-US" smtClean="0"/>
              <a:pPr/>
              <a:t>7/15/2026</a:t>
            </a:fld>
            <a:endParaRPr lang="en-US" dirty="0"/>
          </a:p>
        </p:txBody>
      </p:sp>
      <p:sp>
        <p:nvSpPr>
          <p:cNvPr id="5" name="Footer Placeholder 4"/>
          <p:cNvSpPr>
            <a:spLocks noGrp="1"/>
          </p:cNvSpPr>
          <p:nvPr>
            <p:ph type="ftr" sz="quarter" idx="3"/>
          </p:nvPr>
        </p:nvSpPr>
        <p:spPr>
          <a:xfrm>
            <a:off x="3907842" y="6400801"/>
            <a:ext cx="6216301" cy="320675"/>
          </a:xfrm>
          <a:prstGeom prst="rect">
            <a:avLst/>
          </a:prstGeom>
        </p:spPr>
        <p:txBody>
          <a:bodyPr vert="horz" lIns="121899" tIns="60949" rIns="121899" bIns="60949" rtlCol="0" anchor="b"/>
          <a:lstStyle>
            <a:lvl1pPr algn="ctr">
              <a:defRPr sz="1200">
                <a:solidFill>
                  <a:schemeClr val="tx2">
                    <a:lumMod val="50000"/>
                  </a:schemeClr>
                </a:solidFill>
              </a:defRPr>
            </a:lvl1pPr>
          </a:lstStyle>
          <a:p>
            <a:r>
              <a:rPr lang="en-US"/>
              <a:t>Add a footer</a:t>
            </a:r>
            <a:endParaRPr lang="en-US" dirty="0"/>
          </a:p>
        </p:txBody>
      </p:sp>
      <p:sp>
        <p:nvSpPr>
          <p:cNvPr id="6" name="Slide Number Placeholder 5"/>
          <p:cNvSpPr>
            <a:spLocks noGrp="1"/>
          </p:cNvSpPr>
          <p:nvPr>
            <p:ph type="sldNum" sz="quarter" idx="4"/>
          </p:nvPr>
        </p:nvSpPr>
        <p:spPr>
          <a:xfrm>
            <a:off x="10167146" y="6400801"/>
            <a:ext cx="1107518" cy="320675"/>
          </a:xfrm>
          <a:prstGeom prst="rect">
            <a:avLst/>
          </a:prstGeom>
        </p:spPr>
        <p:txBody>
          <a:bodyPr vert="horz" lIns="121899" tIns="60949" rIns="121899" bIns="60949" rtlCol="0" anchor="b"/>
          <a:lstStyle>
            <a:lvl1pPr algn="r">
              <a:defRPr sz="1200">
                <a:solidFill>
                  <a:schemeClr val="tx2">
                    <a:lumMod val="50000"/>
                  </a:schemeClr>
                </a:solidFill>
              </a:defRPr>
            </a:lvl1pPr>
          </a:lstStyle>
          <a:p>
            <a:fld id="{EB37DED6-D4C7-42EE-AB49-D2E39E64FDE4}" type="slidenum">
              <a:rPr lang="en-US" smtClean="0"/>
              <a:pPr/>
              <a:t>‹#›</a:t>
            </a:fld>
            <a:endParaRPr lang="en-US"/>
          </a:p>
        </p:txBody>
      </p:sp>
    </p:spTree>
    <p:extLst>
      <p:ext uri="{BB962C8B-B14F-4D97-AF65-F5344CB8AC3E}">
        <p14:creationId xmlns:p14="http://schemas.microsoft.com/office/powerpoint/2010/main" val="2060187724"/>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1218987" rtl="0" eaLnBrk="1" latinLnBrk="0" hangingPunct="1">
        <a:lnSpc>
          <a:spcPct val="85000"/>
        </a:lnSpc>
        <a:spcBef>
          <a:spcPct val="0"/>
        </a:spcBef>
        <a:buNone/>
        <a:tabLst/>
        <a:defRPr sz="4400" b="0" kern="1200" cap="none" baseline="0">
          <a:solidFill>
            <a:schemeClr val="accent2">
              <a:lumMod val="50000"/>
            </a:schemeClr>
          </a:solidFill>
          <a:effectLst/>
          <a:latin typeface="+mj-lt"/>
          <a:ea typeface="+mj-ea"/>
          <a:cs typeface="+mj-cs"/>
        </a:defRPr>
      </a:lvl1pPr>
    </p:titleStyle>
    <p:bodyStyle>
      <a:lvl1pPr marL="304747" indent="-304747" algn="l" defTabSz="1218987" rtl="0" eaLnBrk="1" latinLnBrk="0" hangingPunct="1">
        <a:lnSpc>
          <a:spcPct val="95000"/>
        </a:lnSpc>
        <a:spcBef>
          <a:spcPts val="1866"/>
        </a:spcBef>
        <a:buClr>
          <a:schemeClr val="accent6">
            <a:lumMod val="50000"/>
          </a:schemeClr>
        </a:buClr>
        <a:buSzPct val="100000"/>
        <a:buFont typeface="Arial" pitchFamily="34" charset="0"/>
        <a:buChar char="•"/>
        <a:defRPr sz="2400" kern="1200">
          <a:solidFill>
            <a:schemeClr val="tx1"/>
          </a:solidFill>
          <a:latin typeface="+mn-lt"/>
          <a:ea typeface="+mn-ea"/>
          <a:cs typeface="+mn-cs"/>
        </a:defRPr>
      </a:lvl1pPr>
      <a:lvl2pPr marL="731392"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2000" kern="1200">
          <a:solidFill>
            <a:schemeClr val="tx1"/>
          </a:solidFill>
          <a:latin typeface="+mn-lt"/>
          <a:ea typeface="+mn-ea"/>
          <a:cs typeface="+mn-cs"/>
        </a:defRPr>
      </a:lvl2pPr>
      <a:lvl3pPr marL="1158037"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1800" kern="1200">
          <a:solidFill>
            <a:schemeClr val="tx1"/>
          </a:solidFill>
          <a:latin typeface="+mn-lt"/>
          <a:ea typeface="+mn-ea"/>
          <a:cs typeface="+mn-cs"/>
        </a:defRPr>
      </a:lvl3pPr>
      <a:lvl4pPr marL="1584683"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1800" kern="1200">
          <a:solidFill>
            <a:schemeClr val="tx1"/>
          </a:solidFill>
          <a:latin typeface="+mn-lt"/>
          <a:ea typeface="+mn-ea"/>
          <a:cs typeface="+mn-cs"/>
        </a:defRPr>
      </a:lvl4pPr>
      <a:lvl5pPr marL="2011328"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1800" kern="1200">
          <a:solidFill>
            <a:schemeClr val="tx1"/>
          </a:solidFill>
          <a:latin typeface="+mn-lt"/>
          <a:ea typeface="+mn-ea"/>
          <a:cs typeface="+mn-cs"/>
        </a:defRPr>
      </a:lvl5pPr>
      <a:lvl6pPr marL="2133226" indent="0" algn="l" defTabSz="1218987" rtl="0" eaLnBrk="1" latinLnBrk="0" hangingPunct="1">
        <a:lnSpc>
          <a:spcPct val="95000"/>
        </a:lnSpc>
        <a:spcBef>
          <a:spcPts val="1066"/>
        </a:spcBef>
        <a:buClr>
          <a:schemeClr val="accent6">
            <a:lumMod val="50000"/>
          </a:schemeClr>
        </a:buClr>
        <a:buSzPct val="90000"/>
        <a:buFont typeface="Century Gothic" panose="020B0502020202020204" pitchFamily="34" charset="0"/>
        <a:buNone/>
        <a:defRPr sz="1800" kern="1200">
          <a:solidFill>
            <a:schemeClr val="tx2">
              <a:lumMod val="50000"/>
            </a:schemeClr>
          </a:solidFill>
          <a:latin typeface="+mn-lt"/>
          <a:ea typeface="+mn-ea"/>
          <a:cs typeface="+mn-cs"/>
        </a:defRPr>
      </a:lvl6pPr>
      <a:lvl7pPr marL="2845622" indent="-285750" algn="l" defTabSz="1218987" rtl="0" eaLnBrk="1" latinLnBrk="0" hangingPunct="1">
        <a:lnSpc>
          <a:spcPct val="95000"/>
        </a:lnSpc>
        <a:spcBef>
          <a:spcPts val="1066"/>
        </a:spcBef>
        <a:buClr>
          <a:schemeClr val="accent6">
            <a:lumMod val="50000"/>
          </a:schemeClr>
        </a:buClr>
        <a:buSzPct val="90000"/>
        <a:buFont typeface="Century Gothic" panose="020B0502020202020204" pitchFamily="34" charset="0"/>
        <a:buChar char="–"/>
        <a:defRPr sz="1800" kern="1200">
          <a:solidFill>
            <a:schemeClr val="tx2">
              <a:lumMod val="50000"/>
            </a:schemeClr>
          </a:solidFill>
          <a:latin typeface="+mn-lt"/>
          <a:ea typeface="+mn-ea"/>
          <a:cs typeface="+mn-cs"/>
        </a:defRPr>
      </a:lvl7pPr>
      <a:lvl8pPr marL="3272267" indent="-285750" algn="l" defTabSz="1218987" rtl="0" eaLnBrk="1" latinLnBrk="0" hangingPunct="1">
        <a:lnSpc>
          <a:spcPct val="95000"/>
        </a:lnSpc>
        <a:spcBef>
          <a:spcPts val="1066"/>
        </a:spcBef>
        <a:buClr>
          <a:schemeClr val="accent6">
            <a:lumMod val="50000"/>
          </a:schemeClr>
        </a:buClr>
        <a:buSzPct val="90000"/>
        <a:buFont typeface="Century Gothic" panose="020B0502020202020204" pitchFamily="34" charset="0"/>
        <a:buChar char="–"/>
        <a:defRPr sz="1800" kern="1200">
          <a:solidFill>
            <a:schemeClr val="tx2">
              <a:lumMod val="50000"/>
            </a:schemeClr>
          </a:solidFill>
          <a:latin typeface="+mn-lt"/>
          <a:ea typeface="+mn-ea"/>
          <a:cs typeface="+mn-cs"/>
        </a:defRPr>
      </a:lvl8pPr>
      <a:lvl9pPr marL="3759862" indent="-285750" algn="l" defTabSz="1218987" rtl="0" eaLnBrk="1" latinLnBrk="0" hangingPunct="1">
        <a:lnSpc>
          <a:spcPct val="95000"/>
        </a:lnSpc>
        <a:spcBef>
          <a:spcPts val="1066"/>
        </a:spcBef>
        <a:buClr>
          <a:schemeClr val="accent6">
            <a:lumMod val="50000"/>
          </a:schemeClr>
        </a:buClr>
        <a:buSzPct val="90000"/>
        <a:buFont typeface="Century Gothic" panose="020B0502020202020204" pitchFamily="34" charset="0"/>
        <a:buChar char="–"/>
        <a:defRPr sz="1800" kern="1200">
          <a:solidFill>
            <a:schemeClr val="tx2">
              <a:lumMod val="50000"/>
            </a:schemeClr>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Software Engineering</a:t>
            </a:r>
          </a:p>
        </p:txBody>
      </p:sp>
      <p:sp>
        <p:nvSpPr>
          <p:cNvPr id="5" name="Subtitle 4"/>
          <p:cNvSpPr>
            <a:spLocks noGrp="1"/>
          </p:cNvSpPr>
          <p:nvPr>
            <p:ph type="subTitle" idx="1"/>
          </p:nvPr>
        </p:nvSpPr>
        <p:spPr>
          <a:xfrm>
            <a:off x="4879346" y="4941168"/>
            <a:ext cx="7008574" cy="1244600"/>
          </a:xfrm>
        </p:spPr>
        <p:txBody>
          <a:bodyPr/>
          <a:lstStyle/>
          <a:p>
            <a:r>
              <a:rPr lang="en-US" dirty="0"/>
              <a:t>Aruna Kumbhar</a:t>
            </a:r>
          </a:p>
        </p:txBody>
      </p:sp>
    </p:spTree>
    <p:extLst>
      <p:ext uri="{BB962C8B-B14F-4D97-AF65-F5344CB8AC3E}">
        <p14:creationId xmlns:p14="http://schemas.microsoft.com/office/powerpoint/2010/main" val="168988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A3744-82BD-18CD-BD9F-BA4F2D7917BD}"/>
              </a:ext>
            </a:extLst>
          </p:cNvPr>
          <p:cNvSpPr>
            <a:spLocks noGrp="1"/>
          </p:cNvSpPr>
          <p:nvPr>
            <p:ph type="title"/>
          </p:nvPr>
        </p:nvSpPr>
        <p:spPr/>
        <p:txBody>
          <a:bodyPr/>
          <a:lstStyle/>
          <a:p>
            <a:r>
              <a:rPr lang="en-IN" dirty="0"/>
              <a:t>Revise</a:t>
            </a:r>
          </a:p>
        </p:txBody>
      </p:sp>
      <p:sp>
        <p:nvSpPr>
          <p:cNvPr id="3" name="Content Placeholder 2">
            <a:extLst>
              <a:ext uri="{FF2B5EF4-FFF2-40B4-BE49-F238E27FC236}">
                <a16:creationId xmlns:a16="http://schemas.microsoft.com/office/drawing/2014/main" id="{2D861C79-8EB4-E7B5-84F2-09F2C4AB619D}"/>
              </a:ext>
            </a:extLst>
          </p:cNvPr>
          <p:cNvSpPr>
            <a:spLocks noGrp="1"/>
          </p:cNvSpPr>
          <p:nvPr>
            <p:ph idx="1"/>
          </p:nvPr>
        </p:nvSpPr>
        <p:spPr/>
        <p:txBody>
          <a:bodyPr/>
          <a:lstStyle/>
          <a:p>
            <a:r>
              <a:rPr lang="en-IN" dirty="0"/>
              <a:t>Introduction</a:t>
            </a:r>
          </a:p>
          <a:p>
            <a:r>
              <a:rPr lang="en-IN" dirty="0"/>
              <a:t>How software development works - Sandwich Activity</a:t>
            </a:r>
          </a:p>
        </p:txBody>
      </p:sp>
    </p:spTree>
    <p:extLst>
      <p:ext uri="{BB962C8B-B14F-4D97-AF65-F5344CB8AC3E}">
        <p14:creationId xmlns:p14="http://schemas.microsoft.com/office/powerpoint/2010/main" val="3102947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46ACBC6-3294-C386-62DA-97E2E9DE9A40}"/>
              </a:ext>
            </a:extLst>
          </p:cNvPr>
          <p:cNvSpPr txBox="1"/>
          <p:nvPr/>
        </p:nvSpPr>
        <p:spPr>
          <a:xfrm>
            <a:off x="828193" y="404547"/>
            <a:ext cx="8651727" cy="443198"/>
          </a:xfrm>
          <a:prstGeom prst="rect">
            <a:avLst/>
          </a:prstGeom>
          <a:noFill/>
        </p:spPr>
        <p:txBody>
          <a:bodyPr wrap="none" rtlCol="0">
            <a:spAutoFit/>
          </a:bodyPr>
          <a:lstStyle/>
          <a:p>
            <a:pPr>
              <a:lnSpc>
                <a:spcPct val="95000"/>
              </a:lnSpc>
            </a:pPr>
            <a:r>
              <a:rPr lang="en-US" dirty="0"/>
              <a:t>How many of you have ever built a college mini project?</a:t>
            </a:r>
            <a:endParaRPr lang="en-IN" dirty="0"/>
          </a:p>
        </p:txBody>
      </p:sp>
      <p:sp>
        <p:nvSpPr>
          <p:cNvPr id="9" name="TextBox 8">
            <a:extLst>
              <a:ext uri="{FF2B5EF4-FFF2-40B4-BE49-F238E27FC236}">
                <a16:creationId xmlns:a16="http://schemas.microsoft.com/office/drawing/2014/main" id="{BDDAA927-0C2D-3376-2BD3-268B2F416B79}"/>
              </a:ext>
            </a:extLst>
          </p:cNvPr>
          <p:cNvSpPr txBox="1"/>
          <p:nvPr/>
        </p:nvSpPr>
        <p:spPr>
          <a:xfrm>
            <a:off x="828193" y="1119052"/>
            <a:ext cx="9020418" cy="443198"/>
          </a:xfrm>
          <a:prstGeom prst="rect">
            <a:avLst/>
          </a:prstGeom>
          <a:noFill/>
        </p:spPr>
        <p:txBody>
          <a:bodyPr wrap="none" rtlCol="0">
            <a:spAutoFit/>
          </a:bodyPr>
          <a:lstStyle/>
          <a:p>
            <a:pPr>
              <a:lnSpc>
                <a:spcPct val="95000"/>
              </a:lnSpc>
            </a:pPr>
            <a:r>
              <a:rPr lang="en-US" dirty="0"/>
              <a:t>How many of those projects worked perfectly the first time?</a:t>
            </a:r>
            <a:endParaRPr lang="en-IN" dirty="0"/>
          </a:p>
        </p:txBody>
      </p:sp>
      <p:sp>
        <p:nvSpPr>
          <p:cNvPr id="10" name="TextBox 9">
            <a:extLst>
              <a:ext uri="{FF2B5EF4-FFF2-40B4-BE49-F238E27FC236}">
                <a16:creationId xmlns:a16="http://schemas.microsoft.com/office/drawing/2014/main" id="{2E7109FB-1146-93DA-98F2-1D036C631F69}"/>
              </a:ext>
            </a:extLst>
          </p:cNvPr>
          <p:cNvSpPr txBox="1"/>
          <p:nvPr/>
        </p:nvSpPr>
        <p:spPr>
          <a:xfrm>
            <a:off x="828193" y="1775047"/>
            <a:ext cx="4631396" cy="443198"/>
          </a:xfrm>
          <a:prstGeom prst="rect">
            <a:avLst/>
          </a:prstGeom>
          <a:noFill/>
        </p:spPr>
        <p:txBody>
          <a:bodyPr wrap="none" rtlCol="0">
            <a:spAutoFit/>
          </a:bodyPr>
          <a:lstStyle/>
          <a:p>
            <a:pPr>
              <a:lnSpc>
                <a:spcPct val="95000"/>
              </a:lnSpc>
            </a:pPr>
            <a:r>
              <a:rPr lang="en-US" dirty="0"/>
              <a:t>What problems did you face?</a:t>
            </a:r>
            <a:endParaRPr lang="en-IN" dirty="0"/>
          </a:p>
        </p:txBody>
      </p:sp>
      <p:sp>
        <p:nvSpPr>
          <p:cNvPr id="11" name="TextBox 10">
            <a:extLst>
              <a:ext uri="{FF2B5EF4-FFF2-40B4-BE49-F238E27FC236}">
                <a16:creationId xmlns:a16="http://schemas.microsoft.com/office/drawing/2014/main" id="{2E78CDAB-9217-4829-2DE5-66F353C410C0}"/>
              </a:ext>
            </a:extLst>
          </p:cNvPr>
          <p:cNvSpPr txBox="1"/>
          <p:nvPr/>
        </p:nvSpPr>
        <p:spPr>
          <a:xfrm>
            <a:off x="845536" y="2636912"/>
            <a:ext cx="5521423" cy="3397853"/>
          </a:xfrm>
          <a:prstGeom prst="rect">
            <a:avLst/>
          </a:prstGeom>
          <a:noFill/>
        </p:spPr>
        <p:txBody>
          <a:bodyPr wrap="square" rtlCol="0">
            <a:spAutoFit/>
          </a:bodyPr>
          <a:lstStyle/>
          <a:p>
            <a:r>
              <a:rPr lang="en-US" dirty="0"/>
              <a:t>Typical problems:</a:t>
            </a:r>
          </a:p>
          <a:p>
            <a:pPr>
              <a:buFont typeface="Arial" panose="020B0604020202020204" pitchFamily="34" charset="0"/>
              <a:buChar char="•"/>
            </a:pPr>
            <a:r>
              <a:rPr lang="en-US" dirty="0"/>
              <a:t>Bugs </a:t>
            </a:r>
          </a:p>
          <a:p>
            <a:pPr>
              <a:buFont typeface="Arial" panose="020B0604020202020204" pitchFamily="34" charset="0"/>
              <a:buChar char="•"/>
            </a:pPr>
            <a:r>
              <a:rPr lang="en-US" dirty="0"/>
              <a:t>Team members didn't work </a:t>
            </a:r>
          </a:p>
          <a:p>
            <a:pPr>
              <a:buFont typeface="Arial" panose="020B0604020202020204" pitchFamily="34" charset="0"/>
              <a:buChar char="•"/>
            </a:pPr>
            <a:r>
              <a:rPr lang="en-US" dirty="0"/>
              <a:t>Requirements changed </a:t>
            </a:r>
          </a:p>
          <a:p>
            <a:pPr>
              <a:buFont typeface="Arial" panose="020B0604020202020204" pitchFamily="34" charset="0"/>
              <a:buChar char="•"/>
            </a:pPr>
            <a:r>
              <a:rPr lang="en-US" dirty="0"/>
              <a:t>Last-minute coding </a:t>
            </a:r>
          </a:p>
          <a:p>
            <a:pPr>
              <a:buFont typeface="Arial" panose="020B0604020202020204" pitchFamily="34" charset="0"/>
              <a:buChar char="•"/>
            </a:pPr>
            <a:r>
              <a:rPr lang="en-US" dirty="0"/>
              <a:t>No testing </a:t>
            </a:r>
          </a:p>
          <a:p>
            <a:pPr>
              <a:buFont typeface="Arial" panose="020B0604020202020204" pitchFamily="34" charset="0"/>
              <a:buChar char="•"/>
            </a:pPr>
            <a:r>
              <a:rPr lang="en-US" dirty="0"/>
              <a:t>Deadline pressure </a:t>
            </a:r>
          </a:p>
          <a:p>
            <a:pPr>
              <a:buFont typeface="Arial" panose="020B0604020202020204" pitchFamily="34" charset="0"/>
              <a:buChar char="•"/>
            </a:pPr>
            <a:r>
              <a:rPr lang="en-US" dirty="0"/>
              <a:t>Documentation missing</a:t>
            </a:r>
          </a:p>
          <a:p>
            <a:pPr>
              <a:lnSpc>
                <a:spcPct val="95000"/>
              </a:lnSpc>
            </a:pPr>
            <a:endParaRPr lang="en-IN" dirty="0"/>
          </a:p>
        </p:txBody>
      </p:sp>
      <p:sp>
        <p:nvSpPr>
          <p:cNvPr id="12" name="TextBox 11">
            <a:extLst>
              <a:ext uri="{FF2B5EF4-FFF2-40B4-BE49-F238E27FC236}">
                <a16:creationId xmlns:a16="http://schemas.microsoft.com/office/drawing/2014/main" id="{EDE3D642-067D-D227-A8A9-6C9CE6275108}"/>
              </a:ext>
            </a:extLst>
          </p:cNvPr>
          <p:cNvSpPr txBox="1"/>
          <p:nvPr/>
        </p:nvSpPr>
        <p:spPr>
          <a:xfrm>
            <a:off x="405780" y="5877272"/>
            <a:ext cx="11190884" cy="443198"/>
          </a:xfrm>
          <a:prstGeom prst="rect">
            <a:avLst/>
          </a:prstGeom>
          <a:noFill/>
        </p:spPr>
        <p:txBody>
          <a:bodyPr wrap="none" rtlCol="0">
            <a:spAutoFit/>
          </a:bodyPr>
          <a:lstStyle/>
          <a:p>
            <a:pPr>
              <a:lnSpc>
                <a:spcPct val="95000"/>
              </a:lnSpc>
            </a:pPr>
            <a:r>
              <a:rPr lang="en-US" sz="2200" b="1" dirty="0">
                <a:solidFill>
                  <a:srgbClr val="FF0000"/>
                </a:solidFill>
              </a:rPr>
              <a:t>Congratulations! You have already experienced Software Engineering problems</a:t>
            </a:r>
            <a:r>
              <a:rPr lang="en-US" dirty="0"/>
              <a:t>.</a:t>
            </a:r>
            <a:endParaRPr lang="en-IN" dirty="0"/>
          </a:p>
        </p:txBody>
      </p:sp>
    </p:spTree>
    <p:extLst>
      <p:ext uri="{BB962C8B-B14F-4D97-AF65-F5344CB8AC3E}">
        <p14:creationId xmlns:p14="http://schemas.microsoft.com/office/powerpoint/2010/main" val="2995321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1000"/>
                                        <p:tgtEl>
                                          <p:spTgt spid="10"/>
                                        </p:tgtEl>
                                      </p:cBhvr>
                                    </p:animEffect>
                                    <p:anim calcmode="lin" valueType="num">
                                      <p:cBhvr>
                                        <p:cTn id="22" dur="1000" fill="hold"/>
                                        <p:tgtEl>
                                          <p:spTgt spid="10"/>
                                        </p:tgtEl>
                                        <p:attrNameLst>
                                          <p:attrName>ppt_x</p:attrName>
                                        </p:attrNameLst>
                                      </p:cBhvr>
                                      <p:tavLst>
                                        <p:tav tm="0">
                                          <p:val>
                                            <p:strVal val="#ppt_x"/>
                                          </p:val>
                                        </p:tav>
                                        <p:tav tm="100000">
                                          <p:val>
                                            <p:strVal val="#ppt_x"/>
                                          </p:val>
                                        </p:tav>
                                      </p:tavLst>
                                    </p:anim>
                                    <p:anim calcmode="lin" valueType="num">
                                      <p:cBhvr>
                                        <p:cTn id="2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1000"/>
                                        <p:tgtEl>
                                          <p:spTgt spid="11"/>
                                        </p:tgtEl>
                                      </p:cBhvr>
                                    </p:animEffect>
                                    <p:anim calcmode="lin" valueType="num">
                                      <p:cBhvr>
                                        <p:cTn id="29" dur="1000" fill="hold"/>
                                        <p:tgtEl>
                                          <p:spTgt spid="11"/>
                                        </p:tgtEl>
                                        <p:attrNameLst>
                                          <p:attrName>ppt_x</p:attrName>
                                        </p:attrNameLst>
                                      </p:cBhvr>
                                      <p:tavLst>
                                        <p:tav tm="0">
                                          <p:val>
                                            <p:strVal val="#ppt_x"/>
                                          </p:val>
                                        </p:tav>
                                        <p:tav tm="100000">
                                          <p:val>
                                            <p:strVal val="#ppt_x"/>
                                          </p:val>
                                        </p:tav>
                                      </p:tavLst>
                                    </p:anim>
                                    <p:anim calcmode="lin" valueType="num">
                                      <p:cBhvr>
                                        <p:cTn id="3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barn(inVertical)">
                                      <p:cBhvr>
                                        <p:cTn id="3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976536"/>
          </a:xfrm>
        </p:spPr>
        <p:txBody>
          <a:bodyPr/>
          <a:lstStyle/>
          <a:p>
            <a:r>
              <a:rPr lang="en-US" dirty="0"/>
              <a:t>Activity</a:t>
            </a:r>
          </a:p>
        </p:txBody>
      </p:sp>
      <p:sp>
        <p:nvSpPr>
          <p:cNvPr id="3" name="Content Placeholder 2"/>
          <p:cNvSpPr>
            <a:spLocks noGrp="1"/>
          </p:cNvSpPr>
          <p:nvPr>
            <p:ph idx="1"/>
          </p:nvPr>
        </p:nvSpPr>
        <p:spPr>
          <a:xfrm>
            <a:off x="1117309" y="1312810"/>
            <a:ext cx="4905095" cy="575072"/>
          </a:xfrm>
        </p:spPr>
        <p:txBody>
          <a:bodyPr/>
          <a:lstStyle/>
          <a:p>
            <a:pPr marL="0" indent="0">
              <a:buNone/>
            </a:pPr>
            <a:r>
              <a:rPr lang="en-IN" dirty="0"/>
              <a:t>Message Relay Game</a:t>
            </a:r>
            <a:endParaRPr lang="en-US" dirty="0"/>
          </a:p>
        </p:txBody>
      </p:sp>
      <p:sp>
        <p:nvSpPr>
          <p:cNvPr id="4" name="TextBox 3">
            <a:extLst>
              <a:ext uri="{FF2B5EF4-FFF2-40B4-BE49-F238E27FC236}">
                <a16:creationId xmlns:a16="http://schemas.microsoft.com/office/drawing/2014/main" id="{CC85467A-AB8A-2449-01FD-21ABADF87331}"/>
              </a:ext>
            </a:extLst>
          </p:cNvPr>
          <p:cNvSpPr txBox="1"/>
          <p:nvPr/>
        </p:nvSpPr>
        <p:spPr>
          <a:xfrm>
            <a:off x="1117309" y="2270584"/>
            <a:ext cx="6034024" cy="1495794"/>
          </a:xfrm>
          <a:prstGeom prst="rect">
            <a:avLst/>
          </a:prstGeom>
          <a:noFill/>
        </p:spPr>
        <p:txBody>
          <a:bodyPr wrap="none" rtlCol="0">
            <a:spAutoFit/>
          </a:bodyPr>
          <a:lstStyle/>
          <a:p>
            <a:pPr>
              <a:lnSpc>
                <a:spcPct val="95000"/>
              </a:lnSpc>
            </a:pPr>
            <a:r>
              <a:rPr lang="en-IN" dirty="0"/>
              <a:t>Learning Outcomes:</a:t>
            </a:r>
          </a:p>
          <a:p>
            <a:pPr marL="342900" indent="-342900">
              <a:lnSpc>
                <a:spcPct val="95000"/>
              </a:lnSpc>
              <a:buFont typeface="Arial" panose="020B0604020202020204" pitchFamily="34" charset="0"/>
              <a:buChar char="•"/>
            </a:pPr>
            <a:r>
              <a:rPr lang="en-IN" dirty="0"/>
              <a:t>Requirements Can Be Misunderstood</a:t>
            </a:r>
          </a:p>
          <a:p>
            <a:pPr marL="342900" indent="-342900">
              <a:lnSpc>
                <a:spcPct val="95000"/>
              </a:lnSpc>
              <a:buFont typeface="Arial" panose="020B0604020202020204" pitchFamily="34" charset="0"/>
              <a:buChar char="•"/>
            </a:pPr>
            <a:r>
              <a:rPr lang="en-IN" dirty="0"/>
              <a:t>Communication is Critical</a:t>
            </a:r>
          </a:p>
          <a:p>
            <a:pPr marL="342900" indent="-342900">
              <a:lnSpc>
                <a:spcPct val="95000"/>
              </a:lnSpc>
              <a:buFont typeface="Arial" panose="020B0604020202020204" pitchFamily="34" charset="0"/>
              <a:buChar char="•"/>
            </a:pPr>
            <a:r>
              <a:rPr lang="en-IN" dirty="0"/>
              <a:t>Documentation is Important</a:t>
            </a:r>
          </a:p>
        </p:txBody>
      </p:sp>
      <p:sp>
        <p:nvSpPr>
          <p:cNvPr id="5" name="TextBox 4">
            <a:extLst>
              <a:ext uri="{FF2B5EF4-FFF2-40B4-BE49-F238E27FC236}">
                <a16:creationId xmlns:a16="http://schemas.microsoft.com/office/drawing/2014/main" id="{5D3D25FE-8B2A-E864-AB13-B9784F961213}"/>
              </a:ext>
            </a:extLst>
          </p:cNvPr>
          <p:cNvSpPr txBox="1"/>
          <p:nvPr/>
        </p:nvSpPr>
        <p:spPr>
          <a:xfrm>
            <a:off x="486317" y="4149080"/>
            <a:ext cx="11080703" cy="1495794"/>
          </a:xfrm>
          <a:prstGeom prst="rect">
            <a:avLst/>
          </a:prstGeom>
          <a:noFill/>
        </p:spPr>
        <p:txBody>
          <a:bodyPr wrap="square" rtlCol="0">
            <a:spAutoFit/>
          </a:bodyPr>
          <a:lstStyle/>
          <a:p>
            <a:pPr>
              <a:lnSpc>
                <a:spcPct val="95000"/>
              </a:lnSpc>
            </a:pPr>
            <a:r>
              <a:rPr lang="en-US" b="1" dirty="0">
                <a:solidFill>
                  <a:srgbClr val="FF0000"/>
                </a:solidFill>
              </a:rPr>
              <a:t>The biggest reason software projects fail is often not poor programming—it is poor communication. Software Engineering provides processes, documentation, and collaboration practices to ensure that everyone understands the same requirements and works toward the same goal.</a:t>
            </a:r>
            <a:endParaRPr lang="en-IN" b="1" dirty="0">
              <a:solidFill>
                <a:srgbClr val="FF0000"/>
              </a:solidFill>
            </a:endParaRPr>
          </a:p>
        </p:txBody>
      </p:sp>
    </p:spTree>
    <p:extLst>
      <p:ext uri="{BB962C8B-B14F-4D97-AF65-F5344CB8AC3E}">
        <p14:creationId xmlns:p14="http://schemas.microsoft.com/office/powerpoint/2010/main" val="3422892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1000"/>
                                        <p:tgtEl>
                                          <p:spTgt spid="4"/>
                                        </p:tgtEl>
                                      </p:cBhvr>
                                    </p:animEffect>
                                    <p:anim calcmode="lin" valueType="num">
                                      <p:cBhvr>
                                        <p:cTn id="21" dur="1000" fill="hold"/>
                                        <p:tgtEl>
                                          <p:spTgt spid="4"/>
                                        </p:tgtEl>
                                        <p:attrNameLst>
                                          <p:attrName>ppt_x</p:attrName>
                                        </p:attrNameLst>
                                      </p:cBhvr>
                                      <p:tavLst>
                                        <p:tav tm="0">
                                          <p:val>
                                            <p:strVal val="#ppt_x"/>
                                          </p:val>
                                        </p:tav>
                                        <p:tav tm="100000">
                                          <p:val>
                                            <p:strVal val="#ppt_x"/>
                                          </p:val>
                                        </p:tav>
                                      </p:tavLst>
                                    </p:anim>
                                    <p:anim calcmode="lin" valueType="num">
                                      <p:cBhvr>
                                        <p:cTn id="22"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arn(inVertical)">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9654" y="92464"/>
            <a:ext cx="10157354" cy="904528"/>
          </a:xfrm>
        </p:spPr>
        <p:txBody>
          <a:bodyPr/>
          <a:lstStyle/>
          <a:p>
            <a:r>
              <a:rPr lang="en-IN" dirty="0"/>
              <a:t>Fun Fact</a:t>
            </a:r>
            <a:endParaRPr lang="en-US" dirty="0"/>
          </a:p>
        </p:txBody>
      </p:sp>
      <p:sp>
        <p:nvSpPr>
          <p:cNvPr id="3" name="Content Placeholder 2"/>
          <p:cNvSpPr>
            <a:spLocks noGrp="1"/>
          </p:cNvSpPr>
          <p:nvPr>
            <p:ph idx="1"/>
          </p:nvPr>
        </p:nvSpPr>
        <p:spPr>
          <a:xfrm>
            <a:off x="909836" y="1268760"/>
            <a:ext cx="10157354" cy="648072"/>
          </a:xfrm>
        </p:spPr>
        <p:txBody>
          <a:bodyPr/>
          <a:lstStyle/>
          <a:p>
            <a:pPr marL="0" indent="0">
              <a:buNone/>
            </a:pPr>
            <a:r>
              <a:rPr lang="en-US" dirty="0"/>
              <a:t>The </a:t>
            </a:r>
            <a:r>
              <a:rPr lang="en-US" b="1" dirty="0"/>
              <a:t>first computer bug</a:t>
            </a:r>
            <a:r>
              <a:rPr lang="en-US" dirty="0"/>
              <a:t> was actually a real bug!</a:t>
            </a:r>
          </a:p>
        </p:txBody>
      </p:sp>
      <p:sp>
        <p:nvSpPr>
          <p:cNvPr id="4" name="TextBox 3">
            <a:extLst>
              <a:ext uri="{FF2B5EF4-FFF2-40B4-BE49-F238E27FC236}">
                <a16:creationId xmlns:a16="http://schemas.microsoft.com/office/drawing/2014/main" id="{07F6BBBC-4D3E-DDEE-283B-A463EDE27FD7}"/>
              </a:ext>
            </a:extLst>
          </p:cNvPr>
          <p:cNvSpPr txBox="1"/>
          <p:nvPr/>
        </p:nvSpPr>
        <p:spPr>
          <a:xfrm>
            <a:off x="909836" y="2059684"/>
            <a:ext cx="10873208" cy="1144929"/>
          </a:xfrm>
          <a:prstGeom prst="rect">
            <a:avLst/>
          </a:prstGeom>
          <a:noFill/>
        </p:spPr>
        <p:txBody>
          <a:bodyPr wrap="square" rtlCol="0">
            <a:spAutoFit/>
          </a:bodyPr>
          <a:lstStyle/>
          <a:p>
            <a:pPr>
              <a:lnSpc>
                <a:spcPct val="95000"/>
              </a:lnSpc>
            </a:pPr>
            <a:r>
              <a:rPr lang="en-US" dirty="0"/>
              <a:t>In </a:t>
            </a:r>
            <a:r>
              <a:rPr lang="en-US" b="1" dirty="0"/>
              <a:t>1947</a:t>
            </a:r>
            <a:r>
              <a:rPr lang="en-US" dirty="0"/>
              <a:t>, engineers working on the Harvard Mark II computer found a </a:t>
            </a:r>
            <a:r>
              <a:rPr lang="en-US" b="1" dirty="0"/>
              <a:t>moth stuck inside a relay</a:t>
            </a:r>
            <a:r>
              <a:rPr lang="en-US" dirty="0"/>
              <a:t>, causing the machine to malfunction. They taped it into their logbook and wrote:</a:t>
            </a:r>
            <a:endParaRPr lang="en-IN" dirty="0"/>
          </a:p>
        </p:txBody>
      </p:sp>
      <p:sp>
        <p:nvSpPr>
          <p:cNvPr id="5" name="TextBox 4">
            <a:extLst>
              <a:ext uri="{FF2B5EF4-FFF2-40B4-BE49-F238E27FC236}">
                <a16:creationId xmlns:a16="http://schemas.microsoft.com/office/drawing/2014/main" id="{4578B4C4-7C26-36F1-E623-41917AA7DD25}"/>
              </a:ext>
            </a:extLst>
          </p:cNvPr>
          <p:cNvSpPr txBox="1"/>
          <p:nvPr/>
        </p:nvSpPr>
        <p:spPr>
          <a:xfrm>
            <a:off x="909836" y="3561866"/>
            <a:ext cx="5849678" cy="443198"/>
          </a:xfrm>
          <a:prstGeom prst="rect">
            <a:avLst/>
          </a:prstGeom>
          <a:noFill/>
        </p:spPr>
        <p:txBody>
          <a:bodyPr wrap="none" rtlCol="0">
            <a:spAutoFit/>
          </a:bodyPr>
          <a:lstStyle/>
          <a:p>
            <a:pPr>
              <a:lnSpc>
                <a:spcPct val="95000"/>
              </a:lnSpc>
            </a:pPr>
            <a:r>
              <a:rPr lang="en-US" dirty="0"/>
              <a:t>"First actual case of bug being found."</a:t>
            </a:r>
            <a:endParaRPr lang="en-IN" dirty="0"/>
          </a:p>
        </p:txBody>
      </p:sp>
      <p:sp>
        <p:nvSpPr>
          <p:cNvPr id="6" name="TextBox 5">
            <a:extLst>
              <a:ext uri="{FF2B5EF4-FFF2-40B4-BE49-F238E27FC236}">
                <a16:creationId xmlns:a16="http://schemas.microsoft.com/office/drawing/2014/main" id="{64722419-5E62-69BA-0FB0-66EE328A49AE}"/>
              </a:ext>
            </a:extLst>
          </p:cNvPr>
          <p:cNvSpPr txBox="1"/>
          <p:nvPr/>
        </p:nvSpPr>
        <p:spPr>
          <a:xfrm>
            <a:off x="909836" y="4719569"/>
            <a:ext cx="7645042" cy="443198"/>
          </a:xfrm>
          <a:prstGeom prst="rect">
            <a:avLst/>
          </a:prstGeom>
          <a:noFill/>
        </p:spPr>
        <p:txBody>
          <a:bodyPr wrap="none" rtlCol="0">
            <a:spAutoFit/>
          </a:bodyPr>
          <a:lstStyle/>
          <a:p>
            <a:pPr>
              <a:lnSpc>
                <a:spcPct val="95000"/>
              </a:lnSpc>
            </a:pPr>
            <a:r>
              <a:rPr lang="en-US" dirty="0"/>
              <a:t>Today when software crashes, we still call it a </a:t>
            </a:r>
            <a:r>
              <a:rPr lang="en-US" b="1" dirty="0"/>
              <a:t>bug</a:t>
            </a:r>
            <a:r>
              <a:rPr lang="en-US" dirty="0"/>
              <a:t>.</a:t>
            </a:r>
            <a:endParaRPr lang="en-IN" dirty="0"/>
          </a:p>
        </p:txBody>
      </p:sp>
    </p:spTree>
    <p:extLst>
      <p:ext uri="{BB962C8B-B14F-4D97-AF65-F5344CB8AC3E}">
        <p14:creationId xmlns:p14="http://schemas.microsoft.com/office/powerpoint/2010/main" val="1627192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p:bldP spid="5" grpId="0"/>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812530"/>
          </a:xfrm>
        </p:spPr>
        <p:txBody>
          <a:bodyPr/>
          <a:lstStyle/>
          <a:p>
            <a:r>
              <a:rPr lang="en-US" dirty="0"/>
              <a:t>What is Software Engineering?</a:t>
            </a:r>
          </a:p>
        </p:txBody>
      </p:sp>
      <p:sp>
        <p:nvSpPr>
          <p:cNvPr id="6" name="TextBox 5">
            <a:extLst>
              <a:ext uri="{FF2B5EF4-FFF2-40B4-BE49-F238E27FC236}">
                <a16:creationId xmlns:a16="http://schemas.microsoft.com/office/drawing/2014/main" id="{D05892CC-2E04-79D8-3833-E450E1A2E9D5}"/>
              </a:ext>
            </a:extLst>
          </p:cNvPr>
          <p:cNvSpPr txBox="1"/>
          <p:nvPr/>
        </p:nvSpPr>
        <p:spPr>
          <a:xfrm>
            <a:off x="1138709" y="932659"/>
            <a:ext cx="8064896" cy="1091068"/>
          </a:xfrm>
          <a:prstGeom prst="rect">
            <a:avLst/>
          </a:prstGeom>
          <a:noFill/>
        </p:spPr>
        <p:txBody>
          <a:bodyPr wrap="square" rtlCol="0">
            <a:spAutoFit/>
          </a:bodyPr>
          <a:lstStyle/>
          <a:p>
            <a:r>
              <a:rPr lang="en-US" sz="2200" dirty="0"/>
              <a:t>Imagine you want to build 🏠 A House. Can you simply start laying bricks?</a:t>
            </a:r>
          </a:p>
          <a:p>
            <a:pPr>
              <a:lnSpc>
                <a:spcPct val="95000"/>
              </a:lnSpc>
            </a:pPr>
            <a:endParaRPr lang="en-IN" sz="2200" dirty="0"/>
          </a:p>
        </p:txBody>
      </p:sp>
      <p:sp>
        <p:nvSpPr>
          <p:cNvPr id="7" name="TextBox 6">
            <a:extLst>
              <a:ext uri="{FF2B5EF4-FFF2-40B4-BE49-F238E27FC236}">
                <a16:creationId xmlns:a16="http://schemas.microsoft.com/office/drawing/2014/main" id="{078DF9AF-8997-E995-F4DE-E0EC54E8ABFC}"/>
              </a:ext>
            </a:extLst>
          </p:cNvPr>
          <p:cNvSpPr txBox="1"/>
          <p:nvPr/>
        </p:nvSpPr>
        <p:spPr>
          <a:xfrm>
            <a:off x="1117309" y="1839540"/>
            <a:ext cx="2933816" cy="413959"/>
          </a:xfrm>
          <a:prstGeom prst="rect">
            <a:avLst/>
          </a:prstGeom>
          <a:noFill/>
        </p:spPr>
        <p:txBody>
          <a:bodyPr wrap="none" rtlCol="0">
            <a:spAutoFit/>
          </a:bodyPr>
          <a:lstStyle/>
          <a:p>
            <a:pPr>
              <a:lnSpc>
                <a:spcPct val="95000"/>
              </a:lnSpc>
            </a:pPr>
            <a:r>
              <a:rPr lang="en-IN" sz="2200" dirty="0"/>
              <a:t>What do you need?</a:t>
            </a:r>
          </a:p>
        </p:txBody>
      </p:sp>
      <p:sp>
        <p:nvSpPr>
          <p:cNvPr id="9" name="TextBox 8">
            <a:extLst>
              <a:ext uri="{FF2B5EF4-FFF2-40B4-BE49-F238E27FC236}">
                <a16:creationId xmlns:a16="http://schemas.microsoft.com/office/drawing/2014/main" id="{B9A8F7F6-13E7-5583-6672-BD6605DABD34}"/>
              </a:ext>
            </a:extLst>
          </p:cNvPr>
          <p:cNvSpPr txBox="1"/>
          <p:nvPr/>
        </p:nvSpPr>
        <p:spPr>
          <a:xfrm>
            <a:off x="1138709" y="2281812"/>
            <a:ext cx="2448272" cy="3139321"/>
          </a:xfrm>
          <a:prstGeom prst="rect">
            <a:avLst/>
          </a:prstGeom>
          <a:noFill/>
        </p:spPr>
        <p:txBody>
          <a:bodyPr wrap="square">
            <a:spAutoFit/>
          </a:bodyPr>
          <a:lstStyle/>
          <a:p>
            <a:r>
              <a:rPr lang="en-US" sz="1800" dirty="0"/>
              <a:t>Blueprint</a:t>
            </a:r>
          </a:p>
          <a:p>
            <a:r>
              <a:rPr lang="en-US" sz="1800" dirty="0"/>
              <a:t>↓</a:t>
            </a:r>
          </a:p>
          <a:p>
            <a:r>
              <a:rPr lang="en-US" sz="1800" dirty="0"/>
              <a:t>Architect</a:t>
            </a:r>
          </a:p>
          <a:p>
            <a:r>
              <a:rPr lang="en-US" sz="1800" dirty="0"/>
              <a:t>↓</a:t>
            </a:r>
          </a:p>
          <a:p>
            <a:r>
              <a:rPr lang="en-US" sz="1800" dirty="0"/>
              <a:t>Engineer</a:t>
            </a:r>
          </a:p>
          <a:p>
            <a:r>
              <a:rPr lang="en-US" sz="1800" dirty="0"/>
              <a:t>↓</a:t>
            </a:r>
          </a:p>
          <a:p>
            <a:r>
              <a:rPr lang="en-US" sz="1800" dirty="0"/>
              <a:t>Workers</a:t>
            </a:r>
          </a:p>
          <a:p>
            <a:r>
              <a:rPr lang="en-US" sz="1800" dirty="0"/>
              <a:t>↓</a:t>
            </a:r>
          </a:p>
          <a:p>
            <a:r>
              <a:rPr lang="en-US" sz="1800" dirty="0"/>
              <a:t>Inspection</a:t>
            </a:r>
          </a:p>
          <a:p>
            <a:r>
              <a:rPr lang="en-US" sz="1800" dirty="0"/>
              <a:t>↓</a:t>
            </a:r>
          </a:p>
          <a:p>
            <a:r>
              <a:rPr lang="en-US" sz="1800" dirty="0"/>
              <a:t>Material</a:t>
            </a:r>
          </a:p>
        </p:txBody>
      </p:sp>
      <p:sp>
        <p:nvSpPr>
          <p:cNvPr id="10" name="TextBox 9">
            <a:extLst>
              <a:ext uri="{FF2B5EF4-FFF2-40B4-BE49-F238E27FC236}">
                <a16:creationId xmlns:a16="http://schemas.microsoft.com/office/drawing/2014/main" id="{C29CA646-9076-DC92-382B-2A57E8593D17}"/>
              </a:ext>
            </a:extLst>
          </p:cNvPr>
          <p:cNvSpPr txBox="1"/>
          <p:nvPr/>
        </p:nvSpPr>
        <p:spPr>
          <a:xfrm>
            <a:off x="5175316" y="1838614"/>
            <a:ext cx="5325497" cy="413959"/>
          </a:xfrm>
          <a:prstGeom prst="rect">
            <a:avLst/>
          </a:prstGeom>
          <a:noFill/>
        </p:spPr>
        <p:txBody>
          <a:bodyPr wrap="none" rtlCol="0">
            <a:spAutoFit/>
          </a:bodyPr>
          <a:lstStyle/>
          <a:p>
            <a:pPr>
              <a:lnSpc>
                <a:spcPct val="95000"/>
              </a:lnSpc>
            </a:pPr>
            <a:r>
              <a:rPr lang="en-US" sz="2200" dirty="0"/>
              <a:t>Software engineering is also the same</a:t>
            </a:r>
            <a:endParaRPr lang="en-IN" sz="2200" dirty="0"/>
          </a:p>
        </p:txBody>
      </p:sp>
      <p:sp>
        <p:nvSpPr>
          <p:cNvPr id="11" name="TextBox 10">
            <a:extLst>
              <a:ext uri="{FF2B5EF4-FFF2-40B4-BE49-F238E27FC236}">
                <a16:creationId xmlns:a16="http://schemas.microsoft.com/office/drawing/2014/main" id="{A2EC1DD0-61DE-9181-8AA0-FFCAC7CF8D43}"/>
              </a:ext>
            </a:extLst>
          </p:cNvPr>
          <p:cNvSpPr txBox="1"/>
          <p:nvPr/>
        </p:nvSpPr>
        <p:spPr>
          <a:xfrm>
            <a:off x="5254862" y="2281812"/>
            <a:ext cx="1715534" cy="3402470"/>
          </a:xfrm>
          <a:prstGeom prst="rect">
            <a:avLst/>
          </a:prstGeom>
          <a:noFill/>
        </p:spPr>
        <p:txBody>
          <a:bodyPr wrap="none" rtlCol="0">
            <a:spAutoFit/>
          </a:bodyPr>
          <a:lstStyle/>
          <a:p>
            <a:r>
              <a:rPr lang="en-US" sz="1800" dirty="0"/>
              <a:t>Requirements</a:t>
            </a:r>
          </a:p>
          <a:p>
            <a:r>
              <a:rPr lang="en-US" sz="1800" dirty="0"/>
              <a:t>↓</a:t>
            </a:r>
          </a:p>
          <a:p>
            <a:r>
              <a:rPr lang="en-US" sz="1800" dirty="0"/>
              <a:t>Design</a:t>
            </a:r>
          </a:p>
          <a:p>
            <a:r>
              <a:rPr lang="en-US" sz="1800" dirty="0"/>
              <a:t>↓</a:t>
            </a:r>
          </a:p>
          <a:p>
            <a:r>
              <a:rPr lang="en-US" sz="1800" dirty="0"/>
              <a:t>Coding</a:t>
            </a:r>
          </a:p>
          <a:p>
            <a:r>
              <a:rPr lang="en-US" sz="1800" dirty="0"/>
              <a:t>↓</a:t>
            </a:r>
          </a:p>
          <a:p>
            <a:r>
              <a:rPr lang="en-US" sz="1800" dirty="0"/>
              <a:t>Testing</a:t>
            </a:r>
          </a:p>
          <a:p>
            <a:r>
              <a:rPr lang="en-US" sz="1800" dirty="0"/>
              <a:t>↓</a:t>
            </a:r>
          </a:p>
          <a:p>
            <a:r>
              <a:rPr lang="en-US" sz="1800" dirty="0"/>
              <a:t>Deployment</a:t>
            </a:r>
          </a:p>
          <a:p>
            <a:r>
              <a:rPr lang="en-US" sz="1800" dirty="0"/>
              <a:t>↓</a:t>
            </a:r>
          </a:p>
          <a:p>
            <a:r>
              <a:rPr lang="en-US" sz="1800" dirty="0"/>
              <a:t>Maintenance</a:t>
            </a:r>
          </a:p>
          <a:p>
            <a:pPr>
              <a:lnSpc>
                <a:spcPct val="95000"/>
              </a:lnSpc>
            </a:pPr>
            <a:endParaRPr lang="en-IN" sz="1800" dirty="0"/>
          </a:p>
        </p:txBody>
      </p:sp>
      <p:sp>
        <p:nvSpPr>
          <p:cNvPr id="15" name="TextBox 14">
            <a:extLst>
              <a:ext uri="{FF2B5EF4-FFF2-40B4-BE49-F238E27FC236}">
                <a16:creationId xmlns:a16="http://schemas.microsoft.com/office/drawing/2014/main" id="{8964D32E-E771-DDA9-31E4-7CA1DA465D78}"/>
              </a:ext>
            </a:extLst>
          </p:cNvPr>
          <p:cNvSpPr txBox="1"/>
          <p:nvPr/>
        </p:nvSpPr>
        <p:spPr>
          <a:xfrm>
            <a:off x="725540" y="5583805"/>
            <a:ext cx="10940891" cy="1274195"/>
          </a:xfrm>
          <a:prstGeom prst="rect">
            <a:avLst/>
          </a:prstGeom>
          <a:noFill/>
        </p:spPr>
        <p:txBody>
          <a:bodyPr wrap="square" rtlCol="0">
            <a:spAutoFit/>
          </a:bodyPr>
          <a:lstStyle/>
          <a:p>
            <a:r>
              <a:rPr lang="en-US" sz="1800" b="1" dirty="0">
                <a:solidFill>
                  <a:srgbClr val="FF0000"/>
                </a:solidFill>
                <a:latin typeface="Consolas" panose="020B0609020204030204" pitchFamily="49" charset="0"/>
              </a:rPr>
              <a:t>According to Roger Pressman (6th Edition)</a:t>
            </a:r>
            <a:endParaRPr lang="en-IN" sz="1800" b="1" dirty="0">
              <a:solidFill>
                <a:srgbClr val="FF0000"/>
              </a:solidFill>
              <a:latin typeface="Consolas" panose="020B0609020204030204" pitchFamily="49" charset="0"/>
            </a:endParaRPr>
          </a:p>
          <a:p>
            <a:r>
              <a:rPr lang="en-US" sz="1800" b="1" dirty="0">
                <a:solidFill>
                  <a:srgbClr val="FF0000"/>
                </a:solidFill>
                <a:latin typeface="Consolas" panose="020B0609020204030204" pitchFamily="49" charset="0"/>
              </a:rPr>
              <a:t>Software Engineering is the application of a systematic, disciplined and quantifiable approach to the development, operation and maintenance of software</a:t>
            </a:r>
          </a:p>
          <a:p>
            <a:pPr>
              <a:lnSpc>
                <a:spcPct val="95000"/>
              </a:lnSpc>
            </a:pPr>
            <a:endParaRPr lang="en-IN" b="1" dirty="0">
              <a:solidFill>
                <a:srgbClr val="FF0000"/>
              </a:solidFill>
            </a:endParaRPr>
          </a:p>
        </p:txBody>
      </p:sp>
    </p:spTree>
    <p:extLst>
      <p:ext uri="{BB962C8B-B14F-4D97-AF65-F5344CB8AC3E}">
        <p14:creationId xmlns:p14="http://schemas.microsoft.com/office/powerpoint/2010/main" val="603293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00" fill="hold"/>
                                        <p:tgtEl>
                                          <p:spTgt spid="11"/>
                                        </p:tgtEl>
                                        <p:attrNameLst>
                                          <p:attrName>ppt_x</p:attrName>
                                        </p:attrNameLst>
                                      </p:cBhvr>
                                      <p:tavLst>
                                        <p:tav tm="0">
                                          <p:val>
                                            <p:strVal val="#ppt_x"/>
                                          </p:val>
                                        </p:tav>
                                        <p:tav tm="100000">
                                          <p:val>
                                            <p:strVal val="#ppt_x"/>
                                          </p:val>
                                        </p:tav>
                                      </p:tavLst>
                                    </p:anim>
                                    <p:anim calcmode="lin" valueType="num">
                                      <p:cBhvr additive="base">
                                        <p:cTn id="3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barn(inVertical)">
                                      <p:cBhvr>
                                        <p:cTn id="4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7" grpId="0"/>
      <p:bldP spid="9" grpId="0"/>
      <p:bldP spid="10" grpId="0"/>
      <p:bldP spid="11" grpId="0"/>
      <p:bldP spid="1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688504"/>
          </a:xfrm>
        </p:spPr>
        <p:txBody>
          <a:bodyPr>
            <a:normAutofit fontScale="90000"/>
          </a:bodyPr>
          <a:lstStyle/>
          <a:p>
            <a:r>
              <a:rPr lang="en-US" dirty="0"/>
              <a:t>What it is exactly?</a:t>
            </a:r>
          </a:p>
        </p:txBody>
      </p:sp>
      <p:sp>
        <p:nvSpPr>
          <p:cNvPr id="3" name="Content Placeholder 2"/>
          <p:cNvSpPr>
            <a:spLocks noGrp="1"/>
          </p:cNvSpPr>
          <p:nvPr>
            <p:ph idx="1"/>
          </p:nvPr>
        </p:nvSpPr>
        <p:spPr>
          <a:xfrm>
            <a:off x="621804" y="1052736"/>
            <a:ext cx="2024775" cy="648072"/>
          </a:xfrm>
        </p:spPr>
        <p:txBody>
          <a:bodyPr/>
          <a:lstStyle/>
          <a:p>
            <a:pPr marL="0" indent="0">
              <a:buNone/>
            </a:pPr>
            <a:r>
              <a:rPr lang="en-IN" dirty="0"/>
              <a:t>Systematic</a:t>
            </a:r>
            <a:endParaRPr lang="en-US" dirty="0"/>
          </a:p>
        </p:txBody>
      </p:sp>
      <p:sp>
        <p:nvSpPr>
          <p:cNvPr id="4" name="TextBox 3">
            <a:extLst>
              <a:ext uri="{FF2B5EF4-FFF2-40B4-BE49-F238E27FC236}">
                <a16:creationId xmlns:a16="http://schemas.microsoft.com/office/drawing/2014/main" id="{C6400FE3-A34A-6BC4-53EF-9CF8080E139A}"/>
              </a:ext>
            </a:extLst>
          </p:cNvPr>
          <p:cNvSpPr txBox="1"/>
          <p:nvPr/>
        </p:nvSpPr>
        <p:spPr>
          <a:xfrm>
            <a:off x="621804" y="1916832"/>
            <a:ext cx="2880320" cy="2783839"/>
          </a:xfrm>
          <a:prstGeom prst="rect">
            <a:avLst/>
          </a:prstGeom>
          <a:noFill/>
        </p:spPr>
        <p:txBody>
          <a:bodyPr wrap="square" rtlCol="0">
            <a:spAutoFit/>
          </a:bodyPr>
          <a:lstStyle/>
          <a:p>
            <a:pPr marL="342900" indent="-342900">
              <a:buFont typeface="Arial" panose="020B0604020202020204" pitchFamily="34" charset="0"/>
              <a:buChar char="•"/>
            </a:pPr>
            <a:r>
              <a:rPr lang="en-US" sz="2200" dirty="0"/>
              <a:t>Follow proper steps</a:t>
            </a:r>
          </a:p>
          <a:p>
            <a:pPr marL="342900" indent="-342900">
              <a:buFont typeface="Arial" panose="020B0604020202020204" pitchFamily="34" charset="0"/>
              <a:buChar char="•"/>
            </a:pPr>
            <a:r>
              <a:rPr lang="en-US" sz="2200" dirty="0"/>
              <a:t>Not random coding</a:t>
            </a:r>
          </a:p>
          <a:p>
            <a:endParaRPr lang="en-US" sz="2200" dirty="0"/>
          </a:p>
          <a:p>
            <a:r>
              <a:rPr lang="en-US" sz="2200" dirty="0"/>
              <a:t>Example</a:t>
            </a:r>
          </a:p>
          <a:p>
            <a:r>
              <a:rPr lang="en-US" sz="2200" dirty="0"/>
              <a:t>Cooking recipe</a:t>
            </a:r>
          </a:p>
          <a:p>
            <a:pPr>
              <a:lnSpc>
                <a:spcPct val="95000"/>
              </a:lnSpc>
            </a:pPr>
            <a:endParaRPr lang="en-IN" sz="2200" dirty="0"/>
          </a:p>
        </p:txBody>
      </p:sp>
      <p:sp>
        <p:nvSpPr>
          <p:cNvPr id="5" name="TextBox 4">
            <a:extLst>
              <a:ext uri="{FF2B5EF4-FFF2-40B4-BE49-F238E27FC236}">
                <a16:creationId xmlns:a16="http://schemas.microsoft.com/office/drawing/2014/main" id="{7587D288-560C-2228-2C6B-7B8B89B45138}"/>
              </a:ext>
            </a:extLst>
          </p:cNvPr>
          <p:cNvSpPr txBox="1"/>
          <p:nvPr/>
        </p:nvSpPr>
        <p:spPr>
          <a:xfrm>
            <a:off x="4524371" y="1052736"/>
            <a:ext cx="1786066" cy="443198"/>
          </a:xfrm>
          <a:prstGeom prst="rect">
            <a:avLst/>
          </a:prstGeom>
          <a:noFill/>
        </p:spPr>
        <p:txBody>
          <a:bodyPr wrap="none" rtlCol="0">
            <a:spAutoFit/>
          </a:bodyPr>
          <a:lstStyle/>
          <a:p>
            <a:pPr>
              <a:lnSpc>
                <a:spcPct val="95000"/>
              </a:lnSpc>
            </a:pPr>
            <a:r>
              <a:rPr lang="en-IN" dirty="0"/>
              <a:t>Disciplined</a:t>
            </a:r>
          </a:p>
        </p:txBody>
      </p:sp>
      <p:sp>
        <p:nvSpPr>
          <p:cNvPr id="6" name="TextBox 5">
            <a:extLst>
              <a:ext uri="{FF2B5EF4-FFF2-40B4-BE49-F238E27FC236}">
                <a16:creationId xmlns:a16="http://schemas.microsoft.com/office/drawing/2014/main" id="{F6207DA5-41AB-F76D-DC6E-7F9A9282D99A}"/>
              </a:ext>
            </a:extLst>
          </p:cNvPr>
          <p:cNvSpPr txBox="1"/>
          <p:nvPr/>
        </p:nvSpPr>
        <p:spPr>
          <a:xfrm>
            <a:off x="4524371" y="1916832"/>
            <a:ext cx="2592288" cy="2106731"/>
          </a:xfrm>
          <a:prstGeom prst="rect">
            <a:avLst/>
          </a:prstGeom>
          <a:noFill/>
        </p:spPr>
        <p:txBody>
          <a:bodyPr wrap="square" rtlCol="0">
            <a:spAutoFit/>
          </a:bodyPr>
          <a:lstStyle/>
          <a:p>
            <a:pPr marL="342900" indent="-342900">
              <a:buFont typeface="Arial" panose="020B0604020202020204" pitchFamily="34" charset="0"/>
              <a:buChar char="•"/>
            </a:pPr>
            <a:r>
              <a:rPr lang="en-US" sz="2200" dirty="0"/>
              <a:t>Everyone follows rules</a:t>
            </a:r>
          </a:p>
          <a:p>
            <a:endParaRPr lang="en-US" sz="2200" dirty="0"/>
          </a:p>
          <a:p>
            <a:r>
              <a:rPr lang="en-US" sz="2200" dirty="0"/>
              <a:t>Example</a:t>
            </a:r>
          </a:p>
          <a:p>
            <a:r>
              <a:rPr lang="en-US" sz="2200" dirty="0"/>
              <a:t>Traffic signals.</a:t>
            </a:r>
          </a:p>
          <a:p>
            <a:pPr>
              <a:lnSpc>
                <a:spcPct val="95000"/>
              </a:lnSpc>
            </a:pPr>
            <a:endParaRPr lang="en-IN" sz="2200" dirty="0"/>
          </a:p>
        </p:txBody>
      </p:sp>
      <p:sp>
        <p:nvSpPr>
          <p:cNvPr id="7" name="TextBox 6">
            <a:extLst>
              <a:ext uri="{FF2B5EF4-FFF2-40B4-BE49-F238E27FC236}">
                <a16:creationId xmlns:a16="http://schemas.microsoft.com/office/drawing/2014/main" id="{B73229C1-DFF4-6F3F-3FA1-AC20064B00E4}"/>
              </a:ext>
            </a:extLst>
          </p:cNvPr>
          <p:cNvSpPr txBox="1"/>
          <p:nvPr/>
        </p:nvSpPr>
        <p:spPr>
          <a:xfrm>
            <a:off x="8186912" y="1052736"/>
            <a:ext cx="2040943" cy="443198"/>
          </a:xfrm>
          <a:prstGeom prst="rect">
            <a:avLst/>
          </a:prstGeom>
          <a:noFill/>
        </p:spPr>
        <p:txBody>
          <a:bodyPr wrap="none" rtlCol="0">
            <a:spAutoFit/>
          </a:bodyPr>
          <a:lstStyle/>
          <a:p>
            <a:pPr>
              <a:lnSpc>
                <a:spcPct val="95000"/>
              </a:lnSpc>
            </a:pPr>
            <a:r>
              <a:rPr lang="en-IN" dirty="0"/>
              <a:t>Quantifiable</a:t>
            </a:r>
          </a:p>
        </p:txBody>
      </p:sp>
      <p:sp>
        <p:nvSpPr>
          <p:cNvPr id="8" name="TextBox 7">
            <a:extLst>
              <a:ext uri="{FF2B5EF4-FFF2-40B4-BE49-F238E27FC236}">
                <a16:creationId xmlns:a16="http://schemas.microsoft.com/office/drawing/2014/main" id="{1A1D3811-AC9F-4E84-4354-7CC03BB5A81D}"/>
              </a:ext>
            </a:extLst>
          </p:cNvPr>
          <p:cNvSpPr txBox="1"/>
          <p:nvPr/>
        </p:nvSpPr>
        <p:spPr>
          <a:xfrm>
            <a:off x="8126838" y="1916831"/>
            <a:ext cx="3507893" cy="2783839"/>
          </a:xfrm>
          <a:prstGeom prst="rect">
            <a:avLst/>
          </a:prstGeom>
          <a:noFill/>
        </p:spPr>
        <p:txBody>
          <a:bodyPr wrap="square" rtlCol="0">
            <a:spAutoFit/>
          </a:bodyPr>
          <a:lstStyle/>
          <a:p>
            <a:pPr marL="342900" indent="-342900">
              <a:buFont typeface="Arial" panose="020B0604020202020204" pitchFamily="34" charset="0"/>
              <a:buChar char="•"/>
            </a:pPr>
            <a:r>
              <a:rPr lang="en-US" sz="2200" dirty="0"/>
              <a:t>Everything should be measurable</a:t>
            </a:r>
          </a:p>
          <a:p>
            <a:endParaRPr lang="en-US" sz="2200" dirty="0"/>
          </a:p>
          <a:p>
            <a:r>
              <a:rPr lang="en-US" sz="2200" dirty="0"/>
              <a:t>Examples</a:t>
            </a:r>
          </a:p>
          <a:p>
            <a:r>
              <a:rPr lang="en-US" sz="2200" dirty="0"/>
              <a:t>How many bugs?</a:t>
            </a:r>
          </a:p>
          <a:p>
            <a:r>
              <a:rPr lang="en-US" sz="2200" dirty="0"/>
              <a:t>How many days?</a:t>
            </a:r>
          </a:p>
          <a:p>
            <a:r>
              <a:rPr lang="en-US" sz="2200" dirty="0"/>
              <a:t>How much testing?</a:t>
            </a:r>
          </a:p>
          <a:p>
            <a:pPr>
              <a:lnSpc>
                <a:spcPct val="95000"/>
              </a:lnSpc>
            </a:pPr>
            <a:endParaRPr lang="en-IN" sz="2200" dirty="0"/>
          </a:p>
        </p:txBody>
      </p:sp>
    </p:spTree>
    <p:extLst>
      <p:ext uri="{BB962C8B-B14F-4D97-AF65-F5344CB8AC3E}">
        <p14:creationId xmlns:p14="http://schemas.microsoft.com/office/powerpoint/2010/main" val="3979041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additive="base">
                                        <p:cTn id="37" dur="500" fill="hold"/>
                                        <p:tgtEl>
                                          <p:spTgt spid="7"/>
                                        </p:tgtEl>
                                        <p:attrNameLst>
                                          <p:attrName>ppt_x</p:attrName>
                                        </p:attrNameLst>
                                      </p:cBhvr>
                                      <p:tavLst>
                                        <p:tav tm="0">
                                          <p:val>
                                            <p:strVal val="#ppt_x"/>
                                          </p:val>
                                        </p:tav>
                                        <p:tav tm="100000">
                                          <p:val>
                                            <p:strVal val="#ppt_x"/>
                                          </p:val>
                                        </p:tav>
                                      </p:tavLst>
                                    </p:anim>
                                    <p:anim calcmode="lin" valueType="num">
                                      <p:cBhvr additive="base">
                                        <p:cTn id="3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additive="base">
                                        <p:cTn id="43" dur="500" fill="hold"/>
                                        <p:tgtEl>
                                          <p:spTgt spid="8"/>
                                        </p:tgtEl>
                                        <p:attrNameLst>
                                          <p:attrName>ppt_x</p:attrName>
                                        </p:attrNameLst>
                                      </p:cBhvr>
                                      <p:tavLst>
                                        <p:tav tm="0">
                                          <p:val>
                                            <p:strVal val="#ppt_x"/>
                                          </p:val>
                                        </p:tav>
                                        <p:tav tm="100000">
                                          <p:val>
                                            <p:strVal val="#ppt_x"/>
                                          </p:val>
                                        </p:tav>
                                      </p:tavLst>
                                    </p:anim>
                                    <p:anim calcmode="lin" valueType="num">
                                      <p:cBhvr additive="base">
                                        <p:cTn id="4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p:bldP spid="5" grpId="0"/>
      <p:bldP spid="6"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688504"/>
          </a:xfrm>
        </p:spPr>
        <p:txBody>
          <a:bodyPr>
            <a:normAutofit fontScale="90000"/>
          </a:bodyPr>
          <a:lstStyle/>
          <a:p>
            <a:r>
              <a:rPr lang="en-US" dirty="0"/>
              <a:t>Summary</a:t>
            </a:r>
          </a:p>
        </p:txBody>
      </p:sp>
      <p:sp>
        <p:nvSpPr>
          <p:cNvPr id="6" name="TextBox 5">
            <a:extLst>
              <a:ext uri="{FF2B5EF4-FFF2-40B4-BE49-F238E27FC236}">
                <a16:creationId xmlns:a16="http://schemas.microsoft.com/office/drawing/2014/main" id="{3860B3CC-4C50-8E10-CBD9-292377D4A014}"/>
              </a:ext>
            </a:extLst>
          </p:cNvPr>
          <p:cNvSpPr txBox="1"/>
          <p:nvPr/>
        </p:nvSpPr>
        <p:spPr>
          <a:xfrm>
            <a:off x="1269876" y="1052736"/>
            <a:ext cx="6688049" cy="443198"/>
          </a:xfrm>
          <a:prstGeom prst="rect">
            <a:avLst/>
          </a:prstGeom>
          <a:noFill/>
        </p:spPr>
        <p:txBody>
          <a:bodyPr wrap="none" rtlCol="0">
            <a:spAutoFit/>
          </a:bodyPr>
          <a:lstStyle/>
          <a:p>
            <a:pPr>
              <a:lnSpc>
                <a:spcPct val="95000"/>
              </a:lnSpc>
            </a:pPr>
            <a:r>
              <a:rPr lang="en-US" dirty="0"/>
              <a:t>Software Engineering is </a:t>
            </a:r>
            <a:r>
              <a:rPr lang="en-US" b="1" dirty="0"/>
              <a:t>not just writing code</a:t>
            </a:r>
            <a:endParaRPr lang="en-IN" dirty="0"/>
          </a:p>
        </p:txBody>
      </p:sp>
      <p:sp>
        <p:nvSpPr>
          <p:cNvPr id="7" name="TextBox 6">
            <a:extLst>
              <a:ext uri="{FF2B5EF4-FFF2-40B4-BE49-F238E27FC236}">
                <a16:creationId xmlns:a16="http://schemas.microsoft.com/office/drawing/2014/main" id="{EC63E9CE-B4EB-4C1E-5875-78C24C62E794}"/>
              </a:ext>
            </a:extLst>
          </p:cNvPr>
          <p:cNvSpPr txBox="1"/>
          <p:nvPr/>
        </p:nvSpPr>
        <p:spPr>
          <a:xfrm>
            <a:off x="1269876" y="1735883"/>
            <a:ext cx="708848" cy="812530"/>
          </a:xfrm>
          <a:prstGeom prst="rect">
            <a:avLst/>
          </a:prstGeom>
          <a:noFill/>
        </p:spPr>
        <p:txBody>
          <a:bodyPr wrap="none" rtlCol="0">
            <a:spAutoFit/>
          </a:bodyPr>
          <a:lstStyle/>
          <a:p>
            <a:r>
              <a:rPr lang="en-US" dirty="0"/>
              <a:t>It is:</a:t>
            </a:r>
          </a:p>
          <a:p>
            <a:pPr>
              <a:lnSpc>
                <a:spcPct val="95000"/>
              </a:lnSpc>
            </a:pPr>
            <a:endParaRPr lang="en-IN" dirty="0"/>
          </a:p>
        </p:txBody>
      </p:sp>
      <p:sp>
        <p:nvSpPr>
          <p:cNvPr id="8" name="TextBox 7">
            <a:extLst>
              <a:ext uri="{FF2B5EF4-FFF2-40B4-BE49-F238E27FC236}">
                <a16:creationId xmlns:a16="http://schemas.microsoft.com/office/drawing/2014/main" id="{C7B2C5C4-4B0D-5277-EEC3-4E379873CACA}"/>
              </a:ext>
            </a:extLst>
          </p:cNvPr>
          <p:cNvSpPr txBox="1"/>
          <p:nvPr/>
        </p:nvSpPr>
        <p:spPr>
          <a:xfrm>
            <a:off x="1413892" y="2372212"/>
            <a:ext cx="1468672" cy="443198"/>
          </a:xfrm>
          <a:prstGeom prst="rect">
            <a:avLst/>
          </a:prstGeom>
          <a:noFill/>
        </p:spPr>
        <p:txBody>
          <a:bodyPr wrap="none" rtlCol="0">
            <a:spAutoFit/>
          </a:bodyPr>
          <a:lstStyle/>
          <a:p>
            <a:pPr>
              <a:lnSpc>
                <a:spcPct val="95000"/>
              </a:lnSpc>
            </a:pPr>
            <a:r>
              <a:rPr lang="en-IN" dirty="0"/>
              <a:t>Planning</a:t>
            </a:r>
          </a:p>
        </p:txBody>
      </p:sp>
      <p:sp>
        <p:nvSpPr>
          <p:cNvPr id="10" name="TextBox 9">
            <a:extLst>
              <a:ext uri="{FF2B5EF4-FFF2-40B4-BE49-F238E27FC236}">
                <a16:creationId xmlns:a16="http://schemas.microsoft.com/office/drawing/2014/main" id="{1326AD98-3BEE-CBE6-9801-9A22630BDB9D}"/>
              </a:ext>
            </a:extLst>
          </p:cNvPr>
          <p:cNvSpPr txBox="1"/>
          <p:nvPr/>
        </p:nvSpPr>
        <p:spPr>
          <a:xfrm>
            <a:off x="1413892" y="3018894"/>
            <a:ext cx="6097554" cy="461665"/>
          </a:xfrm>
          <a:prstGeom prst="rect">
            <a:avLst/>
          </a:prstGeom>
          <a:noFill/>
        </p:spPr>
        <p:txBody>
          <a:bodyPr wrap="square">
            <a:spAutoFit/>
          </a:bodyPr>
          <a:lstStyle/>
          <a:p>
            <a:r>
              <a:rPr lang="en-IN" dirty="0"/>
              <a:t>Designing</a:t>
            </a:r>
          </a:p>
        </p:txBody>
      </p:sp>
      <p:sp>
        <p:nvSpPr>
          <p:cNvPr id="12" name="TextBox 11">
            <a:extLst>
              <a:ext uri="{FF2B5EF4-FFF2-40B4-BE49-F238E27FC236}">
                <a16:creationId xmlns:a16="http://schemas.microsoft.com/office/drawing/2014/main" id="{DA88BC9E-DD43-EAAB-A5E4-6D19378BA54D}"/>
              </a:ext>
            </a:extLst>
          </p:cNvPr>
          <p:cNvSpPr txBox="1"/>
          <p:nvPr/>
        </p:nvSpPr>
        <p:spPr>
          <a:xfrm>
            <a:off x="1413892" y="3668287"/>
            <a:ext cx="6097554" cy="461665"/>
          </a:xfrm>
          <a:prstGeom prst="rect">
            <a:avLst/>
          </a:prstGeom>
          <a:noFill/>
        </p:spPr>
        <p:txBody>
          <a:bodyPr wrap="square">
            <a:spAutoFit/>
          </a:bodyPr>
          <a:lstStyle/>
          <a:p>
            <a:r>
              <a:rPr lang="en-IN" dirty="0"/>
              <a:t>Coding</a:t>
            </a:r>
          </a:p>
        </p:txBody>
      </p:sp>
      <p:sp>
        <p:nvSpPr>
          <p:cNvPr id="14" name="TextBox 13">
            <a:extLst>
              <a:ext uri="{FF2B5EF4-FFF2-40B4-BE49-F238E27FC236}">
                <a16:creationId xmlns:a16="http://schemas.microsoft.com/office/drawing/2014/main" id="{C4852998-4A7C-C5E6-A3B1-A6E7E6C0BD5A}"/>
              </a:ext>
            </a:extLst>
          </p:cNvPr>
          <p:cNvSpPr txBox="1"/>
          <p:nvPr/>
        </p:nvSpPr>
        <p:spPr>
          <a:xfrm>
            <a:off x="1413892" y="4377800"/>
            <a:ext cx="6097554" cy="461665"/>
          </a:xfrm>
          <a:prstGeom prst="rect">
            <a:avLst/>
          </a:prstGeom>
          <a:noFill/>
        </p:spPr>
        <p:txBody>
          <a:bodyPr wrap="square">
            <a:spAutoFit/>
          </a:bodyPr>
          <a:lstStyle/>
          <a:p>
            <a:r>
              <a:rPr lang="en-IN" dirty="0"/>
              <a:t>Testing</a:t>
            </a:r>
          </a:p>
        </p:txBody>
      </p:sp>
      <p:sp>
        <p:nvSpPr>
          <p:cNvPr id="16" name="TextBox 15">
            <a:extLst>
              <a:ext uri="{FF2B5EF4-FFF2-40B4-BE49-F238E27FC236}">
                <a16:creationId xmlns:a16="http://schemas.microsoft.com/office/drawing/2014/main" id="{C4BBBB7D-CEDA-B5F6-38C3-E73A6CC65818}"/>
              </a:ext>
            </a:extLst>
          </p:cNvPr>
          <p:cNvSpPr txBox="1"/>
          <p:nvPr/>
        </p:nvSpPr>
        <p:spPr>
          <a:xfrm>
            <a:off x="1413892" y="5003390"/>
            <a:ext cx="6097554" cy="461665"/>
          </a:xfrm>
          <a:prstGeom prst="rect">
            <a:avLst/>
          </a:prstGeom>
          <a:noFill/>
        </p:spPr>
        <p:txBody>
          <a:bodyPr wrap="square">
            <a:spAutoFit/>
          </a:bodyPr>
          <a:lstStyle/>
          <a:p>
            <a:r>
              <a:rPr lang="en-IN" dirty="0"/>
              <a:t>Deploying</a:t>
            </a:r>
          </a:p>
        </p:txBody>
      </p:sp>
      <p:sp>
        <p:nvSpPr>
          <p:cNvPr id="18" name="TextBox 17">
            <a:extLst>
              <a:ext uri="{FF2B5EF4-FFF2-40B4-BE49-F238E27FC236}">
                <a16:creationId xmlns:a16="http://schemas.microsoft.com/office/drawing/2014/main" id="{1CA47292-FF49-DA4A-3A44-D5848B44ED04}"/>
              </a:ext>
            </a:extLst>
          </p:cNvPr>
          <p:cNvSpPr txBox="1"/>
          <p:nvPr/>
        </p:nvSpPr>
        <p:spPr>
          <a:xfrm>
            <a:off x="1413892" y="5805264"/>
            <a:ext cx="6097554" cy="461665"/>
          </a:xfrm>
          <a:prstGeom prst="rect">
            <a:avLst/>
          </a:prstGeom>
          <a:noFill/>
        </p:spPr>
        <p:txBody>
          <a:bodyPr wrap="square">
            <a:spAutoFit/>
          </a:bodyPr>
          <a:lstStyle/>
          <a:p>
            <a:r>
              <a:rPr lang="en-IN" dirty="0"/>
              <a:t>Maintaining</a:t>
            </a:r>
          </a:p>
        </p:txBody>
      </p:sp>
    </p:spTree>
    <p:extLst>
      <p:ext uri="{BB962C8B-B14F-4D97-AF65-F5344CB8AC3E}">
        <p14:creationId xmlns:p14="http://schemas.microsoft.com/office/powerpoint/2010/main" val="977229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1000"/>
                                        <p:tgtEl>
                                          <p:spTgt spid="8"/>
                                        </p:tgtEl>
                                      </p:cBhvr>
                                    </p:animEffect>
                                    <p:anim calcmode="lin" valueType="num">
                                      <p:cBhvr>
                                        <p:cTn id="26" dur="1000" fill="hold"/>
                                        <p:tgtEl>
                                          <p:spTgt spid="8"/>
                                        </p:tgtEl>
                                        <p:attrNameLst>
                                          <p:attrName>ppt_x</p:attrName>
                                        </p:attrNameLst>
                                      </p:cBhvr>
                                      <p:tavLst>
                                        <p:tav tm="0">
                                          <p:val>
                                            <p:strVal val="#ppt_x"/>
                                          </p:val>
                                        </p:tav>
                                        <p:tav tm="100000">
                                          <p:val>
                                            <p:strVal val="#ppt_x"/>
                                          </p:val>
                                        </p:tav>
                                      </p:tavLst>
                                    </p:anim>
                                    <p:anim calcmode="lin" valueType="num">
                                      <p:cBhvr>
                                        <p:cTn id="2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1000"/>
                                        <p:tgtEl>
                                          <p:spTgt spid="10"/>
                                        </p:tgtEl>
                                      </p:cBhvr>
                                    </p:animEffect>
                                    <p:anim calcmode="lin" valueType="num">
                                      <p:cBhvr>
                                        <p:cTn id="33" dur="1000" fill="hold"/>
                                        <p:tgtEl>
                                          <p:spTgt spid="10"/>
                                        </p:tgtEl>
                                        <p:attrNameLst>
                                          <p:attrName>ppt_x</p:attrName>
                                        </p:attrNameLst>
                                      </p:cBhvr>
                                      <p:tavLst>
                                        <p:tav tm="0">
                                          <p:val>
                                            <p:strVal val="#ppt_x"/>
                                          </p:val>
                                        </p:tav>
                                        <p:tav tm="100000">
                                          <p:val>
                                            <p:strVal val="#ppt_x"/>
                                          </p:val>
                                        </p:tav>
                                      </p:tavLst>
                                    </p:anim>
                                    <p:anim calcmode="lin" valueType="num">
                                      <p:cBhvr>
                                        <p:cTn id="3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1000"/>
                                        <p:tgtEl>
                                          <p:spTgt spid="12"/>
                                        </p:tgtEl>
                                      </p:cBhvr>
                                    </p:animEffect>
                                    <p:anim calcmode="lin" valueType="num">
                                      <p:cBhvr>
                                        <p:cTn id="40" dur="1000" fill="hold"/>
                                        <p:tgtEl>
                                          <p:spTgt spid="12"/>
                                        </p:tgtEl>
                                        <p:attrNameLst>
                                          <p:attrName>ppt_x</p:attrName>
                                        </p:attrNameLst>
                                      </p:cBhvr>
                                      <p:tavLst>
                                        <p:tav tm="0">
                                          <p:val>
                                            <p:strVal val="#ppt_x"/>
                                          </p:val>
                                        </p:tav>
                                        <p:tav tm="100000">
                                          <p:val>
                                            <p:strVal val="#ppt_x"/>
                                          </p:val>
                                        </p:tav>
                                      </p:tavLst>
                                    </p:anim>
                                    <p:anim calcmode="lin" valueType="num">
                                      <p:cBhvr>
                                        <p:cTn id="4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1000"/>
                                        <p:tgtEl>
                                          <p:spTgt spid="14"/>
                                        </p:tgtEl>
                                      </p:cBhvr>
                                    </p:animEffect>
                                    <p:anim calcmode="lin" valueType="num">
                                      <p:cBhvr>
                                        <p:cTn id="47" dur="1000" fill="hold"/>
                                        <p:tgtEl>
                                          <p:spTgt spid="14"/>
                                        </p:tgtEl>
                                        <p:attrNameLst>
                                          <p:attrName>ppt_x</p:attrName>
                                        </p:attrNameLst>
                                      </p:cBhvr>
                                      <p:tavLst>
                                        <p:tav tm="0">
                                          <p:val>
                                            <p:strVal val="#ppt_x"/>
                                          </p:val>
                                        </p:tav>
                                        <p:tav tm="100000">
                                          <p:val>
                                            <p:strVal val="#ppt_x"/>
                                          </p:val>
                                        </p:tav>
                                      </p:tavLst>
                                    </p:anim>
                                    <p:anim calcmode="lin" valueType="num">
                                      <p:cBhvr>
                                        <p:cTn id="48"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grpId="0" nodeType="click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1000"/>
                                        <p:tgtEl>
                                          <p:spTgt spid="16"/>
                                        </p:tgtEl>
                                      </p:cBhvr>
                                    </p:animEffect>
                                    <p:anim calcmode="lin" valueType="num">
                                      <p:cBhvr>
                                        <p:cTn id="54" dur="1000" fill="hold"/>
                                        <p:tgtEl>
                                          <p:spTgt spid="16"/>
                                        </p:tgtEl>
                                        <p:attrNameLst>
                                          <p:attrName>ppt_x</p:attrName>
                                        </p:attrNameLst>
                                      </p:cBhvr>
                                      <p:tavLst>
                                        <p:tav tm="0">
                                          <p:val>
                                            <p:strVal val="#ppt_x"/>
                                          </p:val>
                                        </p:tav>
                                        <p:tav tm="100000">
                                          <p:val>
                                            <p:strVal val="#ppt_x"/>
                                          </p:val>
                                        </p:tav>
                                      </p:tavLst>
                                    </p:anim>
                                    <p:anim calcmode="lin" valueType="num">
                                      <p:cBhvr>
                                        <p:cTn id="55"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grpId="0" nodeType="clickEffect">
                                  <p:stCondLst>
                                    <p:cond delay="0"/>
                                  </p:stCondLst>
                                  <p:childTnLst>
                                    <p:set>
                                      <p:cBhvr>
                                        <p:cTn id="59" dur="1" fill="hold">
                                          <p:stCondLst>
                                            <p:cond delay="0"/>
                                          </p:stCondLst>
                                        </p:cTn>
                                        <p:tgtEl>
                                          <p:spTgt spid="18"/>
                                        </p:tgtEl>
                                        <p:attrNameLst>
                                          <p:attrName>style.visibility</p:attrName>
                                        </p:attrNameLst>
                                      </p:cBhvr>
                                      <p:to>
                                        <p:strVal val="visible"/>
                                      </p:to>
                                    </p:set>
                                    <p:animEffect transition="in" filter="fade">
                                      <p:cBhvr>
                                        <p:cTn id="60" dur="1000"/>
                                        <p:tgtEl>
                                          <p:spTgt spid="18"/>
                                        </p:tgtEl>
                                      </p:cBhvr>
                                    </p:animEffect>
                                    <p:anim calcmode="lin" valueType="num">
                                      <p:cBhvr>
                                        <p:cTn id="61" dur="1000" fill="hold"/>
                                        <p:tgtEl>
                                          <p:spTgt spid="18"/>
                                        </p:tgtEl>
                                        <p:attrNameLst>
                                          <p:attrName>ppt_x</p:attrName>
                                        </p:attrNameLst>
                                      </p:cBhvr>
                                      <p:tavLst>
                                        <p:tav tm="0">
                                          <p:val>
                                            <p:strVal val="#ppt_x"/>
                                          </p:val>
                                        </p:tav>
                                        <p:tav tm="100000">
                                          <p:val>
                                            <p:strVal val="#ppt_x"/>
                                          </p:val>
                                        </p:tav>
                                      </p:tavLst>
                                    </p:anim>
                                    <p:anim calcmode="lin" valueType="num">
                                      <p:cBhvr>
                                        <p:cTn id="62"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7" grpId="0"/>
      <p:bldP spid="8" grpId="0"/>
      <p:bldP spid="10" grpId="0"/>
      <p:bldP spid="12" grpId="0"/>
      <p:bldP spid="14" grpId="0"/>
      <p:bldP spid="16" grpId="0"/>
      <p:bldP spid="1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3628" y="88369"/>
            <a:ext cx="10577367" cy="1336576"/>
          </a:xfrm>
        </p:spPr>
        <p:txBody>
          <a:bodyPr/>
          <a:lstStyle/>
          <a:p>
            <a:r>
              <a:rPr lang="en-IN" dirty="0"/>
              <a:t>Software Engineering Process Framework</a:t>
            </a:r>
            <a:endParaRPr lang="en-US" dirty="0"/>
          </a:p>
        </p:txBody>
      </p:sp>
      <p:sp>
        <p:nvSpPr>
          <p:cNvPr id="6" name="TextBox 5">
            <a:extLst>
              <a:ext uri="{FF2B5EF4-FFF2-40B4-BE49-F238E27FC236}">
                <a16:creationId xmlns:a16="http://schemas.microsoft.com/office/drawing/2014/main" id="{1CFF0355-FCD0-EE5F-7B69-726A8826A44F}"/>
              </a:ext>
            </a:extLst>
          </p:cNvPr>
          <p:cNvSpPr txBox="1"/>
          <p:nvPr/>
        </p:nvSpPr>
        <p:spPr>
          <a:xfrm>
            <a:off x="765820" y="1556792"/>
            <a:ext cx="11017224" cy="1495794"/>
          </a:xfrm>
          <a:prstGeom prst="rect">
            <a:avLst/>
          </a:prstGeom>
          <a:noFill/>
        </p:spPr>
        <p:txBody>
          <a:bodyPr wrap="square" rtlCol="0">
            <a:spAutoFit/>
          </a:bodyPr>
          <a:lstStyle/>
          <a:p>
            <a:pPr>
              <a:lnSpc>
                <a:spcPct val="95000"/>
              </a:lnSpc>
            </a:pPr>
            <a:r>
              <a:rPr lang="en-US" dirty="0"/>
              <a:t>A Software Process Framework establishes the foundation for a complete software engineering process by identifying a small number of framework activities applicable to all software projects, regardless of size or complexity</a:t>
            </a:r>
            <a:endParaRPr lang="en-IN" dirty="0"/>
          </a:p>
        </p:txBody>
      </p:sp>
      <p:sp>
        <p:nvSpPr>
          <p:cNvPr id="7" name="TextBox 6">
            <a:extLst>
              <a:ext uri="{FF2B5EF4-FFF2-40B4-BE49-F238E27FC236}">
                <a16:creationId xmlns:a16="http://schemas.microsoft.com/office/drawing/2014/main" id="{742B1D3F-6E2A-19A8-1ACF-F5D19750EBF3}"/>
              </a:ext>
            </a:extLst>
          </p:cNvPr>
          <p:cNvSpPr txBox="1"/>
          <p:nvPr/>
        </p:nvSpPr>
        <p:spPr>
          <a:xfrm>
            <a:off x="790871" y="3191937"/>
            <a:ext cx="2922595" cy="443198"/>
          </a:xfrm>
          <a:prstGeom prst="rect">
            <a:avLst/>
          </a:prstGeom>
          <a:noFill/>
        </p:spPr>
        <p:txBody>
          <a:bodyPr wrap="none" rtlCol="0">
            <a:spAutoFit/>
          </a:bodyPr>
          <a:lstStyle/>
          <a:p>
            <a:pPr>
              <a:lnSpc>
                <a:spcPct val="95000"/>
              </a:lnSpc>
            </a:pPr>
            <a:r>
              <a:rPr lang="en-IN" dirty="0"/>
              <a:t>Framework means</a:t>
            </a:r>
          </a:p>
        </p:txBody>
      </p:sp>
      <p:sp>
        <p:nvSpPr>
          <p:cNvPr id="8" name="TextBox 7">
            <a:extLst>
              <a:ext uri="{FF2B5EF4-FFF2-40B4-BE49-F238E27FC236}">
                <a16:creationId xmlns:a16="http://schemas.microsoft.com/office/drawing/2014/main" id="{1A1A88C3-2689-9767-FB6F-2FB123297D57}"/>
              </a:ext>
            </a:extLst>
          </p:cNvPr>
          <p:cNvSpPr txBox="1"/>
          <p:nvPr/>
        </p:nvSpPr>
        <p:spPr>
          <a:xfrm>
            <a:off x="790871" y="3774486"/>
            <a:ext cx="1922321" cy="443198"/>
          </a:xfrm>
          <a:prstGeom prst="rect">
            <a:avLst/>
          </a:prstGeom>
          <a:noFill/>
        </p:spPr>
        <p:txBody>
          <a:bodyPr wrap="none" rtlCol="0">
            <a:spAutoFit/>
          </a:bodyPr>
          <a:lstStyle/>
          <a:p>
            <a:pPr>
              <a:lnSpc>
                <a:spcPct val="95000"/>
              </a:lnSpc>
            </a:pPr>
            <a:r>
              <a:rPr lang="en-IN" dirty="0"/>
              <a:t>A roadmap</a:t>
            </a:r>
          </a:p>
        </p:txBody>
      </p:sp>
      <p:sp>
        <p:nvSpPr>
          <p:cNvPr id="9" name="TextBox 8">
            <a:extLst>
              <a:ext uri="{FF2B5EF4-FFF2-40B4-BE49-F238E27FC236}">
                <a16:creationId xmlns:a16="http://schemas.microsoft.com/office/drawing/2014/main" id="{44EA459A-47CF-AFDA-804F-E46F0A87FCEA}"/>
              </a:ext>
            </a:extLst>
          </p:cNvPr>
          <p:cNvSpPr txBox="1"/>
          <p:nvPr/>
        </p:nvSpPr>
        <p:spPr>
          <a:xfrm>
            <a:off x="837828" y="4328841"/>
            <a:ext cx="2959465" cy="2289858"/>
          </a:xfrm>
          <a:prstGeom prst="rect">
            <a:avLst/>
          </a:prstGeom>
          <a:noFill/>
        </p:spPr>
        <p:txBody>
          <a:bodyPr wrap="none" rtlCol="0">
            <a:spAutoFit/>
          </a:bodyPr>
          <a:lstStyle/>
          <a:p>
            <a:r>
              <a:rPr lang="en-US" dirty="0"/>
              <a:t>Like Google Maps:</a:t>
            </a:r>
          </a:p>
          <a:p>
            <a:r>
              <a:rPr lang="en-US" dirty="0"/>
              <a:t>It tells</a:t>
            </a:r>
          </a:p>
          <a:p>
            <a:pPr marL="342900" indent="-342900">
              <a:buFont typeface="Arial" panose="020B0604020202020204" pitchFamily="34" charset="0"/>
              <a:buChar char="•"/>
            </a:pPr>
            <a:r>
              <a:rPr lang="en-US" dirty="0"/>
              <a:t>What to do</a:t>
            </a:r>
          </a:p>
          <a:p>
            <a:pPr marL="342900" indent="-342900">
              <a:buFont typeface="Arial" panose="020B0604020202020204" pitchFamily="34" charset="0"/>
              <a:buChar char="•"/>
            </a:pPr>
            <a:r>
              <a:rPr lang="en-US" dirty="0"/>
              <a:t>When to do</a:t>
            </a:r>
          </a:p>
          <a:p>
            <a:pPr marL="342900" indent="-342900">
              <a:buFont typeface="Arial" panose="020B0604020202020204" pitchFamily="34" charset="0"/>
              <a:buChar char="•"/>
            </a:pPr>
            <a:r>
              <a:rPr lang="en-US" dirty="0"/>
              <a:t>Who should do</a:t>
            </a:r>
          </a:p>
          <a:p>
            <a:pPr>
              <a:lnSpc>
                <a:spcPct val="95000"/>
              </a:lnSpc>
            </a:pPr>
            <a:endParaRPr lang="en-IN" dirty="0"/>
          </a:p>
        </p:txBody>
      </p:sp>
    </p:spTree>
    <p:extLst>
      <p:ext uri="{BB962C8B-B14F-4D97-AF65-F5344CB8AC3E}">
        <p14:creationId xmlns:p14="http://schemas.microsoft.com/office/powerpoint/2010/main" val="1603891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7" grpId="0"/>
      <p:bldP spid="8" grpId="0"/>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1048544"/>
          </a:xfrm>
        </p:spPr>
        <p:txBody>
          <a:bodyPr/>
          <a:lstStyle/>
          <a:p>
            <a:r>
              <a:rPr lang="en-US" dirty="0"/>
              <a:t>Process Framework Components</a:t>
            </a:r>
          </a:p>
        </p:txBody>
      </p:sp>
      <p:sp>
        <p:nvSpPr>
          <p:cNvPr id="6" name="TextBox 5">
            <a:extLst>
              <a:ext uri="{FF2B5EF4-FFF2-40B4-BE49-F238E27FC236}">
                <a16:creationId xmlns:a16="http://schemas.microsoft.com/office/drawing/2014/main" id="{DB41E894-E2C0-27CC-E7F1-372B91E6F4A9}"/>
              </a:ext>
            </a:extLst>
          </p:cNvPr>
          <p:cNvSpPr txBox="1"/>
          <p:nvPr/>
        </p:nvSpPr>
        <p:spPr>
          <a:xfrm>
            <a:off x="1626009" y="1412776"/>
            <a:ext cx="1870384" cy="384721"/>
          </a:xfrm>
          <a:prstGeom prst="rect">
            <a:avLst/>
          </a:prstGeom>
          <a:noFill/>
        </p:spPr>
        <p:txBody>
          <a:bodyPr wrap="none" rtlCol="0">
            <a:spAutoFit/>
          </a:bodyPr>
          <a:lstStyle/>
          <a:p>
            <a:pPr>
              <a:lnSpc>
                <a:spcPct val="95000"/>
              </a:lnSpc>
            </a:pPr>
            <a:r>
              <a:rPr lang="en-IN" sz="2000" b="1" i="0" dirty="0">
                <a:effectLst/>
                <a:latin typeface="-apple-system"/>
              </a:rPr>
              <a:t>Communication</a:t>
            </a:r>
            <a:endParaRPr lang="en-IN" sz="2000" dirty="0"/>
          </a:p>
        </p:txBody>
      </p:sp>
      <p:sp>
        <p:nvSpPr>
          <p:cNvPr id="7" name="TextBox 6">
            <a:extLst>
              <a:ext uri="{FF2B5EF4-FFF2-40B4-BE49-F238E27FC236}">
                <a16:creationId xmlns:a16="http://schemas.microsoft.com/office/drawing/2014/main" id="{B4BD4CA2-A48F-5150-FE22-AD923E038454}"/>
              </a:ext>
            </a:extLst>
          </p:cNvPr>
          <p:cNvSpPr txBox="1"/>
          <p:nvPr/>
        </p:nvSpPr>
        <p:spPr>
          <a:xfrm>
            <a:off x="2561201" y="2366710"/>
            <a:ext cx="1165704" cy="384721"/>
          </a:xfrm>
          <a:prstGeom prst="rect">
            <a:avLst/>
          </a:prstGeom>
          <a:noFill/>
        </p:spPr>
        <p:txBody>
          <a:bodyPr wrap="none" rtlCol="0">
            <a:spAutoFit/>
          </a:bodyPr>
          <a:lstStyle/>
          <a:p>
            <a:pPr>
              <a:lnSpc>
                <a:spcPct val="95000"/>
              </a:lnSpc>
            </a:pPr>
            <a:r>
              <a:rPr lang="en-IN" sz="2000" b="1" i="0" dirty="0">
                <a:effectLst/>
                <a:latin typeface="-apple-system"/>
              </a:rPr>
              <a:t>Planning</a:t>
            </a:r>
            <a:r>
              <a:rPr lang="en-IN" sz="2000" b="0" i="0" dirty="0">
                <a:effectLst/>
                <a:latin typeface="-apple-system"/>
              </a:rPr>
              <a:t> </a:t>
            </a:r>
            <a:endParaRPr lang="en-IN" sz="2000" dirty="0"/>
          </a:p>
        </p:txBody>
      </p:sp>
      <p:sp>
        <p:nvSpPr>
          <p:cNvPr id="8" name="TextBox 7">
            <a:extLst>
              <a:ext uri="{FF2B5EF4-FFF2-40B4-BE49-F238E27FC236}">
                <a16:creationId xmlns:a16="http://schemas.microsoft.com/office/drawing/2014/main" id="{27C814FE-5C35-D795-AF23-F69F39B3E8C7}"/>
              </a:ext>
            </a:extLst>
          </p:cNvPr>
          <p:cNvSpPr txBox="1"/>
          <p:nvPr/>
        </p:nvSpPr>
        <p:spPr>
          <a:xfrm>
            <a:off x="3704944" y="3371127"/>
            <a:ext cx="1257075" cy="384721"/>
          </a:xfrm>
          <a:prstGeom prst="rect">
            <a:avLst/>
          </a:prstGeom>
          <a:noFill/>
        </p:spPr>
        <p:txBody>
          <a:bodyPr wrap="none" rtlCol="0">
            <a:spAutoFit/>
          </a:bodyPr>
          <a:lstStyle/>
          <a:p>
            <a:pPr>
              <a:lnSpc>
                <a:spcPct val="95000"/>
              </a:lnSpc>
            </a:pPr>
            <a:r>
              <a:rPr lang="en-IN" sz="2000" b="1" i="0" dirty="0" err="1">
                <a:effectLst/>
                <a:latin typeface="-apple-system"/>
              </a:rPr>
              <a:t>Modeling</a:t>
            </a:r>
            <a:r>
              <a:rPr lang="en-IN" sz="2000" b="0" i="0" dirty="0">
                <a:effectLst/>
                <a:latin typeface="-apple-system"/>
              </a:rPr>
              <a:t> </a:t>
            </a:r>
            <a:endParaRPr lang="en-IN" sz="2000" dirty="0"/>
          </a:p>
        </p:txBody>
      </p:sp>
      <p:sp>
        <p:nvSpPr>
          <p:cNvPr id="9" name="TextBox 8">
            <a:extLst>
              <a:ext uri="{FF2B5EF4-FFF2-40B4-BE49-F238E27FC236}">
                <a16:creationId xmlns:a16="http://schemas.microsoft.com/office/drawing/2014/main" id="{6EEA75C5-9CBC-42C5-AFD4-F4DA7DC4FE51}"/>
              </a:ext>
            </a:extLst>
          </p:cNvPr>
          <p:cNvSpPr txBox="1"/>
          <p:nvPr/>
        </p:nvSpPr>
        <p:spPr>
          <a:xfrm>
            <a:off x="4964624" y="4461262"/>
            <a:ext cx="1605248" cy="384721"/>
          </a:xfrm>
          <a:prstGeom prst="rect">
            <a:avLst/>
          </a:prstGeom>
          <a:noFill/>
        </p:spPr>
        <p:txBody>
          <a:bodyPr wrap="none" rtlCol="0">
            <a:spAutoFit/>
          </a:bodyPr>
          <a:lstStyle/>
          <a:p>
            <a:pPr>
              <a:lnSpc>
                <a:spcPct val="95000"/>
              </a:lnSpc>
            </a:pPr>
            <a:r>
              <a:rPr lang="en-IN" sz="2000" b="1" dirty="0">
                <a:latin typeface="-apple-system"/>
              </a:rPr>
              <a:t>Construction</a:t>
            </a:r>
            <a:r>
              <a:rPr lang="en-IN" sz="2000" b="0" i="0" dirty="0">
                <a:effectLst/>
                <a:latin typeface="-apple-system"/>
              </a:rPr>
              <a:t> </a:t>
            </a:r>
            <a:endParaRPr lang="en-IN" sz="2000" dirty="0"/>
          </a:p>
        </p:txBody>
      </p:sp>
      <p:sp>
        <p:nvSpPr>
          <p:cNvPr id="10" name="TextBox 9">
            <a:extLst>
              <a:ext uri="{FF2B5EF4-FFF2-40B4-BE49-F238E27FC236}">
                <a16:creationId xmlns:a16="http://schemas.microsoft.com/office/drawing/2014/main" id="{649FBB81-12E8-FF47-2C01-D8272E4C15E6}"/>
              </a:ext>
            </a:extLst>
          </p:cNvPr>
          <p:cNvSpPr txBox="1"/>
          <p:nvPr/>
        </p:nvSpPr>
        <p:spPr>
          <a:xfrm>
            <a:off x="6104808" y="5455658"/>
            <a:ext cx="1496885" cy="384721"/>
          </a:xfrm>
          <a:prstGeom prst="rect">
            <a:avLst/>
          </a:prstGeom>
          <a:noFill/>
        </p:spPr>
        <p:txBody>
          <a:bodyPr wrap="none" rtlCol="0">
            <a:spAutoFit/>
          </a:bodyPr>
          <a:lstStyle/>
          <a:p>
            <a:pPr>
              <a:lnSpc>
                <a:spcPct val="95000"/>
              </a:lnSpc>
            </a:pPr>
            <a:r>
              <a:rPr lang="en-IN" sz="2000" b="1" dirty="0">
                <a:latin typeface="-apple-system"/>
              </a:rPr>
              <a:t>Deployment</a:t>
            </a:r>
            <a:endParaRPr lang="en-IN" sz="2000" dirty="0"/>
          </a:p>
        </p:txBody>
      </p:sp>
      <p:sp>
        <p:nvSpPr>
          <p:cNvPr id="11" name="TextBox 10">
            <a:extLst>
              <a:ext uri="{FF2B5EF4-FFF2-40B4-BE49-F238E27FC236}">
                <a16:creationId xmlns:a16="http://schemas.microsoft.com/office/drawing/2014/main" id="{F6E1459A-F93B-A658-637B-13903A2DAD1C}"/>
              </a:ext>
            </a:extLst>
          </p:cNvPr>
          <p:cNvSpPr txBox="1"/>
          <p:nvPr/>
        </p:nvSpPr>
        <p:spPr>
          <a:xfrm>
            <a:off x="1669001" y="1735794"/>
            <a:ext cx="4666342" cy="384721"/>
          </a:xfrm>
          <a:prstGeom prst="rect">
            <a:avLst/>
          </a:prstGeom>
          <a:noFill/>
        </p:spPr>
        <p:txBody>
          <a:bodyPr wrap="none" rtlCol="0">
            <a:spAutoFit/>
          </a:bodyPr>
          <a:lstStyle/>
          <a:p>
            <a:pPr>
              <a:lnSpc>
                <a:spcPct val="95000"/>
              </a:lnSpc>
            </a:pPr>
            <a:r>
              <a:rPr lang="en-IN" sz="2000" b="0" i="0" dirty="0">
                <a:effectLst/>
                <a:latin typeface="-apple-system"/>
              </a:rPr>
              <a:t>project initiation &amp; requirements gathering</a:t>
            </a:r>
            <a:endParaRPr lang="en-IN" sz="2000" dirty="0"/>
          </a:p>
        </p:txBody>
      </p:sp>
      <p:sp>
        <p:nvSpPr>
          <p:cNvPr id="12" name="TextBox 11">
            <a:extLst>
              <a:ext uri="{FF2B5EF4-FFF2-40B4-BE49-F238E27FC236}">
                <a16:creationId xmlns:a16="http://schemas.microsoft.com/office/drawing/2014/main" id="{C4DC0D16-0D64-0091-66C1-9C43EB0EEFCB}"/>
              </a:ext>
            </a:extLst>
          </p:cNvPr>
          <p:cNvSpPr txBox="1"/>
          <p:nvPr/>
        </p:nvSpPr>
        <p:spPr>
          <a:xfrm>
            <a:off x="2591627" y="2659362"/>
            <a:ext cx="3483711" cy="384721"/>
          </a:xfrm>
          <a:prstGeom prst="rect">
            <a:avLst/>
          </a:prstGeom>
          <a:noFill/>
        </p:spPr>
        <p:txBody>
          <a:bodyPr wrap="none" rtlCol="0">
            <a:spAutoFit/>
          </a:bodyPr>
          <a:lstStyle/>
          <a:p>
            <a:pPr>
              <a:lnSpc>
                <a:spcPct val="95000"/>
              </a:lnSpc>
            </a:pPr>
            <a:r>
              <a:rPr lang="en-IN" sz="2000" b="0" i="0" dirty="0">
                <a:effectLst/>
                <a:latin typeface="-apple-system"/>
              </a:rPr>
              <a:t>estimating, scheduling, tracking</a:t>
            </a:r>
            <a:endParaRPr lang="en-IN" sz="2000" dirty="0"/>
          </a:p>
        </p:txBody>
      </p:sp>
      <p:sp>
        <p:nvSpPr>
          <p:cNvPr id="13" name="TextBox 12">
            <a:extLst>
              <a:ext uri="{FF2B5EF4-FFF2-40B4-BE49-F238E27FC236}">
                <a16:creationId xmlns:a16="http://schemas.microsoft.com/office/drawing/2014/main" id="{0CBF231F-D521-CA71-4A63-B9493D89D138}"/>
              </a:ext>
            </a:extLst>
          </p:cNvPr>
          <p:cNvSpPr txBox="1"/>
          <p:nvPr/>
        </p:nvSpPr>
        <p:spPr>
          <a:xfrm>
            <a:off x="3704944" y="3646598"/>
            <a:ext cx="1968039" cy="384721"/>
          </a:xfrm>
          <a:prstGeom prst="rect">
            <a:avLst/>
          </a:prstGeom>
          <a:noFill/>
        </p:spPr>
        <p:txBody>
          <a:bodyPr wrap="none" rtlCol="0">
            <a:spAutoFit/>
          </a:bodyPr>
          <a:lstStyle/>
          <a:p>
            <a:pPr>
              <a:lnSpc>
                <a:spcPct val="95000"/>
              </a:lnSpc>
            </a:pPr>
            <a:r>
              <a:rPr lang="en-IN" sz="2000" b="0" i="0" dirty="0">
                <a:effectLst/>
                <a:latin typeface="-apple-system"/>
              </a:rPr>
              <a:t>design &amp; analysis</a:t>
            </a:r>
            <a:endParaRPr lang="en-IN" sz="2000" dirty="0"/>
          </a:p>
        </p:txBody>
      </p:sp>
      <p:sp>
        <p:nvSpPr>
          <p:cNvPr id="14" name="TextBox 13">
            <a:extLst>
              <a:ext uri="{FF2B5EF4-FFF2-40B4-BE49-F238E27FC236}">
                <a16:creationId xmlns:a16="http://schemas.microsoft.com/office/drawing/2014/main" id="{861EE771-C83E-0FD1-63C7-B55FDB58A0BB}"/>
              </a:ext>
            </a:extLst>
          </p:cNvPr>
          <p:cNvSpPr txBox="1"/>
          <p:nvPr/>
        </p:nvSpPr>
        <p:spPr>
          <a:xfrm>
            <a:off x="5000282" y="4722577"/>
            <a:ext cx="1690143" cy="384721"/>
          </a:xfrm>
          <a:prstGeom prst="rect">
            <a:avLst/>
          </a:prstGeom>
          <a:noFill/>
        </p:spPr>
        <p:txBody>
          <a:bodyPr wrap="none" rtlCol="0">
            <a:spAutoFit/>
          </a:bodyPr>
          <a:lstStyle/>
          <a:p>
            <a:pPr>
              <a:lnSpc>
                <a:spcPct val="95000"/>
              </a:lnSpc>
            </a:pPr>
            <a:r>
              <a:rPr lang="en-IN" sz="2000" b="0" i="0" dirty="0">
                <a:effectLst/>
                <a:latin typeface="-apple-system"/>
              </a:rPr>
              <a:t>code &amp; testing</a:t>
            </a:r>
            <a:endParaRPr lang="en-IN" sz="2000" dirty="0"/>
          </a:p>
        </p:txBody>
      </p:sp>
      <p:sp>
        <p:nvSpPr>
          <p:cNvPr id="15" name="TextBox 14">
            <a:extLst>
              <a:ext uri="{FF2B5EF4-FFF2-40B4-BE49-F238E27FC236}">
                <a16:creationId xmlns:a16="http://schemas.microsoft.com/office/drawing/2014/main" id="{03BF0600-664C-8B8E-DC39-3D180069EF38}"/>
              </a:ext>
            </a:extLst>
          </p:cNvPr>
          <p:cNvSpPr txBox="1"/>
          <p:nvPr/>
        </p:nvSpPr>
        <p:spPr>
          <a:xfrm>
            <a:off x="6075338" y="5758889"/>
            <a:ext cx="2251322" cy="384721"/>
          </a:xfrm>
          <a:prstGeom prst="rect">
            <a:avLst/>
          </a:prstGeom>
          <a:noFill/>
        </p:spPr>
        <p:txBody>
          <a:bodyPr wrap="none" rtlCol="0">
            <a:spAutoFit/>
          </a:bodyPr>
          <a:lstStyle/>
          <a:p>
            <a:pPr>
              <a:lnSpc>
                <a:spcPct val="95000"/>
              </a:lnSpc>
            </a:pPr>
            <a:r>
              <a:rPr lang="en-IN" sz="2000" b="0" i="0" dirty="0">
                <a:effectLst/>
                <a:latin typeface="-apple-system"/>
              </a:rPr>
              <a:t>delivery &amp; feedback</a:t>
            </a:r>
            <a:endParaRPr lang="en-IN" sz="2000" dirty="0"/>
          </a:p>
        </p:txBody>
      </p:sp>
      <p:sp>
        <p:nvSpPr>
          <p:cNvPr id="16" name="Arrow: Curved Right 15">
            <a:extLst>
              <a:ext uri="{FF2B5EF4-FFF2-40B4-BE49-F238E27FC236}">
                <a16:creationId xmlns:a16="http://schemas.microsoft.com/office/drawing/2014/main" id="{E16BDE49-8F73-160D-3D75-AC21C8271C9E}"/>
              </a:ext>
            </a:extLst>
          </p:cNvPr>
          <p:cNvSpPr/>
          <p:nvPr/>
        </p:nvSpPr>
        <p:spPr>
          <a:xfrm rot="19336065">
            <a:off x="1501320" y="1787027"/>
            <a:ext cx="635572" cy="1461745"/>
          </a:xfrm>
          <a:prstGeom prst="curvedRightArrow">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7" name="Arrow: Curved Right 16">
            <a:extLst>
              <a:ext uri="{FF2B5EF4-FFF2-40B4-BE49-F238E27FC236}">
                <a16:creationId xmlns:a16="http://schemas.microsoft.com/office/drawing/2014/main" id="{DB9FF539-BC39-89EE-2038-0B573C39215E}"/>
              </a:ext>
            </a:extLst>
          </p:cNvPr>
          <p:cNvSpPr/>
          <p:nvPr/>
        </p:nvSpPr>
        <p:spPr>
          <a:xfrm rot="18403202">
            <a:off x="2689266" y="2910521"/>
            <a:ext cx="635572" cy="1461745"/>
          </a:xfrm>
          <a:prstGeom prst="curvedRightArrow">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8" name="Arrow: Curved Right 17">
            <a:extLst>
              <a:ext uri="{FF2B5EF4-FFF2-40B4-BE49-F238E27FC236}">
                <a16:creationId xmlns:a16="http://schemas.microsoft.com/office/drawing/2014/main" id="{2D34DD45-B1B1-C209-1208-7AB5337E839F}"/>
              </a:ext>
            </a:extLst>
          </p:cNvPr>
          <p:cNvSpPr/>
          <p:nvPr/>
        </p:nvSpPr>
        <p:spPr>
          <a:xfrm rot="18378358">
            <a:off x="3926877" y="3976625"/>
            <a:ext cx="653728" cy="1520529"/>
          </a:xfrm>
          <a:prstGeom prst="curvedRightArrow">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9" name="Arrow: Curved Right 18">
            <a:extLst>
              <a:ext uri="{FF2B5EF4-FFF2-40B4-BE49-F238E27FC236}">
                <a16:creationId xmlns:a16="http://schemas.microsoft.com/office/drawing/2014/main" id="{3891160B-B99C-8C63-9C47-7198518F8039}"/>
              </a:ext>
            </a:extLst>
          </p:cNvPr>
          <p:cNvSpPr/>
          <p:nvPr/>
        </p:nvSpPr>
        <p:spPr>
          <a:xfrm rot="18765265">
            <a:off x="5189574" y="5096309"/>
            <a:ext cx="635572" cy="1461745"/>
          </a:xfrm>
          <a:prstGeom prst="curvedRightArrow">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3111672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ppt_x</p:attrName>
                                        </p:attrNameLst>
                                      </p:cBhvr>
                                      <p:tavLst>
                                        <p:tav tm="0">
                                          <p:val>
                                            <p:strVal val="#ppt_x"/>
                                          </p:val>
                                        </p:tav>
                                        <p:tav tm="100000">
                                          <p:val>
                                            <p:strVal val="#ppt_x"/>
                                          </p:val>
                                        </p:tav>
                                      </p:tavLst>
                                    </p:anim>
                                    <p:anim calcmode="lin" valueType="num">
                                      <p:cBhvr>
                                        <p:cTn id="1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1000"/>
                                        <p:tgtEl>
                                          <p:spTgt spid="11"/>
                                        </p:tgtEl>
                                      </p:cBhvr>
                                    </p:animEffect>
                                    <p:anim calcmode="lin" valueType="num">
                                      <p:cBhvr>
                                        <p:cTn id="21" dur="1000" fill="hold"/>
                                        <p:tgtEl>
                                          <p:spTgt spid="11"/>
                                        </p:tgtEl>
                                        <p:attrNameLst>
                                          <p:attrName>ppt_x</p:attrName>
                                        </p:attrNameLst>
                                      </p:cBhvr>
                                      <p:tavLst>
                                        <p:tav tm="0">
                                          <p:val>
                                            <p:strVal val="#ppt_x"/>
                                          </p:val>
                                        </p:tav>
                                        <p:tav tm="100000">
                                          <p:val>
                                            <p:strVal val="#ppt_x"/>
                                          </p:val>
                                        </p:tav>
                                      </p:tavLst>
                                    </p:anim>
                                    <p:anim calcmode="lin" valueType="num">
                                      <p:cBhvr>
                                        <p:cTn id="22"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1000"/>
                                        <p:tgtEl>
                                          <p:spTgt spid="16"/>
                                        </p:tgtEl>
                                      </p:cBhvr>
                                    </p:animEffect>
                                    <p:anim calcmode="lin" valueType="num">
                                      <p:cBhvr>
                                        <p:cTn id="28" dur="1000" fill="hold"/>
                                        <p:tgtEl>
                                          <p:spTgt spid="16"/>
                                        </p:tgtEl>
                                        <p:attrNameLst>
                                          <p:attrName>ppt_x</p:attrName>
                                        </p:attrNameLst>
                                      </p:cBhvr>
                                      <p:tavLst>
                                        <p:tav tm="0">
                                          <p:val>
                                            <p:strVal val="#ppt_x"/>
                                          </p:val>
                                        </p:tav>
                                        <p:tav tm="100000">
                                          <p:val>
                                            <p:strVal val="#ppt_x"/>
                                          </p:val>
                                        </p:tav>
                                      </p:tavLst>
                                    </p:anim>
                                    <p:anim calcmode="lin" valueType="num">
                                      <p:cBhvr>
                                        <p:cTn id="2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1000"/>
                                        <p:tgtEl>
                                          <p:spTgt spid="7"/>
                                        </p:tgtEl>
                                      </p:cBhvr>
                                    </p:animEffect>
                                    <p:anim calcmode="lin" valueType="num">
                                      <p:cBhvr>
                                        <p:cTn id="35" dur="1000" fill="hold"/>
                                        <p:tgtEl>
                                          <p:spTgt spid="7"/>
                                        </p:tgtEl>
                                        <p:attrNameLst>
                                          <p:attrName>ppt_x</p:attrName>
                                        </p:attrNameLst>
                                      </p:cBhvr>
                                      <p:tavLst>
                                        <p:tav tm="0">
                                          <p:val>
                                            <p:strVal val="#ppt_x"/>
                                          </p:val>
                                        </p:tav>
                                        <p:tav tm="100000">
                                          <p:val>
                                            <p:strVal val="#ppt_x"/>
                                          </p:val>
                                        </p:tav>
                                      </p:tavLst>
                                    </p:anim>
                                    <p:anim calcmode="lin" valueType="num">
                                      <p:cBhvr>
                                        <p:cTn id="3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1000"/>
                                        <p:tgtEl>
                                          <p:spTgt spid="12"/>
                                        </p:tgtEl>
                                      </p:cBhvr>
                                    </p:animEffect>
                                    <p:anim calcmode="lin" valueType="num">
                                      <p:cBhvr>
                                        <p:cTn id="42" dur="1000" fill="hold"/>
                                        <p:tgtEl>
                                          <p:spTgt spid="12"/>
                                        </p:tgtEl>
                                        <p:attrNameLst>
                                          <p:attrName>ppt_x</p:attrName>
                                        </p:attrNameLst>
                                      </p:cBhvr>
                                      <p:tavLst>
                                        <p:tav tm="0">
                                          <p:val>
                                            <p:strVal val="#ppt_x"/>
                                          </p:val>
                                        </p:tav>
                                        <p:tav tm="100000">
                                          <p:val>
                                            <p:strVal val="#ppt_x"/>
                                          </p:val>
                                        </p:tav>
                                      </p:tavLst>
                                    </p:anim>
                                    <p:anim calcmode="lin" valueType="num">
                                      <p:cBhvr>
                                        <p:cTn id="4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1000"/>
                                        <p:tgtEl>
                                          <p:spTgt spid="17"/>
                                        </p:tgtEl>
                                      </p:cBhvr>
                                    </p:animEffect>
                                    <p:anim calcmode="lin" valueType="num">
                                      <p:cBhvr>
                                        <p:cTn id="49" dur="1000" fill="hold"/>
                                        <p:tgtEl>
                                          <p:spTgt spid="17"/>
                                        </p:tgtEl>
                                        <p:attrNameLst>
                                          <p:attrName>ppt_x</p:attrName>
                                        </p:attrNameLst>
                                      </p:cBhvr>
                                      <p:tavLst>
                                        <p:tav tm="0">
                                          <p:val>
                                            <p:strVal val="#ppt_x"/>
                                          </p:val>
                                        </p:tav>
                                        <p:tav tm="100000">
                                          <p:val>
                                            <p:strVal val="#ppt_x"/>
                                          </p:val>
                                        </p:tav>
                                      </p:tavLst>
                                    </p:anim>
                                    <p:anim calcmode="lin" valueType="num">
                                      <p:cBhvr>
                                        <p:cTn id="50"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fade">
                                      <p:cBhvr>
                                        <p:cTn id="55" dur="1000"/>
                                        <p:tgtEl>
                                          <p:spTgt spid="8"/>
                                        </p:tgtEl>
                                      </p:cBhvr>
                                    </p:animEffect>
                                    <p:anim calcmode="lin" valueType="num">
                                      <p:cBhvr>
                                        <p:cTn id="56" dur="1000" fill="hold"/>
                                        <p:tgtEl>
                                          <p:spTgt spid="8"/>
                                        </p:tgtEl>
                                        <p:attrNameLst>
                                          <p:attrName>ppt_x</p:attrName>
                                        </p:attrNameLst>
                                      </p:cBhvr>
                                      <p:tavLst>
                                        <p:tav tm="0">
                                          <p:val>
                                            <p:strVal val="#ppt_x"/>
                                          </p:val>
                                        </p:tav>
                                        <p:tav tm="100000">
                                          <p:val>
                                            <p:strVal val="#ppt_x"/>
                                          </p:val>
                                        </p:tav>
                                      </p:tavLst>
                                    </p:anim>
                                    <p:anim calcmode="lin" valueType="num">
                                      <p:cBhvr>
                                        <p:cTn id="5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1000"/>
                                        <p:tgtEl>
                                          <p:spTgt spid="13"/>
                                        </p:tgtEl>
                                      </p:cBhvr>
                                    </p:animEffect>
                                    <p:anim calcmode="lin" valueType="num">
                                      <p:cBhvr>
                                        <p:cTn id="63" dur="1000" fill="hold"/>
                                        <p:tgtEl>
                                          <p:spTgt spid="13"/>
                                        </p:tgtEl>
                                        <p:attrNameLst>
                                          <p:attrName>ppt_x</p:attrName>
                                        </p:attrNameLst>
                                      </p:cBhvr>
                                      <p:tavLst>
                                        <p:tav tm="0">
                                          <p:val>
                                            <p:strVal val="#ppt_x"/>
                                          </p:val>
                                        </p:tav>
                                        <p:tav tm="100000">
                                          <p:val>
                                            <p:strVal val="#ppt_x"/>
                                          </p:val>
                                        </p:tav>
                                      </p:tavLst>
                                    </p:anim>
                                    <p:anim calcmode="lin" valueType="num">
                                      <p:cBhvr>
                                        <p:cTn id="64"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grpId="0" nodeType="clickEffect">
                                  <p:stCondLst>
                                    <p:cond delay="0"/>
                                  </p:stCondLst>
                                  <p:childTnLst>
                                    <p:set>
                                      <p:cBhvr>
                                        <p:cTn id="68" dur="1" fill="hold">
                                          <p:stCondLst>
                                            <p:cond delay="0"/>
                                          </p:stCondLst>
                                        </p:cTn>
                                        <p:tgtEl>
                                          <p:spTgt spid="18"/>
                                        </p:tgtEl>
                                        <p:attrNameLst>
                                          <p:attrName>style.visibility</p:attrName>
                                        </p:attrNameLst>
                                      </p:cBhvr>
                                      <p:to>
                                        <p:strVal val="visible"/>
                                      </p:to>
                                    </p:set>
                                    <p:animEffect transition="in" filter="fade">
                                      <p:cBhvr>
                                        <p:cTn id="69" dur="1000"/>
                                        <p:tgtEl>
                                          <p:spTgt spid="18"/>
                                        </p:tgtEl>
                                      </p:cBhvr>
                                    </p:animEffect>
                                    <p:anim calcmode="lin" valueType="num">
                                      <p:cBhvr>
                                        <p:cTn id="70" dur="1000" fill="hold"/>
                                        <p:tgtEl>
                                          <p:spTgt spid="18"/>
                                        </p:tgtEl>
                                        <p:attrNameLst>
                                          <p:attrName>ppt_x</p:attrName>
                                        </p:attrNameLst>
                                      </p:cBhvr>
                                      <p:tavLst>
                                        <p:tav tm="0">
                                          <p:val>
                                            <p:strVal val="#ppt_x"/>
                                          </p:val>
                                        </p:tav>
                                        <p:tav tm="100000">
                                          <p:val>
                                            <p:strVal val="#ppt_x"/>
                                          </p:val>
                                        </p:tav>
                                      </p:tavLst>
                                    </p:anim>
                                    <p:anim calcmode="lin" valueType="num">
                                      <p:cBhvr>
                                        <p:cTn id="71"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42" presetClass="entr" presetSubtype="0" fill="hold" grpId="0" nodeType="clickEffect">
                                  <p:stCondLst>
                                    <p:cond delay="0"/>
                                  </p:stCondLst>
                                  <p:childTnLst>
                                    <p:set>
                                      <p:cBhvr>
                                        <p:cTn id="75" dur="1" fill="hold">
                                          <p:stCondLst>
                                            <p:cond delay="0"/>
                                          </p:stCondLst>
                                        </p:cTn>
                                        <p:tgtEl>
                                          <p:spTgt spid="9"/>
                                        </p:tgtEl>
                                        <p:attrNameLst>
                                          <p:attrName>style.visibility</p:attrName>
                                        </p:attrNameLst>
                                      </p:cBhvr>
                                      <p:to>
                                        <p:strVal val="visible"/>
                                      </p:to>
                                    </p:set>
                                    <p:animEffect transition="in" filter="fade">
                                      <p:cBhvr>
                                        <p:cTn id="76" dur="1000"/>
                                        <p:tgtEl>
                                          <p:spTgt spid="9"/>
                                        </p:tgtEl>
                                      </p:cBhvr>
                                    </p:animEffect>
                                    <p:anim calcmode="lin" valueType="num">
                                      <p:cBhvr>
                                        <p:cTn id="77" dur="1000" fill="hold"/>
                                        <p:tgtEl>
                                          <p:spTgt spid="9"/>
                                        </p:tgtEl>
                                        <p:attrNameLst>
                                          <p:attrName>ppt_x</p:attrName>
                                        </p:attrNameLst>
                                      </p:cBhvr>
                                      <p:tavLst>
                                        <p:tav tm="0">
                                          <p:val>
                                            <p:strVal val="#ppt_x"/>
                                          </p:val>
                                        </p:tav>
                                        <p:tav tm="100000">
                                          <p:val>
                                            <p:strVal val="#ppt_x"/>
                                          </p:val>
                                        </p:tav>
                                      </p:tavLst>
                                    </p:anim>
                                    <p:anim calcmode="lin" valueType="num">
                                      <p:cBhvr>
                                        <p:cTn id="7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42" presetClass="entr" presetSubtype="0" fill="hold" grpId="0" nodeType="clickEffect">
                                  <p:stCondLst>
                                    <p:cond delay="0"/>
                                  </p:stCondLst>
                                  <p:childTnLst>
                                    <p:set>
                                      <p:cBhvr>
                                        <p:cTn id="82" dur="1" fill="hold">
                                          <p:stCondLst>
                                            <p:cond delay="0"/>
                                          </p:stCondLst>
                                        </p:cTn>
                                        <p:tgtEl>
                                          <p:spTgt spid="14"/>
                                        </p:tgtEl>
                                        <p:attrNameLst>
                                          <p:attrName>style.visibility</p:attrName>
                                        </p:attrNameLst>
                                      </p:cBhvr>
                                      <p:to>
                                        <p:strVal val="visible"/>
                                      </p:to>
                                    </p:set>
                                    <p:animEffect transition="in" filter="fade">
                                      <p:cBhvr>
                                        <p:cTn id="83" dur="1000"/>
                                        <p:tgtEl>
                                          <p:spTgt spid="14"/>
                                        </p:tgtEl>
                                      </p:cBhvr>
                                    </p:animEffect>
                                    <p:anim calcmode="lin" valueType="num">
                                      <p:cBhvr>
                                        <p:cTn id="84" dur="1000" fill="hold"/>
                                        <p:tgtEl>
                                          <p:spTgt spid="14"/>
                                        </p:tgtEl>
                                        <p:attrNameLst>
                                          <p:attrName>ppt_x</p:attrName>
                                        </p:attrNameLst>
                                      </p:cBhvr>
                                      <p:tavLst>
                                        <p:tav tm="0">
                                          <p:val>
                                            <p:strVal val="#ppt_x"/>
                                          </p:val>
                                        </p:tav>
                                        <p:tav tm="100000">
                                          <p:val>
                                            <p:strVal val="#ppt_x"/>
                                          </p:val>
                                        </p:tav>
                                      </p:tavLst>
                                    </p:anim>
                                    <p:anim calcmode="lin" valueType="num">
                                      <p:cBhvr>
                                        <p:cTn id="85"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42" presetClass="entr" presetSubtype="0" fill="hold" grpId="0" nodeType="clickEffect">
                                  <p:stCondLst>
                                    <p:cond delay="0"/>
                                  </p:stCondLst>
                                  <p:childTnLst>
                                    <p:set>
                                      <p:cBhvr>
                                        <p:cTn id="89" dur="1" fill="hold">
                                          <p:stCondLst>
                                            <p:cond delay="0"/>
                                          </p:stCondLst>
                                        </p:cTn>
                                        <p:tgtEl>
                                          <p:spTgt spid="19"/>
                                        </p:tgtEl>
                                        <p:attrNameLst>
                                          <p:attrName>style.visibility</p:attrName>
                                        </p:attrNameLst>
                                      </p:cBhvr>
                                      <p:to>
                                        <p:strVal val="visible"/>
                                      </p:to>
                                    </p:set>
                                    <p:animEffect transition="in" filter="fade">
                                      <p:cBhvr>
                                        <p:cTn id="90" dur="1000"/>
                                        <p:tgtEl>
                                          <p:spTgt spid="19"/>
                                        </p:tgtEl>
                                      </p:cBhvr>
                                    </p:animEffect>
                                    <p:anim calcmode="lin" valueType="num">
                                      <p:cBhvr>
                                        <p:cTn id="91" dur="1000" fill="hold"/>
                                        <p:tgtEl>
                                          <p:spTgt spid="19"/>
                                        </p:tgtEl>
                                        <p:attrNameLst>
                                          <p:attrName>ppt_x</p:attrName>
                                        </p:attrNameLst>
                                      </p:cBhvr>
                                      <p:tavLst>
                                        <p:tav tm="0">
                                          <p:val>
                                            <p:strVal val="#ppt_x"/>
                                          </p:val>
                                        </p:tav>
                                        <p:tav tm="100000">
                                          <p:val>
                                            <p:strVal val="#ppt_x"/>
                                          </p:val>
                                        </p:tav>
                                      </p:tavLst>
                                    </p:anim>
                                    <p:anim calcmode="lin" valueType="num">
                                      <p:cBhvr>
                                        <p:cTn id="92"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42" presetClass="entr" presetSubtype="0" fill="hold" grpId="0" nodeType="clickEffect">
                                  <p:stCondLst>
                                    <p:cond delay="0"/>
                                  </p:stCondLst>
                                  <p:childTnLst>
                                    <p:set>
                                      <p:cBhvr>
                                        <p:cTn id="96" dur="1" fill="hold">
                                          <p:stCondLst>
                                            <p:cond delay="0"/>
                                          </p:stCondLst>
                                        </p:cTn>
                                        <p:tgtEl>
                                          <p:spTgt spid="10"/>
                                        </p:tgtEl>
                                        <p:attrNameLst>
                                          <p:attrName>style.visibility</p:attrName>
                                        </p:attrNameLst>
                                      </p:cBhvr>
                                      <p:to>
                                        <p:strVal val="visible"/>
                                      </p:to>
                                    </p:set>
                                    <p:animEffect transition="in" filter="fade">
                                      <p:cBhvr>
                                        <p:cTn id="97" dur="1000"/>
                                        <p:tgtEl>
                                          <p:spTgt spid="10"/>
                                        </p:tgtEl>
                                      </p:cBhvr>
                                    </p:animEffect>
                                    <p:anim calcmode="lin" valueType="num">
                                      <p:cBhvr>
                                        <p:cTn id="98" dur="1000" fill="hold"/>
                                        <p:tgtEl>
                                          <p:spTgt spid="10"/>
                                        </p:tgtEl>
                                        <p:attrNameLst>
                                          <p:attrName>ppt_x</p:attrName>
                                        </p:attrNameLst>
                                      </p:cBhvr>
                                      <p:tavLst>
                                        <p:tav tm="0">
                                          <p:val>
                                            <p:strVal val="#ppt_x"/>
                                          </p:val>
                                        </p:tav>
                                        <p:tav tm="100000">
                                          <p:val>
                                            <p:strVal val="#ppt_x"/>
                                          </p:val>
                                        </p:tav>
                                      </p:tavLst>
                                    </p:anim>
                                    <p:anim calcmode="lin" valueType="num">
                                      <p:cBhvr>
                                        <p:cTn id="9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presetID="42" presetClass="entr" presetSubtype="0" fill="hold" grpId="0" nodeType="clickEffect">
                                  <p:stCondLst>
                                    <p:cond delay="0"/>
                                  </p:stCondLst>
                                  <p:childTnLst>
                                    <p:set>
                                      <p:cBhvr>
                                        <p:cTn id="103" dur="1" fill="hold">
                                          <p:stCondLst>
                                            <p:cond delay="0"/>
                                          </p:stCondLst>
                                        </p:cTn>
                                        <p:tgtEl>
                                          <p:spTgt spid="15"/>
                                        </p:tgtEl>
                                        <p:attrNameLst>
                                          <p:attrName>style.visibility</p:attrName>
                                        </p:attrNameLst>
                                      </p:cBhvr>
                                      <p:to>
                                        <p:strVal val="visible"/>
                                      </p:to>
                                    </p:set>
                                    <p:animEffect transition="in" filter="fade">
                                      <p:cBhvr>
                                        <p:cTn id="104" dur="1000"/>
                                        <p:tgtEl>
                                          <p:spTgt spid="15"/>
                                        </p:tgtEl>
                                      </p:cBhvr>
                                    </p:animEffect>
                                    <p:anim calcmode="lin" valueType="num">
                                      <p:cBhvr>
                                        <p:cTn id="105" dur="1000" fill="hold"/>
                                        <p:tgtEl>
                                          <p:spTgt spid="15"/>
                                        </p:tgtEl>
                                        <p:attrNameLst>
                                          <p:attrName>ppt_x</p:attrName>
                                        </p:attrNameLst>
                                      </p:cBhvr>
                                      <p:tavLst>
                                        <p:tav tm="0">
                                          <p:val>
                                            <p:strVal val="#ppt_x"/>
                                          </p:val>
                                        </p:tav>
                                        <p:tav tm="100000">
                                          <p:val>
                                            <p:strVal val="#ppt_x"/>
                                          </p:val>
                                        </p:tav>
                                      </p:tavLst>
                                    </p:anim>
                                    <p:anim calcmode="lin" valueType="num">
                                      <p:cBhvr>
                                        <p:cTn id="10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7" grpId="0"/>
      <p:bldP spid="8" grpId="0"/>
      <p:bldP spid="9" grpId="0"/>
      <p:bldP spid="10" grpId="0"/>
      <p:bldP spid="11" grpId="0"/>
      <p:bldP spid="12" grpId="0"/>
      <p:bldP spid="13" grpId="0"/>
      <p:bldP spid="14" grpId="0"/>
      <p:bldP spid="15" grpId="0"/>
      <p:bldP spid="16" grpId="0" animBg="1"/>
      <p:bldP spid="17" grpId="0" animBg="1"/>
      <p:bldP spid="18" grpId="0" animBg="1"/>
      <p:bldP spid="1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1719" y="115187"/>
            <a:ext cx="10157354" cy="832520"/>
          </a:xfrm>
        </p:spPr>
        <p:txBody>
          <a:bodyPr/>
          <a:lstStyle/>
          <a:p>
            <a:pPr algn="l" fontAlgn="base"/>
            <a:r>
              <a:rPr lang="en-IN" b="1" i="0" dirty="0">
                <a:effectLst/>
                <a:latin typeface="inherit"/>
              </a:rPr>
              <a:t>Fun Fact</a:t>
            </a:r>
            <a:endParaRPr lang="en-IN" b="1" i="0" dirty="0">
              <a:effectLst/>
              <a:latin typeface="-apple-system"/>
            </a:endParaRPr>
          </a:p>
        </p:txBody>
      </p:sp>
      <p:sp>
        <p:nvSpPr>
          <p:cNvPr id="6" name="TextBox 5">
            <a:extLst>
              <a:ext uri="{FF2B5EF4-FFF2-40B4-BE49-F238E27FC236}">
                <a16:creationId xmlns:a16="http://schemas.microsoft.com/office/drawing/2014/main" id="{08EFBEAD-9F37-5A00-6842-C1214A8E6364}"/>
              </a:ext>
            </a:extLst>
          </p:cNvPr>
          <p:cNvSpPr txBox="1"/>
          <p:nvPr/>
        </p:nvSpPr>
        <p:spPr>
          <a:xfrm>
            <a:off x="909836" y="1966163"/>
            <a:ext cx="5184576" cy="2197525"/>
          </a:xfrm>
          <a:prstGeom prst="rect">
            <a:avLst/>
          </a:prstGeom>
          <a:noFill/>
        </p:spPr>
        <p:txBody>
          <a:bodyPr wrap="square" rtlCol="0">
            <a:spAutoFit/>
          </a:bodyPr>
          <a:lstStyle/>
          <a:p>
            <a:pPr>
              <a:lnSpc>
                <a:spcPct val="95000"/>
              </a:lnSpc>
            </a:pPr>
            <a:r>
              <a:rPr lang="en-US" b="0" i="0" dirty="0">
                <a:effectLst/>
                <a:latin typeface="-apple-system"/>
              </a:rPr>
              <a:t>Margaret Hamilton coined the term "software engineering" in the 1960s while working on Apollo missions. She wanted software development to be taken as seriously as other engineering disciplines</a:t>
            </a:r>
            <a:endParaRPr lang="en-IN" dirty="0"/>
          </a:p>
        </p:txBody>
      </p:sp>
      <p:pic>
        <p:nvPicPr>
          <p:cNvPr id="2050" name="Picture 2" descr="This legendary photo shows Margaret Hamilton standing next to the enormous  stack of software code she helped create for NASA's Apollo missions. Her  work played a crucial role in guiding astronauts safely">
            <a:extLst>
              <a:ext uri="{FF2B5EF4-FFF2-40B4-BE49-F238E27FC236}">
                <a16:creationId xmlns:a16="http://schemas.microsoft.com/office/drawing/2014/main" id="{724F5BF9-5EF7-922E-44DA-28A790E0BC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98468" y="1484784"/>
            <a:ext cx="3800475" cy="4772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7249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050"/>
                                        </p:tgtEl>
                                        <p:attrNameLst>
                                          <p:attrName>style.visibility</p:attrName>
                                        </p:attrNameLst>
                                      </p:cBhvr>
                                      <p:to>
                                        <p:strVal val="visible"/>
                                      </p:to>
                                    </p:set>
                                    <p:anim calcmode="lin" valueType="num">
                                      <p:cBhvr additive="base">
                                        <p:cTn id="13" dur="500" fill="hold"/>
                                        <p:tgtEl>
                                          <p:spTgt spid="2050"/>
                                        </p:tgtEl>
                                        <p:attrNameLst>
                                          <p:attrName>ppt_x</p:attrName>
                                        </p:attrNameLst>
                                      </p:cBhvr>
                                      <p:tavLst>
                                        <p:tav tm="0">
                                          <p:val>
                                            <p:strVal val="#ppt_x"/>
                                          </p:val>
                                        </p:tav>
                                        <p:tav tm="100000">
                                          <p:val>
                                            <p:strVal val="#ppt_x"/>
                                          </p:val>
                                        </p:tav>
                                      </p:tavLst>
                                    </p:anim>
                                    <p:anim calcmode="lin" valueType="num">
                                      <p:cBhvr additive="base">
                                        <p:cTn id="14" dur="500" fill="hold"/>
                                        <p:tgtEl>
                                          <p:spTgt spid="205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40ECE07-B9DA-3166-E854-701D760C509E}"/>
              </a:ext>
            </a:extLst>
          </p:cNvPr>
          <p:cNvPicPr>
            <a:picLocks noChangeAspect="1"/>
          </p:cNvPicPr>
          <p:nvPr/>
        </p:nvPicPr>
        <p:blipFill>
          <a:blip r:embed="rId2"/>
          <a:stretch>
            <a:fillRect/>
          </a:stretch>
        </p:blipFill>
        <p:spPr>
          <a:xfrm>
            <a:off x="564198" y="404664"/>
            <a:ext cx="11060428" cy="6048672"/>
          </a:xfrm>
          <a:prstGeom prst="rect">
            <a:avLst/>
          </a:prstGeom>
        </p:spPr>
      </p:pic>
    </p:spTree>
    <p:extLst>
      <p:ext uri="{BB962C8B-B14F-4D97-AF65-F5344CB8AC3E}">
        <p14:creationId xmlns:p14="http://schemas.microsoft.com/office/powerpoint/2010/main" val="2897249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a:extLst>
              <a:ext uri="{FF2B5EF4-FFF2-40B4-BE49-F238E27FC236}">
                <a16:creationId xmlns:a16="http://schemas.microsoft.com/office/drawing/2014/main" id="{DF97060C-762D-05DD-5926-B479FAD54440}"/>
              </a:ext>
            </a:extLst>
          </p:cNvPr>
          <p:cNvSpPr>
            <a:spLocks noGrp="1"/>
          </p:cNvSpPr>
          <p:nvPr>
            <p:ph type="title"/>
          </p:nvPr>
        </p:nvSpPr>
        <p:spPr>
          <a:xfrm>
            <a:off x="1117309" y="76200"/>
            <a:ext cx="10157354" cy="832520"/>
          </a:xfrm>
        </p:spPr>
        <p:txBody>
          <a:bodyPr>
            <a:normAutofit/>
          </a:bodyPr>
          <a:lstStyle/>
          <a:p>
            <a:r>
              <a:rPr lang="en-IN" b="1" i="0" dirty="0">
                <a:effectLst/>
                <a:latin typeface="inherit"/>
              </a:rPr>
              <a:t>SDLC Process Models</a:t>
            </a:r>
            <a:endParaRPr lang="en-IN" dirty="0"/>
          </a:p>
        </p:txBody>
      </p:sp>
      <p:sp>
        <p:nvSpPr>
          <p:cNvPr id="5" name="TextBox 4">
            <a:extLst>
              <a:ext uri="{FF2B5EF4-FFF2-40B4-BE49-F238E27FC236}">
                <a16:creationId xmlns:a16="http://schemas.microsoft.com/office/drawing/2014/main" id="{0AA80CB2-027A-C772-DCFA-5A9B41143E91}"/>
              </a:ext>
            </a:extLst>
          </p:cNvPr>
          <p:cNvSpPr txBox="1"/>
          <p:nvPr/>
        </p:nvSpPr>
        <p:spPr>
          <a:xfrm>
            <a:off x="1117309" y="1052736"/>
            <a:ext cx="6561476" cy="812530"/>
          </a:xfrm>
          <a:prstGeom prst="rect">
            <a:avLst/>
          </a:prstGeom>
          <a:noFill/>
        </p:spPr>
        <p:txBody>
          <a:bodyPr wrap="none" rtlCol="0">
            <a:spAutoFit/>
          </a:bodyPr>
          <a:lstStyle/>
          <a:p>
            <a:pPr>
              <a:lnSpc>
                <a:spcPct val="95000"/>
              </a:lnSpc>
            </a:pPr>
            <a:r>
              <a:rPr lang="en-US" b="1" i="0" dirty="0">
                <a:effectLst/>
                <a:latin typeface="inherit"/>
              </a:rPr>
              <a:t>Model 1: The Linear Sequential Model (Waterfall) </a:t>
            </a:r>
          </a:p>
          <a:p>
            <a:pPr>
              <a:lnSpc>
                <a:spcPct val="95000"/>
              </a:lnSpc>
            </a:pPr>
            <a:endParaRPr lang="en-IN" dirty="0"/>
          </a:p>
        </p:txBody>
      </p:sp>
      <p:sp>
        <p:nvSpPr>
          <p:cNvPr id="6" name="TextBox 5">
            <a:extLst>
              <a:ext uri="{FF2B5EF4-FFF2-40B4-BE49-F238E27FC236}">
                <a16:creationId xmlns:a16="http://schemas.microsoft.com/office/drawing/2014/main" id="{38A038B8-CDE5-0BD5-777F-209A5FFAF87D}"/>
              </a:ext>
            </a:extLst>
          </p:cNvPr>
          <p:cNvSpPr txBox="1"/>
          <p:nvPr/>
        </p:nvSpPr>
        <p:spPr>
          <a:xfrm>
            <a:off x="1053852" y="1620289"/>
            <a:ext cx="7023076" cy="2382191"/>
          </a:xfrm>
          <a:prstGeom prst="rect">
            <a:avLst/>
          </a:prstGeom>
          <a:noFill/>
        </p:spPr>
        <p:txBody>
          <a:bodyPr wrap="none" rtlCol="0">
            <a:spAutoFit/>
          </a:bodyPr>
          <a:lstStyle/>
          <a:p>
            <a:r>
              <a:rPr lang="en-US" sz="1800" dirty="0">
                <a:latin typeface="Consolas" panose="020B0609020204030204" pitchFamily="49" charset="0"/>
              </a:rPr>
              <a:t>Consider building a house:</a:t>
            </a:r>
          </a:p>
          <a:p>
            <a:endParaRPr lang="en-IN" sz="1800" dirty="0">
              <a:latin typeface="Consolas" panose="020B0609020204030204" pitchFamily="49" charset="0"/>
            </a:endParaRPr>
          </a:p>
          <a:p>
            <a:r>
              <a:rPr lang="en-US" sz="1800" dirty="0">
                <a:latin typeface="Consolas" panose="020B0609020204030204" pitchFamily="49" charset="0"/>
              </a:rPr>
              <a:t>Can you paint the walls before building them?</a:t>
            </a:r>
          </a:p>
          <a:p>
            <a:endParaRPr lang="en-IN" sz="1800" dirty="0">
              <a:latin typeface="Consolas" panose="020B0609020204030204" pitchFamily="49" charset="0"/>
            </a:endParaRPr>
          </a:p>
          <a:p>
            <a:r>
              <a:rPr lang="en-US" sz="1800" dirty="0">
                <a:latin typeface="Consolas" panose="020B0609020204030204" pitchFamily="49" charset="0"/>
              </a:rPr>
              <a:t>Can you install windows before constructing the walls?</a:t>
            </a:r>
          </a:p>
          <a:p>
            <a:endParaRPr lang="en-IN" sz="1800" dirty="0">
              <a:latin typeface="Consolas" panose="020B0609020204030204" pitchFamily="49" charset="0"/>
            </a:endParaRPr>
          </a:p>
          <a:p>
            <a:r>
              <a:rPr lang="en-US" sz="1800" dirty="0">
                <a:latin typeface="Consolas" panose="020B0609020204030204" pitchFamily="49" charset="0"/>
              </a:rPr>
              <a:t>Can you build the roof before the foundation?</a:t>
            </a:r>
          </a:p>
          <a:p>
            <a:pPr>
              <a:lnSpc>
                <a:spcPct val="95000"/>
              </a:lnSpc>
            </a:pPr>
            <a:endParaRPr lang="en-IN" dirty="0"/>
          </a:p>
        </p:txBody>
      </p:sp>
      <p:sp>
        <p:nvSpPr>
          <p:cNvPr id="9" name="TextBox 8">
            <a:extLst>
              <a:ext uri="{FF2B5EF4-FFF2-40B4-BE49-F238E27FC236}">
                <a16:creationId xmlns:a16="http://schemas.microsoft.com/office/drawing/2014/main" id="{2B2C7DA9-3594-D47F-4869-386082D1A37D}"/>
              </a:ext>
            </a:extLst>
          </p:cNvPr>
          <p:cNvSpPr txBox="1"/>
          <p:nvPr/>
        </p:nvSpPr>
        <p:spPr>
          <a:xfrm>
            <a:off x="9099411" y="1241723"/>
            <a:ext cx="1965514" cy="3139321"/>
          </a:xfrm>
          <a:prstGeom prst="rect">
            <a:avLst/>
          </a:prstGeom>
          <a:noFill/>
        </p:spPr>
        <p:txBody>
          <a:bodyPr wrap="square">
            <a:spAutoFit/>
          </a:bodyPr>
          <a:lstStyle/>
          <a:p>
            <a:r>
              <a:rPr lang="en-US" sz="2200" b="1" dirty="0">
                <a:solidFill>
                  <a:srgbClr val="7030A0"/>
                </a:solidFill>
              </a:rPr>
              <a:t>Foundation </a:t>
            </a:r>
          </a:p>
          <a:p>
            <a:r>
              <a:rPr lang="en-US" sz="2200" b="1" dirty="0">
                <a:solidFill>
                  <a:srgbClr val="7030A0"/>
                </a:solidFill>
              </a:rPr>
              <a:t>↓ </a:t>
            </a:r>
          </a:p>
          <a:p>
            <a:r>
              <a:rPr lang="en-US" sz="2200" b="1" dirty="0">
                <a:solidFill>
                  <a:srgbClr val="7030A0"/>
                </a:solidFill>
              </a:rPr>
              <a:t>Walls </a:t>
            </a:r>
          </a:p>
          <a:p>
            <a:r>
              <a:rPr lang="en-US" sz="2200" b="1" dirty="0">
                <a:solidFill>
                  <a:srgbClr val="7030A0"/>
                </a:solidFill>
              </a:rPr>
              <a:t>↓ </a:t>
            </a:r>
          </a:p>
          <a:p>
            <a:r>
              <a:rPr lang="en-US" sz="2200" b="1" dirty="0">
                <a:solidFill>
                  <a:srgbClr val="7030A0"/>
                </a:solidFill>
              </a:rPr>
              <a:t>Roof </a:t>
            </a:r>
          </a:p>
          <a:p>
            <a:r>
              <a:rPr lang="en-US" sz="2200" b="1" dirty="0">
                <a:solidFill>
                  <a:srgbClr val="7030A0"/>
                </a:solidFill>
              </a:rPr>
              <a:t>↓ </a:t>
            </a:r>
          </a:p>
          <a:p>
            <a:r>
              <a:rPr lang="en-US" sz="2200" b="1" dirty="0">
                <a:solidFill>
                  <a:srgbClr val="7030A0"/>
                </a:solidFill>
              </a:rPr>
              <a:t>Painting </a:t>
            </a:r>
          </a:p>
          <a:p>
            <a:r>
              <a:rPr lang="en-US" sz="2200" b="1" dirty="0">
                <a:solidFill>
                  <a:srgbClr val="7030A0"/>
                </a:solidFill>
              </a:rPr>
              <a:t>↓ </a:t>
            </a:r>
          </a:p>
          <a:p>
            <a:r>
              <a:rPr lang="en-US" sz="2200" b="1" dirty="0">
                <a:solidFill>
                  <a:srgbClr val="7030A0"/>
                </a:solidFill>
              </a:rPr>
              <a:t>Interior</a:t>
            </a:r>
            <a:endParaRPr lang="en-IN" sz="2200" b="1" dirty="0">
              <a:solidFill>
                <a:srgbClr val="7030A0"/>
              </a:solidFill>
            </a:endParaRPr>
          </a:p>
        </p:txBody>
      </p:sp>
      <p:sp>
        <p:nvSpPr>
          <p:cNvPr id="10" name="TextBox 9">
            <a:extLst>
              <a:ext uri="{FF2B5EF4-FFF2-40B4-BE49-F238E27FC236}">
                <a16:creationId xmlns:a16="http://schemas.microsoft.com/office/drawing/2014/main" id="{7F47628F-C57D-DD9F-4DB0-EFE830773046}"/>
              </a:ext>
            </a:extLst>
          </p:cNvPr>
          <p:cNvSpPr txBox="1"/>
          <p:nvPr/>
        </p:nvSpPr>
        <p:spPr>
          <a:xfrm>
            <a:off x="1053852" y="4149080"/>
            <a:ext cx="7416824" cy="677108"/>
          </a:xfrm>
          <a:prstGeom prst="rect">
            <a:avLst/>
          </a:prstGeom>
          <a:noFill/>
        </p:spPr>
        <p:txBody>
          <a:bodyPr wrap="square" rtlCol="0">
            <a:spAutoFit/>
          </a:bodyPr>
          <a:lstStyle/>
          <a:p>
            <a:pPr>
              <a:lnSpc>
                <a:spcPct val="95000"/>
              </a:lnSpc>
            </a:pPr>
            <a:r>
              <a:rPr lang="en-US" sz="2000" b="1" dirty="0"/>
              <a:t>Notice something? Every step depends on the previous one. You cannot skip or change the order.</a:t>
            </a:r>
            <a:endParaRPr lang="en-IN" sz="2000" b="1" dirty="0"/>
          </a:p>
        </p:txBody>
      </p:sp>
      <p:sp>
        <p:nvSpPr>
          <p:cNvPr id="11" name="TextBox 10">
            <a:extLst>
              <a:ext uri="{FF2B5EF4-FFF2-40B4-BE49-F238E27FC236}">
                <a16:creationId xmlns:a16="http://schemas.microsoft.com/office/drawing/2014/main" id="{38FD1962-E5F7-F592-2E99-341CB62EF72D}"/>
              </a:ext>
            </a:extLst>
          </p:cNvPr>
          <p:cNvSpPr txBox="1"/>
          <p:nvPr/>
        </p:nvSpPr>
        <p:spPr>
          <a:xfrm>
            <a:off x="989731" y="5253939"/>
            <a:ext cx="7151317" cy="443198"/>
          </a:xfrm>
          <a:prstGeom prst="rect">
            <a:avLst/>
          </a:prstGeom>
          <a:noFill/>
        </p:spPr>
        <p:txBody>
          <a:bodyPr wrap="none" rtlCol="0">
            <a:spAutoFit/>
          </a:bodyPr>
          <a:lstStyle/>
          <a:p>
            <a:pPr>
              <a:lnSpc>
                <a:spcPct val="95000"/>
              </a:lnSpc>
            </a:pPr>
            <a:r>
              <a:rPr lang="en-IN" b="1" dirty="0">
                <a:solidFill>
                  <a:srgbClr val="FF0000"/>
                </a:solidFill>
              </a:rPr>
              <a:t>Linear Sequential = Step-by-Step Development</a:t>
            </a:r>
          </a:p>
        </p:txBody>
      </p:sp>
    </p:spTree>
    <p:extLst>
      <p:ext uri="{BB962C8B-B14F-4D97-AF65-F5344CB8AC3E}">
        <p14:creationId xmlns:p14="http://schemas.microsoft.com/office/powerpoint/2010/main" val="1940844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barn(inVertical)">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1000"/>
                                        <p:tgtEl>
                                          <p:spTgt spid="10"/>
                                        </p:tgtEl>
                                      </p:cBhvr>
                                    </p:animEffect>
                                    <p:anim calcmode="lin" valueType="num">
                                      <p:cBhvr>
                                        <p:cTn id="31" dur="1000" fill="hold"/>
                                        <p:tgtEl>
                                          <p:spTgt spid="10"/>
                                        </p:tgtEl>
                                        <p:attrNameLst>
                                          <p:attrName>ppt_x</p:attrName>
                                        </p:attrNameLst>
                                      </p:cBhvr>
                                      <p:tavLst>
                                        <p:tav tm="0">
                                          <p:val>
                                            <p:strVal val="#ppt_x"/>
                                          </p:val>
                                        </p:tav>
                                        <p:tav tm="100000">
                                          <p:val>
                                            <p:strVal val="#ppt_x"/>
                                          </p:val>
                                        </p:tav>
                                      </p:tavLst>
                                    </p:anim>
                                    <p:anim calcmode="lin" valueType="num">
                                      <p:cBhvr>
                                        <p:cTn id="32"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barn(inVertical)">
                                      <p:cBhvr>
                                        <p:cTn id="3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9" grpId="0"/>
      <p:bldP spid="10"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B2CD0BD-A490-B099-274A-C83C621E3558}"/>
              </a:ext>
            </a:extLst>
          </p:cNvPr>
          <p:cNvSpPr>
            <a:spLocks noGrp="1"/>
          </p:cNvSpPr>
          <p:nvPr>
            <p:ph type="title"/>
          </p:nvPr>
        </p:nvSpPr>
        <p:spPr>
          <a:xfrm>
            <a:off x="1117309" y="76200"/>
            <a:ext cx="10157354" cy="832520"/>
          </a:xfrm>
        </p:spPr>
        <p:txBody>
          <a:bodyPr>
            <a:normAutofit/>
          </a:bodyPr>
          <a:lstStyle/>
          <a:p>
            <a:r>
              <a:rPr lang="en-IN" b="1" i="0" dirty="0">
                <a:effectLst/>
                <a:latin typeface="inherit"/>
              </a:rPr>
              <a:t>SDLC Process Models</a:t>
            </a:r>
            <a:endParaRPr lang="en-IN" dirty="0"/>
          </a:p>
        </p:txBody>
      </p:sp>
      <p:sp>
        <p:nvSpPr>
          <p:cNvPr id="6" name="TextBox 5">
            <a:extLst>
              <a:ext uri="{FF2B5EF4-FFF2-40B4-BE49-F238E27FC236}">
                <a16:creationId xmlns:a16="http://schemas.microsoft.com/office/drawing/2014/main" id="{8A256455-7B86-B60A-7477-C15E5F807E76}"/>
              </a:ext>
            </a:extLst>
          </p:cNvPr>
          <p:cNvSpPr txBox="1"/>
          <p:nvPr/>
        </p:nvSpPr>
        <p:spPr>
          <a:xfrm>
            <a:off x="1053852" y="991409"/>
            <a:ext cx="9721080" cy="4078039"/>
          </a:xfrm>
          <a:prstGeom prst="rect">
            <a:avLst/>
          </a:prstGeom>
          <a:noFill/>
        </p:spPr>
        <p:txBody>
          <a:bodyPr wrap="square" rtlCol="0">
            <a:spAutoFit/>
          </a:bodyPr>
          <a:lstStyle/>
          <a:p>
            <a:pPr algn="l" fontAlgn="base"/>
            <a:r>
              <a:rPr lang="en-US" sz="2000" b="1" i="0" dirty="0">
                <a:effectLst/>
                <a:latin typeface="inherit"/>
              </a:rPr>
              <a:t>Model 1: The Linear Sequential Model (Waterfall) </a:t>
            </a:r>
          </a:p>
          <a:p>
            <a:pPr algn="l" fontAlgn="base"/>
            <a:endParaRPr lang="en-US" sz="2000" b="1" dirty="0">
              <a:latin typeface="inherit"/>
            </a:endParaRPr>
          </a:p>
          <a:p>
            <a:pPr algn="l" fontAlgn="base"/>
            <a:r>
              <a:rPr lang="en-US" sz="2000" b="1" i="0" dirty="0">
                <a:effectLst/>
                <a:latin typeface="inherit"/>
              </a:rPr>
              <a:t>Concept:</a:t>
            </a:r>
            <a:r>
              <a:rPr lang="en-US" sz="2000" b="0" i="0" dirty="0">
                <a:effectLst/>
                <a:latin typeface="-apple-system"/>
              </a:rPr>
              <a:t> Phases cascade like a waterfall — requirements → design → implementation → testing → maintenance. No going back.</a:t>
            </a:r>
          </a:p>
          <a:p>
            <a:pPr algn="l" fontAlgn="base"/>
            <a:endParaRPr lang="en-US" sz="2000" b="0" i="0" dirty="0">
              <a:effectLst/>
              <a:latin typeface="-apple-system"/>
            </a:endParaRPr>
          </a:p>
          <a:p>
            <a:pPr algn="l" fontAlgn="base"/>
            <a:r>
              <a:rPr lang="en-US" sz="2000" dirty="0">
                <a:latin typeface="-apple-system"/>
              </a:rPr>
              <a:t>Think of water flowing from the top of a waterfall. Once it flows to the next level, it doesn't flow back easily. That is why it is called the </a:t>
            </a:r>
            <a:r>
              <a:rPr lang="en-US" sz="2000" b="1" dirty="0">
                <a:latin typeface="-apple-system"/>
              </a:rPr>
              <a:t>Waterfall Model</a:t>
            </a:r>
          </a:p>
          <a:p>
            <a:pPr algn="l" fontAlgn="base"/>
            <a:endParaRPr lang="en-US" sz="2000" b="0" i="0" dirty="0">
              <a:effectLst/>
              <a:latin typeface="-apple-system"/>
            </a:endParaRPr>
          </a:p>
          <a:p>
            <a:pPr algn="l" fontAlgn="base"/>
            <a:r>
              <a:rPr lang="en-US" sz="2000" b="1" i="0" dirty="0">
                <a:effectLst/>
                <a:latin typeface="inherit"/>
              </a:rPr>
              <a:t>Real-World Parallel:</a:t>
            </a:r>
            <a:r>
              <a:rPr lang="en-US" sz="2000" b="0" i="0" dirty="0">
                <a:effectLst/>
                <a:latin typeface="-apple-system"/>
              </a:rPr>
              <a:t> Building a house, bridge.</a:t>
            </a:r>
          </a:p>
          <a:p>
            <a:pPr algn="l" fontAlgn="base"/>
            <a:endParaRPr lang="en-US" sz="2000" b="0" i="0" dirty="0">
              <a:effectLst/>
              <a:latin typeface="-apple-system"/>
            </a:endParaRPr>
          </a:p>
          <a:p>
            <a:pPr algn="l" fontAlgn="base"/>
            <a:r>
              <a:rPr lang="en-US" sz="2000" b="1" i="0" dirty="0">
                <a:effectLst/>
                <a:latin typeface="inherit"/>
              </a:rPr>
              <a:t>Pressman Context:</a:t>
            </a:r>
            <a:r>
              <a:rPr lang="en-US" sz="2000" b="0" i="0" dirty="0">
                <a:effectLst/>
                <a:latin typeface="-apple-system"/>
              </a:rPr>
              <a:t> Best for well-understood, stable requirements. Risk: Late discovery of errors</a:t>
            </a:r>
          </a:p>
          <a:p>
            <a:pPr>
              <a:lnSpc>
                <a:spcPct val="95000"/>
              </a:lnSpc>
            </a:pPr>
            <a:endParaRPr lang="en-IN" sz="2000" dirty="0"/>
          </a:p>
        </p:txBody>
      </p:sp>
      <p:sp>
        <p:nvSpPr>
          <p:cNvPr id="7" name="TextBox 6">
            <a:extLst>
              <a:ext uri="{FF2B5EF4-FFF2-40B4-BE49-F238E27FC236}">
                <a16:creationId xmlns:a16="http://schemas.microsoft.com/office/drawing/2014/main" id="{DE11F8A8-07DD-FAE8-F5B2-3FB619C27947}"/>
              </a:ext>
            </a:extLst>
          </p:cNvPr>
          <p:cNvSpPr txBox="1"/>
          <p:nvPr/>
        </p:nvSpPr>
        <p:spPr>
          <a:xfrm>
            <a:off x="477788" y="5069448"/>
            <a:ext cx="11521280" cy="1785104"/>
          </a:xfrm>
          <a:prstGeom prst="rect">
            <a:avLst/>
          </a:prstGeom>
          <a:noFill/>
        </p:spPr>
        <p:txBody>
          <a:bodyPr wrap="square" rtlCol="0">
            <a:spAutoFit/>
          </a:bodyPr>
          <a:lstStyle>
            <a:defPPr>
              <a:defRPr lang="en-US"/>
            </a:defPPr>
            <a:lvl1pPr fontAlgn="base">
              <a:defRPr b="1" i="0">
                <a:effectLst/>
                <a:latin typeface="inherit"/>
              </a:defRPr>
            </a:lvl1pPr>
          </a:lstStyle>
          <a:p>
            <a:r>
              <a:rPr lang="en-US" sz="2200" dirty="0">
                <a:solidFill>
                  <a:srgbClr val="FF0000"/>
                </a:solidFill>
              </a:rPr>
              <a:t>According to Roger Pressman, Software Engineering: A Practitioner's Approach (6th Edition):</a:t>
            </a:r>
            <a:endParaRPr lang="en-IN" sz="2200" dirty="0">
              <a:solidFill>
                <a:srgbClr val="FF0000"/>
              </a:solidFill>
            </a:endParaRPr>
          </a:p>
          <a:p>
            <a:r>
              <a:rPr lang="en-US" sz="2200" dirty="0">
                <a:solidFill>
                  <a:srgbClr val="FF0000"/>
                </a:solidFill>
              </a:rPr>
              <a:t>"The Linear Sequential Model suggests a systematic, sequential approach to software development that begins with system-level engineering and progresses through analysis, design, coding, testing, and support."</a:t>
            </a:r>
          </a:p>
          <a:p>
            <a:endParaRPr lang="en-IN" sz="2200" dirty="0">
              <a:solidFill>
                <a:srgbClr val="FF0000"/>
              </a:solidFill>
            </a:endParaRPr>
          </a:p>
        </p:txBody>
      </p:sp>
    </p:spTree>
    <p:extLst>
      <p:ext uri="{BB962C8B-B14F-4D97-AF65-F5344CB8AC3E}">
        <p14:creationId xmlns:p14="http://schemas.microsoft.com/office/powerpoint/2010/main" val="804231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ppt_x</p:attrName>
                                        </p:attrNameLst>
                                      </p:cBhvr>
                                      <p:tavLst>
                                        <p:tav tm="0">
                                          <p:val>
                                            <p:strVal val="#ppt_x"/>
                                          </p:val>
                                        </p:tav>
                                        <p:tav tm="100000">
                                          <p:val>
                                            <p:strVal val="#ppt_x"/>
                                          </p:val>
                                        </p:tav>
                                      </p:tavLst>
                                    </p:anim>
                                    <p:anim calcmode="lin" valueType="num">
                                      <p:cBhvr>
                                        <p:cTn id="1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barn(inVertical)">
                                      <p:cBhvr>
                                        <p:cTn id="2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What is the Waterfall software model? Development sequence?">
            <a:extLst>
              <a:ext uri="{FF2B5EF4-FFF2-40B4-BE49-F238E27FC236}">
                <a16:creationId xmlns:a16="http://schemas.microsoft.com/office/drawing/2014/main" id="{DACD9F49-D3CA-CB81-5B43-4EDD514C8F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1804" y="418356"/>
            <a:ext cx="10704201" cy="6021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7857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a:extLst>
              <a:ext uri="{FF2B5EF4-FFF2-40B4-BE49-F238E27FC236}">
                <a16:creationId xmlns:a16="http://schemas.microsoft.com/office/drawing/2014/main" id="{C22ACF3F-EE20-96DB-568D-3D6344F9A394}"/>
              </a:ext>
            </a:extLst>
          </p:cNvPr>
          <p:cNvSpPr>
            <a:spLocks noGrp="1"/>
          </p:cNvSpPr>
          <p:nvPr>
            <p:ph type="title"/>
          </p:nvPr>
        </p:nvSpPr>
        <p:spPr>
          <a:xfrm>
            <a:off x="1117309" y="76200"/>
            <a:ext cx="10157354" cy="832520"/>
          </a:xfrm>
        </p:spPr>
        <p:txBody>
          <a:bodyPr>
            <a:normAutofit/>
          </a:bodyPr>
          <a:lstStyle/>
          <a:p>
            <a:r>
              <a:rPr lang="en-IN" b="1" i="0" dirty="0">
                <a:effectLst/>
                <a:latin typeface="inherit"/>
              </a:rPr>
              <a:t>SDLC Process Models</a:t>
            </a:r>
            <a:endParaRPr lang="en-IN" dirty="0"/>
          </a:p>
        </p:txBody>
      </p:sp>
      <p:sp>
        <p:nvSpPr>
          <p:cNvPr id="5" name="TextBox 4">
            <a:extLst>
              <a:ext uri="{FF2B5EF4-FFF2-40B4-BE49-F238E27FC236}">
                <a16:creationId xmlns:a16="http://schemas.microsoft.com/office/drawing/2014/main" id="{ACD40AFC-DC59-8B15-BE0A-6BA4E90A9B19}"/>
              </a:ext>
            </a:extLst>
          </p:cNvPr>
          <p:cNvSpPr txBox="1"/>
          <p:nvPr/>
        </p:nvSpPr>
        <p:spPr>
          <a:xfrm>
            <a:off x="1117309" y="1052736"/>
            <a:ext cx="4721164" cy="812530"/>
          </a:xfrm>
          <a:prstGeom prst="rect">
            <a:avLst/>
          </a:prstGeom>
          <a:noFill/>
        </p:spPr>
        <p:txBody>
          <a:bodyPr wrap="none" rtlCol="0">
            <a:spAutoFit/>
          </a:bodyPr>
          <a:lstStyle/>
          <a:p>
            <a:pPr fontAlgn="base"/>
            <a:r>
              <a:rPr lang="en-US" b="1" i="0" dirty="0">
                <a:effectLst/>
                <a:latin typeface="inherit"/>
              </a:rPr>
              <a:t>Model 2: </a:t>
            </a:r>
            <a:r>
              <a:rPr lang="en-IN" b="1" dirty="0"/>
              <a:t>The Prototyping Model</a:t>
            </a:r>
          </a:p>
          <a:p>
            <a:pPr>
              <a:lnSpc>
                <a:spcPct val="95000"/>
              </a:lnSpc>
            </a:pPr>
            <a:endParaRPr lang="en-IN" dirty="0"/>
          </a:p>
        </p:txBody>
      </p:sp>
      <p:sp>
        <p:nvSpPr>
          <p:cNvPr id="6" name="TextBox 5">
            <a:extLst>
              <a:ext uri="{FF2B5EF4-FFF2-40B4-BE49-F238E27FC236}">
                <a16:creationId xmlns:a16="http://schemas.microsoft.com/office/drawing/2014/main" id="{02E5A42E-EFB3-374C-8F1F-3ACC7EE606AE}"/>
              </a:ext>
            </a:extLst>
          </p:cNvPr>
          <p:cNvSpPr txBox="1"/>
          <p:nvPr/>
        </p:nvSpPr>
        <p:spPr>
          <a:xfrm>
            <a:off x="1117309" y="1700808"/>
            <a:ext cx="7569391" cy="2936188"/>
          </a:xfrm>
          <a:prstGeom prst="rect">
            <a:avLst/>
          </a:prstGeom>
          <a:noFill/>
        </p:spPr>
        <p:txBody>
          <a:bodyPr wrap="square" rtlCol="0">
            <a:spAutoFit/>
          </a:bodyPr>
          <a:lstStyle/>
          <a:p>
            <a:r>
              <a:rPr lang="en-US" sz="1800" dirty="0">
                <a:latin typeface="Consolas" panose="020B0609020204030204" pitchFamily="49" charset="0"/>
              </a:rPr>
              <a:t>Suppose you want to stitch a dress for your graduation ceremony. What would you prefer?</a:t>
            </a:r>
          </a:p>
          <a:p>
            <a:endParaRPr lang="en-IN" sz="1800" dirty="0">
              <a:latin typeface="Consolas" panose="020B0609020204030204" pitchFamily="49" charset="0"/>
            </a:endParaRPr>
          </a:p>
          <a:p>
            <a:r>
              <a:rPr lang="en-IN" sz="1800" dirty="0">
                <a:latin typeface="Consolas" panose="020B0609020204030204" pitchFamily="49" charset="0"/>
              </a:rPr>
              <a:t>Option A:</a:t>
            </a:r>
          </a:p>
          <a:p>
            <a:r>
              <a:rPr lang="en-US" sz="1800" dirty="0">
                <a:latin typeface="Consolas" panose="020B0609020204030204" pitchFamily="49" charset="0"/>
              </a:rPr>
              <a:t>Tailor stitches the final dress directly.</a:t>
            </a:r>
          </a:p>
          <a:p>
            <a:endParaRPr lang="en-IN" sz="1800" dirty="0">
              <a:latin typeface="Consolas" panose="020B0609020204030204" pitchFamily="49" charset="0"/>
            </a:endParaRPr>
          </a:p>
          <a:p>
            <a:r>
              <a:rPr lang="en-IN" sz="1800" dirty="0">
                <a:latin typeface="Consolas" panose="020B0609020204030204" pitchFamily="49" charset="0"/>
              </a:rPr>
              <a:t>Option B:</a:t>
            </a:r>
          </a:p>
          <a:p>
            <a:r>
              <a:rPr lang="en-US" sz="1800" dirty="0">
                <a:latin typeface="Consolas" panose="020B0609020204030204" pitchFamily="49" charset="0"/>
              </a:rPr>
              <a:t>Tailor first asks you to wear a sample (trial), makes changes, and then stitches the final dress.</a:t>
            </a:r>
          </a:p>
          <a:p>
            <a:pPr>
              <a:lnSpc>
                <a:spcPct val="95000"/>
              </a:lnSpc>
            </a:pPr>
            <a:endParaRPr lang="en-IN" dirty="0"/>
          </a:p>
        </p:txBody>
      </p:sp>
      <p:sp>
        <p:nvSpPr>
          <p:cNvPr id="7" name="TextBox 6">
            <a:extLst>
              <a:ext uri="{FF2B5EF4-FFF2-40B4-BE49-F238E27FC236}">
                <a16:creationId xmlns:a16="http://schemas.microsoft.com/office/drawing/2014/main" id="{83670FB9-85AD-332F-CE38-3634AD2B3BE9}"/>
              </a:ext>
            </a:extLst>
          </p:cNvPr>
          <p:cNvSpPr txBox="1"/>
          <p:nvPr/>
        </p:nvSpPr>
        <p:spPr>
          <a:xfrm>
            <a:off x="8656377" y="1865266"/>
            <a:ext cx="3096343" cy="2431435"/>
          </a:xfrm>
          <a:prstGeom prst="rect">
            <a:avLst/>
          </a:prstGeom>
          <a:noFill/>
        </p:spPr>
        <p:txBody>
          <a:bodyPr wrap="square" rtlCol="0">
            <a:spAutoFit/>
          </a:bodyPr>
          <a:lstStyle/>
          <a:p>
            <a:pPr>
              <a:lnSpc>
                <a:spcPct val="95000"/>
              </a:lnSpc>
            </a:pPr>
            <a:r>
              <a:rPr lang="en-US" sz="2000" b="1" dirty="0">
                <a:solidFill>
                  <a:srgbClr val="7030A0"/>
                </a:solidFill>
              </a:rPr>
              <a:t>Why?</a:t>
            </a:r>
          </a:p>
          <a:p>
            <a:pPr>
              <a:lnSpc>
                <a:spcPct val="95000"/>
              </a:lnSpc>
            </a:pPr>
            <a:endParaRPr lang="en-US" sz="2000" b="1" dirty="0">
              <a:solidFill>
                <a:srgbClr val="7030A0"/>
              </a:solidFill>
            </a:endParaRPr>
          </a:p>
          <a:p>
            <a:pPr marL="342900" indent="-342900">
              <a:lnSpc>
                <a:spcPct val="95000"/>
              </a:lnSpc>
              <a:buFont typeface="Arial" panose="020B0604020202020204" pitchFamily="34" charset="0"/>
              <a:buChar char="•"/>
            </a:pPr>
            <a:r>
              <a:rPr lang="en-US" sz="2000" b="1" dirty="0">
                <a:solidFill>
                  <a:srgbClr val="7030A0"/>
                </a:solidFill>
              </a:rPr>
              <a:t>Better fitting</a:t>
            </a:r>
          </a:p>
          <a:p>
            <a:pPr marL="342900" indent="-342900">
              <a:lnSpc>
                <a:spcPct val="95000"/>
              </a:lnSpc>
              <a:buFont typeface="Arial" panose="020B0604020202020204" pitchFamily="34" charset="0"/>
              <a:buChar char="•"/>
            </a:pPr>
            <a:r>
              <a:rPr lang="en-US" sz="2000" b="1" dirty="0">
                <a:solidFill>
                  <a:srgbClr val="7030A0"/>
                </a:solidFill>
              </a:rPr>
              <a:t>Can make changes</a:t>
            </a:r>
          </a:p>
          <a:p>
            <a:pPr marL="342900" indent="-342900">
              <a:lnSpc>
                <a:spcPct val="95000"/>
              </a:lnSpc>
              <a:buFont typeface="Arial" panose="020B0604020202020204" pitchFamily="34" charset="0"/>
              <a:buChar char="•"/>
            </a:pPr>
            <a:r>
              <a:rPr lang="en-US" sz="2000" b="1" dirty="0">
                <a:solidFill>
                  <a:srgbClr val="7030A0"/>
                </a:solidFill>
              </a:rPr>
              <a:t>Avoids mistakes</a:t>
            </a:r>
          </a:p>
          <a:p>
            <a:pPr marL="342900" indent="-342900">
              <a:lnSpc>
                <a:spcPct val="95000"/>
              </a:lnSpc>
              <a:buFont typeface="Arial" panose="020B0604020202020204" pitchFamily="34" charset="0"/>
              <a:buChar char="•"/>
            </a:pPr>
            <a:r>
              <a:rPr lang="en-US" sz="2000" b="1" dirty="0">
                <a:solidFill>
                  <a:srgbClr val="7030A0"/>
                </a:solidFill>
              </a:rPr>
              <a:t>Customer satisfaction</a:t>
            </a:r>
          </a:p>
          <a:p>
            <a:pPr>
              <a:lnSpc>
                <a:spcPct val="95000"/>
              </a:lnSpc>
            </a:pPr>
            <a:endParaRPr lang="en-IN" sz="2000" b="1" dirty="0">
              <a:solidFill>
                <a:srgbClr val="7030A0"/>
              </a:solidFill>
            </a:endParaRPr>
          </a:p>
        </p:txBody>
      </p:sp>
      <p:sp>
        <p:nvSpPr>
          <p:cNvPr id="8" name="TextBox 7">
            <a:extLst>
              <a:ext uri="{FF2B5EF4-FFF2-40B4-BE49-F238E27FC236}">
                <a16:creationId xmlns:a16="http://schemas.microsoft.com/office/drawing/2014/main" id="{7770D1E6-6116-EFD1-8523-F0711F7C625C}"/>
              </a:ext>
            </a:extLst>
          </p:cNvPr>
          <p:cNvSpPr txBox="1"/>
          <p:nvPr/>
        </p:nvSpPr>
        <p:spPr>
          <a:xfrm>
            <a:off x="1117309" y="4935593"/>
            <a:ext cx="9264075" cy="443198"/>
          </a:xfrm>
          <a:prstGeom prst="rect">
            <a:avLst/>
          </a:prstGeom>
          <a:noFill/>
        </p:spPr>
        <p:txBody>
          <a:bodyPr wrap="none" rtlCol="0">
            <a:spAutoFit/>
          </a:bodyPr>
          <a:lstStyle/>
          <a:p>
            <a:pPr>
              <a:lnSpc>
                <a:spcPct val="95000"/>
              </a:lnSpc>
            </a:pPr>
            <a:r>
              <a:rPr lang="en-US" b="1" dirty="0">
                <a:solidFill>
                  <a:srgbClr val="FF0000"/>
                </a:solidFill>
              </a:rPr>
              <a:t>That trial version is called a Prototype in Software Engineering</a:t>
            </a:r>
            <a:endParaRPr lang="en-IN" b="1" dirty="0">
              <a:solidFill>
                <a:srgbClr val="FF0000"/>
              </a:solidFill>
            </a:endParaRPr>
          </a:p>
        </p:txBody>
      </p:sp>
    </p:spTree>
    <p:extLst>
      <p:ext uri="{BB962C8B-B14F-4D97-AF65-F5344CB8AC3E}">
        <p14:creationId xmlns:p14="http://schemas.microsoft.com/office/powerpoint/2010/main" val="3162270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barn(inVertical)">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barn(inVertical)">
                                      <p:cBhvr>
                                        <p:cTn id="3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a:extLst>
              <a:ext uri="{FF2B5EF4-FFF2-40B4-BE49-F238E27FC236}">
                <a16:creationId xmlns:a16="http://schemas.microsoft.com/office/drawing/2014/main" id="{105AC006-3F42-109F-A1C3-CC02A0F43B3F}"/>
              </a:ext>
            </a:extLst>
          </p:cNvPr>
          <p:cNvSpPr>
            <a:spLocks noGrp="1"/>
          </p:cNvSpPr>
          <p:nvPr>
            <p:ph type="title"/>
          </p:nvPr>
        </p:nvSpPr>
        <p:spPr>
          <a:xfrm>
            <a:off x="1117309" y="76200"/>
            <a:ext cx="10157354" cy="832520"/>
          </a:xfrm>
        </p:spPr>
        <p:txBody>
          <a:bodyPr>
            <a:normAutofit/>
          </a:bodyPr>
          <a:lstStyle/>
          <a:p>
            <a:r>
              <a:rPr lang="en-IN" b="1" i="0" dirty="0">
                <a:effectLst/>
                <a:latin typeface="inherit"/>
              </a:rPr>
              <a:t>SDLC Process Models</a:t>
            </a:r>
            <a:endParaRPr lang="en-IN" dirty="0"/>
          </a:p>
        </p:txBody>
      </p:sp>
      <p:sp>
        <p:nvSpPr>
          <p:cNvPr id="5" name="TextBox 4">
            <a:extLst>
              <a:ext uri="{FF2B5EF4-FFF2-40B4-BE49-F238E27FC236}">
                <a16:creationId xmlns:a16="http://schemas.microsoft.com/office/drawing/2014/main" id="{ED749CB6-9D4A-60A3-B383-75E3495E9993}"/>
              </a:ext>
            </a:extLst>
          </p:cNvPr>
          <p:cNvSpPr txBox="1"/>
          <p:nvPr/>
        </p:nvSpPr>
        <p:spPr>
          <a:xfrm>
            <a:off x="1053852" y="1052736"/>
            <a:ext cx="9793088" cy="3154710"/>
          </a:xfrm>
          <a:prstGeom prst="rect">
            <a:avLst/>
          </a:prstGeom>
          <a:noFill/>
        </p:spPr>
        <p:txBody>
          <a:bodyPr wrap="square" rtlCol="0">
            <a:spAutoFit/>
          </a:bodyPr>
          <a:lstStyle/>
          <a:p>
            <a:pPr algn="l" fontAlgn="base"/>
            <a:r>
              <a:rPr lang="en-US" sz="2000" b="1" i="0" dirty="0">
                <a:effectLst/>
                <a:latin typeface="inherit"/>
              </a:rPr>
              <a:t>Model 2: The Prototyping Model </a:t>
            </a:r>
          </a:p>
          <a:p>
            <a:pPr algn="l" fontAlgn="base"/>
            <a:endParaRPr lang="en-US" sz="2000" b="1" dirty="0">
              <a:latin typeface="inherit"/>
            </a:endParaRPr>
          </a:p>
          <a:p>
            <a:pPr algn="l" fontAlgn="base"/>
            <a:r>
              <a:rPr lang="en-US" sz="2000" b="1" i="0" dirty="0">
                <a:effectLst/>
                <a:latin typeface="inherit"/>
              </a:rPr>
              <a:t>Concept:</a:t>
            </a:r>
            <a:r>
              <a:rPr lang="en-US" sz="2000" b="0" i="0" dirty="0">
                <a:effectLst/>
                <a:latin typeface="-apple-system"/>
              </a:rPr>
              <a:t> Build a quick "throwaway" prototype to clarify requirements with users, then build the real system.</a:t>
            </a:r>
          </a:p>
          <a:p>
            <a:pPr algn="l" fontAlgn="base"/>
            <a:endParaRPr lang="en-US" sz="2000" b="0" i="0" dirty="0">
              <a:effectLst/>
              <a:latin typeface="-apple-system"/>
            </a:endParaRPr>
          </a:p>
          <a:p>
            <a:pPr algn="l" fontAlgn="base"/>
            <a:r>
              <a:rPr lang="en-US" sz="2000" b="1" i="0" dirty="0">
                <a:effectLst/>
                <a:latin typeface="inherit"/>
              </a:rPr>
              <a:t>Real-World Parallel:</a:t>
            </a:r>
            <a:r>
              <a:rPr lang="en-US" sz="2000" b="0" i="0" dirty="0">
                <a:effectLst/>
                <a:latin typeface="-apple-system"/>
              </a:rPr>
              <a:t> Architects create cardboard models before construction.</a:t>
            </a:r>
          </a:p>
          <a:p>
            <a:pPr algn="l" fontAlgn="base"/>
            <a:endParaRPr lang="en-US" sz="2000" b="0" i="0" dirty="0">
              <a:effectLst/>
              <a:latin typeface="-apple-system"/>
            </a:endParaRPr>
          </a:p>
          <a:p>
            <a:pPr algn="l" fontAlgn="base"/>
            <a:r>
              <a:rPr lang="en-US" sz="2000" b="1" i="0" dirty="0">
                <a:effectLst/>
                <a:latin typeface="inherit"/>
              </a:rPr>
              <a:t>Pressman Context:</a:t>
            </a:r>
            <a:r>
              <a:rPr lang="en-US" sz="2000" b="0" i="0" dirty="0">
                <a:effectLst/>
                <a:latin typeface="-apple-system"/>
              </a:rPr>
              <a:t> Best when requirements are fuzzy. Risk: Users may think the prototype IS the final product.</a:t>
            </a:r>
          </a:p>
          <a:p>
            <a:pPr>
              <a:lnSpc>
                <a:spcPct val="95000"/>
              </a:lnSpc>
            </a:pPr>
            <a:endParaRPr lang="en-IN" sz="2000" dirty="0"/>
          </a:p>
        </p:txBody>
      </p:sp>
      <p:sp>
        <p:nvSpPr>
          <p:cNvPr id="6" name="TextBox 5">
            <a:extLst>
              <a:ext uri="{FF2B5EF4-FFF2-40B4-BE49-F238E27FC236}">
                <a16:creationId xmlns:a16="http://schemas.microsoft.com/office/drawing/2014/main" id="{F1C06494-BF71-5E7E-3B97-F4EDFF0DE7E2}"/>
              </a:ext>
            </a:extLst>
          </p:cNvPr>
          <p:cNvSpPr txBox="1"/>
          <p:nvPr/>
        </p:nvSpPr>
        <p:spPr>
          <a:xfrm>
            <a:off x="765821" y="4293096"/>
            <a:ext cx="10508842" cy="1729704"/>
          </a:xfrm>
          <a:prstGeom prst="rect">
            <a:avLst/>
          </a:prstGeom>
          <a:noFill/>
        </p:spPr>
        <p:txBody>
          <a:bodyPr wrap="square" rtlCol="0">
            <a:spAutoFit/>
          </a:bodyPr>
          <a:lstStyle/>
          <a:p>
            <a:pPr>
              <a:lnSpc>
                <a:spcPct val="95000"/>
              </a:lnSpc>
            </a:pPr>
            <a:r>
              <a:rPr lang="en-US" sz="2200" b="1" dirty="0">
                <a:solidFill>
                  <a:srgbClr val="FF0000"/>
                </a:solidFill>
                <a:latin typeface="inherit"/>
              </a:rPr>
              <a:t>According to Roger Pressman, Software Engineering: A Practitioner's Approach (6th Edition):</a:t>
            </a:r>
          </a:p>
          <a:p>
            <a:pPr>
              <a:lnSpc>
                <a:spcPct val="95000"/>
              </a:lnSpc>
            </a:pPr>
            <a:r>
              <a:rPr lang="en-US" sz="2200" b="1" dirty="0">
                <a:solidFill>
                  <a:srgbClr val="FF0000"/>
                </a:solidFill>
                <a:latin typeface="inherit"/>
              </a:rPr>
              <a:t>"Prototyping is a process that enables the developer to create a model of the software that is to be built."</a:t>
            </a:r>
          </a:p>
          <a:p>
            <a:pPr>
              <a:lnSpc>
                <a:spcPct val="95000"/>
              </a:lnSpc>
            </a:pPr>
            <a:endParaRPr lang="en-IN" dirty="0"/>
          </a:p>
        </p:txBody>
      </p:sp>
    </p:spTree>
    <p:extLst>
      <p:ext uri="{BB962C8B-B14F-4D97-AF65-F5344CB8AC3E}">
        <p14:creationId xmlns:p14="http://schemas.microsoft.com/office/powerpoint/2010/main" val="371483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barn(inVertical)">
                                      <p:cBhvr>
                                        <p:cTn id="2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Software Engineering | Phases of Prototyping Model | Set - 2 - GeeksforGeeks">
            <a:extLst>
              <a:ext uri="{FF2B5EF4-FFF2-40B4-BE49-F238E27FC236}">
                <a16:creationId xmlns:a16="http://schemas.microsoft.com/office/drawing/2014/main" id="{559407C5-8594-9A94-37F7-6EDB957030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8850" y="0"/>
            <a:ext cx="773112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4559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a:extLst>
              <a:ext uri="{FF2B5EF4-FFF2-40B4-BE49-F238E27FC236}">
                <a16:creationId xmlns:a16="http://schemas.microsoft.com/office/drawing/2014/main" id="{45271137-3AF5-F9BD-874C-C6484C3AC8D0}"/>
              </a:ext>
            </a:extLst>
          </p:cNvPr>
          <p:cNvSpPr>
            <a:spLocks noGrp="1"/>
          </p:cNvSpPr>
          <p:nvPr>
            <p:ph type="title"/>
          </p:nvPr>
        </p:nvSpPr>
        <p:spPr>
          <a:xfrm>
            <a:off x="1117309" y="76200"/>
            <a:ext cx="10157354" cy="832520"/>
          </a:xfrm>
        </p:spPr>
        <p:txBody>
          <a:bodyPr>
            <a:normAutofit/>
          </a:bodyPr>
          <a:lstStyle/>
          <a:p>
            <a:r>
              <a:rPr lang="en-IN" b="1" i="0" dirty="0">
                <a:effectLst/>
                <a:latin typeface="inherit"/>
              </a:rPr>
              <a:t>SDLC Process Models</a:t>
            </a:r>
            <a:endParaRPr lang="en-IN" dirty="0"/>
          </a:p>
        </p:txBody>
      </p:sp>
      <p:sp>
        <p:nvSpPr>
          <p:cNvPr id="5" name="TextBox 4">
            <a:extLst>
              <a:ext uri="{FF2B5EF4-FFF2-40B4-BE49-F238E27FC236}">
                <a16:creationId xmlns:a16="http://schemas.microsoft.com/office/drawing/2014/main" id="{304B2D16-EFDE-B5B9-710F-EA6F61A1E149}"/>
              </a:ext>
            </a:extLst>
          </p:cNvPr>
          <p:cNvSpPr txBox="1"/>
          <p:nvPr/>
        </p:nvSpPr>
        <p:spPr>
          <a:xfrm>
            <a:off x="1117309" y="1052736"/>
            <a:ext cx="3387466" cy="794064"/>
          </a:xfrm>
          <a:prstGeom prst="rect">
            <a:avLst/>
          </a:prstGeom>
          <a:noFill/>
        </p:spPr>
        <p:txBody>
          <a:bodyPr wrap="none" rtlCol="0">
            <a:spAutoFit/>
          </a:bodyPr>
          <a:lstStyle/>
          <a:p>
            <a:pPr>
              <a:lnSpc>
                <a:spcPct val="95000"/>
              </a:lnSpc>
            </a:pPr>
            <a:r>
              <a:rPr lang="en-US" b="1" i="0" dirty="0">
                <a:effectLst/>
                <a:latin typeface="inherit"/>
              </a:rPr>
              <a:t>Model 3: The RAD Model</a:t>
            </a:r>
          </a:p>
          <a:p>
            <a:pPr>
              <a:lnSpc>
                <a:spcPct val="95000"/>
              </a:lnSpc>
            </a:pPr>
            <a:endParaRPr lang="en-IN" dirty="0"/>
          </a:p>
        </p:txBody>
      </p:sp>
      <p:sp>
        <p:nvSpPr>
          <p:cNvPr id="6" name="TextBox 5">
            <a:extLst>
              <a:ext uri="{FF2B5EF4-FFF2-40B4-BE49-F238E27FC236}">
                <a16:creationId xmlns:a16="http://schemas.microsoft.com/office/drawing/2014/main" id="{38B654B0-208F-B10E-EC9A-3AC138371C37}"/>
              </a:ext>
            </a:extLst>
          </p:cNvPr>
          <p:cNvSpPr txBox="1"/>
          <p:nvPr/>
        </p:nvSpPr>
        <p:spPr>
          <a:xfrm>
            <a:off x="1117309" y="1628800"/>
            <a:ext cx="4743606" cy="2382191"/>
          </a:xfrm>
          <a:prstGeom prst="rect">
            <a:avLst/>
          </a:prstGeom>
          <a:noFill/>
        </p:spPr>
        <p:txBody>
          <a:bodyPr wrap="none" rtlCol="0">
            <a:spAutoFit/>
          </a:bodyPr>
          <a:lstStyle/>
          <a:p>
            <a:r>
              <a:rPr lang="en-US" sz="1800" dirty="0">
                <a:latin typeface="Consolas" panose="020B0609020204030204" pitchFamily="49" charset="0"/>
              </a:rPr>
              <a:t>Which restaurant serves food faster?</a:t>
            </a:r>
          </a:p>
          <a:p>
            <a:endParaRPr lang="en-IN" sz="1800" dirty="0">
              <a:latin typeface="Consolas" panose="020B0609020204030204" pitchFamily="49" charset="0"/>
            </a:endParaRPr>
          </a:p>
          <a:p>
            <a:r>
              <a:rPr lang="en-IN" sz="1800" dirty="0">
                <a:latin typeface="Consolas" panose="020B0609020204030204" pitchFamily="49" charset="0"/>
              </a:rPr>
              <a:t>Option A</a:t>
            </a:r>
          </a:p>
          <a:p>
            <a:r>
              <a:rPr lang="en-IN" sz="1800" dirty="0">
                <a:latin typeface="Consolas" panose="020B0609020204030204" pitchFamily="49" charset="0"/>
              </a:rPr>
              <a:t>A traditional restaurant</a:t>
            </a:r>
          </a:p>
          <a:p>
            <a:endParaRPr lang="en-IN" sz="1800" dirty="0">
              <a:latin typeface="Consolas" panose="020B0609020204030204" pitchFamily="49" charset="0"/>
            </a:endParaRPr>
          </a:p>
          <a:p>
            <a:r>
              <a:rPr lang="en-IN" sz="1800" dirty="0">
                <a:latin typeface="Consolas" panose="020B0609020204030204" pitchFamily="49" charset="0"/>
              </a:rPr>
              <a:t>Option B</a:t>
            </a:r>
          </a:p>
          <a:p>
            <a:r>
              <a:rPr lang="en-IN" sz="1800" dirty="0">
                <a:latin typeface="Consolas" panose="020B0609020204030204" pitchFamily="49" charset="0"/>
              </a:rPr>
              <a:t>McDonald's / Domino's</a:t>
            </a:r>
          </a:p>
          <a:p>
            <a:pPr>
              <a:lnSpc>
                <a:spcPct val="95000"/>
              </a:lnSpc>
            </a:pPr>
            <a:endParaRPr lang="en-IN" dirty="0"/>
          </a:p>
        </p:txBody>
      </p:sp>
      <p:sp>
        <p:nvSpPr>
          <p:cNvPr id="7" name="TextBox 6">
            <a:extLst>
              <a:ext uri="{FF2B5EF4-FFF2-40B4-BE49-F238E27FC236}">
                <a16:creationId xmlns:a16="http://schemas.microsoft.com/office/drawing/2014/main" id="{4BADB629-9784-2F98-7569-8E4B322A0E4D}"/>
              </a:ext>
            </a:extLst>
          </p:cNvPr>
          <p:cNvSpPr txBox="1"/>
          <p:nvPr/>
        </p:nvSpPr>
        <p:spPr>
          <a:xfrm>
            <a:off x="7684051" y="1196752"/>
            <a:ext cx="3522929" cy="2782300"/>
          </a:xfrm>
          <a:prstGeom prst="rect">
            <a:avLst/>
          </a:prstGeom>
          <a:noFill/>
        </p:spPr>
        <p:txBody>
          <a:bodyPr wrap="square" rtlCol="0">
            <a:spAutoFit/>
          </a:bodyPr>
          <a:lstStyle/>
          <a:p>
            <a:pPr>
              <a:lnSpc>
                <a:spcPct val="95000"/>
              </a:lnSpc>
            </a:pPr>
            <a:r>
              <a:rPr lang="en-IN" sz="2000" b="1" dirty="0">
                <a:solidFill>
                  <a:srgbClr val="7030A0"/>
                </a:solidFill>
              </a:rPr>
              <a:t>Why?</a:t>
            </a:r>
          </a:p>
          <a:p>
            <a:pPr>
              <a:lnSpc>
                <a:spcPct val="95000"/>
              </a:lnSpc>
            </a:pPr>
            <a:endParaRPr lang="en-IN" sz="2000" b="1" dirty="0">
              <a:solidFill>
                <a:srgbClr val="7030A0"/>
              </a:solidFill>
            </a:endParaRPr>
          </a:p>
          <a:p>
            <a:pPr marL="342900" indent="-342900">
              <a:lnSpc>
                <a:spcPct val="95000"/>
              </a:lnSpc>
              <a:buFont typeface="Arial" panose="020B0604020202020204" pitchFamily="34" charset="0"/>
              <a:buChar char="•"/>
            </a:pPr>
            <a:r>
              <a:rPr lang="en-IN" sz="2000" b="1" dirty="0">
                <a:solidFill>
                  <a:srgbClr val="7030A0"/>
                </a:solidFill>
              </a:rPr>
              <a:t>Prepared ingredients</a:t>
            </a:r>
          </a:p>
          <a:p>
            <a:pPr marL="342900" indent="-342900">
              <a:lnSpc>
                <a:spcPct val="95000"/>
              </a:lnSpc>
              <a:buFont typeface="Arial" panose="020B0604020202020204" pitchFamily="34" charset="0"/>
              <a:buChar char="•"/>
            </a:pPr>
            <a:r>
              <a:rPr lang="en-IN" sz="2000" b="1" dirty="0">
                <a:solidFill>
                  <a:srgbClr val="7030A0"/>
                </a:solidFill>
              </a:rPr>
              <a:t>Standard process</a:t>
            </a:r>
          </a:p>
          <a:p>
            <a:pPr marL="342900" indent="-342900">
              <a:lnSpc>
                <a:spcPct val="95000"/>
              </a:lnSpc>
              <a:buFont typeface="Arial" panose="020B0604020202020204" pitchFamily="34" charset="0"/>
              <a:buChar char="•"/>
            </a:pPr>
            <a:r>
              <a:rPr lang="en-IN" sz="2000" b="1" dirty="0">
                <a:solidFill>
                  <a:srgbClr val="7030A0"/>
                </a:solidFill>
              </a:rPr>
              <a:t>Multiple people working together</a:t>
            </a:r>
          </a:p>
          <a:p>
            <a:pPr marL="342900" indent="-342900">
              <a:lnSpc>
                <a:spcPct val="95000"/>
              </a:lnSpc>
              <a:buFont typeface="Arial" panose="020B0604020202020204" pitchFamily="34" charset="0"/>
              <a:buChar char="•"/>
            </a:pPr>
            <a:r>
              <a:rPr lang="en-IN" sz="2000" b="1" dirty="0">
                <a:solidFill>
                  <a:srgbClr val="7030A0"/>
                </a:solidFill>
              </a:rPr>
              <a:t>Reuse of recipes</a:t>
            </a:r>
          </a:p>
          <a:p>
            <a:pPr marL="342900" indent="-342900">
              <a:lnSpc>
                <a:spcPct val="95000"/>
              </a:lnSpc>
              <a:buFont typeface="Arial" panose="020B0604020202020204" pitchFamily="34" charset="0"/>
              <a:buChar char="•"/>
            </a:pPr>
            <a:r>
              <a:rPr lang="en-IN" sz="2000" b="1" dirty="0">
                <a:solidFill>
                  <a:srgbClr val="7030A0"/>
                </a:solidFill>
              </a:rPr>
              <a:t>Assembly line</a:t>
            </a:r>
          </a:p>
          <a:p>
            <a:pPr>
              <a:lnSpc>
                <a:spcPct val="95000"/>
              </a:lnSpc>
            </a:pPr>
            <a:endParaRPr lang="en-IN" dirty="0"/>
          </a:p>
        </p:txBody>
      </p:sp>
      <p:sp>
        <p:nvSpPr>
          <p:cNvPr id="8" name="TextBox 7">
            <a:extLst>
              <a:ext uri="{FF2B5EF4-FFF2-40B4-BE49-F238E27FC236}">
                <a16:creationId xmlns:a16="http://schemas.microsoft.com/office/drawing/2014/main" id="{E1FCEEE2-856D-9271-DDCB-03677AACE855}"/>
              </a:ext>
            </a:extLst>
          </p:cNvPr>
          <p:cNvSpPr txBox="1"/>
          <p:nvPr/>
        </p:nvSpPr>
        <p:spPr>
          <a:xfrm>
            <a:off x="909836" y="4267084"/>
            <a:ext cx="10157354" cy="1144929"/>
          </a:xfrm>
          <a:prstGeom prst="rect">
            <a:avLst/>
          </a:prstGeom>
          <a:noFill/>
        </p:spPr>
        <p:txBody>
          <a:bodyPr wrap="square" rtlCol="0">
            <a:spAutoFit/>
          </a:bodyPr>
          <a:lstStyle/>
          <a:p>
            <a:pPr>
              <a:lnSpc>
                <a:spcPct val="95000"/>
              </a:lnSpc>
            </a:pPr>
            <a:r>
              <a:rPr lang="en-US" b="1" dirty="0">
                <a:solidFill>
                  <a:srgbClr val="FF0000"/>
                </a:solidFill>
              </a:rPr>
              <a:t>They don't prepare everything from scratch every time. Software developers also reuse components and work in parallel. That is the basic idea behind the RAD Model</a:t>
            </a:r>
            <a:endParaRPr lang="en-IN" b="1" dirty="0">
              <a:solidFill>
                <a:srgbClr val="FF0000"/>
              </a:solidFill>
            </a:endParaRPr>
          </a:p>
        </p:txBody>
      </p:sp>
    </p:spTree>
    <p:extLst>
      <p:ext uri="{BB962C8B-B14F-4D97-AF65-F5344CB8AC3E}">
        <p14:creationId xmlns:p14="http://schemas.microsoft.com/office/powerpoint/2010/main" val="1894087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barn(inVertical)">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1000"/>
                                        <p:tgtEl>
                                          <p:spTgt spid="8"/>
                                        </p:tgtEl>
                                      </p:cBhvr>
                                    </p:animEffect>
                                    <p:anim calcmode="lin" valueType="num">
                                      <p:cBhvr>
                                        <p:cTn id="32" dur="1000" fill="hold"/>
                                        <p:tgtEl>
                                          <p:spTgt spid="8"/>
                                        </p:tgtEl>
                                        <p:attrNameLst>
                                          <p:attrName>ppt_x</p:attrName>
                                        </p:attrNameLst>
                                      </p:cBhvr>
                                      <p:tavLst>
                                        <p:tav tm="0">
                                          <p:val>
                                            <p:strVal val="#ppt_x"/>
                                          </p:val>
                                        </p:tav>
                                        <p:tav tm="100000">
                                          <p:val>
                                            <p:strVal val="#ppt_x"/>
                                          </p:val>
                                        </p:tav>
                                      </p:tavLst>
                                    </p:anim>
                                    <p:anim calcmode="lin" valueType="num">
                                      <p:cBhvr>
                                        <p:cTn id="3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a:extLst>
              <a:ext uri="{FF2B5EF4-FFF2-40B4-BE49-F238E27FC236}">
                <a16:creationId xmlns:a16="http://schemas.microsoft.com/office/drawing/2014/main" id="{6966B810-C3F4-06CB-586B-696F73B8815F}"/>
              </a:ext>
            </a:extLst>
          </p:cNvPr>
          <p:cNvSpPr>
            <a:spLocks noGrp="1"/>
          </p:cNvSpPr>
          <p:nvPr>
            <p:ph type="title"/>
          </p:nvPr>
        </p:nvSpPr>
        <p:spPr>
          <a:xfrm>
            <a:off x="1117309" y="76200"/>
            <a:ext cx="10157354" cy="832520"/>
          </a:xfrm>
        </p:spPr>
        <p:txBody>
          <a:bodyPr>
            <a:normAutofit/>
          </a:bodyPr>
          <a:lstStyle/>
          <a:p>
            <a:r>
              <a:rPr lang="en-IN" b="1" i="0" dirty="0">
                <a:effectLst/>
                <a:latin typeface="inherit"/>
              </a:rPr>
              <a:t>SDLC Process Models</a:t>
            </a:r>
            <a:endParaRPr lang="en-IN" dirty="0"/>
          </a:p>
        </p:txBody>
      </p:sp>
      <p:sp>
        <p:nvSpPr>
          <p:cNvPr id="5" name="TextBox 4">
            <a:extLst>
              <a:ext uri="{FF2B5EF4-FFF2-40B4-BE49-F238E27FC236}">
                <a16:creationId xmlns:a16="http://schemas.microsoft.com/office/drawing/2014/main" id="{E7EB58C3-601E-5509-7876-A469C7AA3BBE}"/>
              </a:ext>
            </a:extLst>
          </p:cNvPr>
          <p:cNvSpPr txBox="1"/>
          <p:nvPr/>
        </p:nvSpPr>
        <p:spPr>
          <a:xfrm>
            <a:off x="1117309" y="1052736"/>
            <a:ext cx="8352928" cy="2539157"/>
          </a:xfrm>
          <a:prstGeom prst="rect">
            <a:avLst/>
          </a:prstGeom>
          <a:noFill/>
        </p:spPr>
        <p:txBody>
          <a:bodyPr wrap="square" rtlCol="0">
            <a:spAutoFit/>
          </a:bodyPr>
          <a:lstStyle/>
          <a:p>
            <a:pPr algn="l" fontAlgn="base"/>
            <a:r>
              <a:rPr lang="en-US" sz="2000" b="1" i="0" dirty="0">
                <a:effectLst/>
                <a:latin typeface="inherit"/>
              </a:rPr>
              <a:t>Model 3: The RAD Model </a:t>
            </a:r>
          </a:p>
          <a:p>
            <a:pPr algn="l" fontAlgn="base"/>
            <a:endParaRPr lang="en-US" sz="2000" b="1" dirty="0">
              <a:latin typeface="inherit"/>
            </a:endParaRPr>
          </a:p>
          <a:p>
            <a:pPr algn="l" fontAlgn="base"/>
            <a:r>
              <a:rPr lang="en-US" sz="2000" b="1" i="0" dirty="0">
                <a:effectLst/>
                <a:latin typeface="inherit"/>
              </a:rPr>
              <a:t>Concept:</a:t>
            </a:r>
            <a:r>
              <a:rPr lang="en-US" sz="2000" b="0" i="0" dirty="0">
                <a:effectLst/>
                <a:latin typeface="-apple-system"/>
              </a:rPr>
              <a:t> Rapid Application Development — compressed timeline using component reuse, automated tools, and small teams.</a:t>
            </a:r>
          </a:p>
          <a:p>
            <a:pPr algn="l" fontAlgn="base"/>
            <a:endParaRPr lang="en-US" sz="2000" b="0" i="0" dirty="0">
              <a:effectLst/>
              <a:latin typeface="-apple-system"/>
            </a:endParaRPr>
          </a:p>
          <a:p>
            <a:pPr algn="l" fontAlgn="base"/>
            <a:r>
              <a:rPr lang="en-US" sz="2000" b="1" i="0" dirty="0">
                <a:effectLst/>
                <a:latin typeface="inherit"/>
              </a:rPr>
              <a:t>Pressman Context:</a:t>
            </a:r>
            <a:r>
              <a:rPr lang="en-US" sz="2000" b="0" i="0" dirty="0">
                <a:effectLst/>
                <a:latin typeface="-apple-system"/>
              </a:rPr>
              <a:t> 60-90 day delivery cycles. Requires modularity and committed users</a:t>
            </a:r>
          </a:p>
          <a:p>
            <a:pPr>
              <a:lnSpc>
                <a:spcPct val="95000"/>
              </a:lnSpc>
            </a:pPr>
            <a:endParaRPr lang="en-IN" sz="2000" dirty="0"/>
          </a:p>
        </p:txBody>
      </p:sp>
      <p:sp>
        <p:nvSpPr>
          <p:cNvPr id="6" name="TextBox 5">
            <a:extLst>
              <a:ext uri="{FF2B5EF4-FFF2-40B4-BE49-F238E27FC236}">
                <a16:creationId xmlns:a16="http://schemas.microsoft.com/office/drawing/2014/main" id="{8E78E94F-F1B9-7A88-A7CC-BE2EC7039886}"/>
              </a:ext>
            </a:extLst>
          </p:cNvPr>
          <p:cNvSpPr txBox="1"/>
          <p:nvPr/>
        </p:nvSpPr>
        <p:spPr>
          <a:xfrm>
            <a:off x="729816" y="3694190"/>
            <a:ext cx="10729192" cy="2135969"/>
          </a:xfrm>
          <a:prstGeom prst="rect">
            <a:avLst/>
          </a:prstGeom>
          <a:noFill/>
        </p:spPr>
        <p:txBody>
          <a:bodyPr wrap="square" rtlCol="0">
            <a:spAutoFit/>
          </a:bodyPr>
          <a:lstStyle/>
          <a:p>
            <a:r>
              <a:rPr lang="en-US" sz="2200" b="1" dirty="0">
                <a:solidFill>
                  <a:srgbClr val="FF0000"/>
                </a:solidFill>
                <a:latin typeface="inherit"/>
              </a:rPr>
              <a:t>According to Roger Pressman, Software Engineering: A Practitioner's Approach (6th Edition):</a:t>
            </a:r>
            <a:endParaRPr lang="en-IN" sz="2200" b="1" dirty="0">
              <a:solidFill>
                <a:srgbClr val="FF0000"/>
              </a:solidFill>
              <a:latin typeface="inherit"/>
            </a:endParaRPr>
          </a:p>
          <a:p>
            <a:r>
              <a:rPr lang="en-US" sz="2200" b="1" dirty="0">
                <a:solidFill>
                  <a:srgbClr val="FF0000"/>
                </a:solidFill>
                <a:latin typeface="inherit"/>
              </a:rPr>
              <a:t>"Rapid Application Development (RAD) is a high-speed adaptation of the linear sequential model in which rapid development is achieved by using a component-based construction approach."</a:t>
            </a:r>
          </a:p>
          <a:p>
            <a:pPr>
              <a:lnSpc>
                <a:spcPct val="95000"/>
              </a:lnSpc>
            </a:pPr>
            <a:endParaRPr lang="en-IN" dirty="0"/>
          </a:p>
        </p:txBody>
      </p:sp>
    </p:spTree>
    <p:extLst>
      <p:ext uri="{BB962C8B-B14F-4D97-AF65-F5344CB8AC3E}">
        <p14:creationId xmlns:p14="http://schemas.microsoft.com/office/powerpoint/2010/main" val="1051450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14242EF-A25D-E77E-61CF-93ADCFC57102}"/>
              </a:ext>
            </a:extLst>
          </p:cNvPr>
          <p:cNvPicPr>
            <a:picLocks noChangeAspect="1"/>
          </p:cNvPicPr>
          <p:nvPr/>
        </p:nvPicPr>
        <p:blipFill>
          <a:blip r:embed="rId2"/>
          <a:stretch>
            <a:fillRect/>
          </a:stretch>
        </p:blipFill>
        <p:spPr>
          <a:xfrm>
            <a:off x="1300247" y="81284"/>
            <a:ext cx="9258661" cy="6622206"/>
          </a:xfrm>
          <a:prstGeom prst="rect">
            <a:avLst/>
          </a:prstGeom>
        </p:spPr>
      </p:pic>
    </p:spTree>
    <p:extLst>
      <p:ext uri="{BB962C8B-B14F-4D97-AF65-F5344CB8AC3E}">
        <p14:creationId xmlns:p14="http://schemas.microsoft.com/office/powerpoint/2010/main" val="579602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a:extLst>
              <a:ext uri="{FF2B5EF4-FFF2-40B4-BE49-F238E27FC236}">
                <a16:creationId xmlns:a16="http://schemas.microsoft.com/office/drawing/2014/main" id="{5506513B-19E5-0D13-2A7E-E7F3F8A81AB2}"/>
              </a:ext>
            </a:extLst>
          </p:cNvPr>
          <p:cNvSpPr>
            <a:spLocks noGrp="1"/>
          </p:cNvSpPr>
          <p:nvPr>
            <p:ph type="title"/>
          </p:nvPr>
        </p:nvSpPr>
        <p:spPr>
          <a:xfrm>
            <a:off x="1117309" y="76200"/>
            <a:ext cx="10157354" cy="832520"/>
          </a:xfrm>
        </p:spPr>
        <p:txBody>
          <a:bodyPr>
            <a:normAutofit/>
          </a:bodyPr>
          <a:lstStyle/>
          <a:p>
            <a:r>
              <a:rPr lang="en-IN" b="1" i="0" dirty="0">
                <a:effectLst/>
                <a:latin typeface="inherit"/>
              </a:rPr>
              <a:t>SDLC Process Models</a:t>
            </a:r>
            <a:endParaRPr lang="en-IN" dirty="0"/>
          </a:p>
        </p:txBody>
      </p:sp>
      <p:sp>
        <p:nvSpPr>
          <p:cNvPr id="5" name="TextBox 4">
            <a:extLst>
              <a:ext uri="{FF2B5EF4-FFF2-40B4-BE49-F238E27FC236}">
                <a16:creationId xmlns:a16="http://schemas.microsoft.com/office/drawing/2014/main" id="{5B81E430-6E54-063D-53C0-ECDF737D5F65}"/>
              </a:ext>
            </a:extLst>
          </p:cNvPr>
          <p:cNvSpPr txBox="1"/>
          <p:nvPr/>
        </p:nvSpPr>
        <p:spPr>
          <a:xfrm>
            <a:off x="1117309" y="1052736"/>
            <a:ext cx="5603970" cy="794064"/>
          </a:xfrm>
          <a:prstGeom prst="rect">
            <a:avLst/>
          </a:prstGeom>
          <a:noFill/>
        </p:spPr>
        <p:txBody>
          <a:bodyPr wrap="none" rtlCol="0">
            <a:spAutoFit/>
          </a:bodyPr>
          <a:lstStyle/>
          <a:p>
            <a:pPr>
              <a:lnSpc>
                <a:spcPct val="95000"/>
              </a:lnSpc>
            </a:pPr>
            <a:r>
              <a:rPr lang="en-US" b="1" i="0" dirty="0">
                <a:effectLst/>
                <a:latin typeface="inherit"/>
              </a:rPr>
              <a:t>Model 4: The Evolutionary Process Models</a:t>
            </a:r>
          </a:p>
          <a:p>
            <a:pPr>
              <a:lnSpc>
                <a:spcPct val="95000"/>
              </a:lnSpc>
            </a:pPr>
            <a:endParaRPr lang="en-IN" dirty="0"/>
          </a:p>
        </p:txBody>
      </p:sp>
      <p:sp>
        <p:nvSpPr>
          <p:cNvPr id="6" name="TextBox 5">
            <a:extLst>
              <a:ext uri="{FF2B5EF4-FFF2-40B4-BE49-F238E27FC236}">
                <a16:creationId xmlns:a16="http://schemas.microsoft.com/office/drawing/2014/main" id="{E20C47BF-1F8F-641F-A667-B619D386598C}"/>
              </a:ext>
            </a:extLst>
          </p:cNvPr>
          <p:cNvSpPr txBox="1"/>
          <p:nvPr/>
        </p:nvSpPr>
        <p:spPr>
          <a:xfrm>
            <a:off x="1117309" y="1700808"/>
            <a:ext cx="6516528" cy="1828193"/>
          </a:xfrm>
          <a:prstGeom prst="rect">
            <a:avLst/>
          </a:prstGeom>
          <a:noFill/>
        </p:spPr>
        <p:txBody>
          <a:bodyPr wrap="none" rtlCol="0">
            <a:spAutoFit/>
          </a:bodyPr>
          <a:lstStyle/>
          <a:p>
            <a:r>
              <a:rPr lang="en-US" sz="1800" dirty="0">
                <a:latin typeface="Consolas" panose="020B0609020204030204" pitchFamily="49" charset="0"/>
              </a:rPr>
              <a:t>Who has an Android phone?</a:t>
            </a:r>
          </a:p>
          <a:p>
            <a:endParaRPr lang="en-IN" sz="1800" dirty="0">
              <a:latin typeface="Consolas" panose="020B0609020204030204" pitchFamily="49" charset="0"/>
            </a:endParaRPr>
          </a:p>
          <a:p>
            <a:r>
              <a:rPr lang="en-US" sz="1800" dirty="0">
                <a:latin typeface="Consolas" panose="020B0609020204030204" pitchFamily="49" charset="0"/>
              </a:rPr>
              <a:t>Did your phone receive software updates regularly?</a:t>
            </a:r>
          </a:p>
          <a:p>
            <a:endParaRPr lang="en-IN" sz="1800" dirty="0">
              <a:latin typeface="Consolas" panose="020B0609020204030204" pitchFamily="49" charset="0"/>
            </a:endParaRPr>
          </a:p>
          <a:p>
            <a:r>
              <a:rPr lang="en-US" sz="1800" dirty="0">
                <a:latin typeface="Consolas" panose="020B0609020204030204" pitchFamily="49" charset="0"/>
              </a:rPr>
              <a:t>Was your phone perfect when you bought it?</a:t>
            </a:r>
          </a:p>
          <a:p>
            <a:pPr>
              <a:lnSpc>
                <a:spcPct val="95000"/>
              </a:lnSpc>
            </a:pPr>
            <a:endParaRPr lang="en-IN" dirty="0"/>
          </a:p>
        </p:txBody>
      </p:sp>
      <p:sp>
        <p:nvSpPr>
          <p:cNvPr id="7" name="TextBox 6">
            <a:extLst>
              <a:ext uri="{FF2B5EF4-FFF2-40B4-BE49-F238E27FC236}">
                <a16:creationId xmlns:a16="http://schemas.microsoft.com/office/drawing/2014/main" id="{9D05C6EA-E97C-CA30-75FF-35AC699E6012}"/>
              </a:ext>
            </a:extLst>
          </p:cNvPr>
          <p:cNvSpPr txBox="1"/>
          <p:nvPr/>
        </p:nvSpPr>
        <p:spPr>
          <a:xfrm>
            <a:off x="8470676" y="1449768"/>
            <a:ext cx="3120732" cy="2782300"/>
          </a:xfrm>
          <a:prstGeom prst="rect">
            <a:avLst/>
          </a:prstGeom>
          <a:noFill/>
        </p:spPr>
        <p:txBody>
          <a:bodyPr wrap="square" rtlCol="0">
            <a:spAutoFit/>
          </a:bodyPr>
          <a:lstStyle/>
          <a:p>
            <a:pPr>
              <a:lnSpc>
                <a:spcPct val="95000"/>
              </a:lnSpc>
            </a:pPr>
            <a:r>
              <a:rPr lang="en-IN" sz="2000" b="1" dirty="0">
                <a:solidFill>
                  <a:srgbClr val="7030A0"/>
                </a:solidFill>
              </a:rPr>
              <a:t>Why?</a:t>
            </a:r>
          </a:p>
          <a:p>
            <a:pPr>
              <a:lnSpc>
                <a:spcPct val="95000"/>
              </a:lnSpc>
            </a:pPr>
            <a:r>
              <a:rPr lang="en-IN" sz="2000" b="1" dirty="0">
                <a:solidFill>
                  <a:srgbClr val="7030A0"/>
                </a:solidFill>
              </a:rPr>
              <a:t>Every few months,</a:t>
            </a:r>
          </a:p>
          <a:p>
            <a:pPr marL="342900" indent="-342900">
              <a:lnSpc>
                <a:spcPct val="95000"/>
              </a:lnSpc>
              <a:buFont typeface="Arial" panose="020B0604020202020204" pitchFamily="34" charset="0"/>
              <a:buChar char="•"/>
            </a:pPr>
            <a:endParaRPr lang="en-IN" sz="2000" b="1" dirty="0">
              <a:solidFill>
                <a:srgbClr val="7030A0"/>
              </a:solidFill>
            </a:endParaRPr>
          </a:p>
          <a:p>
            <a:pPr marL="342900" indent="-342900">
              <a:lnSpc>
                <a:spcPct val="95000"/>
              </a:lnSpc>
              <a:buFont typeface="Arial" panose="020B0604020202020204" pitchFamily="34" charset="0"/>
              <a:buChar char="•"/>
            </a:pPr>
            <a:r>
              <a:rPr lang="en-IN" sz="2000" b="1" dirty="0">
                <a:solidFill>
                  <a:srgbClr val="7030A0"/>
                </a:solidFill>
              </a:rPr>
              <a:t>New Features</a:t>
            </a:r>
          </a:p>
          <a:p>
            <a:pPr marL="342900" indent="-342900">
              <a:lnSpc>
                <a:spcPct val="95000"/>
              </a:lnSpc>
              <a:buFont typeface="Arial" panose="020B0604020202020204" pitchFamily="34" charset="0"/>
              <a:buChar char="•"/>
            </a:pPr>
            <a:r>
              <a:rPr lang="en-IN" sz="2000" b="1" dirty="0">
                <a:solidFill>
                  <a:srgbClr val="7030A0"/>
                </a:solidFill>
              </a:rPr>
              <a:t>Better Camera</a:t>
            </a:r>
          </a:p>
          <a:p>
            <a:pPr marL="342900" indent="-342900">
              <a:lnSpc>
                <a:spcPct val="95000"/>
              </a:lnSpc>
              <a:buFont typeface="Arial" panose="020B0604020202020204" pitchFamily="34" charset="0"/>
              <a:buChar char="•"/>
            </a:pPr>
            <a:r>
              <a:rPr lang="en-IN" sz="2000" b="1" dirty="0">
                <a:solidFill>
                  <a:srgbClr val="7030A0"/>
                </a:solidFill>
              </a:rPr>
              <a:t>AI Features</a:t>
            </a:r>
          </a:p>
          <a:p>
            <a:pPr marL="342900" indent="-342900">
              <a:lnSpc>
                <a:spcPct val="95000"/>
              </a:lnSpc>
              <a:buFont typeface="Arial" panose="020B0604020202020204" pitchFamily="34" charset="0"/>
              <a:buChar char="•"/>
            </a:pPr>
            <a:r>
              <a:rPr lang="en-IN" sz="2000" b="1" dirty="0">
                <a:solidFill>
                  <a:srgbClr val="7030A0"/>
                </a:solidFill>
              </a:rPr>
              <a:t>Security Updates</a:t>
            </a:r>
          </a:p>
          <a:p>
            <a:pPr marL="342900" indent="-342900">
              <a:lnSpc>
                <a:spcPct val="95000"/>
              </a:lnSpc>
              <a:buFont typeface="Arial" panose="020B0604020202020204" pitchFamily="34" charset="0"/>
              <a:buChar char="•"/>
            </a:pPr>
            <a:r>
              <a:rPr lang="en-IN" sz="2000" b="1" dirty="0">
                <a:solidFill>
                  <a:srgbClr val="7030A0"/>
                </a:solidFill>
              </a:rPr>
              <a:t>Bug Fixes</a:t>
            </a:r>
          </a:p>
          <a:p>
            <a:pPr>
              <a:lnSpc>
                <a:spcPct val="95000"/>
              </a:lnSpc>
            </a:pPr>
            <a:endParaRPr lang="en-IN" dirty="0"/>
          </a:p>
        </p:txBody>
      </p:sp>
      <p:sp>
        <p:nvSpPr>
          <p:cNvPr id="8" name="TextBox 7">
            <a:extLst>
              <a:ext uri="{FF2B5EF4-FFF2-40B4-BE49-F238E27FC236}">
                <a16:creationId xmlns:a16="http://schemas.microsoft.com/office/drawing/2014/main" id="{3EDA4240-BC86-C1EA-B96C-DD8CD2E4B718}"/>
              </a:ext>
            </a:extLst>
          </p:cNvPr>
          <p:cNvSpPr txBox="1"/>
          <p:nvPr/>
        </p:nvSpPr>
        <p:spPr>
          <a:xfrm>
            <a:off x="981844" y="3671568"/>
            <a:ext cx="7225055" cy="443198"/>
          </a:xfrm>
          <a:prstGeom prst="rect">
            <a:avLst/>
          </a:prstGeom>
          <a:noFill/>
        </p:spPr>
        <p:txBody>
          <a:bodyPr wrap="square" rtlCol="0">
            <a:spAutoFit/>
          </a:bodyPr>
          <a:lstStyle>
            <a:defPPr>
              <a:defRPr lang="en-US"/>
            </a:defPPr>
            <a:lvl1pPr>
              <a:lnSpc>
                <a:spcPct val="95000"/>
              </a:lnSpc>
              <a:defRPr b="1">
                <a:solidFill>
                  <a:srgbClr val="FF0000"/>
                </a:solidFill>
              </a:defRPr>
            </a:lvl1pPr>
          </a:lstStyle>
          <a:p>
            <a:r>
              <a:rPr lang="en-US" dirty="0"/>
              <a:t>Software Evolves = Evolutionary Process Models</a:t>
            </a:r>
            <a:endParaRPr lang="en-IN" dirty="0"/>
          </a:p>
        </p:txBody>
      </p:sp>
      <p:grpSp>
        <p:nvGrpSpPr>
          <p:cNvPr id="24" name="Group 23">
            <a:extLst>
              <a:ext uri="{FF2B5EF4-FFF2-40B4-BE49-F238E27FC236}">
                <a16:creationId xmlns:a16="http://schemas.microsoft.com/office/drawing/2014/main" id="{8A285253-A7A6-BC48-3910-FA03DA4DAF65}"/>
              </a:ext>
            </a:extLst>
          </p:cNvPr>
          <p:cNvGrpSpPr/>
          <p:nvPr/>
        </p:nvGrpSpPr>
        <p:grpSpPr>
          <a:xfrm>
            <a:off x="1289247" y="4546813"/>
            <a:ext cx="10036797" cy="2050540"/>
            <a:chOff x="1289247" y="4546813"/>
            <a:chExt cx="10036797" cy="2050540"/>
          </a:xfrm>
        </p:grpSpPr>
        <p:sp>
          <p:nvSpPr>
            <p:cNvPr id="9" name="Rectangle 8">
              <a:extLst>
                <a:ext uri="{FF2B5EF4-FFF2-40B4-BE49-F238E27FC236}">
                  <a16:creationId xmlns:a16="http://schemas.microsoft.com/office/drawing/2014/main" id="{74685DA1-8052-7FE4-4E34-3ED0D263AB86}"/>
                </a:ext>
              </a:extLst>
            </p:cNvPr>
            <p:cNvSpPr/>
            <p:nvPr/>
          </p:nvSpPr>
          <p:spPr>
            <a:xfrm>
              <a:off x="4323778" y="4546813"/>
              <a:ext cx="3744416" cy="576064"/>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800" b="1" dirty="0"/>
                <a:t>Evolutionary Process Models</a:t>
              </a:r>
            </a:p>
          </p:txBody>
        </p:sp>
        <p:cxnSp>
          <p:nvCxnSpPr>
            <p:cNvPr id="11" name="Straight Connector 10">
              <a:extLst>
                <a:ext uri="{FF2B5EF4-FFF2-40B4-BE49-F238E27FC236}">
                  <a16:creationId xmlns:a16="http://schemas.microsoft.com/office/drawing/2014/main" id="{B8EEB1B7-2C0C-2AEC-F5D7-82F7751440D5}"/>
                </a:ext>
              </a:extLst>
            </p:cNvPr>
            <p:cNvCxnSpPr>
              <a:cxnSpLocks/>
              <a:stCxn id="9" idx="2"/>
            </p:cNvCxnSpPr>
            <p:nvPr/>
          </p:nvCxnSpPr>
          <p:spPr>
            <a:xfrm>
              <a:off x="6195986" y="5122877"/>
              <a:ext cx="0" cy="538371"/>
            </a:xfrm>
            <a:prstGeom prst="line">
              <a:avLst/>
            </a:prstGeom>
            <a:ln w="57150"/>
          </p:spPr>
          <p:style>
            <a:lnRef idx="3">
              <a:schemeClr val="accent1"/>
            </a:lnRef>
            <a:fillRef idx="0">
              <a:schemeClr val="accent1"/>
            </a:fillRef>
            <a:effectRef idx="2">
              <a:schemeClr val="accent1"/>
            </a:effectRef>
            <a:fontRef idx="minor">
              <a:schemeClr val="tx1"/>
            </a:fontRef>
          </p:style>
        </p:cxnSp>
        <p:cxnSp>
          <p:nvCxnSpPr>
            <p:cNvPr id="13" name="Straight Connector 12">
              <a:extLst>
                <a:ext uri="{FF2B5EF4-FFF2-40B4-BE49-F238E27FC236}">
                  <a16:creationId xmlns:a16="http://schemas.microsoft.com/office/drawing/2014/main" id="{01BFD675-4357-936F-FE7E-4223FE42252C}"/>
                </a:ext>
              </a:extLst>
            </p:cNvPr>
            <p:cNvCxnSpPr/>
            <p:nvPr/>
          </p:nvCxnSpPr>
          <p:spPr>
            <a:xfrm>
              <a:off x="2638028" y="5661248"/>
              <a:ext cx="7344816" cy="0"/>
            </a:xfrm>
            <a:prstGeom prst="line">
              <a:avLst/>
            </a:prstGeom>
            <a:ln w="25400">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ACB19C5-5D67-F41E-6BD9-DBA1AD8CE184}"/>
                </a:ext>
              </a:extLst>
            </p:cNvPr>
            <p:cNvCxnSpPr>
              <a:cxnSpLocks/>
            </p:cNvCxnSpPr>
            <p:nvPr/>
          </p:nvCxnSpPr>
          <p:spPr>
            <a:xfrm>
              <a:off x="2638028" y="5661248"/>
              <a:ext cx="0" cy="432048"/>
            </a:xfrm>
            <a:prstGeom prst="line">
              <a:avLst/>
            </a:prstGeom>
            <a:ln w="57150"/>
          </p:spPr>
          <p:style>
            <a:lnRef idx="3">
              <a:schemeClr val="accent1"/>
            </a:lnRef>
            <a:fillRef idx="0">
              <a:schemeClr val="accent1"/>
            </a:fillRef>
            <a:effectRef idx="2">
              <a:schemeClr val="accent1"/>
            </a:effectRef>
            <a:fontRef idx="minor">
              <a:schemeClr val="tx1"/>
            </a:fontRef>
          </p:style>
        </p:cxnSp>
        <p:sp>
          <p:nvSpPr>
            <p:cNvPr id="19" name="Rectangle 18">
              <a:extLst>
                <a:ext uri="{FF2B5EF4-FFF2-40B4-BE49-F238E27FC236}">
                  <a16:creationId xmlns:a16="http://schemas.microsoft.com/office/drawing/2014/main" id="{A6163187-6D34-B341-7921-AB77597D1D05}"/>
                </a:ext>
              </a:extLst>
            </p:cNvPr>
            <p:cNvSpPr/>
            <p:nvPr/>
          </p:nvSpPr>
          <p:spPr>
            <a:xfrm>
              <a:off x="1289247" y="6093296"/>
              <a:ext cx="2630044" cy="504057"/>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600" b="1" dirty="0"/>
                <a:t>Spiral Model</a:t>
              </a:r>
            </a:p>
          </p:txBody>
        </p:sp>
        <p:sp>
          <p:nvSpPr>
            <p:cNvPr id="20" name="Rectangle 19">
              <a:extLst>
                <a:ext uri="{FF2B5EF4-FFF2-40B4-BE49-F238E27FC236}">
                  <a16:creationId xmlns:a16="http://schemas.microsoft.com/office/drawing/2014/main" id="{E91A44F2-0213-36FC-BDD2-1206708E2534}"/>
                </a:ext>
              </a:extLst>
            </p:cNvPr>
            <p:cNvSpPr/>
            <p:nvPr/>
          </p:nvSpPr>
          <p:spPr>
            <a:xfrm>
              <a:off x="8696000" y="6093296"/>
              <a:ext cx="2630044" cy="504057"/>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600" b="1" dirty="0"/>
                <a:t>Concurrent Development Model</a:t>
              </a:r>
            </a:p>
          </p:txBody>
        </p:sp>
        <p:cxnSp>
          <p:nvCxnSpPr>
            <p:cNvPr id="23" name="Straight Connector 22">
              <a:extLst>
                <a:ext uri="{FF2B5EF4-FFF2-40B4-BE49-F238E27FC236}">
                  <a16:creationId xmlns:a16="http://schemas.microsoft.com/office/drawing/2014/main" id="{5D65F409-A2C3-952D-E01D-FA416A9DC9DA}"/>
                </a:ext>
              </a:extLst>
            </p:cNvPr>
            <p:cNvCxnSpPr>
              <a:cxnSpLocks/>
            </p:cNvCxnSpPr>
            <p:nvPr/>
          </p:nvCxnSpPr>
          <p:spPr>
            <a:xfrm>
              <a:off x="9963397" y="5661248"/>
              <a:ext cx="0" cy="432048"/>
            </a:xfrm>
            <a:prstGeom prst="line">
              <a:avLst/>
            </a:prstGeom>
            <a:ln w="57150"/>
          </p:spPr>
          <p:style>
            <a:lnRef idx="3">
              <a:schemeClr val="accent1"/>
            </a:lnRef>
            <a:fillRef idx="0">
              <a:schemeClr val="accent1"/>
            </a:fillRef>
            <a:effectRef idx="2">
              <a:schemeClr val="accent1"/>
            </a:effectRef>
            <a:fontRef idx="minor">
              <a:schemeClr val="tx1"/>
            </a:fontRef>
          </p:style>
        </p:cxnSp>
      </p:grpSp>
    </p:spTree>
    <p:extLst>
      <p:ext uri="{BB962C8B-B14F-4D97-AF65-F5344CB8AC3E}">
        <p14:creationId xmlns:p14="http://schemas.microsoft.com/office/powerpoint/2010/main" val="3222424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barn(inVertical)">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barn(inVertical)">
                                      <p:cBhvr>
                                        <p:cTn id="3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C749425-F918-1695-12B1-F0A7EA45B2E3}"/>
              </a:ext>
            </a:extLst>
          </p:cNvPr>
          <p:cNvSpPr txBox="1"/>
          <p:nvPr/>
        </p:nvSpPr>
        <p:spPr>
          <a:xfrm>
            <a:off x="693812" y="1124744"/>
            <a:ext cx="6336704" cy="3970318"/>
          </a:xfrm>
          <a:prstGeom prst="rect">
            <a:avLst/>
          </a:prstGeom>
          <a:noFill/>
        </p:spPr>
        <p:txBody>
          <a:bodyPr wrap="square" rtlCol="0">
            <a:spAutoFit/>
          </a:bodyPr>
          <a:lstStyle/>
          <a:p>
            <a:r>
              <a:rPr lang="en-US" sz="1800" dirty="0">
                <a:latin typeface="Consolas" panose="020B0609020204030204" pitchFamily="49" charset="0"/>
              </a:rPr>
              <a:t>Imagine you are climbing a mountain</a:t>
            </a:r>
          </a:p>
          <a:p>
            <a:r>
              <a:rPr lang="en-US" sz="1800" dirty="0">
                <a:latin typeface="Consolas" panose="020B0609020204030204" pitchFamily="49" charset="0"/>
              </a:rPr>
              <a:t>Do you jump directly to the top?</a:t>
            </a:r>
          </a:p>
          <a:p>
            <a:endParaRPr lang="en-IN" sz="1800" dirty="0">
              <a:latin typeface="Consolas" panose="020B0609020204030204" pitchFamily="49" charset="0"/>
            </a:endParaRPr>
          </a:p>
          <a:p>
            <a:r>
              <a:rPr lang="en-IN" sz="1800" dirty="0">
                <a:latin typeface="Consolas" panose="020B0609020204030204" pitchFamily="49" charset="0"/>
              </a:rPr>
              <a:t>You climb a Step</a:t>
            </a:r>
          </a:p>
          <a:p>
            <a:r>
              <a:rPr lang="en-IN" sz="1800" dirty="0">
                <a:latin typeface="Consolas" panose="020B0609020204030204" pitchFamily="49" charset="0"/>
              </a:rPr>
              <a:t>↓</a:t>
            </a:r>
          </a:p>
          <a:p>
            <a:r>
              <a:rPr lang="en-IN" sz="1800" dirty="0">
                <a:latin typeface="Consolas" panose="020B0609020204030204" pitchFamily="49" charset="0"/>
              </a:rPr>
              <a:t>Check safety</a:t>
            </a:r>
          </a:p>
          <a:p>
            <a:r>
              <a:rPr lang="en-IN" sz="1800" dirty="0">
                <a:latin typeface="Consolas" panose="020B0609020204030204" pitchFamily="49" charset="0"/>
              </a:rPr>
              <a:t>↓</a:t>
            </a:r>
          </a:p>
          <a:p>
            <a:r>
              <a:rPr lang="en-IN" sz="1800" dirty="0">
                <a:latin typeface="Consolas" panose="020B0609020204030204" pitchFamily="49" charset="0"/>
              </a:rPr>
              <a:t>Climb again</a:t>
            </a:r>
          </a:p>
          <a:p>
            <a:r>
              <a:rPr lang="en-IN" sz="1800" dirty="0">
                <a:latin typeface="Consolas" panose="020B0609020204030204" pitchFamily="49" charset="0"/>
              </a:rPr>
              <a:t>↓</a:t>
            </a:r>
          </a:p>
          <a:p>
            <a:r>
              <a:rPr lang="en-IN" sz="1800" dirty="0">
                <a:latin typeface="Consolas" panose="020B0609020204030204" pitchFamily="49" charset="0"/>
              </a:rPr>
              <a:t>Check safety</a:t>
            </a:r>
          </a:p>
          <a:p>
            <a:r>
              <a:rPr lang="en-IN" sz="1800" dirty="0">
                <a:latin typeface="Consolas" panose="020B0609020204030204" pitchFamily="49" charset="0"/>
              </a:rPr>
              <a:t>↓</a:t>
            </a:r>
          </a:p>
          <a:p>
            <a:r>
              <a:rPr lang="en-IN" sz="1800" dirty="0">
                <a:latin typeface="Consolas" panose="020B0609020204030204" pitchFamily="49" charset="0"/>
              </a:rPr>
              <a:t>Repeat</a:t>
            </a:r>
          </a:p>
          <a:p>
            <a:endParaRPr lang="en-IN" sz="1800" dirty="0">
              <a:latin typeface="Consolas" panose="020B0609020204030204" pitchFamily="49" charset="0"/>
            </a:endParaRPr>
          </a:p>
          <a:p>
            <a:r>
              <a:rPr lang="en-IN" sz="1800" dirty="0">
                <a:latin typeface="Consolas" panose="020B0609020204030204" pitchFamily="49" charset="0"/>
              </a:rPr>
              <a:t>That is Spiral Model</a:t>
            </a:r>
          </a:p>
        </p:txBody>
      </p:sp>
      <p:sp>
        <p:nvSpPr>
          <p:cNvPr id="5" name="Title 4">
            <a:extLst>
              <a:ext uri="{FF2B5EF4-FFF2-40B4-BE49-F238E27FC236}">
                <a16:creationId xmlns:a16="http://schemas.microsoft.com/office/drawing/2014/main" id="{E48D8F81-84AF-B6BE-3C56-63DF21326A89}"/>
              </a:ext>
            </a:extLst>
          </p:cNvPr>
          <p:cNvSpPr>
            <a:spLocks noGrp="1"/>
          </p:cNvSpPr>
          <p:nvPr>
            <p:ph type="title"/>
          </p:nvPr>
        </p:nvSpPr>
        <p:spPr>
          <a:xfrm>
            <a:off x="1117309" y="76200"/>
            <a:ext cx="10157354" cy="832520"/>
          </a:xfrm>
        </p:spPr>
        <p:txBody>
          <a:bodyPr>
            <a:normAutofit/>
          </a:bodyPr>
          <a:lstStyle/>
          <a:p>
            <a:r>
              <a:rPr lang="en-IN" b="1" i="0" dirty="0">
                <a:effectLst/>
                <a:latin typeface="inherit"/>
              </a:rPr>
              <a:t>SDLC Process Models</a:t>
            </a:r>
            <a:endParaRPr lang="en-IN" dirty="0"/>
          </a:p>
        </p:txBody>
      </p:sp>
      <p:sp>
        <p:nvSpPr>
          <p:cNvPr id="6" name="TextBox 5">
            <a:extLst>
              <a:ext uri="{FF2B5EF4-FFF2-40B4-BE49-F238E27FC236}">
                <a16:creationId xmlns:a16="http://schemas.microsoft.com/office/drawing/2014/main" id="{2431DBD4-7CA7-E79D-A3A0-EC1847BD8D88}"/>
              </a:ext>
            </a:extLst>
          </p:cNvPr>
          <p:cNvSpPr txBox="1"/>
          <p:nvPr/>
        </p:nvSpPr>
        <p:spPr>
          <a:xfrm>
            <a:off x="489858" y="5496322"/>
            <a:ext cx="11017224" cy="1458861"/>
          </a:xfrm>
          <a:prstGeom prst="rect">
            <a:avLst/>
          </a:prstGeom>
          <a:noFill/>
        </p:spPr>
        <p:txBody>
          <a:bodyPr wrap="square" rtlCol="0">
            <a:spAutoFit/>
          </a:bodyPr>
          <a:lstStyle/>
          <a:p>
            <a:r>
              <a:rPr lang="en-IN" sz="2200" b="1" dirty="0">
                <a:solidFill>
                  <a:srgbClr val="FF0000"/>
                </a:solidFill>
                <a:latin typeface="inherit"/>
              </a:rPr>
              <a:t>According to Roger Pressman,</a:t>
            </a:r>
          </a:p>
          <a:p>
            <a:r>
              <a:rPr lang="en-US" sz="2200" b="1" dirty="0">
                <a:solidFill>
                  <a:srgbClr val="FF0000"/>
                </a:solidFill>
                <a:latin typeface="inherit"/>
              </a:rPr>
              <a:t>The Spiral Model couples the iterative nature of prototyping with the systematic aspects of the linear sequential model, adding risk analysis as a key activity</a:t>
            </a:r>
          </a:p>
          <a:p>
            <a:pPr>
              <a:lnSpc>
                <a:spcPct val="95000"/>
              </a:lnSpc>
            </a:pPr>
            <a:endParaRPr lang="en-IN" dirty="0"/>
          </a:p>
        </p:txBody>
      </p:sp>
      <p:pic>
        <p:nvPicPr>
          <p:cNvPr id="13314" name="Picture 2" descr="Spiral model is a software development life cycle or sdlc model that  provides a systematic | Premium Vector">
            <a:extLst>
              <a:ext uri="{FF2B5EF4-FFF2-40B4-BE49-F238E27FC236}">
                <a16:creationId xmlns:a16="http://schemas.microsoft.com/office/drawing/2014/main" id="{71A1CC38-6C71-114B-50A0-1D4CF9CC94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26257" y="908720"/>
            <a:ext cx="5772710" cy="46200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5461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barn(inVertical)">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13314"/>
                                        </p:tgtEl>
                                        <p:attrNameLst>
                                          <p:attrName>style.visibility</p:attrName>
                                        </p:attrNameLst>
                                      </p:cBhvr>
                                      <p:to>
                                        <p:strVal val="visible"/>
                                      </p:to>
                                    </p:set>
                                    <p:animEffect transition="in" filter="barn(inVertical)">
                                      <p:cBhvr>
                                        <p:cTn id="24" dur="500"/>
                                        <p:tgtEl>
                                          <p:spTgt spid="133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a:extLst>
              <a:ext uri="{FF2B5EF4-FFF2-40B4-BE49-F238E27FC236}">
                <a16:creationId xmlns:a16="http://schemas.microsoft.com/office/drawing/2014/main" id="{63107FAA-50C2-BA3A-7ED1-AF8AE2982E24}"/>
              </a:ext>
            </a:extLst>
          </p:cNvPr>
          <p:cNvSpPr>
            <a:spLocks noGrp="1"/>
          </p:cNvSpPr>
          <p:nvPr>
            <p:ph type="title"/>
          </p:nvPr>
        </p:nvSpPr>
        <p:spPr>
          <a:xfrm>
            <a:off x="1117309" y="76200"/>
            <a:ext cx="10157354" cy="832520"/>
          </a:xfrm>
        </p:spPr>
        <p:txBody>
          <a:bodyPr>
            <a:normAutofit/>
          </a:bodyPr>
          <a:lstStyle/>
          <a:p>
            <a:r>
              <a:rPr lang="en-IN" b="1" i="0" dirty="0">
                <a:effectLst/>
                <a:latin typeface="inherit"/>
              </a:rPr>
              <a:t>SDLC Process Models</a:t>
            </a:r>
            <a:endParaRPr lang="en-IN" dirty="0"/>
          </a:p>
        </p:txBody>
      </p:sp>
      <p:sp>
        <p:nvSpPr>
          <p:cNvPr id="5" name="TextBox 4">
            <a:extLst>
              <a:ext uri="{FF2B5EF4-FFF2-40B4-BE49-F238E27FC236}">
                <a16:creationId xmlns:a16="http://schemas.microsoft.com/office/drawing/2014/main" id="{01D12740-DD6C-2BE5-395B-FBFC28EBB53D}"/>
              </a:ext>
            </a:extLst>
          </p:cNvPr>
          <p:cNvSpPr txBox="1"/>
          <p:nvPr/>
        </p:nvSpPr>
        <p:spPr>
          <a:xfrm>
            <a:off x="765820" y="980728"/>
            <a:ext cx="5682966" cy="4019562"/>
          </a:xfrm>
          <a:prstGeom prst="rect">
            <a:avLst/>
          </a:prstGeom>
          <a:noFill/>
        </p:spPr>
        <p:txBody>
          <a:bodyPr wrap="none" rtlCol="0">
            <a:spAutoFit/>
          </a:bodyPr>
          <a:lstStyle/>
          <a:p>
            <a:r>
              <a:rPr lang="en-US" sz="1600" dirty="0">
                <a:latin typeface="Consolas" panose="020B0609020204030204" pitchFamily="49" charset="0"/>
              </a:rPr>
              <a:t>Suppose your class is organizing Annual Tech Fest</a:t>
            </a:r>
          </a:p>
          <a:p>
            <a:r>
              <a:rPr lang="en-US" sz="1600" dirty="0">
                <a:latin typeface="Consolas" panose="020B0609020204030204" pitchFamily="49" charset="0"/>
              </a:rPr>
              <a:t>Does everyone wait for each other?</a:t>
            </a:r>
          </a:p>
          <a:p>
            <a:endParaRPr lang="en-IN" sz="1600" dirty="0">
              <a:latin typeface="Consolas" panose="020B0609020204030204" pitchFamily="49" charset="0"/>
            </a:endParaRPr>
          </a:p>
          <a:p>
            <a:r>
              <a:rPr lang="en-IN" sz="1600" dirty="0">
                <a:latin typeface="Consolas" panose="020B0609020204030204" pitchFamily="49" charset="0"/>
              </a:rPr>
              <a:t>Registration Team</a:t>
            </a:r>
          </a:p>
          <a:p>
            <a:r>
              <a:rPr lang="en-IN" sz="1600" dirty="0">
                <a:latin typeface="Consolas" panose="020B0609020204030204" pitchFamily="49" charset="0"/>
              </a:rPr>
              <a:t>↓</a:t>
            </a:r>
          </a:p>
          <a:p>
            <a:r>
              <a:rPr lang="en-IN" sz="1600" dirty="0">
                <a:latin typeface="Consolas" panose="020B0609020204030204" pitchFamily="49" charset="0"/>
              </a:rPr>
              <a:t>Stage Team</a:t>
            </a:r>
          </a:p>
          <a:p>
            <a:r>
              <a:rPr lang="en-IN" sz="1600" dirty="0">
                <a:latin typeface="Consolas" panose="020B0609020204030204" pitchFamily="49" charset="0"/>
              </a:rPr>
              <a:t>↓</a:t>
            </a:r>
          </a:p>
          <a:p>
            <a:r>
              <a:rPr lang="en-IN" sz="1600" dirty="0">
                <a:latin typeface="Consolas" panose="020B0609020204030204" pitchFamily="49" charset="0"/>
              </a:rPr>
              <a:t>Food Team</a:t>
            </a:r>
          </a:p>
          <a:p>
            <a:r>
              <a:rPr lang="en-IN" sz="1600" dirty="0">
                <a:latin typeface="Consolas" panose="020B0609020204030204" pitchFamily="49" charset="0"/>
              </a:rPr>
              <a:t>↓</a:t>
            </a:r>
          </a:p>
          <a:p>
            <a:r>
              <a:rPr lang="en-IN" sz="1600" dirty="0">
                <a:latin typeface="Consolas" panose="020B0609020204030204" pitchFamily="49" charset="0"/>
              </a:rPr>
              <a:t>Photography Team</a:t>
            </a:r>
          </a:p>
          <a:p>
            <a:r>
              <a:rPr lang="en-IN" sz="1600" dirty="0">
                <a:latin typeface="Consolas" panose="020B0609020204030204" pitchFamily="49" charset="0"/>
              </a:rPr>
              <a:t>↓</a:t>
            </a:r>
          </a:p>
          <a:p>
            <a:r>
              <a:rPr lang="en-IN" sz="1600" dirty="0">
                <a:latin typeface="Consolas" panose="020B0609020204030204" pitchFamily="49" charset="0"/>
              </a:rPr>
              <a:t>Sponsorship Team</a:t>
            </a:r>
          </a:p>
          <a:p>
            <a:endParaRPr lang="en-IN" sz="1600" dirty="0">
              <a:latin typeface="Consolas" panose="020B0609020204030204" pitchFamily="49" charset="0"/>
            </a:endParaRPr>
          </a:p>
          <a:p>
            <a:r>
              <a:rPr lang="en-IN" sz="1600" dirty="0">
                <a:latin typeface="Consolas" panose="020B0609020204030204" pitchFamily="49" charset="0"/>
              </a:rPr>
              <a:t>All work simultaneously.</a:t>
            </a:r>
          </a:p>
          <a:p>
            <a:r>
              <a:rPr lang="en-IN" sz="1600" dirty="0">
                <a:latin typeface="Consolas" panose="020B0609020204030204" pitchFamily="49" charset="0"/>
              </a:rPr>
              <a:t>Software also works similarly</a:t>
            </a:r>
          </a:p>
          <a:p>
            <a:pPr>
              <a:lnSpc>
                <a:spcPct val="95000"/>
              </a:lnSpc>
            </a:pPr>
            <a:endParaRPr lang="en-IN" sz="1600" dirty="0"/>
          </a:p>
        </p:txBody>
      </p:sp>
      <p:sp>
        <p:nvSpPr>
          <p:cNvPr id="6" name="TextBox 5">
            <a:extLst>
              <a:ext uri="{FF2B5EF4-FFF2-40B4-BE49-F238E27FC236}">
                <a16:creationId xmlns:a16="http://schemas.microsoft.com/office/drawing/2014/main" id="{F5C54A5C-CA2A-5EDF-DFC1-6C06CEAFC22E}"/>
              </a:ext>
            </a:extLst>
          </p:cNvPr>
          <p:cNvSpPr txBox="1"/>
          <p:nvPr/>
        </p:nvSpPr>
        <p:spPr>
          <a:xfrm>
            <a:off x="477788" y="5072298"/>
            <a:ext cx="11233248" cy="1551194"/>
          </a:xfrm>
          <a:prstGeom prst="rect">
            <a:avLst/>
          </a:prstGeom>
          <a:noFill/>
        </p:spPr>
        <p:txBody>
          <a:bodyPr wrap="square" rtlCol="0">
            <a:spAutoFit/>
          </a:bodyPr>
          <a:lstStyle>
            <a:defPPr>
              <a:defRPr lang="en-US"/>
            </a:defPPr>
            <a:lvl1pPr>
              <a:defRPr sz="2200" b="1">
                <a:solidFill>
                  <a:srgbClr val="FF0000"/>
                </a:solidFill>
                <a:latin typeface="inherit"/>
              </a:defRPr>
            </a:lvl1pPr>
          </a:lstStyle>
          <a:p>
            <a:r>
              <a:rPr lang="en-US" dirty="0"/>
              <a:t>According to Roger S. Pressman, Software Engineering:</a:t>
            </a:r>
          </a:p>
          <a:p>
            <a:r>
              <a:rPr lang="en-US" dirty="0"/>
              <a:t>"The concurrent development model, sometimes called concurrent engineering, allows software engineering activities to exist simultaneously and to be in different states for different components of the software project."</a:t>
            </a:r>
          </a:p>
          <a:p>
            <a:endParaRPr lang="en-IN" dirty="0"/>
          </a:p>
        </p:txBody>
      </p:sp>
      <p:pic>
        <p:nvPicPr>
          <p:cNvPr id="15362" name="Picture 2" descr="Optimize Electrical Design Workflows with ECAD | Blog | CADvizor">
            <a:extLst>
              <a:ext uri="{FF2B5EF4-FFF2-40B4-BE49-F238E27FC236}">
                <a16:creationId xmlns:a16="http://schemas.microsoft.com/office/drawing/2014/main" id="{9127AA65-933A-220C-13E3-08A47DD7A8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74332" y="1412776"/>
            <a:ext cx="6117861" cy="33661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4557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barn(inVertical)">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15362"/>
                                        </p:tgtEl>
                                        <p:attrNameLst>
                                          <p:attrName>style.visibility</p:attrName>
                                        </p:attrNameLst>
                                      </p:cBhvr>
                                      <p:to>
                                        <p:strVal val="visible"/>
                                      </p:to>
                                    </p:set>
                                    <p:animEffect transition="in" filter="fade">
                                      <p:cBhvr>
                                        <p:cTn id="25" dur="1000"/>
                                        <p:tgtEl>
                                          <p:spTgt spid="15362"/>
                                        </p:tgtEl>
                                      </p:cBhvr>
                                    </p:animEffect>
                                    <p:anim calcmode="lin" valueType="num">
                                      <p:cBhvr>
                                        <p:cTn id="26" dur="1000" fill="hold"/>
                                        <p:tgtEl>
                                          <p:spTgt spid="15362"/>
                                        </p:tgtEl>
                                        <p:attrNameLst>
                                          <p:attrName>ppt_x</p:attrName>
                                        </p:attrNameLst>
                                      </p:cBhvr>
                                      <p:tavLst>
                                        <p:tav tm="0">
                                          <p:val>
                                            <p:strVal val="#ppt_x"/>
                                          </p:val>
                                        </p:tav>
                                        <p:tav tm="100000">
                                          <p:val>
                                            <p:strVal val="#ppt_x"/>
                                          </p:val>
                                        </p:tav>
                                      </p:tavLst>
                                    </p:anim>
                                    <p:anim calcmode="lin" valueType="num">
                                      <p:cBhvr>
                                        <p:cTn id="27" dur="1000" fill="hold"/>
                                        <p:tgtEl>
                                          <p:spTgt spid="1536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a:extLst>
              <a:ext uri="{FF2B5EF4-FFF2-40B4-BE49-F238E27FC236}">
                <a16:creationId xmlns:a16="http://schemas.microsoft.com/office/drawing/2014/main" id="{E6DEF42D-E7B8-CC50-163E-661DA83AA44E}"/>
              </a:ext>
            </a:extLst>
          </p:cNvPr>
          <p:cNvSpPr>
            <a:spLocks noGrp="1"/>
          </p:cNvSpPr>
          <p:nvPr>
            <p:ph type="title"/>
          </p:nvPr>
        </p:nvSpPr>
        <p:spPr>
          <a:xfrm>
            <a:off x="1117309" y="76200"/>
            <a:ext cx="10157354" cy="832520"/>
          </a:xfrm>
        </p:spPr>
        <p:txBody>
          <a:bodyPr>
            <a:normAutofit/>
          </a:bodyPr>
          <a:lstStyle/>
          <a:p>
            <a:r>
              <a:rPr lang="en-IN" b="1" i="0" dirty="0">
                <a:effectLst/>
                <a:latin typeface="inherit"/>
              </a:rPr>
              <a:t>SDLC Process Models</a:t>
            </a:r>
            <a:endParaRPr lang="en-IN" dirty="0"/>
          </a:p>
        </p:txBody>
      </p:sp>
      <p:sp>
        <p:nvSpPr>
          <p:cNvPr id="5" name="TextBox 4">
            <a:extLst>
              <a:ext uri="{FF2B5EF4-FFF2-40B4-BE49-F238E27FC236}">
                <a16:creationId xmlns:a16="http://schemas.microsoft.com/office/drawing/2014/main" id="{FD300962-FE90-4B91-FC40-52A5F3930F0E}"/>
              </a:ext>
            </a:extLst>
          </p:cNvPr>
          <p:cNvSpPr txBox="1"/>
          <p:nvPr/>
        </p:nvSpPr>
        <p:spPr>
          <a:xfrm>
            <a:off x="1117309" y="1052736"/>
            <a:ext cx="4629216" cy="794064"/>
          </a:xfrm>
          <a:prstGeom prst="rect">
            <a:avLst/>
          </a:prstGeom>
          <a:noFill/>
        </p:spPr>
        <p:txBody>
          <a:bodyPr wrap="none" rtlCol="0">
            <a:spAutoFit/>
          </a:bodyPr>
          <a:lstStyle/>
          <a:p>
            <a:pPr>
              <a:lnSpc>
                <a:spcPct val="95000"/>
              </a:lnSpc>
            </a:pPr>
            <a:r>
              <a:rPr lang="en-US" b="1" i="0" dirty="0">
                <a:effectLst/>
                <a:latin typeface="inherit"/>
              </a:rPr>
              <a:t>Model 5: The Agile Process Model</a:t>
            </a:r>
          </a:p>
          <a:p>
            <a:pPr>
              <a:lnSpc>
                <a:spcPct val="95000"/>
              </a:lnSpc>
            </a:pPr>
            <a:endParaRPr lang="en-IN" dirty="0"/>
          </a:p>
        </p:txBody>
      </p:sp>
      <p:sp>
        <p:nvSpPr>
          <p:cNvPr id="6" name="TextBox 5">
            <a:extLst>
              <a:ext uri="{FF2B5EF4-FFF2-40B4-BE49-F238E27FC236}">
                <a16:creationId xmlns:a16="http://schemas.microsoft.com/office/drawing/2014/main" id="{A37B33E7-A9AE-F2AF-4B52-C18D871D094B}"/>
              </a:ext>
            </a:extLst>
          </p:cNvPr>
          <p:cNvSpPr txBox="1"/>
          <p:nvPr/>
        </p:nvSpPr>
        <p:spPr>
          <a:xfrm>
            <a:off x="1098399" y="1556792"/>
            <a:ext cx="5682966" cy="2905411"/>
          </a:xfrm>
          <a:prstGeom prst="rect">
            <a:avLst/>
          </a:prstGeom>
          <a:noFill/>
        </p:spPr>
        <p:txBody>
          <a:bodyPr wrap="none" rtlCol="0">
            <a:spAutoFit/>
          </a:bodyPr>
          <a:lstStyle/>
          <a:p>
            <a:r>
              <a:rPr lang="en-US" sz="1600" dirty="0">
                <a:latin typeface="Consolas" panose="020B0609020204030204" pitchFamily="49" charset="0"/>
              </a:rPr>
              <a:t>Would you prefer Netflix or Traditional DVD</a:t>
            </a:r>
          </a:p>
          <a:p>
            <a:endParaRPr lang="en-IN" sz="1600" dirty="0">
              <a:latin typeface="Consolas" panose="020B0609020204030204" pitchFamily="49" charset="0"/>
            </a:endParaRPr>
          </a:p>
          <a:p>
            <a:r>
              <a:rPr lang="en-IN" sz="1600" dirty="0">
                <a:latin typeface="Consolas" panose="020B0609020204030204" pitchFamily="49" charset="0"/>
              </a:rPr>
              <a:t>Option A - DVD:</a:t>
            </a:r>
          </a:p>
          <a:p>
            <a:r>
              <a:rPr lang="en-US" sz="1600" dirty="0">
                <a:latin typeface="Consolas" panose="020B0609020204030204" pitchFamily="49" charset="0"/>
              </a:rPr>
              <a:t>Watch one movie every six months</a:t>
            </a:r>
          </a:p>
          <a:p>
            <a:endParaRPr lang="en-IN" sz="1600" dirty="0">
              <a:latin typeface="Consolas" panose="020B0609020204030204" pitchFamily="49" charset="0"/>
            </a:endParaRPr>
          </a:p>
          <a:p>
            <a:r>
              <a:rPr lang="en-IN" sz="1600" dirty="0">
                <a:latin typeface="Consolas" panose="020B0609020204030204" pitchFamily="49" charset="0"/>
              </a:rPr>
              <a:t>Option B - Netflix:</a:t>
            </a:r>
          </a:p>
          <a:p>
            <a:r>
              <a:rPr lang="en-US" sz="1600" dirty="0">
                <a:latin typeface="Consolas" panose="020B0609020204030204" pitchFamily="49" charset="0"/>
              </a:rPr>
              <a:t>Watch new movies every week</a:t>
            </a:r>
          </a:p>
          <a:p>
            <a:endParaRPr lang="en-US" sz="1600" dirty="0">
              <a:latin typeface="Consolas" panose="020B0609020204030204" pitchFamily="49" charset="0"/>
            </a:endParaRPr>
          </a:p>
          <a:p>
            <a:r>
              <a:rPr lang="en-US" sz="1600" dirty="0">
                <a:latin typeface="Consolas" panose="020B0609020204030204" pitchFamily="49" charset="0"/>
              </a:rPr>
              <a:t>Imagine Google Maps update road information only </a:t>
            </a:r>
          </a:p>
          <a:p>
            <a:r>
              <a:rPr lang="en-US" sz="1600" dirty="0">
                <a:latin typeface="Consolas" panose="020B0609020204030204" pitchFamily="49" charset="0"/>
              </a:rPr>
              <a:t>once every year. Would you trust it?</a:t>
            </a:r>
          </a:p>
          <a:p>
            <a:pPr>
              <a:lnSpc>
                <a:spcPct val="95000"/>
              </a:lnSpc>
            </a:pPr>
            <a:endParaRPr lang="en-IN" dirty="0"/>
          </a:p>
        </p:txBody>
      </p:sp>
      <p:sp>
        <p:nvSpPr>
          <p:cNvPr id="7" name="TextBox 6">
            <a:extLst>
              <a:ext uri="{FF2B5EF4-FFF2-40B4-BE49-F238E27FC236}">
                <a16:creationId xmlns:a16="http://schemas.microsoft.com/office/drawing/2014/main" id="{6D7E06C3-E3C2-8092-1BD6-20A703E5689C}"/>
              </a:ext>
            </a:extLst>
          </p:cNvPr>
          <p:cNvSpPr txBox="1"/>
          <p:nvPr/>
        </p:nvSpPr>
        <p:spPr>
          <a:xfrm>
            <a:off x="7606580" y="1556792"/>
            <a:ext cx="4028123" cy="2431435"/>
          </a:xfrm>
          <a:prstGeom prst="rect">
            <a:avLst/>
          </a:prstGeom>
          <a:noFill/>
        </p:spPr>
        <p:txBody>
          <a:bodyPr wrap="square" rtlCol="0">
            <a:spAutoFit/>
          </a:bodyPr>
          <a:lstStyle>
            <a:defPPr>
              <a:defRPr lang="en-US"/>
            </a:defPPr>
            <a:lvl1pPr>
              <a:lnSpc>
                <a:spcPct val="95000"/>
              </a:lnSpc>
              <a:defRPr sz="2000" b="1">
                <a:solidFill>
                  <a:srgbClr val="7030A0"/>
                </a:solidFill>
              </a:defRPr>
            </a:lvl1pPr>
          </a:lstStyle>
          <a:p>
            <a:r>
              <a:rPr lang="en-IN" dirty="0"/>
              <a:t>Why?</a:t>
            </a:r>
          </a:p>
          <a:p>
            <a:endParaRPr lang="en-IN" dirty="0"/>
          </a:p>
          <a:p>
            <a:pPr marL="342900" indent="-342900">
              <a:buFont typeface="Arial" panose="020B0604020202020204" pitchFamily="34" charset="0"/>
              <a:buChar char="•"/>
            </a:pPr>
            <a:r>
              <a:rPr lang="en-IN" dirty="0"/>
              <a:t>Roads change every day</a:t>
            </a:r>
          </a:p>
          <a:p>
            <a:pPr marL="342900" indent="-342900">
              <a:buFont typeface="Arial" panose="020B0604020202020204" pitchFamily="34" charset="0"/>
              <a:buChar char="•"/>
            </a:pPr>
            <a:r>
              <a:rPr lang="en-IN" dirty="0"/>
              <a:t>Traffic changes every minute</a:t>
            </a:r>
          </a:p>
          <a:p>
            <a:pPr marL="342900" indent="-342900">
              <a:buFont typeface="Arial" panose="020B0604020202020204" pitchFamily="34" charset="0"/>
              <a:buChar char="•"/>
            </a:pPr>
            <a:r>
              <a:rPr lang="en-IN" dirty="0"/>
              <a:t>Software should evolve continuously</a:t>
            </a:r>
          </a:p>
          <a:p>
            <a:endParaRPr lang="en-IN" dirty="0"/>
          </a:p>
        </p:txBody>
      </p:sp>
      <p:sp>
        <p:nvSpPr>
          <p:cNvPr id="8" name="TextBox 7">
            <a:extLst>
              <a:ext uri="{FF2B5EF4-FFF2-40B4-BE49-F238E27FC236}">
                <a16:creationId xmlns:a16="http://schemas.microsoft.com/office/drawing/2014/main" id="{950F03BB-774E-81D2-BB9D-075786C2CCB4}"/>
              </a:ext>
            </a:extLst>
          </p:cNvPr>
          <p:cNvSpPr txBox="1"/>
          <p:nvPr/>
        </p:nvSpPr>
        <p:spPr>
          <a:xfrm>
            <a:off x="1098399" y="4553311"/>
            <a:ext cx="10004787" cy="1495794"/>
          </a:xfrm>
          <a:prstGeom prst="rect">
            <a:avLst/>
          </a:prstGeom>
          <a:noFill/>
        </p:spPr>
        <p:txBody>
          <a:bodyPr wrap="square" rtlCol="0">
            <a:spAutoFit/>
          </a:bodyPr>
          <a:lstStyle>
            <a:defPPr>
              <a:defRPr lang="en-US"/>
            </a:defPPr>
            <a:lvl1pPr>
              <a:lnSpc>
                <a:spcPct val="95000"/>
              </a:lnSpc>
              <a:defRPr b="1">
                <a:solidFill>
                  <a:srgbClr val="FF0000"/>
                </a:solidFill>
              </a:defRPr>
            </a:lvl1pPr>
          </a:lstStyle>
          <a:p>
            <a:r>
              <a:rPr lang="en-IN" dirty="0"/>
              <a:t>Traditional models assume: Requirements stay fixed</a:t>
            </a:r>
          </a:p>
          <a:p>
            <a:r>
              <a:rPr lang="en-US" dirty="0"/>
              <a:t>Reality says: Requirements change continuously</a:t>
            </a:r>
          </a:p>
          <a:p>
            <a:r>
              <a:rPr lang="en-IN" dirty="0"/>
              <a:t>Hence, Agile was born</a:t>
            </a:r>
          </a:p>
          <a:p>
            <a:endParaRPr lang="en-IN" dirty="0"/>
          </a:p>
        </p:txBody>
      </p:sp>
    </p:spTree>
    <p:extLst>
      <p:ext uri="{BB962C8B-B14F-4D97-AF65-F5344CB8AC3E}">
        <p14:creationId xmlns:p14="http://schemas.microsoft.com/office/powerpoint/2010/main" val="3080733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1000"/>
                                        <p:tgtEl>
                                          <p:spTgt spid="7"/>
                                        </p:tgtEl>
                                      </p:cBhvr>
                                    </p:animEffect>
                                    <p:anim calcmode="lin" valueType="num">
                                      <p:cBhvr>
                                        <p:cTn id="26" dur="1000" fill="hold"/>
                                        <p:tgtEl>
                                          <p:spTgt spid="7"/>
                                        </p:tgtEl>
                                        <p:attrNameLst>
                                          <p:attrName>ppt_x</p:attrName>
                                        </p:attrNameLst>
                                      </p:cBhvr>
                                      <p:tavLst>
                                        <p:tav tm="0">
                                          <p:val>
                                            <p:strVal val="#ppt_x"/>
                                          </p:val>
                                        </p:tav>
                                        <p:tav tm="100000">
                                          <p:val>
                                            <p:strVal val="#ppt_x"/>
                                          </p:val>
                                        </p:tav>
                                      </p:tavLst>
                                    </p:anim>
                                    <p:anim calcmode="lin" valueType="num">
                                      <p:cBhvr>
                                        <p:cTn id="2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barn(inVertical)">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a:extLst>
              <a:ext uri="{FF2B5EF4-FFF2-40B4-BE49-F238E27FC236}">
                <a16:creationId xmlns:a16="http://schemas.microsoft.com/office/drawing/2014/main" id="{D1ECF70B-A8E7-BB9F-9DF7-C10E6600D5A7}"/>
              </a:ext>
            </a:extLst>
          </p:cNvPr>
          <p:cNvSpPr>
            <a:spLocks noGrp="1"/>
          </p:cNvSpPr>
          <p:nvPr>
            <p:ph type="title"/>
          </p:nvPr>
        </p:nvSpPr>
        <p:spPr>
          <a:xfrm>
            <a:off x="1117309" y="76200"/>
            <a:ext cx="10157354" cy="832520"/>
          </a:xfrm>
        </p:spPr>
        <p:txBody>
          <a:bodyPr>
            <a:normAutofit/>
          </a:bodyPr>
          <a:lstStyle/>
          <a:p>
            <a:r>
              <a:rPr lang="en-IN" b="1" i="0" dirty="0">
                <a:effectLst/>
                <a:latin typeface="inherit"/>
              </a:rPr>
              <a:t>SDLC Process Models</a:t>
            </a:r>
            <a:endParaRPr lang="en-IN" dirty="0"/>
          </a:p>
        </p:txBody>
      </p:sp>
      <p:sp>
        <p:nvSpPr>
          <p:cNvPr id="5" name="TextBox 4">
            <a:extLst>
              <a:ext uri="{FF2B5EF4-FFF2-40B4-BE49-F238E27FC236}">
                <a16:creationId xmlns:a16="http://schemas.microsoft.com/office/drawing/2014/main" id="{95F10CEC-89DE-7DE1-D2A7-A81C17EABCE5}"/>
              </a:ext>
            </a:extLst>
          </p:cNvPr>
          <p:cNvSpPr txBox="1"/>
          <p:nvPr/>
        </p:nvSpPr>
        <p:spPr>
          <a:xfrm>
            <a:off x="1111326" y="1052736"/>
            <a:ext cx="9663606" cy="3170099"/>
          </a:xfrm>
          <a:prstGeom prst="rect">
            <a:avLst/>
          </a:prstGeom>
          <a:noFill/>
        </p:spPr>
        <p:txBody>
          <a:bodyPr wrap="square" rtlCol="0">
            <a:spAutoFit/>
          </a:bodyPr>
          <a:lstStyle>
            <a:defPPr>
              <a:defRPr lang="en-US"/>
            </a:defPPr>
            <a:lvl1pPr fontAlgn="base">
              <a:defRPr sz="2000" b="1" i="0">
                <a:effectLst/>
                <a:latin typeface="inherit"/>
              </a:defRPr>
            </a:lvl1pPr>
          </a:lstStyle>
          <a:p>
            <a:r>
              <a:rPr lang="en-IN" dirty="0"/>
              <a:t>Model 5: Agile Process Model </a:t>
            </a:r>
          </a:p>
          <a:p>
            <a:endParaRPr lang="en-IN" dirty="0"/>
          </a:p>
          <a:p>
            <a:r>
              <a:rPr lang="en-IN" dirty="0"/>
              <a:t>Concept: </a:t>
            </a:r>
            <a:r>
              <a:rPr lang="en-IN" b="0" dirty="0"/>
              <a:t>Values working software over documentation, customer collaboration over contracts, responding to change over following a plan.</a:t>
            </a:r>
          </a:p>
          <a:p>
            <a:endParaRPr lang="en-IN" b="0" dirty="0"/>
          </a:p>
          <a:p>
            <a:r>
              <a:rPr lang="en-IN" dirty="0"/>
              <a:t>Manifesto (2001): </a:t>
            </a:r>
            <a:r>
              <a:rPr lang="en-IN" b="0" dirty="0"/>
              <a:t>17 developers at Snowbird, Utah ski resort created the Agile Manifesto. Yes, they were literally skiing between sessions</a:t>
            </a:r>
            <a:r>
              <a:rPr lang="en-IN" dirty="0"/>
              <a:t>.</a:t>
            </a:r>
          </a:p>
          <a:p>
            <a:endParaRPr lang="en-IN" dirty="0"/>
          </a:p>
          <a:p>
            <a:r>
              <a:rPr lang="en-IN" dirty="0"/>
              <a:t>Pressman Context: </a:t>
            </a:r>
            <a:r>
              <a:rPr lang="en-IN" b="0" dirty="0"/>
              <a:t>Scrum, XP, Kanban are implementations. Best for dynamic requirements</a:t>
            </a:r>
          </a:p>
          <a:p>
            <a:endParaRPr lang="en-IN" dirty="0"/>
          </a:p>
        </p:txBody>
      </p:sp>
      <p:sp>
        <p:nvSpPr>
          <p:cNvPr id="6" name="TextBox 5">
            <a:extLst>
              <a:ext uri="{FF2B5EF4-FFF2-40B4-BE49-F238E27FC236}">
                <a16:creationId xmlns:a16="http://schemas.microsoft.com/office/drawing/2014/main" id="{06C3EB41-7E8A-C807-C799-00C0C1A2AB6F}"/>
              </a:ext>
            </a:extLst>
          </p:cNvPr>
          <p:cNvSpPr txBox="1"/>
          <p:nvPr/>
        </p:nvSpPr>
        <p:spPr>
          <a:xfrm>
            <a:off x="830561" y="4222835"/>
            <a:ext cx="10527702" cy="1828193"/>
          </a:xfrm>
          <a:prstGeom prst="rect">
            <a:avLst/>
          </a:prstGeom>
          <a:noFill/>
        </p:spPr>
        <p:txBody>
          <a:bodyPr wrap="square" rtlCol="0">
            <a:spAutoFit/>
          </a:bodyPr>
          <a:lstStyle>
            <a:defPPr>
              <a:defRPr lang="en-US"/>
            </a:defPPr>
            <a:lvl1pPr>
              <a:defRPr sz="2200" b="1">
                <a:solidFill>
                  <a:srgbClr val="FF0000"/>
                </a:solidFill>
                <a:latin typeface="inherit"/>
              </a:defRPr>
            </a:lvl1pPr>
          </a:lstStyle>
          <a:p>
            <a:r>
              <a:rPr lang="en-US" dirty="0"/>
              <a:t>According to Roger Pressman (6th Edition)</a:t>
            </a:r>
          </a:p>
          <a:p>
            <a:r>
              <a:rPr lang="en-US" dirty="0"/>
              <a:t>"Agile software engineering combines a philosophy and a set of development guidelines. The philosophy encourages customer satisfaction and early incremental delivery of software, small highly motivated project teams, informal methods, minimal software engineering work products, and overall development simplicity."</a:t>
            </a:r>
          </a:p>
          <a:p>
            <a:endParaRPr lang="en-IN" dirty="0"/>
          </a:p>
        </p:txBody>
      </p:sp>
    </p:spTree>
    <p:extLst>
      <p:ext uri="{BB962C8B-B14F-4D97-AF65-F5344CB8AC3E}">
        <p14:creationId xmlns:p14="http://schemas.microsoft.com/office/powerpoint/2010/main" val="186768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barn(inVertical)">
                                      <p:cBhvr>
                                        <p:cTn id="2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Agile Model">
            <a:extLst>
              <a:ext uri="{FF2B5EF4-FFF2-40B4-BE49-F238E27FC236}">
                <a16:creationId xmlns:a16="http://schemas.microsoft.com/office/drawing/2014/main" id="{E2F4DFF5-1892-A89D-F8A5-34BB442645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0674" y="296652"/>
            <a:ext cx="4620002" cy="64497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6246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386"/>
                                        </p:tgtEl>
                                        <p:attrNameLst>
                                          <p:attrName>style.visibility</p:attrName>
                                        </p:attrNameLst>
                                      </p:cBhvr>
                                      <p:to>
                                        <p:strVal val="visible"/>
                                      </p:to>
                                    </p:set>
                                    <p:anim calcmode="lin" valueType="num">
                                      <p:cBhvr additive="base">
                                        <p:cTn id="7" dur="500" fill="hold"/>
                                        <p:tgtEl>
                                          <p:spTgt spid="16386"/>
                                        </p:tgtEl>
                                        <p:attrNameLst>
                                          <p:attrName>ppt_x</p:attrName>
                                        </p:attrNameLst>
                                      </p:cBhvr>
                                      <p:tavLst>
                                        <p:tav tm="0">
                                          <p:val>
                                            <p:strVal val="#ppt_x"/>
                                          </p:val>
                                        </p:tav>
                                        <p:tav tm="100000">
                                          <p:val>
                                            <p:strVal val="#ppt_x"/>
                                          </p:val>
                                        </p:tav>
                                      </p:tavLst>
                                    </p:anim>
                                    <p:anim calcmode="lin" valueType="num">
                                      <p:cBhvr additive="base">
                                        <p:cTn id="8" dur="500" fill="hold"/>
                                        <p:tgtEl>
                                          <p:spTgt spid="163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a:extLst>
              <a:ext uri="{FF2B5EF4-FFF2-40B4-BE49-F238E27FC236}">
                <a16:creationId xmlns:a16="http://schemas.microsoft.com/office/drawing/2014/main" id="{9799B0A4-D4C1-E64F-1B54-8A3536BBB1A0}"/>
              </a:ext>
            </a:extLst>
          </p:cNvPr>
          <p:cNvSpPr>
            <a:spLocks noGrp="1"/>
          </p:cNvSpPr>
          <p:nvPr>
            <p:ph type="title"/>
          </p:nvPr>
        </p:nvSpPr>
        <p:spPr>
          <a:xfrm>
            <a:off x="1117309" y="76200"/>
            <a:ext cx="10157354" cy="832520"/>
          </a:xfrm>
        </p:spPr>
        <p:txBody>
          <a:bodyPr>
            <a:normAutofit/>
          </a:bodyPr>
          <a:lstStyle/>
          <a:p>
            <a:r>
              <a:rPr lang="en-IN" b="1" i="0" dirty="0">
                <a:effectLst/>
                <a:latin typeface="inherit"/>
              </a:rPr>
              <a:t>SDLC Process Models</a:t>
            </a:r>
            <a:endParaRPr lang="en-IN" dirty="0"/>
          </a:p>
        </p:txBody>
      </p:sp>
      <p:sp>
        <p:nvSpPr>
          <p:cNvPr id="5" name="TextBox 4">
            <a:extLst>
              <a:ext uri="{FF2B5EF4-FFF2-40B4-BE49-F238E27FC236}">
                <a16:creationId xmlns:a16="http://schemas.microsoft.com/office/drawing/2014/main" id="{967E1D99-F542-28A7-F824-41B3D1EA3664}"/>
              </a:ext>
            </a:extLst>
          </p:cNvPr>
          <p:cNvSpPr txBox="1"/>
          <p:nvPr/>
        </p:nvSpPr>
        <p:spPr>
          <a:xfrm>
            <a:off x="1117309" y="1052736"/>
            <a:ext cx="6332183" cy="443198"/>
          </a:xfrm>
          <a:prstGeom prst="rect">
            <a:avLst/>
          </a:prstGeom>
          <a:noFill/>
        </p:spPr>
        <p:txBody>
          <a:bodyPr wrap="none" rtlCol="0">
            <a:spAutoFit/>
          </a:bodyPr>
          <a:lstStyle/>
          <a:p>
            <a:pPr>
              <a:lnSpc>
                <a:spcPct val="95000"/>
              </a:lnSpc>
            </a:pPr>
            <a:r>
              <a:rPr lang="en-US" b="1" i="0" dirty="0">
                <a:effectLst/>
                <a:latin typeface="inherit"/>
              </a:rPr>
              <a:t>Model 6: </a:t>
            </a:r>
            <a:r>
              <a:rPr lang="en-IN" b="1" dirty="0"/>
              <a:t>Component-Based Development</a:t>
            </a:r>
          </a:p>
        </p:txBody>
      </p:sp>
      <p:sp>
        <p:nvSpPr>
          <p:cNvPr id="6" name="TextBox 5">
            <a:extLst>
              <a:ext uri="{FF2B5EF4-FFF2-40B4-BE49-F238E27FC236}">
                <a16:creationId xmlns:a16="http://schemas.microsoft.com/office/drawing/2014/main" id="{E48F7FEA-581B-C654-B70A-B2396AAD7CA0}"/>
              </a:ext>
            </a:extLst>
          </p:cNvPr>
          <p:cNvSpPr txBox="1"/>
          <p:nvPr/>
        </p:nvSpPr>
        <p:spPr>
          <a:xfrm>
            <a:off x="1082523" y="1649280"/>
            <a:ext cx="5587954" cy="2308324"/>
          </a:xfrm>
          <a:prstGeom prst="rect">
            <a:avLst/>
          </a:prstGeom>
          <a:noFill/>
        </p:spPr>
        <p:txBody>
          <a:bodyPr wrap="square" rtlCol="0">
            <a:spAutoFit/>
          </a:bodyPr>
          <a:lstStyle>
            <a:defPPr>
              <a:defRPr lang="en-US"/>
            </a:defPPr>
            <a:lvl1pPr>
              <a:defRPr sz="1600">
                <a:latin typeface="Consolas" panose="020B0609020204030204" pitchFamily="49" charset="0"/>
              </a:defRPr>
            </a:lvl1pPr>
          </a:lstStyle>
          <a:p>
            <a:r>
              <a:rPr lang="en-US" dirty="0"/>
              <a:t>When you build a LEGO car, do you manufacture each LEGO brick?</a:t>
            </a:r>
          </a:p>
          <a:p>
            <a:endParaRPr lang="en-IN" dirty="0"/>
          </a:p>
          <a:p>
            <a:r>
              <a:rPr lang="en-IN" dirty="0"/>
              <a:t>You simply</a:t>
            </a:r>
          </a:p>
          <a:p>
            <a:endParaRPr lang="en-IN" dirty="0"/>
          </a:p>
          <a:p>
            <a:pPr marL="285750" indent="-285750">
              <a:buFont typeface="Arial" panose="020B0604020202020204" pitchFamily="34" charset="0"/>
              <a:buChar char="•"/>
            </a:pPr>
            <a:r>
              <a:rPr lang="en-IN" dirty="0"/>
              <a:t>Pick existing blocks</a:t>
            </a:r>
          </a:p>
          <a:p>
            <a:pPr marL="285750" indent="-285750">
              <a:buFont typeface="Arial" panose="020B0604020202020204" pitchFamily="34" charset="0"/>
              <a:buChar char="•"/>
            </a:pPr>
            <a:r>
              <a:rPr lang="en-IN" dirty="0"/>
              <a:t>Assemble them</a:t>
            </a:r>
          </a:p>
          <a:p>
            <a:pPr marL="285750" indent="-285750">
              <a:buFont typeface="Arial" panose="020B0604020202020204" pitchFamily="34" charset="0"/>
              <a:buChar char="•"/>
            </a:pPr>
            <a:r>
              <a:rPr lang="en-IN" dirty="0"/>
              <a:t>Build something new</a:t>
            </a:r>
          </a:p>
          <a:p>
            <a:endParaRPr lang="en-IN" dirty="0"/>
          </a:p>
        </p:txBody>
      </p:sp>
      <p:sp>
        <p:nvSpPr>
          <p:cNvPr id="7" name="TextBox 6">
            <a:extLst>
              <a:ext uri="{FF2B5EF4-FFF2-40B4-BE49-F238E27FC236}">
                <a16:creationId xmlns:a16="http://schemas.microsoft.com/office/drawing/2014/main" id="{CDC24841-F518-7F9E-2F02-C8781232EF4B}"/>
              </a:ext>
            </a:extLst>
          </p:cNvPr>
          <p:cNvSpPr txBox="1"/>
          <p:nvPr/>
        </p:nvSpPr>
        <p:spPr>
          <a:xfrm>
            <a:off x="1485900" y="4765522"/>
            <a:ext cx="8462573" cy="443198"/>
          </a:xfrm>
          <a:prstGeom prst="rect">
            <a:avLst/>
          </a:prstGeom>
          <a:noFill/>
        </p:spPr>
        <p:txBody>
          <a:bodyPr wrap="square" rtlCol="0">
            <a:spAutoFit/>
          </a:bodyPr>
          <a:lstStyle>
            <a:defPPr>
              <a:defRPr lang="en-US"/>
            </a:defPPr>
            <a:lvl1pPr>
              <a:lnSpc>
                <a:spcPct val="95000"/>
              </a:lnSpc>
              <a:defRPr b="1">
                <a:solidFill>
                  <a:srgbClr val="FF0000"/>
                </a:solidFill>
              </a:defRPr>
            </a:lvl1pPr>
          </a:lstStyle>
          <a:p>
            <a:r>
              <a:rPr lang="en-US" dirty="0"/>
              <a:t>Software development can work exactly the same way</a:t>
            </a:r>
            <a:endParaRPr lang="en-IN" dirty="0"/>
          </a:p>
        </p:txBody>
      </p:sp>
      <p:sp>
        <p:nvSpPr>
          <p:cNvPr id="8" name="TextBox 7">
            <a:extLst>
              <a:ext uri="{FF2B5EF4-FFF2-40B4-BE49-F238E27FC236}">
                <a16:creationId xmlns:a16="http://schemas.microsoft.com/office/drawing/2014/main" id="{D40EE0E4-50A2-7FC4-132E-0101631C69AC}"/>
              </a:ext>
            </a:extLst>
          </p:cNvPr>
          <p:cNvSpPr txBox="1"/>
          <p:nvPr/>
        </p:nvSpPr>
        <p:spPr>
          <a:xfrm>
            <a:off x="7119193" y="1716638"/>
            <a:ext cx="3985386" cy="2431435"/>
          </a:xfrm>
          <a:prstGeom prst="rect">
            <a:avLst/>
          </a:prstGeom>
          <a:noFill/>
        </p:spPr>
        <p:txBody>
          <a:bodyPr wrap="square" rtlCol="0">
            <a:spAutoFit/>
          </a:bodyPr>
          <a:lstStyle>
            <a:defPPr>
              <a:defRPr lang="en-US"/>
            </a:defPPr>
            <a:lvl1pPr>
              <a:lnSpc>
                <a:spcPct val="95000"/>
              </a:lnSpc>
              <a:defRPr sz="2000" b="1">
                <a:solidFill>
                  <a:srgbClr val="7030A0"/>
                </a:solidFill>
              </a:defRPr>
            </a:lvl1pPr>
          </a:lstStyle>
          <a:p>
            <a:r>
              <a:rPr lang="en-US" dirty="0"/>
              <a:t>Instead of creating everything,</a:t>
            </a:r>
          </a:p>
          <a:p>
            <a:r>
              <a:rPr lang="en-US" dirty="0"/>
              <a:t>Developers Reuse:</a:t>
            </a:r>
          </a:p>
          <a:p>
            <a:pPr marL="342900" indent="-342900">
              <a:buFont typeface="Arial" panose="020B0604020202020204" pitchFamily="34" charset="0"/>
              <a:buChar char="•"/>
            </a:pPr>
            <a:r>
              <a:rPr lang="en-US" dirty="0"/>
              <a:t>Login Module </a:t>
            </a:r>
          </a:p>
          <a:p>
            <a:pPr marL="342900" indent="-342900">
              <a:buFont typeface="Arial" panose="020B0604020202020204" pitchFamily="34" charset="0"/>
              <a:buChar char="•"/>
            </a:pPr>
            <a:r>
              <a:rPr lang="en-US" dirty="0"/>
              <a:t>Payment Module </a:t>
            </a:r>
          </a:p>
          <a:p>
            <a:pPr marL="342900" indent="-342900">
              <a:buFont typeface="Arial" panose="020B0604020202020204" pitchFamily="34" charset="0"/>
              <a:buChar char="•"/>
            </a:pPr>
            <a:r>
              <a:rPr lang="en-US" dirty="0"/>
              <a:t>Notification Service </a:t>
            </a:r>
          </a:p>
          <a:p>
            <a:pPr marL="342900" indent="-342900">
              <a:buFont typeface="Arial" panose="020B0604020202020204" pitchFamily="34" charset="0"/>
              <a:buChar char="•"/>
            </a:pPr>
            <a:r>
              <a:rPr lang="en-US" dirty="0"/>
              <a:t>Authentication </a:t>
            </a:r>
          </a:p>
          <a:p>
            <a:pPr marL="342900" indent="-342900">
              <a:buFont typeface="Arial" panose="020B0604020202020204" pitchFamily="34" charset="0"/>
              <a:buChar char="•"/>
            </a:pPr>
            <a:r>
              <a:rPr lang="en-US" dirty="0"/>
              <a:t>Database Libraries</a:t>
            </a:r>
          </a:p>
          <a:p>
            <a:endParaRPr lang="en-IN" dirty="0"/>
          </a:p>
        </p:txBody>
      </p:sp>
    </p:spTree>
    <p:extLst>
      <p:ext uri="{BB962C8B-B14F-4D97-AF65-F5344CB8AC3E}">
        <p14:creationId xmlns:p14="http://schemas.microsoft.com/office/powerpoint/2010/main" val="2129905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barn(inVertical)">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1000"/>
                                        <p:tgtEl>
                                          <p:spTgt spid="8"/>
                                        </p:tgtEl>
                                      </p:cBhvr>
                                    </p:animEffect>
                                    <p:anim calcmode="lin" valueType="num">
                                      <p:cBhvr>
                                        <p:cTn id="32" dur="1000" fill="hold"/>
                                        <p:tgtEl>
                                          <p:spTgt spid="8"/>
                                        </p:tgtEl>
                                        <p:attrNameLst>
                                          <p:attrName>ppt_x</p:attrName>
                                        </p:attrNameLst>
                                      </p:cBhvr>
                                      <p:tavLst>
                                        <p:tav tm="0">
                                          <p:val>
                                            <p:strVal val="#ppt_x"/>
                                          </p:val>
                                        </p:tav>
                                        <p:tav tm="100000">
                                          <p:val>
                                            <p:strVal val="#ppt_x"/>
                                          </p:val>
                                        </p:tav>
                                      </p:tavLst>
                                    </p:anim>
                                    <p:anim calcmode="lin" valueType="num">
                                      <p:cBhvr>
                                        <p:cTn id="3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a:extLst>
              <a:ext uri="{FF2B5EF4-FFF2-40B4-BE49-F238E27FC236}">
                <a16:creationId xmlns:a16="http://schemas.microsoft.com/office/drawing/2014/main" id="{289648DF-76BE-E775-6B51-E942971B6282}"/>
              </a:ext>
            </a:extLst>
          </p:cNvPr>
          <p:cNvSpPr>
            <a:spLocks noGrp="1"/>
          </p:cNvSpPr>
          <p:nvPr>
            <p:ph type="title"/>
          </p:nvPr>
        </p:nvSpPr>
        <p:spPr>
          <a:xfrm>
            <a:off x="1117309" y="76200"/>
            <a:ext cx="10157354" cy="832520"/>
          </a:xfrm>
        </p:spPr>
        <p:txBody>
          <a:bodyPr>
            <a:normAutofit/>
          </a:bodyPr>
          <a:lstStyle/>
          <a:p>
            <a:r>
              <a:rPr lang="en-IN" b="1" i="0" dirty="0">
                <a:effectLst/>
                <a:latin typeface="inherit"/>
              </a:rPr>
              <a:t>SDLC Process Models</a:t>
            </a:r>
            <a:endParaRPr lang="en-IN" dirty="0"/>
          </a:p>
        </p:txBody>
      </p:sp>
      <p:sp>
        <p:nvSpPr>
          <p:cNvPr id="5" name="TextBox 4">
            <a:extLst>
              <a:ext uri="{FF2B5EF4-FFF2-40B4-BE49-F238E27FC236}">
                <a16:creationId xmlns:a16="http://schemas.microsoft.com/office/drawing/2014/main" id="{CF8D13FE-87E4-633A-4E0C-99F5CADC14E1}"/>
              </a:ext>
            </a:extLst>
          </p:cNvPr>
          <p:cNvSpPr txBox="1"/>
          <p:nvPr/>
        </p:nvSpPr>
        <p:spPr>
          <a:xfrm>
            <a:off x="1197868" y="1340768"/>
            <a:ext cx="9361040" cy="2246769"/>
          </a:xfrm>
          <a:prstGeom prst="rect">
            <a:avLst/>
          </a:prstGeom>
          <a:noFill/>
        </p:spPr>
        <p:txBody>
          <a:bodyPr wrap="square" rtlCol="0">
            <a:spAutoFit/>
          </a:bodyPr>
          <a:lstStyle>
            <a:defPPr>
              <a:defRPr lang="en-US"/>
            </a:defPPr>
            <a:lvl1pPr fontAlgn="base">
              <a:defRPr sz="2000" b="1" i="0">
                <a:effectLst/>
                <a:latin typeface="inherit"/>
              </a:defRPr>
            </a:lvl1pPr>
          </a:lstStyle>
          <a:p>
            <a:r>
              <a:rPr lang="en-US" dirty="0"/>
              <a:t>Model 6: Component-Based Development </a:t>
            </a:r>
          </a:p>
          <a:p>
            <a:endParaRPr lang="en-US" dirty="0"/>
          </a:p>
          <a:p>
            <a:r>
              <a:rPr lang="en-US" dirty="0"/>
              <a:t>Concept: </a:t>
            </a:r>
            <a:r>
              <a:rPr lang="en-US" b="0" dirty="0"/>
              <a:t>Assemble systems from pre-built, reusable components (like LEGO blocks, python libraries)</a:t>
            </a:r>
          </a:p>
          <a:p>
            <a:endParaRPr lang="en-US" dirty="0"/>
          </a:p>
          <a:p>
            <a:r>
              <a:rPr lang="en-US" dirty="0"/>
              <a:t>Pressman Context: </a:t>
            </a:r>
            <a:r>
              <a:rPr lang="en-US" b="0" dirty="0"/>
              <a:t>Requires robust component libraries and interface standards</a:t>
            </a:r>
          </a:p>
          <a:p>
            <a:endParaRPr lang="en-IN" dirty="0"/>
          </a:p>
        </p:txBody>
      </p:sp>
      <p:sp>
        <p:nvSpPr>
          <p:cNvPr id="6" name="TextBox 5">
            <a:extLst>
              <a:ext uri="{FF2B5EF4-FFF2-40B4-BE49-F238E27FC236}">
                <a16:creationId xmlns:a16="http://schemas.microsoft.com/office/drawing/2014/main" id="{B88B9C1E-9A6C-408E-BAB1-A9C473988C8F}"/>
              </a:ext>
            </a:extLst>
          </p:cNvPr>
          <p:cNvSpPr txBox="1"/>
          <p:nvPr/>
        </p:nvSpPr>
        <p:spPr>
          <a:xfrm>
            <a:off x="1169572" y="3593629"/>
            <a:ext cx="10157353" cy="1551194"/>
          </a:xfrm>
          <a:prstGeom prst="rect">
            <a:avLst/>
          </a:prstGeom>
          <a:noFill/>
        </p:spPr>
        <p:txBody>
          <a:bodyPr wrap="square" rtlCol="0">
            <a:spAutoFit/>
          </a:bodyPr>
          <a:lstStyle>
            <a:defPPr>
              <a:defRPr lang="en-US"/>
            </a:defPPr>
            <a:lvl1pPr>
              <a:defRPr sz="2200" b="1">
                <a:solidFill>
                  <a:srgbClr val="FF0000"/>
                </a:solidFill>
                <a:latin typeface="inherit"/>
              </a:defRPr>
            </a:lvl1pPr>
          </a:lstStyle>
          <a:p>
            <a:r>
              <a:rPr lang="en-US" dirty="0"/>
              <a:t>According to Roger Pressman, Software Engineering: A Practitioner's Approach (6th Edition):</a:t>
            </a:r>
          </a:p>
          <a:p>
            <a:r>
              <a:rPr lang="en-US" dirty="0"/>
              <a:t>"Component-Based Development (CBD) is an approach to software development that relies on the reuse of software components to build systems."</a:t>
            </a:r>
          </a:p>
          <a:p>
            <a:endParaRPr lang="en-IN" dirty="0"/>
          </a:p>
        </p:txBody>
      </p:sp>
    </p:spTree>
    <p:extLst>
      <p:ext uri="{BB962C8B-B14F-4D97-AF65-F5344CB8AC3E}">
        <p14:creationId xmlns:p14="http://schemas.microsoft.com/office/powerpoint/2010/main" val="4202966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Component-based software engineering - Vacuumlabs">
            <a:extLst>
              <a:ext uri="{FF2B5EF4-FFF2-40B4-BE49-F238E27FC236}">
                <a16:creationId xmlns:a16="http://schemas.microsoft.com/office/drawing/2014/main" id="{330F1552-EDB5-28CB-FE9C-6BC640CDDF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7613" y="628650"/>
            <a:ext cx="9753600" cy="5600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6339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Class open house presentatio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80000" r="-50000" b="180000"/>
          </a:path>
        </a:gradFill>
        <a:gradFill rotWithShape="1">
          <a:gsLst>
            <a:gs pos="0">
              <a:schemeClr val="phClr">
                <a:tint val="80000"/>
                <a:satMod val="300000"/>
              </a:schemeClr>
            </a:gs>
            <a:gs pos="100000">
              <a:schemeClr val="phClr">
                <a:shade val="30000"/>
                <a:satMod val="200000"/>
              </a:schemeClr>
            </a:gs>
          </a:gsLst>
          <a:path path="circle">
            <a:fillToRect l="30000" t="30000" r="70000" b="100000"/>
          </a:path>
        </a:gradFill>
      </a:bgFillStyleLst>
    </a:fmtScheme>
  </a:themeElements>
  <a:objectDefaults>
    <a:spDef>
      <a:spPr>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nSpc>
            <a:spcPct val="95000"/>
          </a:lnSpc>
          <a:defRPr/>
        </a:defPPr>
      </a:lstStyle>
    </a:txDef>
  </a:objectDefaults>
  <a:extraClrSchemeLst/>
  <a:extLst>
    <a:ext uri="{05A4C25C-085E-4340-85A3-A5531E510DB2}">
      <thm15:themeFamily xmlns:thm15="http://schemas.microsoft.com/office/thememl/2012/main" name="Classroom open house presentation.potx" id="{AB7D8AB0-4323-4322-AB21-8CB398DB9E96}" vid="{5BFEA1FF-C39F-48A2-B239-4B55565FC3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Classroom open house presentation</Template>
  <TotalTime>247</TotalTime>
  <Words>1563</Words>
  <Application>Microsoft Office PowerPoint</Application>
  <PresentationFormat>Custom</PresentationFormat>
  <Paragraphs>301</Paragraphs>
  <Slides>30</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-apple-system</vt:lpstr>
      <vt:lpstr>Arial</vt:lpstr>
      <vt:lpstr>Century Gothic</vt:lpstr>
      <vt:lpstr>Consolas</vt:lpstr>
      <vt:lpstr>inherit</vt:lpstr>
      <vt:lpstr>Class open house presentation</vt:lpstr>
      <vt:lpstr>Introduction to Software Engineering</vt:lpstr>
      <vt:lpstr>Revise</vt:lpstr>
      <vt:lpstr>PowerPoint Presentation</vt:lpstr>
      <vt:lpstr>Activity</vt:lpstr>
      <vt:lpstr>Fun Fact</vt:lpstr>
      <vt:lpstr>What is Software Engineering?</vt:lpstr>
      <vt:lpstr>What it is exactly?</vt:lpstr>
      <vt:lpstr>Summary</vt:lpstr>
      <vt:lpstr>Software Engineering Process Framework</vt:lpstr>
      <vt:lpstr>Process Framework Components</vt:lpstr>
      <vt:lpstr>Fun Fact</vt:lpstr>
      <vt:lpstr>PowerPoint Presentation</vt:lpstr>
      <vt:lpstr>SDLC Process Models</vt:lpstr>
      <vt:lpstr>SDLC Process Models</vt:lpstr>
      <vt:lpstr>PowerPoint Presentation</vt:lpstr>
      <vt:lpstr>SDLC Process Models</vt:lpstr>
      <vt:lpstr>SDLC Process Models</vt:lpstr>
      <vt:lpstr>PowerPoint Presentation</vt:lpstr>
      <vt:lpstr>SDLC Process Models</vt:lpstr>
      <vt:lpstr>SDLC Process Models</vt:lpstr>
      <vt:lpstr>PowerPoint Presentation</vt:lpstr>
      <vt:lpstr>SDLC Process Models</vt:lpstr>
      <vt:lpstr>SDLC Process Models</vt:lpstr>
      <vt:lpstr>SDLC Process Models</vt:lpstr>
      <vt:lpstr>SDLC Process Models</vt:lpstr>
      <vt:lpstr>SDLC Process Models</vt:lpstr>
      <vt:lpstr>PowerPoint Presentation</vt:lpstr>
      <vt:lpstr>SDLC Process Models</vt:lpstr>
      <vt:lpstr>SDLC Process Models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Aruna Inamdar</dc:creator>
  <cp:lastModifiedBy>Aruna Inamdar</cp:lastModifiedBy>
  <cp:revision>50</cp:revision>
  <dcterms:created xsi:type="dcterms:W3CDTF">2026-07-15T13:08:00Z</dcterms:created>
  <dcterms:modified xsi:type="dcterms:W3CDTF">2026-07-15T17:15:46Z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74062800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