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23"/>
  </p:notesMasterIdLst>
  <p:handoutMasterIdLst>
    <p:handoutMasterId r:id="rId24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7/26/2026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7/26/2026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7/26/2026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Software Engineering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56EEC-6E36-D547-EE97-428FF797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76536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Software Application Domains &amp; Categories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AB392-E41E-8334-1AAF-F44F341F5A33}"/>
              </a:ext>
            </a:extLst>
          </p:cNvPr>
          <p:cNvSpPr txBox="1"/>
          <p:nvPr/>
        </p:nvSpPr>
        <p:spPr>
          <a:xfrm>
            <a:off x="837828" y="1268760"/>
            <a:ext cx="10513168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A </a:t>
            </a:r>
            <a:r>
              <a:rPr lang="en-US" b="1" dirty="0"/>
              <a:t>software application domain</a:t>
            </a:r>
            <a:r>
              <a:rPr lang="en-US" dirty="0"/>
              <a:t> is the </a:t>
            </a:r>
            <a:r>
              <a:rPr lang="en-US" b="1" dirty="0"/>
              <a:t>area or field in which software is used to solve a specific type of problem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1C1E1-7A95-6D1A-8266-0840D332E983}"/>
              </a:ext>
            </a:extLst>
          </p:cNvPr>
          <p:cNvSpPr txBox="1"/>
          <p:nvPr/>
        </p:nvSpPr>
        <p:spPr>
          <a:xfrm>
            <a:off x="2422004" y="2287164"/>
            <a:ext cx="78013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Medical Field        → Hospital Software</a:t>
            </a:r>
          </a:p>
          <a:p>
            <a:endParaRPr lang="en-IN" dirty="0"/>
          </a:p>
          <a:p>
            <a:r>
              <a:rPr lang="en-IN" dirty="0"/>
              <a:t>Education            → College Management System</a:t>
            </a:r>
          </a:p>
          <a:p>
            <a:endParaRPr lang="en-IN" dirty="0"/>
          </a:p>
          <a:p>
            <a:r>
              <a:rPr lang="en-IN" dirty="0"/>
              <a:t>Banking              → Internet Banking</a:t>
            </a:r>
          </a:p>
          <a:p>
            <a:endParaRPr lang="en-IN" dirty="0"/>
          </a:p>
          <a:p>
            <a:r>
              <a:rPr lang="en-IN" dirty="0"/>
              <a:t>Entertainment        → Netflix</a:t>
            </a:r>
          </a:p>
          <a:p>
            <a:endParaRPr lang="en-IN" dirty="0"/>
          </a:p>
          <a:p>
            <a:r>
              <a:rPr lang="en-IN" dirty="0"/>
              <a:t>Transportation       → Google Maps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DC439-63C5-8BA6-D124-A6E8A870723E}"/>
              </a:ext>
            </a:extLst>
          </p:cNvPr>
          <p:cNvSpPr txBox="1"/>
          <p:nvPr/>
        </p:nvSpPr>
        <p:spPr>
          <a:xfrm>
            <a:off x="1917948" y="6093296"/>
            <a:ext cx="6595075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Each field is a </a:t>
            </a:r>
            <a:r>
              <a:rPr lang="en-US" b="1" dirty="0"/>
              <a:t>software application domain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46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38FA-6323-5BDE-C827-2C925276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120552"/>
          </a:xfrm>
        </p:spPr>
        <p:txBody>
          <a:bodyPr/>
          <a:lstStyle/>
          <a:p>
            <a:r>
              <a:rPr lang="en-IN" dirty="0"/>
              <a:t>1. System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3C411-2183-DC0B-6CDC-B54655799E90}"/>
              </a:ext>
            </a:extLst>
          </p:cNvPr>
          <p:cNvSpPr txBox="1"/>
          <p:nvPr/>
        </p:nvSpPr>
        <p:spPr>
          <a:xfrm>
            <a:off x="981844" y="1246458"/>
            <a:ext cx="2759089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Imagine a school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0A067-A2E0-B6AF-33A8-41FB6DF5567B}"/>
              </a:ext>
            </a:extLst>
          </p:cNvPr>
          <p:cNvSpPr txBox="1"/>
          <p:nvPr/>
        </p:nvSpPr>
        <p:spPr>
          <a:xfrm>
            <a:off x="981844" y="1803244"/>
            <a:ext cx="6309741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The </a:t>
            </a:r>
            <a:r>
              <a:rPr lang="en-US" b="1" dirty="0"/>
              <a:t>Principal</a:t>
            </a:r>
            <a:r>
              <a:rPr lang="en-US" dirty="0"/>
              <a:t> doesn't teach every subject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1D3EF-C41C-550F-FFC4-D7F7A0EDD884}"/>
              </a:ext>
            </a:extLst>
          </p:cNvPr>
          <p:cNvSpPr txBox="1"/>
          <p:nvPr/>
        </p:nvSpPr>
        <p:spPr>
          <a:xfrm>
            <a:off x="765820" y="2564904"/>
            <a:ext cx="3534942" cy="376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Instead,</a:t>
            </a:r>
          </a:p>
          <a:p>
            <a:pPr>
              <a:lnSpc>
                <a:spcPct val="150000"/>
              </a:lnSpc>
            </a:pPr>
            <a:r>
              <a:rPr lang="en-US" dirty="0"/>
              <a:t>the Principal manages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Teachers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Classrooms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Timetable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Resources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9D7F2-9761-9C36-3684-F9ADB080E11D}"/>
              </a:ext>
            </a:extLst>
          </p:cNvPr>
          <p:cNvSpPr txBox="1"/>
          <p:nvPr/>
        </p:nvSpPr>
        <p:spPr>
          <a:xfrm>
            <a:off x="4510236" y="2564904"/>
            <a:ext cx="4126451" cy="376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Similarly,</a:t>
            </a:r>
          </a:p>
          <a:p>
            <a:pPr>
              <a:lnSpc>
                <a:spcPct val="150000"/>
              </a:lnSpc>
            </a:pPr>
            <a:r>
              <a:rPr lang="en-US" dirty="0"/>
              <a:t>System Software manages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Memory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CPU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Devices 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12D58-0FFF-BDA3-C0BF-70B35B927F34}"/>
              </a:ext>
            </a:extLst>
          </p:cNvPr>
          <p:cNvSpPr txBox="1"/>
          <p:nvPr/>
        </p:nvSpPr>
        <p:spPr>
          <a:xfrm>
            <a:off x="8846161" y="2391268"/>
            <a:ext cx="3528392" cy="4690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Windows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Linux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macOS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Android 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Device Drivers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Compiler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File Manager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34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EB1E-A7CB-715D-D89B-6870332D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2. Application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F9E62-E6A6-A779-5B42-FBE4C9F464A8}"/>
              </a:ext>
            </a:extLst>
          </p:cNvPr>
          <p:cNvSpPr txBox="1"/>
          <p:nvPr/>
        </p:nvSpPr>
        <p:spPr>
          <a:xfrm>
            <a:off x="1117309" y="1124744"/>
            <a:ext cx="8247771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Application software helps users perform specific tasks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08540-D3F5-C39C-B348-81D8188B4F66}"/>
              </a:ext>
            </a:extLst>
          </p:cNvPr>
          <p:cNvSpPr txBox="1"/>
          <p:nvPr/>
        </p:nvSpPr>
        <p:spPr>
          <a:xfrm>
            <a:off x="981844" y="1988840"/>
            <a:ext cx="6179897" cy="321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System Software is like the </a:t>
            </a:r>
            <a:r>
              <a:rPr lang="en-US" b="1" dirty="0"/>
              <a:t>road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Application Software is like the </a:t>
            </a:r>
            <a:r>
              <a:rPr lang="en-US" b="1" dirty="0"/>
              <a:t>car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The road helps the car move.</a:t>
            </a:r>
          </a:p>
          <a:p>
            <a:pPr>
              <a:lnSpc>
                <a:spcPct val="150000"/>
              </a:lnSpc>
            </a:pPr>
            <a:r>
              <a:rPr lang="en-US" dirty="0"/>
              <a:t>Similarly,</a:t>
            </a:r>
          </a:p>
          <a:p>
            <a:pPr>
              <a:lnSpc>
                <a:spcPct val="150000"/>
              </a:lnSpc>
            </a:pPr>
            <a:r>
              <a:rPr lang="en-US" dirty="0"/>
              <a:t>Operating System helps applications run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E4D25-1377-3439-121E-6A10A83D4E35}"/>
              </a:ext>
            </a:extLst>
          </p:cNvPr>
          <p:cNvSpPr txBox="1"/>
          <p:nvPr/>
        </p:nvSpPr>
        <p:spPr>
          <a:xfrm>
            <a:off x="8345300" y="1711958"/>
            <a:ext cx="2861681" cy="5429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Microsoft Word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Microsoft Excel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Photoshop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WhatsApp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Pay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PhonePe</a:t>
            </a:r>
            <a:r>
              <a:rPr lang="en-IN" dirty="0"/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Spotify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VLC Player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05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8C0BC-FA9D-0DBC-E5E6-6B00604A6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76536"/>
          </a:xfrm>
        </p:spPr>
        <p:txBody>
          <a:bodyPr/>
          <a:lstStyle/>
          <a:p>
            <a:r>
              <a:rPr lang="en-IN" dirty="0"/>
              <a:t>3. Engineering &amp; Scientific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982D3-29B2-47FF-86AB-6EEB6F5E5340}"/>
              </a:ext>
            </a:extLst>
          </p:cNvPr>
          <p:cNvSpPr txBox="1"/>
          <p:nvPr/>
        </p:nvSpPr>
        <p:spPr>
          <a:xfrm>
            <a:off x="1117309" y="1340768"/>
            <a:ext cx="4620176" cy="321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Software used for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Engineering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Scientific research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Mathematical calculations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Simulations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74F1D-9901-71BC-361A-B8AB19694A4A}"/>
              </a:ext>
            </a:extLst>
          </p:cNvPr>
          <p:cNvSpPr txBox="1"/>
          <p:nvPr/>
        </p:nvSpPr>
        <p:spPr>
          <a:xfrm>
            <a:off x="782783" y="4293096"/>
            <a:ext cx="8698215" cy="2659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ISRO wants to calculate</a:t>
            </a:r>
          </a:p>
          <a:p>
            <a:pPr>
              <a:lnSpc>
                <a:spcPct val="150000"/>
              </a:lnSpc>
            </a:pPr>
            <a:r>
              <a:rPr lang="en-US" dirty="0"/>
              <a:t>How much fuel is needed for a rocket?</a:t>
            </a:r>
          </a:p>
          <a:p>
            <a:pPr>
              <a:lnSpc>
                <a:spcPct val="150000"/>
              </a:lnSpc>
            </a:pPr>
            <a:r>
              <a:rPr lang="en-US" dirty="0"/>
              <a:t>Humans cannot manually calculate millions of equations.</a:t>
            </a:r>
          </a:p>
          <a:p>
            <a:pPr>
              <a:lnSpc>
                <a:spcPct val="150000"/>
              </a:lnSpc>
            </a:pPr>
            <a:r>
              <a:rPr lang="en-US" dirty="0"/>
              <a:t>Software performs the calculations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3A377-DD68-3EFA-63C7-BDB1B8A959C9}"/>
              </a:ext>
            </a:extLst>
          </p:cNvPr>
          <p:cNvSpPr txBox="1"/>
          <p:nvPr/>
        </p:nvSpPr>
        <p:spPr>
          <a:xfrm>
            <a:off x="8904056" y="1268408"/>
            <a:ext cx="2169184" cy="43211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MATLAB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AutoCAD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ANSYS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SolidWorks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ETABS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COMSOL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327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E8E3-50D6-7897-BE21-C50AE469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4. Embedded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4058B-D6D3-7CC8-8124-ED85FEB952D3}"/>
              </a:ext>
            </a:extLst>
          </p:cNvPr>
          <p:cNvSpPr txBox="1"/>
          <p:nvPr/>
        </p:nvSpPr>
        <p:spPr>
          <a:xfrm>
            <a:off x="884852" y="963080"/>
            <a:ext cx="5019323" cy="4454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Think of a </a:t>
            </a:r>
            <a:r>
              <a:rPr lang="en-US" b="1" dirty="0"/>
              <a:t>washing machine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has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Timer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Water level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Spin control </a:t>
            </a:r>
          </a:p>
          <a:p>
            <a:pPr>
              <a:lnSpc>
                <a:spcPct val="150000"/>
              </a:lnSpc>
            </a:pPr>
            <a:r>
              <a:rPr lang="en-US" dirty="0"/>
              <a:t>Who controls these?</a:t>
            </a:r>
          </a:p>
          <a:p>
            <a:pPr>
              <a:lnSpc>
                <a:spcPct val="150000"/>
              </a:lnSpc>
            </a:pPr>
            <a:r>
              <a:rPr lang="en-US" dirty="0"/>
              <a:t>Tiny software inside the machine</a:t>
            </a:r>
          </a:p>
          <a:p>
            <a:pPr>
              <a:lnSpc>
                <a:spcPct val="150000"/>
              </a:lnSpc>
            </a:pPr>
            <a:r>
              <a:rPr lang="en-US" dirty="0"/>
              <a:t>That is Embedded Software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D53A3-883C-AB2B-6DE6-4C9CA10B2B72}"/>
              </a:ext>
            </a:extLst>
          </p:cNvPr>
          <p:cNvSpPr txBox="1"/>
          <p:nvPr/>
        </p:nvSpPr>
        <p:spPr>
          <a:xfrm>
            <a:off x="7390556" y="946852"/>
            <a:ext cx="3296095" cy="4875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Microwave Oven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Smart TV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Washing Machine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Car ABS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Air Conditioner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Smart Watch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Printer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889914-3188-87DE-4338-7ECD940AD734}"/>
              </a:ext>
            </a:extLst>
          </p:cNvPr>
          <p:cNvSpPr txBox="1"/>
          <p:nvPr/>
        </p:nvSpPr>
        <p:spPr>
          <a:xfrm>
            <a:off x="915988" y="5583052"/>
            <a:ext cx="10939064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Modern cars contain dozens of embedded computers controlling functions such as braking, airbags, engine management, and infotainment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52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3647-AB23-DF13-A377-4870F15DC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832520"/>
          </a:xfrm>
        </p:spPr>
        <p:txBody>
          <a:bodyPr/>
          <a:lstStyle/>
          <a:p>
            <a:r>
              <a:rPr lang="en-IN" dirty="0"/>
              <a:t>5. Product-Line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AE6447-3747-07B6-8722-6F6F4FD71F44}"/>
              </a:ext>
            </a:extLst>
          </p:cNvPr>
          <p:cNvSpPr txBox="1"/>
          <p:nvPr/>
        </p:nvSpPr>
        <p:spPr>
          <a:xfrm>
            <a:off x="693812" y="980728"/>
            <a:ext cx="10436835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Product-line software consists of </a:t>
            </a:r>
            <a:r>
              <a:rPr lang="en-US" b="1" dirty="0"/>
              <a:t>a family of similar software products</a:t>
            </a:r>
            <a:r>
              <a:rPr lang="en-US" dirty="0"/>
              <a:t> developed from a common core and customized for different customers or markets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ACC3C-1B26-CB2B-D594-D55837092D18}"/>
              </a:ext>
            </a:extLst>
          </p:cNvPr>
          <p:cNvSpPr txBox="1"/>
          <p:nvPr/>
        </p:nvSpPr>
        <p:spPr>
          <a:xfrm>
            <a:off x="704461" y="2289541"/>
            <a:ext cx="6901248" cy="4505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Think of a car company.</a:t>
            </a:r>
          </a:p>
          <a:p>
            <a:r>
              <a:rPr lang="en-US" dirty="0"/>
              <a:t>The company manufactures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Base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Sport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Premium Model </a:t>
            </a:r>
          </a:p>
          <a:p>
            <a:endParaRPr lang="en-US" dirty="0"/>
          </a:p>
          <a:p>
            <a:r>
              <a:rPr lang="en-US" dirty="0"/>
              <a:t>All share the same engine platform</a:t>
            </a:r>
          </a:p>
          <a:p>
            <a:endParaRPr lang="en-US" dirty="0"/>
          </a:p>
          <a:p>
            <a:r>
              <a:rPr lang="en-US" dirty="0"/>
              <a:t>Similarly,</a:t>
            </a:r>
          </a:p>
          <a:p>
            <a:r>
              <a:rPr lang="en-US" dirty="0"/>
              <a:t>Software companies build one core software</a:t>
            </a:r>
          </a:p>
          <a:p>
            <a:r>
              <a:rPr lang="en-US" dirty="0"/>
              <a:t>and customize it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64856-CA29-C5CD-CCBA-C427E3CE78E2}"/>
              </a:ext>
            </a:extLst>
          </p:cNvPr>
          <p:cNvSpPr txBox="1"/>
          <p:nvPr/>
        </p:nvSpPr>
        <p:spPr>
          <a:xfrm>
            <a:off x="8182644" y="2189957"/>
            <a:ext cx="2549096" cy="4136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Examples</a:t>
            </a:r>
          </a:p>
          <a:p>
            <a:r>
              <a:rPr lang="en-US" dirty="0"/>
              <a:t>Microsoft Office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Student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Professional </a:t>
            </a:r>
          </a:p>
          <a:p>
            <a:endParaRPr lang="en-US" dirty="0"/>
          </a:p>
          <a:p>
            <a:r>
              <a:rPr lang="en-US" dirty="0"/>
              <a:t>Windows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Enterprise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73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89FE-3A6C-9080-228C-67A7958E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832520"/>
          </a:xfrm>
        </p:spPr>
        <p:txBody>
          <a:bodyPr/>
          <a:lstStyle/>
          <a:p>
            <a:r>
              <a:rPr lang="en-IN" dirty="0"/>
              <a:t>6. Web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4016E-550F-CE4C-A551-7027E6E69215}"/>
              </a:ext>
            </a:extLst>
          </p:cNvPr>
          <p:cNvSpPr txBox="1"/>
          <p:nvPr/>
        </p:nvSpPr>
        <p:spPr>
          <a:xfrm>
            <a:off x="1117309" y="1124744"/>
            <a:ext cx="9262472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Software accessed through a web browser using the Internet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CD601-9687-92ED-CD9D-A9C34C2B74D0}"/>
              </a:ext>
            </a:extLst>
          </p:cNvPr>
          <p:cNvSpPr txBox="1"/>
          <p:nvPr/>
        </p:nvSpPr>
        <p:spPr>
          <a:xfrm>
            <a:off x="1117308" y="1772816"/>
            <a:ext cx="10157354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Instead of installing software, you simply open Chrome and use it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BA5EB-9D4F-CD52-9594-C6379F1AD1B8}"/>
              </a:ext>
            </a:extLst>
          </p:cNvPr>
          <p:cNvSpPr txBox="1"/>
          <p:nvPr/>
        </p:nvSpPr>
        <p:spPr>
          <a:xfrm>
            <a:off x="2205980" y="2585346"/>
            <a:ext cx="72008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A77E1-8866-CB64-0642-34C322DA2983}"/>
              </a:ext>
            </a:extLst>
          </p:cNvPr>
          <p:cNvSpPr txBox="1"/>
          <p:nvPr/>
        </p:nvSpPr>
        <p:spPr>
          <a:xfrm>
            <a:off x="1117308" y="2276872"/>
            <a:ext cx="2600840" cy="4875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Gmail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YouTube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Amazon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Flipkart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IRCTC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Netflix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Canva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75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430E-49ED-5968-4D3F-34F2528F8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7. Artificial Intelligence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AE1D1-6166-B131-7DCE-8E4A9CE4F79D}"/>
              </a:ext>
            </a:extLst>
          </p:cNvPr>
          <p:cNvSpPr txBox="1"/>
          <p:nvPr/>
        </p:nvSpPr>
        <p:spPr>
          <a:xfrm>
            <a:off x="981844" y="1196752"/>
            <a:ext cx="8795998" cy="11818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Software that learns from data, makes decisions,</a:t>
            </a:r>
          </a:p>
          <a:p>
            <a:r>
              <a:rPr lang="en-US" dirty="0"/>
              <a:t>or performs tasks that normally require human intelligence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82CA4-EB0E-EF14-7CC6-3C93DDCBB49B}"/>
              </a:ext>
            </a:extLst>
          </p:cNvPr>
          <p:cNvSpPr txBox="1"/>
          <p:nvPr/>
        </p:nvSpPr>
        <p:spPr>
          <a:xfrm>
            <a:off x="987016" y="2041796"/>
            <a:ext cx="3424335" cy="4875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ChatGPT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Gemini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Siri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Alexa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Lens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Self-driving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Face Recognition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31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A333-3FE4-2093-9DF7-65893E85E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832520"/>
          </a:xfrm>
        </p:spPr>
        <p:txBody>
          <a:bodyPr/>
          <a:lstStyle/>
          <a:p>
            <a:r>
              <a:rPr lang="en-IN" dirty="0"/>
              <a:t>8. Open-World Computing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594C8-8E47-3568-418F-4FA7B0098C14}"/>
              </a:ext>
            </a:extLst>
          </p:cNvPr>
          <p:cNvSpPr txBox="1"/>
          <p:nvPr/>
        </p:nvSpPr>
        <p:spPr>
          <a:xfrm>
            <a:off x="1197868" y="1052736"/>
            <a:ext cx="6692858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Instead of storing everything on your laptop, you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Google Drive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OneDrive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Dropbox </a:t>
            </a:r>
          </a:p>
          <a:p>
            <a:r>
              <a:rPr lang="en-US" sz="2000" dirty="0"/>
              <a:t>Your data is available from anywhere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BE04B7-96C8-A3EE-44B8-BC152E0E47A3}"/>
              </a:ext>
            </a:extLst>
          </p:cNvPr>
          <p:cNvSpPr/>
          <p:nvPr/>
        </p:nvSpPr>
        <p:spPr>
          <a:xfrm>
            <a:off x="3790156" y="2924944"/>
            <a:ext cx="4248472" cy="432048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Open-World Computing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71B3C76-03C5-D93B-6BC2-B2538E4FFF40}"/>
              </a:ext>
            </a:extLst>
          </p:cNvPr>
          <p:cNvSpPr/>
          <p:nvPr/>
        </p:nvSpPr>
        <p:spPr>
          <a:xfrm>
            <a:off x="5878388" y="3356992"/>
            <a:ext cx="144016" cy="576064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CFA90172-CD91-8149-3B86-6C55E8DAD184}"/>
              </a:ext>
            </a:extLst>
          </p:cNvPr>
          <p:cNvSpPr/>
          <p:nvPr/>
        </p:nvSpPr>
        <p:spPr>
          <a:xfrm>
            <a:off x="1845940" y="3789040"/>
            <a:ext cx="8352928" cy="288032"/>
          </a:xfrm>
          <a:prstGeom prst="mathMinus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69ACE98-AA87-65DA-0AAD-A3482A410124}"/>
              </a:ext>
            </a:extLst>
          </p:cNvPr>
          <p:cNvSpPr/>
          <p:nvPr/>
        </p:nvSpPr>
        <p:spPr>
          <a:xfrm>
            <a:off x="8965979" y="3933056"/>
            <a:ext cx="144016" cy="383435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C64015-7DF8-D9ED-9C1F-315260B9E8CB}"/>
              </a:ext>
            </a:extLst>
          </p:cNvPr>
          <p:cNvSpPr/>
          <p:nvPr/>
        </p:nvSpPr>
        <p:spPr>
          <a:xfrm>
            <a:off x="1440413" y="4293096"/>
            <a:ext cx="3115309" cy="383435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/>
              <a:t>Netsourcing</a:t>
            </a:r>
            <a:endParaRPr lang="en-IN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CD7C5A-0EAE-F2D6-0EE9-60B3DD66F79F}"/>
              </a:ext>
            </a:extLst>
          </p:cNvPr>
          <p:cNvSpPr txBox="1"/>
          <p:nvPr/>
        </p:nvSpPr>
        <p:spPr>
          <a:xfrm>
            <a:off x="1377140" y="4904521"/>
            <a:ext cx="370486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Software as a Service (SaaS)</a:t>
            </a:r>
            <a:endParaRPr lang="en-IN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E8E98C-661A-7811-8471-EE680DB0251F}"/>
              </a:ext>
            </a:extLst>
          </p:cNvPr>
          <p:cNvSpPr/>
          <p:nvPr/>
        </p:nvSpPr>
        <p:spPr>
          <a:xfrm>
            <a:off x="7480332" y="4293096"/>
            <a:ext cx="3115309" cy="383435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Open 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A9922D-7982-54CF-65A6-3190DBF3DF78}"/>
              </a:ext>
            </a:extLst>
          </p:cNvPr>
          <p:cNvSpPr txBox="1"/>
          <p:nvPr/>
        </p:nvSpPr>
        <p:spPr>
          <a:xfrm>
            <a:off x="1377140" y="5290650"/>
            <a:ext cx="2783134" cy="1308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Google Docs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Microsoft 365 Online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1C5778-2A5C-D83C-702E-9C6F0035767C}"/>
              </a:ext>
            </a:extLst>
          </p:cNvPr>
          <p:cNvSpPr txBox="1"/>
          <p:nvPr/>
        </p:nvSpPr>
        <p:spPr>
          <a:xfrm>
            <a:off x="6886500" y="4653136"/>
            <a:ext cx="496855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Software whose </a:t>
            </a:r>
            <a:r>
              <a:rPr lang="en-US" sz="2000" b="1" dirty="0"/>
              <a:t>source code is publicly available</a:t>
            </a:r>
            <a:r>
              <a:rPr lang="en-US" sz="2000" dirty="0"/>
              <a:t> so developers can view, modify, and improve it</a:t>
            </a:r>
            <a:endParaRPr lang="en-IN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CF5641-4979-EF6E-0CCB-AA621DF133AF}"/>
              </a:ext>
            </a:extLst>
          </p:cNvPr>
          <p:cNvSpPr txBox="1"/>
          <p:nvPr/>
        </p:nvSpPr>
        <p:spPr>
          <a:xfrm>
            <a:off x="7390556" y="5589240"/>
            <a:ext cx="1378904" cy="1308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Linux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Python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C4FA6B1-1CC8-D121-E73F-F64879F3CCE3}"/>
              </a:ext>
            </a:extLst>
          </p:cNvPr>
          <p:cNvSpPr/>
          <p:nvPr/>
        </p:nvSpPr>
        <p:spPr>
          <a:xfrm>
            <a:off x="2926059" y="3933056"/>
            <a:ext cx="144016" cy="383435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80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C874-BCAA-B73A-F93C-29121C3F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9. Legacy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7AE27-D4EA-6150-D4CB-CFEC4B791095}"/>
              </a:ext>
            </a:extLst>
          </p:cNvPr>
          <p:cNvSpPr txBox="1"/>
          <p:nvPr/>
        </p:nvSpPr>
        <p:spPr>
          <a:xfrm>
            <a:off x="916129" y="1124744"/>
            <a:ext cx="10377703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Legacy software is </a:t>
            </a:r>
            <a:r>
              <a:rPr lang="en-US" sz="2200" b="1" dirty="0"/>
              <a:t>old software that organizations still depend on</a:t>
            </a:r>
            <a:r>
              <a:rPr lang="en-US" sz="2200" dirty="0"/>
              <a:t>, even though newer technologies are available</a:t>
            </a:r>
            <a:endParaRPr lang="en-IN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5CE9D-E430-C7A5-AD10-C51CBEFBBAE1}"/>
              </a:ext>
            </a:extLst>
          </p:cNvPr>
          <p:cNvSpPr txBox="1"/>
          <p:nvPr/>
        </p:nvSpPr>
        <p:spPr>
          <a:xfrm>
            <a:off x="693812" y="1993798"/>
            <a:ext cx="6552728" cy="4984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Imagine your grandparents still use an old cupboard.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It may be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old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repaired many times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But it still stores important documents.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Similarly,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many banks still use old software because it works reliably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CCA14-B56E-EFC3-924D-2AD9023A3A4E}"/>
              </a:ext>
            </a:extLst>
          </p:cNvPr>
          <p:cNvSpPr txBox="1"/>
          <p:nvPr/>
        </p:nvSpPr>
        <p:spPr>
          <a:xfrm>
            <a:off x="7246540" y="2492896"/>
            <a:ext cx="4602542" cy="2953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Banking Core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Airline Reservation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Government Pension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Insurance Systems 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15595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D87AC9-05F1-BC08-4221-50554451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47" y="548680"/>
            <a:ext cx="1088493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5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7975-DC47-02E5-F1A5-59BEA0FC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44" y="76200"/>
            <a:ext cx="10292819" cy="1336576"/>
          </a:xfrm>
        </p:spPr>
        <p:txBody>
          <a:bodyPr>
            <a:normAutofit/>
          </a:bodyPr>
          <a:lstStyle/>
          <a:p>
            <a:r>
              <a:rPr lang="en-US" sz="4000" dirty="0"/>
              <a:t>General Principles of Software Engineering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F16901-0801-61AA-E769-E10E8E94DB97}"/>
              </a:ext>
            </a:extLst>
          </p:cNvPr>
          <p:cNvSpPr txBox="1"/>
          <p:nvPr/>
        </p:nvSpPr>
        <p:spPr>
          <a:xfrm>
            <a:off x="888268" y="1556792"/>
            <a:ext cx="104122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These principles are universal. They are </a:t>
            </a:r>
            <a:r>
              <a:rPr lang="en-US" sz="2000" b="1" dirty="0"/>
              <a:t>not limited to Agile or Waterfall</a:t>
            </a:r>
            <a:r>
              <a:rPr lang="en-US" sz="2000" dirty="0"/>
              <a:t>—they apply to </a:t>
            </a:r>
            <a:r>
              <a:rPr lang="en-US" sz="2000" b="1" dirty="0"/>
              <a:t>every software project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2B21C-6042-F7EF-DF54-85034BAD0A76}"/>
              </a:ext>
            </a:extLst>
          </p:cNvPr>
          <p:cNvSpPr txBox="1"/>
          <p:nvPr/>
        </p:nvSpPr>
        <p:spPr>
          <a:xfrm>
            <a:off x="860378" y="2377916"/>
            <a:ext cx="48245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"Have you ever assembled furniture using an instruction manual?"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25BFD-FA9F-8CA5-87FD-0BC231203431}"/>
              </a:ext>
            </a:extLst>
          </p:cNvPr>
          <p:cNvSpPr txBox="1"/>
          <p:nvPr/>
        </p:nvSpPr>
        <p:spPr>
          <a:xfrm>
            <a:off x="890805" y="3199040"/>
            <a:ext cx="599569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What if the instructions are confusing?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What if some parts are missing?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What if the company doesn't provide future support?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79866E-18F3-C0DB-C0FD-0FFC4D731242}"/>
              </a:ext>
            </a:extLst>
          </p:cNvPr>
          <p:cNvSpPr txBox="1"/>
          <p:nvPr/>
        </p:nvSpPr>
        <p:spPr>
          <a:xfrm>
            <a:off x="8254652" y="3199040"/>
            <a:ext cx="2667718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Difficult to assemble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Wastes time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Frustrating</a:t>
            </a:r>
            <a:endParaRPr lang="en-IN" sz="20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70966D3-19BF-16CB-DC8F-A11E6DE96C94}"/>
              </a:ext>
            </a:extLst>
          </p:cNvPr>
          <p:cNvSpPr/>
          <p:nvPr/>
        </p:nvSpPr>
        <p:spPr>
          <a:xfrm>
            <a:off x="6526460" y="3501008"/>
            <a:ext cx="1584176" cy="360040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B62D9-7D89-BAA8-4566-6CF0D8CDD55B}"/>
              </a:ext>
            </a:extLst>
          </p:cNvPr>
          <p:cNvSpPr txBox="1"/>
          <p:nvPr/>
        </p:nvSpPr>
        <p:spPr>
          <a:xfrm>
            <a:off x="922109" y="4863179"/>
            <a:ext cx="1041228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dirty="0">
                <a:solidFill>
                  <a:srgbClr val="FF0000"/>
                </a:solidFill>
              </a:rPr>
              <a:t>Software development is exactly the same. These general principles help developers build software that is simple, useful, maintainable, and future-ready</a:t>
            </a:r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82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2428-DDCA-1B5A-8EB4-3BD0B0ABB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048544"/>
          </a:xfrm>
        </p:spPr>
        <p:txBody>
          <a:bodyPr/>
          <a:lstStyle/>
          <a:p>
            <a:r>
              <a:rPr lang="en-US" dirty="0"/>
              <a:t>1. The Reason It All Exists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B0D52E-9BC9-2C1F-5A57-5D7658461AEB}"/>
              </a:ext>
            </a:extLst>
          </p:cNvPr>
          <p:cNvSpPr txBox="1"/>
          <p:nvPr/>
        </p:nvSpPr>
        <p:spPr>
          <a:xfrm>
            <a:off x="765820" y="1124744"/>
            <a:ext cx="11161240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Software exists to solve a user's problem—not to show how clever the programmer is.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customer doesn't care whether you used Java, Python, or AI.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They care whether the software solves their problem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6A62C-6CBD-3B3D-9742-9854D42B8866}"/>
              </a:ext>
            </a:extLst>
          </p:cNvPr>
          <p:cNvSpPr txBox="1"/>
          <p:nvPr/>
        </p:nvSpPr>
        <p:spPr>
          <a:xfrm>
            <a:off x="765820" y="2593025"/>
            <a:ext cx="5832648" cy="418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 hospital needs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Patient Registration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Appointment Booking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developers spend six months creating beautiful animations.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hospital says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"Where is Appointment Booking?"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software failed because it didn't solve the actual problem.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59613-D379-5518-9C18-1D2714ABA91C}"/>
              </a:ext>
            </a:extLst>
          </p:cNvPr>
          <p:cNvSpPr txBox="1"/>
          <p:nvPr/>
        </p:nvSpPr>
        <p:spPr>
          <a:xfrm>
            <a:off x="7144270" y="2780928"/>
            <a:ext cx="427873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000" dirty="0"/>
              <a:t>"Why was WhatsApp successful?"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CF8A4-6DB0-9811-BE88-6589A43243BD}"/>
              </a:ext>
            </a:extLst>
          </p:cNvPr>
          <p:cNvSpPr txBox="1"/>
          <p:nvPr/>
        </p:nvSpPr>
        <p:spPr>
          <a:xfrm>
            <a:off x="7246540" y="3253520"/>
            <a:ext cx="446449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Because it solved a simple communication problem</a:t>
            </a: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C3490-9139-86F9-7F2D-06F9879DE753}"/>
              </a:ext>
            </a:extLst>
          </p:cNvPr>
          <p:cNvSpPr txBox="1"/>
          <p:nvPr/>
        </p:nvSpPr>
        <p:spPr>
          <a:xfrm>
            <a:off x="6928246" y="4342260"/>
            <a:ext cx="4782790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>
                <a:solidFill>
                  <a:srgbClr val="FF0000"/>
                </a:solidFill>
              </a:rPr>
              <a:t>Software exists to solve problems, not to impress programmers</a:t>
            </a:r>
            <a:endParaRPr lang="en-IN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28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24FEE-FD04-41D6-F5E1-313E7CD6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76536"/>
          </a:xfrm>
        </p:spPr>
        <p:txBody>
          <a:bodyPr/>
          <a:lstStyle/>
          <a:p>
            <a:r>
              <a:rPr lang="en-US" dirty="0"/>
              <a:t>2. Keep It Simple, Stupid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77CCE-EB8C-AD79-CFDE-E6C4DB83F86B}"/>
              </a:ext>
            </a:extLst>
          </p:cNvPr>
          <p:cNvSpPr txBox="1"/>
          <p:nvPr/>
        </p:nvSpPr>
        <p:spPr>
          <a:xfrm>
            <a:off x="1117309" y="1196752"/>
            <a:ext cx="587051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The simplest solution is usually the best solution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7F007-148B-2184-CC32-D2ABB723BCF1}"/>
              </a:ext>
            </a:extLst>
          </p:cNvPr>
          <p:cNvSpPr txBox="1"/>
          <p:nvPr/>
        </p:nvSpPr>
        <p:spPr>
          <a:xfrm>
            <a:off x="1117309" y="1711427"/>
            <a:ext cx="3861955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Imagine your classroom door.</a:t>
            </a:r>
          </a:p>
          <a:p>
            <a:endParaRPr lang="en-US" sz="2000" dirty="0"/>
          </a:p>
          <a:p>
            <a:r>
              <a:rPr lang="en-US" sz="2000" dirty="0"/>
              <a:t>Door A</a:t>
            </a:r>
          </a:p>
          <a:p>
            <a:r>
              <a:rPr lang="en-US" sz="2000" dirty="0"/>
              <a:t>Open with one handle.</a:t>
            </a:r>
          </a:p>
          <a:p>
            <a:endParaRPr lang="en-US" sz="2000" dirty="0"/>
          </a:p>
          <a:p>
            <a:r>
              <a:rPr lang="en-US" sz="2000" dirty="0"/>
              <a:t>OR</a:t>
            </a:r>
          </a:p>
          <a:p>
            <a:r>
              <a:rPr lang="en-US" sz="2000" dirty="0"/>
              <a:t>Door B</a:t>
            </a:r>
          </a:p>
          <a:p>
            <a:r>
              <a:rPr lang="en-US" sz="2000" dirty="0"/>
              <a:t>Requires fingerprint,</a:t>
            </a:r>
          </a:p>
          <a:p>
            <a:r>
              <a:rPr lang="en-US" sz="2000" dirty="0"/>
              <a:t>face recognition,</a:t>
            </a:r>
          </a:p>
          <a:p>
            <a:r>
              <a:rPr lang="en-US" sz="2000" dirty="0"/>
              <a:t>voice command,</a:t>
            </a:r>
          </a:p>
          <a:p>
            <a:r>
              <a:rPr lang="en-US" sz="2000" dirty="0"/>
              <a:t>and OTP.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87D3C-7CB1-8F34-1497-69FD66A3A743}"/>
              </a:ext>
            </a:extLst>
          </p:cNvPr>
          <p:cNvSpPr txBox="1"/>
          <p:nvPr/>
        </p:nvSpPr>
        <p:spPr>
          <a:xfrm>
            <a:off x="5806380" y="1725489"/>
            <a:ext cx="5760639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Suppose a college wants students to log in.</a:t>
            </a:r>
          </a:p>
          <a:p>
            <a:endParaRPr lang="en-US" sz="2000" dirty="0"/>
          </a:p>
          <a:p>
            <a:r>
              <a:rPr lang="en-US" sz="2000" dirty="0"/>
              <a:t>Simple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Password </a:t>
            </a:r>
          </a:p>
          <a:p>
            <a:endParaRPr lang="en-US" sz="2000" dirty="0"/>
          </a:p>
          <a:p>
            <a:r>
              <a:rPr lang="en-US" sz="2000" dirty="0"/>
              <a:t>Complex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Face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OTP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Voice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Fingerprint </a:t>
            </a:r>
          </a:p>
          <a:p>
            <a:endParaRPr lang="en-US" sz="2000" dirty="0"/>
          </a:p>
          <a:p>
            <a:r>
              <a:rPr lang="en-US" sz="2000" dirty="0"/>
              <a:t>If only a username and password meet the need, adding unnecessary features increases cost and complexity.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5187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C8A6-1FC2-F7E2-5806-11923D3F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832520"/>
          </a:xfrm>
        </p:spPr>
        <p:txBody>
          <a:bodyPr/>
          <a:lstStyle/>
          <a:p>
            <a:r>
              <a:rPr lang="en-IN" dirty="0"/>
              <a:t>3. Maintain the 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C69BD-E8BA-060C-E5F7-55190DA0AAA0}"/>
              </a:ext>
            </a:extLst>
          </p:cNvPr>
          <p:cNvSpPr txBox="1"/>
          <p:nvPr/>
        </p:nvSpPr>
        <p:spPr>
          <a:xfrm>
            <a:off x="1284785" y="1124744"/>
            <a:ext cx="7284366" cy="1308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Everyone in the team should work toward the </a:t>
            </a:r>
            <a:r>
              <a:rPr lang="en-US" sz="2000" b="1" dirty="0"/>
              <a:t>same goal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Don't let every developer build something different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0E969-8483-0563-58FC-F92FA3CD3189}"/>
              </a:ext>
            </a:extLst>
          </p:cNvPr>
          <p:cNvSpPr txBox="1"/>
          <p:nvPr/>
        </p:nvSpPr>
        <p:spPr>
          <a:xfrm>
            <a:off x="1269876" y="2216770"/>
            <a:ext cx="3047629" cy="4385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Customer wants</a:t>
            </a:r>
          </a:p>
          <a:p>
            <a:r>
              <a:rPr lang="en-US" sz="2000" b="1" dirty="0"/>
              <a:t>Online Shopping App</a:t>
            </a:r>
          </a:p>
          <a:p>
            <a:endParaRPr lang="en-US" sz="2000" dirty="0"/>
          </a:p>
          <a:p>
            <a:r>
              <a:rPr lang="en-US" sz="2000" dirty="0"/>
              <a:t>Developer 1</a:t>
            </a:r>
          </a:p>
          <a:p>
            <a:r>
              <a:rPr lang="en-US" sz="2000" dirty="0"/>
              <a:t>Adds Gaming</a:t>
            </a:r>
          </a:p>
          <a:p>
            <a:endParaRPr lang="en-US" sz="2000" dirty="0"/>
          </a:p>
          <a:p>
            <a:r>
              <a:rPr lang="en-US" sz="2000" dirty="0"/>
              <a:t>Developer 2</a:t>
            </a:r>
          </a:p>
          <a:p>
            <a:r>
              <a:rPr lang="en-US" sz="2000" dirty="0"/>
              <a:t>Adds Social Media</a:t>
            </a:r>
          </a:p>
          <a:p>
            <a:endParaRPr lang="en-US" sz="2000" dirty="0"/>
          </a:p>
          <a:p>
            <a:r>
              <a:rPr lang="en-US" sz="2000" dirty="0"/>
              <a:t>Developer 3</a:t>
            </a:r>
          </a:p>
          <a:p>
            <a:r>
              <a:rPr lang="en-US" sz="2000" dirty="0"/>
              <a:t>Adds Video Streaming</a:t>
            </a:r>
          </a:p>
          <a:p>
            <a:endParaRPr lang="en-US" sz="2000" dirty="0"/>
          </a:p>
          <a:p>
            <a:r>
              <a:rPr lang="en-US" sz="2000" dirty="0"/>
              <a:t>The project loses focus.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EAD69-7931-B74E-DB0F-3040E073555E}"/>
              </a:ext>
            </a:extLst>
          </p:cNvPr>
          <p:cNvSpPr txBox="1"/>
          <p:nvPr/>
        </p:nvSpPr>
        <p:spPr>
          <a:xfrm>
            <a:off x="6044043" y="3428392"/>
            <a:ext cx="3443571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One project, one vision.</a:t>
            </a:r>
          </a:p>
        </p:txBody>
      </p:sp>
    </p:spTree>
    <p:extLst>
      <p:ext uri="{BB962C8B-B14F-4D97-AF65-F5344CB8AC3E}">
        <p14:creationId xmlns:p14="http://schemas.microsoft.com/office/powerpoint/2010/main" val="427429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E608-9BE7-5514-6D09-E7F1600A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-99392"/>
            <a:ext cx="10881759" cy="1048544"/>
          </a:xfrm>
        </p:spPr>
        <p:txBody>
          <a:bodyPr>
            <a:normAutofit/>
          </a:bodyPr>
          <a:lstStyle/>
          <a:p>
            <a:r>
              <a:rPr lang="en-US" sz="4000" dirty="0"/>
              <a:t>4. What You Produce, Others Will Consume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3DACB-8B34-9C99-102C-B3360348C7FD}"/>
              </a:ext>
            </a:extLst>
          </p:cNvPr>
          <p:cNvSpPr txBox="1"/>
          <p:nvPr/>
        </p:nvSpPr>
        <p:spPr>
          <a:xfrm>
            <a:off x="986119" y="1124744"/>
            <a:ext cx="10729192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Someone else will eventually read, modify, or maintain your work.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So, write clean, organized, and understandable software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2CD2B-46ED-117E-AA4A-9ED88BC87BCA}"/>
              </a:ext>
            </a:extLst>
          </p:cNvPr>
          <p:cNvSpPr txBox="1"/>
          <p:nvPr/>
        </p:nvSpPr>
        <p:spPr>
          <a:xfrm>
            <a:off x="1125860" y="2411637"/>
            <a:ext cx="1011815" cy="1418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a=10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b=20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c=a+b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5033F-9726-BA8B-777F-FD1EE19219B1}"/>
              </a:ext>
            </a:extLst>
          </p:cNvPr>
          <p:cNvSpPr txBox="1"/>
          <p:nvPr/>
        </p:nvSpPr>
        <p:spPr>
          <a:xfrm>
            <a:off x="4150196" y="2883750"/>
            <a:ext cx="454323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000" dirty="0" err="1"/>
              <a:t>studentFee</a:t>
            </a:r>
            <a:r>
              <a:rPr lang="en-IN" sz="2000" dirty="0"/>
              <a:t> = </a:t>
            </a:r>
            <a:r>
              <a:rPr lang="en-IN" sz="2000" dirty="0" err="1"/>
              <a:t>tuitionFee</a:t>
            </a:r>
            <a:r>
              <a:rPr lang="en-IN" sz="2000" dirty="0"/>
              <a:t> + </a:t>
            </a:r>
            <a:r>
              <a:rPr lang="en-IN" sz="2000" dirty="0" err="1"/>
              <a:t>examFee</a:t>
            </a:r>
            <a:endParaRPr lang="en-IN" sz="20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6C97CAE-C5A3-5D04-0C4D-2883099CC739}"/>
              </a:ext>
            </a:extLst>
          </p:cNvPr>
          <p:cNvSpPr/>
          <p:nvPr/>
        </p:nvSpPr>
        <p:spPr>
          <a:xfrm>
            <a:off x="2494012" y="2939247"/>
            <a:ext cx="1512168" cy="273729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782D4-E435-14FD-383C-2CD57BF70753}"/>
              </a:ext>
            </a:extLst>
          </p:cNvPr>
          <p:cNvSpPr txBox="1"/>
          <p:nvPr/>
        </p:nvSpPr>
        <p:spPr>
          <a:xfrm>
            <a:off x="2277988" y="4232846"/>
            <a:ext cx="618630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dirty="0">
                <a:solidFill>
                  <a:srgbClr val="FF0000"/>
                </a:solidFill>
              </a:rPr>
              <a:t>"Write code for humans first, computers second."</a:t>
            </a: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AEABC-B706-7B40-A395-EC8655096480}"/>
              </a:ext>
            </a:extLst>
          </p:cNvPr>
          <p:cNvSpPr txBox="1"/>
          <p:nvPr/>
        </p:nvSpPr>
        <p:spPr>
          <a:xfrm>
            <a:off x="945840" y="5035861"/>
            <a:ext cx="1029714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Many developers spend </a:t>
            </a:r>
            <a:r>
              <a:rPr lang="en-US" sz="2000" b="1" dirty="0"/>
              <a:t>more time maintaining existing software than writing brand-new software</a:t>
            </a:r>
            <a:r>
              <a:rPr lang="en-US" sz="2000" dirty="0"/>
              <a:t>, so readability is extremely important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237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E3D8D-7654-02B1-A6C4-B8083E817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US" dirty="0"/>
              <a:t>5. Be Open to the Future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D05A5-4FBE-B4FC-C4BC-B6BC398A3C4E}"/>
              </a:ext>
            </a:extLst>
          </p:cNvPr>
          <p:cNvSpPr txBox="1"/>
          <p:nvPr/>
        </p:nvSpPr>
        <p:spPr>
          <a:xfrm>
            <a:off x="981844" y="1196752"/>
            <a:ext cx="956063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Software should be designed so it can be </a:t>
            </a:r>
            <a:r>
              <a:rPr lang="en-US" sz="2000" b="1" dirty="0"/>
              <a:t>easily changed or extended</a:t>
            </a:r>
            <a:r>
              <a:rPr lang="en-US" sz="2000" dirty="0"/>
              <a:t> later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D6821-5CFE-5238-A7C8-7054D020EACF}"/>
              </a:ext>
            </a:extLst>
          </p:cNvPr>
          <p:cNvSpPr txBox="1"/>
          <p:nvPr/>
        </p:nvSpPr>
        <p:spPr>
          <a:xfrm>
            <a:off x="1003447" y="1747533"/>
            <a:ext cx="988924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Initially, an e-commerce app supports</a:t>
            </a:r>
          </a:p>
          <a:p>
            <a:r>
              <a:rPr lang="en-US" sz="2000" dirty="0"/>
              <a:t>Only UPI.</a:t>
            </a:r>
          </a:p>
          <a:p>
            <a:endParaRPr lang="en-US" sz="2000" dirty="0"/>
          </a:p>
          <a:p>
            <a:r>
              <a:rPr lang="en-US" sz="2000" dirty="0"/>
              <a:t>Later, customers want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Credit Card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Wallet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Net Banking </a:t>
            </a:r>
          </a:p>
          <a:p>
            <a:endParaRPr lang="en-US" sz="2000" dirty="0"/>
          </a:p>
          <a:p>
            <a:r>
              <a:rPr lang="en-US" sz="2000" dirty="0"/>
              <a:t>Good software allows these features to be added without rewriting everything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0FF31-B1AC-D0B6-98FA-DC71471D6FF9}"/>
              </a:ext>
            </a:extLst>
          </p:cNvPr>
          <p:cNvSpPr txBox="1"/>
          <p:nvPr/>
        </p:nvSpPr>
        <p:spPr>
          <a:xfrm>
            <a:off x="1120656" y="5004769"/>
            <a:ext cx="809708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>
                <a:solidFill>
                  <a:srgbClr val="FF0000"/>
                </a:solidFill>
              </a:rPr>
              <a:t>Today's software should be ready for tomorrow's changes.</a:t>
            </a:r>
            <a:endParaRPr lang="en-IN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F363-D39E-236F-D01E-AEFFA3074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US" dirty="0"/>
              <a:t>6. Plan Ahead for Reuse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10373-AB2E-06A4-CCDA-42679D9D6FAF}"/>
              </a:ext>
            </a:extLst>
          </p:cNvPr>
          <p:cNvSpPr txBox="1"/>
          <p:nvPr/>
        </p:nvSpPr>
        <p:spPr>
          <a:xfrm>
            <a:off x="1117309" y="1124744"/>
            <a:ext cx="10233687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Instead of building everything from scratch, reuse existing software components whenever appropriate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8A13B-1F58-977F-B742-0DE5A29B50F2}"/>
              </a:ext>
            </a:extLst>
          </p:cNvPr>
          <p:cNvSpPr txBox="1"/>
          <p:nvPr/>
        </p:nvSpPr>
        <p:spPr>
          <a:xfrm>
            <a:off x="1197868" y="2060848"/>
            <a:ext cx="6335389" cy="2342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Many websites let you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"Sign in with Google."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Instead of building a new authentication system,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developers reuse Google's authentication service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C2A75-EE0D-0AEE-B216-3D336010A4B6}"/>
              </a:ext>
            </a:extLst>
          </p:cNvPr>
          <p:cNvSpPr txBox="1"/>
          <p:nvPr/>
        </p:nvSpPr>
        <p:spPr>
          <a:xfrm>
            <a:off x="2998068" y="4581128"/>
            <a:ext cx="3518912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Don't reinvent the wheel</a:t>
            </a:r>
          </a:p>
        </p:txBody>
      </p:sp>
    </p:spTree>
    <p:extLst>
      <p:ext uri="{BB962C8B-B14F-4D97-AF65-F5344CB8AC3E}">
        <p14:creationId xmlns:p14="http://schemas.microsoft.com/office/powerpoint/2010/main" val="174395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8201-21C9-00A3-DCE6-04BFBB23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76536"/>
          </a:xfrm>
        </p:spPr>
        <p:txBody>
          <a:bodyPr/>
          <a:lstStyle/>
          <a:p>
            <a:r>
              <a:rPr lang="en-IN" dirty="0"/>
              <a:t>7. Think!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15D30-4D46-13A0-F027-BAC1CE8AC909}"/>
              </a:ext>
            </a:extLst>
          </p:cNvPr>
          <p:cNvSpPr txBox="1"/>
          <p:nvPr/>
        </p:nvSpPr>
        <p:spPr>
          <a:xfrm>
            <a:off x="1117309" y="1196752"/>
            <a:ext cx="943304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Before writing code, </a:t>
            </a:r>
            <a:r>
              <a:rPr lang="en-US" sz="2000" b="1" dirty="0"/>
              <a:t>think carefully about the problem and the solution</a:t>
            </a:r>
            <a:endParaRPr lang="en-US" sz="2000" dirty="0"/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55754B-BFE1-196A-834C-196BC939F56D}"/>
              </a:ext>
            </a:extLst>
          </p:cNvPr>
          <p:cNvSpPr txBox="1"/>
          <p:nvPr/>
        </p:nvSpPr>
        <p:spPr>
          <a:xfrm>
            <a:off x="1094896" y="1772816"/>
            <a:ext cx="4618178" cy="465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Suppose someone asks you to travel from Mumbai to Pune.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Would you start driving without checking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Route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Fuel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Traffic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You think first.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Then start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07D35-8122-3910-517F-BE8BF5022F6E}"/>
              </a:ext>
            </a:extLst>
          </p:cNvPr>
          <p:cNvSpPr txBox="1"/>
          <p:nvPr/>
        </p:nvSpPr>
        <p:spPr>
          <a:xfrm>
            <a:off x="6094412" y="1814604"/>
            <a:ext cx="6045245" cy="4078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Customer says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"I need an online examination system."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 good developer first asks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Who will use it?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many students?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Should it support multiple-choice questions?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will results be generated?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Then starts development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9021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A91377-BD00-7B46-3781-C5758D614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314075"/>
              </p:ext>
            </p:extLst>
          </p:nvPr>
        </p:nvGraphicFramePr>
        <p:xfrm>
          <a:off x="837828" y="404664"/>
          <a:ext cx="10081119" cy="6048674"/>
        </p:xfrm>
        <a:graphic>
          <a:graphicData uri="http://schemas.openxmlformats.org/drawingml/2006/table">
            <a:tbl>
              <a:tblPr/>
              <a:tblGrid>
                <a:gridCol w="3360373">
                  <a:extLst>
                    <a:ext uri="{9D8B030D-6E8A-4147-A177-3AD203B41FA5}">
                      <a16:colId xmlns:a16="http://schemas.microsoft.com/office/drawing/2014/main" val="1280175520"/>
                    </a:ext>
                  </a:extLst>
                </a:gridCol>
                <a:gridCol w="3360373">
                  <a:extLst>
                    <a:ext uri="{9D8B030D-6E8A-4147-A177-3AD203B41FA5}">
                      <a16:colId xmlns:a16="http://schemas.microsoft.com/office/drawing/2014/main" val="1887189988"/>
                    </a:ext>
                  </a:extLst>
                </a:gridCol>
                <a:gridCol w="3360373">
                  <a:extLst>
                    <a:ext uri="{9D8B030D-6E8A-4147-A177-3AD203B41FA5}">
                      <a16:colId xmlns:a16="http://schemas.microsoft.com/office/drawing/2014/main" val="1099261605"/>
                    </a:ext>
                  </a:extLst>
                </a:gridCol>
              </a:tblGrid>
              <a:tr h="397938">
                <a:tc>
                  <a:txBody>
                    <a:bodyPr/>
                    <a:lstStyle/>
                    <a:p>
                      <a:r>
                        <a:rPr lang="en-IN" sz="1800" b="1" dirty="0"/>
                        <a:t>Principle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Simple Meaning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Easy Memory Trick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151908"/>
                  </a:ext>
                </a:extLst>
              </a:tr>
              <a:tr h="716290">
                <a:tc>
                  <a:txBody>
                    <a:bodyPr/>
                    <a:lstStyle/>
                    <a:p>
                      <a:r>
                        <a:rPr lang="en-US" sz="1600" dirty="0"/>
                        <a:t>The Reason It All Exists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Solve the customer's problem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Software solves problems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201969"/>
                  </a:ext>
                </a:extLst>
              </a:tr>
              <a:tr h="716290">
                <a:tc>
                  <a:txBody>
                    <a:bodyPr/>
                    <a:lstStyle/>
                    <a:p>
                      <a:r>
                        <a:rPr lang="en-US" sz="1600" dirty="0"/>
                        <a:t>Keep It Simple, Stupid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Avoid unnecessary complexity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Simple is better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904095"/>
                  </a:ext>
                </a:extLst>
              </a:tr>
              <a:tr h="1034643">
                <a:tc>
                  <a:txBody>
                    <a:bodyPr/>
                    <a:lstStyle/>
                    <a:p>
                      <a:r>
                        <a:rPr lang="en-IN" sz="1600"/>
                        <a:t>Maintain the Vision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Everyone works toward the same goal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One project, one vision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705531"/>
                  </a:ext>
                </a:extLst>
              </a:tr>
              <a:tr h="1034643">
                <a:tc>
                  <a:txBody>
                    <a:bodyPr/>
                    <a:lstStyle/>
                    <a:p>
                      <a:r>
                        <a:rPr lang="en-US" sz="1600"/>
                        <a:t>What You Produce, Others Will Consume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Write clean, maintainable software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Code for humans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837535"/>
                  </a:ext>
                </a:extLst>
              </a:tr>
              <a:tr h="716290">
                <a:tc>
                  <a:txBody>
                    <a:bodyPr/>
                    <a:lstStyle/>
                    <a:p>
                      <a:r>
                        <a:rPr lang="en-US" sz="1600"/>
                        <a:t>Be Open to the Future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Design for future changes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Future-ready software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986434"/>
                  </a:ext>
                </a:extLst>
              </a:tr>
              <a:tr h="716290">
                <a:tc>
                  <a:txBody>
                    <a:bodyPr/>
                    <a:lstStyle/>
                    <a:p>
                      <a:r>
                        <a:rPr lang="en-IN" sz="1600"/>
                        <a:t>Plan Ahead for Reuse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Reuse existing components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Don't reinvent the wheel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281862"/>
                  </a:ext>
                </a:extLst>
              </a:tr>
              <a:tr h="716290">
                <a:tc>
                  <a:txBody>
                    <a:bodyPr/>
                    <a:lstStyle/>
                    <a:p>
                      <a:r>
                        <a:rPr lang="en-IN" sz="1600"/>
                        <a:t>Think!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Understand before building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Think before you code</a:t>
                      </a:r>
                    </a:p>
                  </a:txBody>
                  <a:tcPr marL="58821" marR="58821" marT="29411" marB="29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820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93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448</TotalTime>
  <Words>1209</Words>
  <Application>Microsoft Office PowerPoint</Application>
  <PresentationFormat>Custom</PresentationFormat>
  <Paragraphs>301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Century Gothic</vt:lpstr>
      <vt:lpstr>Class open house presentation</vt:lpstr>
      <vt:lpstr>Introduction to Software Engineering</vt:lpstr>
      <vt:lpstr>Software Application Domains &amp; Categories</vt:lpstr>
      <vt:lpstr>1. System Software</vt:lpstr>
      <vt:lpstr>2. Application Software</vt:lpstr>
      <vt:lpstr>3. Engineering &amp; Scientific Software</vt:lpstr>
      <vt:lpstr>4. Embedded Software</vt:lpstr>
      <vt:lpstr>5. Product-Line Software</vt:lpstr>
      <vt:lpstr>6. Web Applications</vt:lpstr>
      <vt:lpstr>7. Artificial Intelligence Software</vt:lpstr>
      <vt:lpstr>8. Open-World Computing</vt:lpstr>
      <vt:lpstr>9. Legacy Software</vt:lpstr>
      <vt:lpstr>PowerPoint Presentation</vt:lpstr>
      <vt:lpstr>General Principles of Software Engineering</vt:lpstr>
      <vt:lpstr>1. The Reason It All Exists</vt:lpstr>
      <vt:lpstr>2. Keep It Simple, Stupid</vt:lpstr>
      <vt:lpstr>3. Maintain the Vision</vt:lpstr>
      <vt:lpstr>4. What You Produce, Others Will Consume</vt:lpstr>
      <vt:lpstr>5. Be Open to the Future</vt:lpstr>
      <vt:lpstr>6. Plan Ahead for Reuse</vt:lpstr>
      <vt:lpstr>7. Think!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99</cp:revision>
  <dcterms:created xsi:type="dcterms:W3CDTF">2026-07-15T13:08:00Z</dcterms:created>
  <dcterms:modified xsi:type="dcterms:W3CDTF">2026-07-26T06:44:14Z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