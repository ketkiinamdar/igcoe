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92" r:id="rId1"/>
  </p:sldMasterIdLst>
  <p:notesMasterIdLst>
    <p:notesMasterId r:id="rId37"/>
  </p:notesMasterIdLst>
  <p:handoutMasterIdLst>
    <p:handoutMasterId r:id="rId38"/>
  </p:handoutMasterIdLst>
  <p:sldIdLst>
    <p:sldId id="257" r:id="rId2"/>
    <p:sldId id="267" r:id="rId3"/>
    <p:sldId id="287" r:id="rId4"/>
    <p:sldId id="288" r:id="rId5"/>
    <p:sldId id="310" r:id="rId6"/>
    <p:sldId id="311" r:id="rId7"/>
    <p:sldId id="309" r:id="rId8"/>
    <p:sldId id="334" r:id="rId9"/>
    <p:sldId id="289" r:id="rId10"/>
    <p:sldId id="312" r:id="rId11"/>
    <p:sldId id="313" r:id="rId12"/>
    <p:sldId id="335" r:id="rId13"/>
    <p:sldId id="290" r:id="rId14"/>
    <p:sldId id="315" r:id="rId15"/>
    <p:sldId id="317" r:id="rId16"/>
    <p:sldId id="336" r:id="rId17"/>
    <p:sldId id="291" r:id="rId18"/>
    <p:sldId id="316" r:id="rId19"/>
    <p:sldId id="318" r:id="rId20"/>
    <p:sldId id="319" r:id="rId21"/>
    <p:sldId id="320" r:id="rId22"/>
    <p:sldId id="321" r:id="rId23"/>
    <p:sldId id="322" r:id="rId24"/>
    <p:sldId id="323" r:id="rId25"/>
    <p:sldId id="324" r:id="rId26"/>
    <p:sldId id="332" r:id="rId27"/>
    <p:sldId id="325" r:id="rId28"/>
    <p:sldId id="326" r:id="rId29"/>
    <p:sldId id="327" r:id="rId30"/>
    <p:sldId id="328" r:id="rId31"/>
    <p:sldId id="333" r:id="rId32"/>
    <p:sldId id="329" r:id="rId33"/>
    <p:sldId id="330" r:id="rId34"/>
    <p:sldId id="314" r:id="rId35"/>
    <p:sldId id="331" r:id="rId36"/>
  </p:sldIdLst>
  <p:sldSz cx="12188825" cy="6858000"/>
  <p:notesSz cx="6858000" cy="9144000"/>
  <p:defaultTextStyle>
    <a:defPPr>
      <a:defRPr lang="en-US"/>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orient="horz" pos="945">
          <p15:clr>
            <a:srgbClr val="A4A3A4"/>
          </p15:clr>
        </p15:guide>
        <p15:guide id="3" orient="horz" pos="3888">
          <p15:clr>
            <a:srgbClr val="A4A3A4"/>
          </p15:clr>
        </p15:guide>
        <p15:guide id="4" orient="horz" pos="192">
          <p15:clr>
            <a:srgbClr val="A4A3A4"/>
          </p15:clr>
        </p15:guide>
        <p15:guide id="5" orient="horz" pos="1072">
          <p15:clr>
            <a:srgbClr val="A4A3A4"/>
          </p15:clr>
        </p15:guide>
        <p15:guide id="6" pos="3839">
          <p15:clr>
            <a:srgbClr val="A4A3A4"/>
          </p15:clr>
        </p15:guide>
        <p15:guide id="7" pos="704">
          <p15:clr>
            <a:srgbClr val="A4A3A4"/>
          </p15:clr>
        </p15:guide>
        <p15:guide id="8" pos="7102">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BDBED569-4797-4DF1-A0F4-6AAB3CD982D8}">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6182" autoAdjust="0"/>
  </p:normalViewPr>
  <p:slideViewPr>
    <p:cSldViewPr showGuides="1">
      <p:cViewPr varScale="1">
        <p:scale>
          <a:sx n="82" d="100"/>
          <a:sy n="82" d="100"/>
        </p:scale>
        <p:origin x="720" y="72"/>
      </p:cViewPr>
      <p:guideLst>
        <p:guide orient="horz" pos="2160"/>
        <p:guide orient="horz" pos="945"/>
        <p:guide orient="horz" pos="3888"/>
        <p:guide orient="horz" pos="192"/>
        <p:guide orient="horz" pos="1072"/>
        <p:guide pos="3839"/>
        <p:guide pos="704"/>
        <p:guide pos="7102"/>
      </p:guideLst>
    </p:cSldViewPr>
  </p:slideViewPr>
  <p:outlineViewPr>
    <p:cViewPr>
      <p:scale>
        <a:sx n="33" d="100"/>
        <a:sy n="33" d="100"/>
      </p:scale>
      <p:origin x="0" y="-2886"/>
    </p:cViewPr>
  </p:outlineViewPr>
  <p:notesTextViewPr>
    <p:cViewPr>
      <p:scale>
        <a:sx n="3" d="2"/>
        <a:sy n="3" d="2"/>
      </p:scale>
      <p:origin x="0" y="0"/>
    </p:cViewPr>
  </p:notesTextViewPr>
  <p:notesViewPr>
    <p:cSldViewPr>
      <p:cViewPr varScale="1">
        <p:scale>
          <a:sx n="79" d="100"/>
          <a:sy n="79" d="100"/>
        </p:scale>
        <p:origin x="1644" y="96"/>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a:solidFill>
                <a:schemeClr val="tx2"/>
              </a:solidFill>
            </a:endParaRPr>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E973C59C-4E16-4A64-A766-34DB213E11B3}" type="datetimeFigureOut">
              <a:rPr lang="en-US">
                <a:solidFill>
                  <a:schemeClr val="tx2"/>
                </a:solidFill>
              </a:rPr>
              <a:t>7/26/2026</a:t>
            </a:fld>
            <a:endParaRPr>
              <a:solidFill>
                <a:schemeClr val="tx2"/>
              </a:solidFill>
            </a:endParaRPr>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a:solidFill>
                <a:schemeClr val="tx2"/>
              </a:solidFill>
            </a:endParaRPr>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CFD77566-CD65-4859-9FA1-43956DC85B8C}" type="slidenum">
              <a:rPr>
                <a:solidFill>
                  <a:schemeClr val="tx2"/>
                </a:solidFill>
              </a:rPr>
              <a:t>‹#›</a:t>
            </a:fld>
            <a:endParaRPr>
              <a:solidFill>
                <a:schemeClr val="tx2"/>
              </a:solidFill>
            </a:endParaRPr>
          </a:p>
        </p:txBody>
      </p:sp>
    </p:spTree>
    <p:extLst>
      <p:ext uri="{BB962C8B-B14F-4D97-AF65-F5344CB8AC3E}">
        <p14:creationId xmlns:p14="http://schemas.microsoft.com/office/powerpoint/2010/main" val="270879837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solidFill>
                  <a:schemeClr val="tx2"/>
                </a:solidFill>
              </a:defRPr>
            </a:lvl1pPr>
          </a:lstStyle>
          <a:p>
            <a:endParaRPr/>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solidFill>
                  <a:schemeClr val="tx2"/>
                </a:solidFill>
              </a:defRPr>
            </a:lvl1pPr>
          </a:lstStyle>
          <a:p>
            <a:fld id="{F95CF31C-F757-429C-A789-86504F04C3BE}" type="datetimeFigureOut">
              <a:rPr lang="en-US"/>
              <a:pPr/>
              <a:t>7/26/2026</a:t>
            </a:fld>
            <a:endParaRPr/>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t>Click to edit Master text styles</a:t>
            </a:r>
          </a:p>
          <a:p>
            <a:pPr lvl="1"/>
            <a:r>
              <a:t>Second level</a:t>
            </a:r>
          </a:p>
          <a:p>
            <a:pPr lvl="2"/>
            <a:r>
              <a:t>Third level</a:t>
            </a:r>
          </a:p>
          <a:p>
            <a:pPr lvl="3"/>
            <a:r>
              <a:t>Fourth level</a:t>
            </a:r>
          </a:p>
          <a:p>
            <a:pPr lvl="4"/>
            <a:r>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solidFill>
                  <a:schemeClr val="tx2"/>
                </a:solidFill>
              </a:defRPr>
            </a:lvl1pPr>
          </a:lstStyle>
          <a:p>
            <a:endParaRPr/>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solidFill>
                  <a:schemeClr val="tx2"/>
                </a:solidFill>
              </a:defRPr>
            </a:lvl1pPr>
          </a:lstStyle>
          <a:p>
            <a:fld id="{B8796F01-7154-41E0-B48B-A6921757531A}" type="slidenum">
              <a:rPr/>
              <a:pPr/>
              <a:t>‹#›</a:t>
            </a:fld>
            <a:endParaRPr/>
          </a:p>
        </p:txBody>
      </p:sp>
    </p:spTree>
    <p:extLst>
      <p:ext uri="{BB962C8B-B14F-4D97-AF65-F5344CB8AC3E}">
        <p14:creationId xmlns:p14="http://schemas.microsoft.com/office/powerpoint/2010/main" val="44077566"/>
      </p:ext>
    </p:extLst>
  </p:cSld>
  <p:clrMap bg1="lt1" tx1="dk1" bg2="lt2" tx2="dk2" accent1="accent1" accent2="accent2" accent3="accent3" accent4="accent4" accent5="accent5" accent6="accent6" hlink="hlink" folHlink="folHlink"/>
  <p:notesStyle>
    <a:lvl1pPr marL="0" algn="l" defTabSz="1218987" rtl="0" eaLnBrk="1" latinLnBrk="0" hangingPunct="1">
      <a:defRPr sz="1600" kern="1200">
        <a:solidFill>
          <a:schemeClr val="tx2"/>
        </a:solidFill>
        <a:latin typeface="+mn-lt"/>
        <a:ea typeface="+mn-ea"/>
        <a:cs typeface="+mn-cs"/>
      </a:defRPr>
    </a:lvl1pPr>
    <a:lvl2pPr marL="609493" algn="l" defTabSz="1218987" rtl="0" eaLnBrk="1" latinLnBrk="0" hangingPunct="1">
      <a:defRPr sz="1600" kern="1200">
        <a:solidFill>
          <a:schemeClr val="tx2"/>
        </a:solidFill>
        <a:latin typeface="+mn-lt"/>
        <a:ea typeface="+mn-ea"/>
        <a:cs typeface="+mn-cs"/>
      </a:defRPr>
    </a:lvl2pPr>
    <a:lvl3pPr marL="1218987" algn="l" defTabSz="1218987" rtl="0" eaLnBrk="1" latinLnBrk="0" hangingPunct="1">
      <a:defRPr sz="1600" kern="1200">
        <a:solidFill>
          <a:schemeClr val="tx2"/>
        </a:solidFill>
        <a:latin typeface="+mn-lt"/>
        <a:ea typeface="+mn-ea"/>
        <a:cs typeface="+mn-cs"/>
      </a:defRPr>
    </a:lvl3pPr>
    <a:lvl4pPr marL="1828480" algn="l" defTabSz="1218987" rtl="0" eaLnBrk="1" latinLnBrk="0" hangingPunct="1">
      <a:defRPr sz="1600" kern="1200">
        <a:solidFill>
          <a:schemeClr val="tx2"/>
        </a:solidFill>
        <a:latin typeface="+mn-lt"/>
        <a:ea typeface="+mn-ea"/>
        <a:cs typeface="+mn-cs"/>
      </a:defRPr>
    </a:lvl4pPr>
    <a:lvl5pPr marL="2437973" algn="l" defTabSz="1218987" rtl="0" eaLnBrk="1" latinLnBrk="0" hangingPunct="1">
      <a:defRPr sz="1600" kern="1200">
        <a:solidFill>
          <a:schemeClr val="tx2"/>
        </a:solidFill>
        <a:latin typeface="+mn-lt"/>
        <a:ea typeface="+mn-ea"/>
        <a:cs typeface="+mn-cs"/>
      </a:defRPr>
    </a:lvl5pPr>
    <a:lvl6pPr marL="3047467" algn="l" defTabSz="1218987" rtl="0" eaLnBrk="1" latinLnBrk="0" hangingPunct="1">
      <a:defRPr sz="1600" kern="1200">
        <a:solidFill>
          <a:schemeClr val="tx1"/>
        </a:solidFill>
        <a:latin typeface="+mn-lt"/>
        <a:ea typeface="+mn-ea"/>
        <a:cs typeface="+mn-cs"/>
      </a:defRPr>
    </a:lvl6pPr>
    <a:lvl7pPr marL="3656960" algn="l" defTabSz="1218987" rtl="0" eaLnBrk="1" latinLnBrk="0" hangingPunct="1">
      <a:defRPr sz="1600" kern="1200">
        <a:solidFill>
          <a:schemeClr val="tx1"/>
        </a:solidFill>
        <a:latin typeface="+mn-lt"/>
        <a:ea typeface="+mn-ea"/>
        <a:cs typeface="+mn-cs"/>
      </a:defRPr>
    </a:lvl7pPr>
    <a:lvl8pPr marL="4266453" algn="l" defTabSz="1218987" rtl="0" eaLnBrk="1" latinLnBrk="0" hangingPunct="1">
      <a:defRPr sz="1600" kern="1200">
        <a:solidFill>
          <a:schemeClr val="tx1"/>
        </a:solidFill>
        <a:latin typeface="+mn-lt"/>
        <a:ea typeface="+mn-ea"/>
        <a:cs typeface="+mn-cs"/>
      </a:defRPr>
    </a:lvl8pPr>
    <a:lvl9pPr marL="4875947" algn="l" defTabSz="1218987"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8796F01-7154-41E0-B48B-A6921757531A}" type="slidenum">
              <a:rPr lang="en-US" smtClean="0"/>
              <a:pPr/>
              <a:t>1</a:t>
            </a:fld>
            <a:endParaRPr lang="en-US"/>
          </a:p>
        </p:txBody>
      </p:sp>
    </p:spTree>
    <p:extLst>
      <p:ext uri="{BB962C8B-B14F-4D97-AF65-F5344CB8AC3E}">
        <p14:creationId xmlns:p14="http://schemas.microsoft.com/office/powerpoint/2010/main" val="160770578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bwMode="auto">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14" name="Group 13"/>
          <p:cNvGrpSpPr/>
          <p:nvPr/>
        </p:nvGrpSpPr>
        <p:grpSpPr>
          <a:xfrm>
            <a:off x="0" y="0"/>
            <a:ext cx="12190572" cy="6858000"/>
            <a:chOff x="0" y="0"/>
            <a:chExt cx="12190572" cy="6858000"/>
          </a:xfrm>
        </p:grpSpPr>
        <p:sp>
          <p:nvSpPr>
            <p:cNvPr id="13" name="Rectangle 12"/>
            <p:cNvSpPr/>
            <p:nvPr/>
          </p:nvSpPr>
          <p:spPr>
            <a:xfrm>
              <a:off x="1620" y="0"/>
              <a:ext cx="12188952" cy="6858000"/>
            </a:xfrm>
            <a:prstGeom prst="rect">
              <a:avLst/>
            </a:prstGeom>
            <a:gradFill flip="none" rotWithShape="1">
              <a:gsLst>
                <a:gs pos="0">
                  <a:schemeClr val="accent1">
                    <a:lumMod val="50000"/>
                  </a:schemeClr>
                </a:gs>
                <a:gs pos="58000">
                  <a:schemeClr val="accent1">
                    <a:lumMod val="40000"/>
                    <a:lumOff val="60000"/>
                  </a:schemeClr>
                </a:gs>
                <a:gs pos="100000">
                  <a:schemeClr val="accent1">
                    <a:lumMod val="5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a:endParaRPr/>
            </a:p>
          </p:txBody>
        </p:sp>
        <p:grpSp>
          <p:nvGrpSpPr>
            <p:cNvPr id="12" name="Group 11"/>
            <p:cNvGrpSpPr/>
            <p:nvPr/>
          </p:nvGrpSpPr>
          <p:grpSpPr>
            <a:xfrm>
              <a:off x="0" y="0"/>
              <a:ext cx="4742741" cy="6858000"/>
              <a:chOff x="0" y="0"/>
              <a:chExt cx="4742741" cy="6858000"/>
            </a:xfrm>
          </p:grpSpPr>
          <p:pic>
            <p:nvPicPr>
              <p:cNvPr id="9" name="Picture 8" descr="Stacked books"/>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4591594" cy="6858000"/>
              </a:xfrm>
              <a:prstGeom prst="rect">
                <a:avLst/>
              </a:prstGeom>
            </p:spPr>
          </p:pic>
          <p:sp>
            <p:nvSpPr>
              <p:cNvPr id="10" name="Rectangle 9"/>
              <p:cNvSpPr/>
              <p:nvPr/>
            </p:nvSpPr>
            <p:spPr>
              <a:xfrm>
                <a:off x="4605581" y="0"/>
                <a:ext cx="13716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2" name="Title 1"/>
          <p:cNvSpPr>
            <a:spLocks noGrp="1"/>
          </p:cNvSpPr>
          <p:nvPr>
            <p:ph type="ctrTitle"/>
          </p:nvPr>
        </p:nvSpPr>
        <p:spPr>
          <a:xfrm>
            <a:off x="4879346" y="1498601"/>
            <a:ext cx="7008574" cy="3298825"/>
          </a:xfrm>
        </p:spPr>
        <p:txBody>
          <a:bodyPr>
            <a:normAutofit/>
          </a:bodyPr>
          <a:lstStyle>
            <a:lvl1pPr algn="l">
              <a:lnSpc>
                <a:spcPct val="90000"/>
              </a:lnSpc>
              <a:defRPr sz="5400" b="0" cap="none" spc="0" baseline="0">
                <a:ln w="0"/>
                <a:solidFill>
                  <a:schemeClr val="tx2"/>
                </a:solidFill>
                <a:effectLst/>
              </a:defRPr>
            </a:lvl1pPr>
          </a:lstStyle>
          <a:p>
            <a:r>
              <a:rPr lang="en-US"/>
              <a:t>Click to edit Master title style</a:t>
            </a:r>
            <a:endParaRPr dirty="0"/>
          </a:p>
        </p:txBody>
      </p:sp>
      <p:sp>
        <p:nvSpPr>
          <p:cNvPr id="3" name="Subtitle 2"/>
          <p:cNvSpPr>
            <a:spLocks noGrp="1"/>
          </p:cNvSpPr>
          <p:nvPr>
            <p:ph type="subTitle" idx="1"/>
          </p:nvPr>
        </p:nvSpPr>
        <p:spPr>
          <a:xfrm>
            <a:off x="4879346" y="4927600"/>
            <a:ext cx="7008574" cy="1244600"/>
          </a:xfrm>
        </p:spPr>
        <p:txBody>
          <a:bodyPr>
            <a:normAutofit/>
          </a:bodyPr>
          <a:lstStyle>
            <a:lvl1pPr marL="0" indent="0" algn="l">
              <a:spcBef>
                <a:spcPts val="0"/>
              </a:spcBef>
              <a:buNone/>
              <a:defRPr sz="2800" b="0" cap="none" spc="0">
                <a:ln w="0"/>
                <a:solidFill>
                  <a:schemeClr val="accent2">
                    <a:lumMod val="50000"/>
                  </a:schemeClr>
                </a:solidFill>
                <a:effectLst/>
              </a:defRPr>
            </a:lvl1pPr>
            <a:lvl2pPr marL="609493" indent="0" algn="ctr">
              <a:buNone/>
              <a:defRPr>
                <a:solidFill>
                  <a:schemeClr val="tx1">
                    <a:tint val="75000"/>
                  </a:schemeClr>
                </a:solidFill>
              </a:defRPr>
            </a:lvl2pPr>
            <a:lvl3pPr marL="1218987" indent="0" algn="ctr">
              <a:buNone/>
              <a:defRPr>
                <a:solidFill>
                  <a:schemeClr val="tx1">
                    <a:tint val="75000"/>
                  </a:schemeClr>
                </a:solidFill>
              </a:defRPr>
            </a:lvl3pPr>
            <a:lvl4pPr marL="1828480" indent="0" algn="ctr">
              <a:buNone/>
              <a:defRPr>
                <a:solidFill>
                  <a:schemeClr val="tx1">
                    <a:tint val="75000"/>
                  </a:schemeClr>
                </a:solidFill>
              </a:defRPr>
            </a:lvl4pPr>
            <a:lvl5pPr marL="2437973" indent="0" algn="ctr">
              <a:buNone/>
              <a:defRPr>
                <a:solidFill>
                  <a:schemeClr val="tx1">
                    <a:tint val="75000"/>
                  </a:schemeClr>
                </a:solidFill>
              </a:defRPr>
            </a:lvl5pPr>
            <a:lvl6pPr marL="3047467" indent="0" algn="ctr">
              <a:buNone/>
              <a:defRPr>
                <a:solidFill>
                  <a:schemeClr val="tx1">
                    <a:tint val="75000"/>
                  </a:schemeClr>
                </a:solidFill>
              </a:defRPr>
            </a:lvl6pPr>
            <a:lvl7pPr marL="3656960" indent="0" algn="ctr">
              <a:buNone/>
              <a:defRPr>
                <a:solidFill>
                  <a:schemeClr val="tx1">
                    <a:tint val="75000"/>
                  </a:schemeClr>
                </a:solidFill>
              </a:defRPr>
            </a:lvl7pPr>
            <a:lvl8pPr marL="4266453" indent="0" algn="ctr">
              <a:buNone/>
              <a:defRPr>
                <a:solidFill>
                  <a:schemeClr val="tx1">
                    <a:tint val="75000"/>
                  </a:schemeClr>
                </a:solidFill>
              </a:defRPr>
            </a:lvl8pPr>
            <a:lvl9pPr marL="4875947" indent="0" algn="ctr">
              <a:buNone/>
              <a:defRPr>
                <a:solidFill>
                  <a:schemeClr val="tx1">
                    <a:tint val="75000"/>
                  </a:schemeClr>
                </a:solidFill>
              </a:defRPr>
            </a:lvl9pPr>
          </a:lstStyle>
          <a:p>
            <a:r>
              <a:rPr lang="en-US"/>
              <a:t>Click to edit Master subtitle style</a:t>
            </a:r>
            <a:endParaRPr dirty="0"/>
          </a:p>
        </p:txBody>
      </p:sp>
      <p:sp>
        <p:nvSpPr>
          <p:cNvPr id="5" name="Date Placeholder 4"/>
          <p:cNvSpPr>
            <a:spLocks noGrp="1"/>
          </p:cNvSpPr>
          <p:nvPr>
            <p:ph type="dt" sz="half" idx="10"/>
          </p:nvPr>
        </p:nvSpPr>
        <p:spPr/>
        <p:txBody>
          <a:bodyPr/>
          <a:lstStyle/>
          <a:p>
            <a:fld id="{5706A09E-12D5-4B1D-B8BB-C300B1DDD423}" type="datetime1">
              <a:rPr lang="en-US" smtClean="0"/>
              <a:t>7/26/2026</a:t>
            </a:fld>
            <a:endParaRPr lang="en-US"/>
          </a:p>
        </p:txBody>
      </p:sp>
      <p:sp>
        <p:nvSpPr>
          <p:cNvPr id="7" name="Footer Placeholder 6"/>
          <p:cNvSpPr>
            <a:spLocks noGrp="1"/>
          </p:cNvSpPr>
          <p:nvPr>
            <p:ph type="ftr" sz="quarter" idx="11"/>
          </p:nvPr>
        </p:nvSpPr>
        <p:spPr/>
        <p:txBody>
          <a:bodyPr/>
          <a:lstStyle/>
          <a:p>
            <a:r>
              <a:rPr lang="en-US" dirty="0"/>
              <a:t>Add a footer</a:t>
            </a:r>
          </a:p>
        </p:txBody>
      </p:sp>
      <p:sp>
        <p:nvSpPr>
          <p:cNvPr id="11" name="Slide Number Placeholder 10"/>
          <p:cNvSpPr>
            <a:spLocks noGrp="1"/>
          </p:cNvSpPr>
          <p:nvPr>
            <p:ph type="sldNum" sz="quarter" idx="12"/>
          </p:nvPr>
        </p:nvSpPr>
        <p:spPr/>
        <p:txBody>
          <a:bodyPr/>
          <a:lstStyle/>
          <a:p>
            <a:fld id="{EB37DED6-D4C7-42EE-AB49-D2E39E64FDE4}" type="slidenum">
              <a:rPr lang="en-US" smtClean="0"/>
              <a:pPr/>
              <a:t>‹#›</a:t>
            </a:fld>
            <a:endParaRPr lang="en-US"/>
          </a:p>
        </p:txBody>
      </p:sp>
    </p:spTree>
    <p:extLst>
      <p:ext uri="{BB962C8B-B14F-4D97-AF65-F5344CB8AC3E}">
        <p14:creationId xmlns:p14="http://schemas.microsoft.com/office/powerpoint/2010/main" val="332201210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idx="1"/>
          </p:nvPr>
        </p:nvSpPr>
        <p:spPr/>
        <p:txBody>
          <a:bodyPr/>
          <a:lstStyle>
            <a:lvl5pPr>
              <a:defRPr/>
            </a:lvl5pPr>
            <a:lvl6pPr>
              <a:defRPr/>
            </a:lvl6pPr>
            <a:lvl7pPr>
              <a:defRPr baseline="0"/>
            </a:lvl7pPr>
            <a:lvl8pPr>
              <a:defRPr baseline="0"/>
            </a:lvl8pPr>
            <a:lvl9pPr>
              <a:defRPr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15A9377B-053C-438C-8A98-92C419A6701C}" type="datetime1">
              <a:rPr lang="en-US" smtClean="0"/>
              <a:t>7/26/2026</a:t>
            </a:fld>
            <a:endParaRPr lang="en-US"/>
          </a:p>
        </p:txBody>
      </p:sp>
      <p:sp>
        <p:nvSpPr>
          <p:cNvPr id="5" name="Footer Placeholder 4"/>
          <p:cNvSpPr>
            <a:spLocks noGrp="1"/>
          </p:cNvSpPr>
          <p:nvPr>
            <p:ph type="ftr" sz="quarter" idx="11"/>
          </p:nvPr>
        </p:nvSpPr>
        <p:spPr/>
        <p:txBody>
          <a:bodyPr/>
          <a:lstStyle/>
          <a:p>
            <a:r>
              <a:rPr lang="en-US" dirty="0"/>
              <a:t>Add a footer</a:t>
            </a:r>
          </a:p>
        </p:txBody>
      </p:sp>
      <p:sp>
        <p:nvSpPr>
          <p:cNvPr id="6" name="Slide Number Placeholder 5"/>
          <p:cNvSpPr>
            <a:spLocks noGrp="1"/>
          </p:cNvSpPr>
          <p:nvPr>
            <p:ph type="sldNum" sz="quarter" idx="12"/>
          </p:nvPr>
        </p:nvSpPr>
        <p:spPr/>
        <p:txBody>
          <a:bodyPr/>
          <a:lstStyle/>
          <a:p>
            <a:fld id="{DA60BA0E-20D0-4E7C-B286-26C960A6788F}" type="slidenum">
              <a:rPr lang="en-US" smtClean="0"/>
              <a:t>‹#›</a:t>
            </a:fld>
            <a:endParaRPr lang="en-US"/>
          </a:p>
        </p:txBody>
      </p:sp>
    </p:spTree>
    <p:extLst>
      <p:ext uri="{BB962C8B-B14F-4D97-AF65-F5344CB8AC3E}">
        <p14:creationId xmlns:p14="http://schemas.microsoft.com/office/powerpoint/2010/main" val="28653597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Section Header">
    <p:bg bwMode="auto">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12" name="Group 11"/>
          <p:cNvGrpSpPr/>
          <p:nvPr/>
        </p:nvGrpSpPr>
        <p:grpSpPr>
          <a:xfrm>
            <a:off x="1620" y="0"/>
            <a:ext cx="12188952" cy="6858000"/>
            <a:chOff x="1620" y="0"/>
            <a:chExt cx="12188952" cy="6858000"/>
          </a:xfrm>
        </p:grpSpPr>
        <p:sp>
          <p:nvSpPr>
            <p:cNvPr id="4" name="Rectangle 3"/>
            <p:cNvSpPr/>
            <p:nvPr/>
          </p:nvSpPr>
          <p:spPr>
            <a:xfrm>
              <a:off x="1620" y="0"/>
              <a:ext cx="12188952" cy="6858000"/>
            </a:xfrm>
            <a:prstGeom prst="rect">
              <a:avLst/>
            </a:prstGeom>
            <a:gradFill flip="none" rotWithShape="1">
              <a:gsLst>
                <a:gs pos="0">
                  <a:schemeClr val="accent1">
                    <a:lumMod val="50000"/>
                  </a:schemeClr>
                </a:gs>
                <a:gs pos="58000">
                  <a:schemeClr val="accent1">
                    <a:lumMod val="40000"/>
                    <a:lumOff val="60000"/>
                  </a:schemeClr>
                </a:gs>
                <a:gs pos="100000">
                  <a:schemeClr val="accent1">
                    <a:lumMod val="5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a:endParaRPr/>
            </a:p>
          </p:txBody>
        </p:sp>
        <p:pic>
          <p:nvPicPr>
            <p:cNvPr id="10" name="Picture 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98818" y="0"/>
              <a:ext cx="4591594" cy="6858000"/>
            </a:xfrm>
            <a:prstGeom prst="rect">
              <a:avLst/>
            </a:prstGeom>
          </p:spPr>
        </p:pic>
        <p:sp>
          <p:nvSpPr>
            <p:cNvPr id="11" name="Rectangle 10"/>
            <p:cNvSpPr/>
            <p:nvPr/>
          </p:nvSpPr>
          <p:spPr>
            <a:xfrm>
              <a:off x="7481252" y="0"/>
              <a:ext cx="13716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a:solidFill>
                  <a:schemeClr val="tx2"/>
                </a:solidFill>
              </a:endParaRPr>
            </a:p>
          </p:txBody>
        </p:sp>
      </p:grpSp>
      <p:pic>
        <p:nvPicPr>
          <p:cNvPr id="5" name="Picture 4" descr="Stacked books"/>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98818" y="0"/>
            <a:ext cx="4591594" cy="6858000"/>
          </a:xfrm>
          <a:prstGeom prst="rect">
            <a:avLst/>
          </a:prstGeom>
        </p:spPr>
      </p:pic>
      <p:sp>
        <p:nvSpPr>
          <p:cNvPr id="7" name="Title 1"/>
          <p:cNvSpPr>
            <a:spLocks noGrp="1"/>
          </p:cNvSpPr>
          <p:nvPr>
            <p:ph type="ctrTitle"/>
          </p:nvPr>
        </p:nvSpPr>
        <p:spPr>
          <a:xfrm>
            <a:off x="237149" y="1498601"/>
            <a:ext cx="7008574" cy="3298825"/>
          </a:xfrm>
        </p:spPr>
        <p:txBody>
          <a:bodyPr>
            <a:normAutofit/>
          </a:bodyPr>
          <a:lstStyle>
            <a:lvl1pPr algn="l">
              <a:lnSpc>
                <a:spcPct val="90000"/>
              </a:lnSpc>
              <a:defRPr sz="5400" b="0" cap="none" spc="0" baseline="0">
                <a:ln w="0"/>
                <a:solidFill>
                  <a:schemeClr val="tx2"/>
                </a:solidFill>
                <a:effectLst/>
              </a:defRPr>
            </a:lvl1pPr>
          </a:lstStyle>
          <a:p>
            <a:r>
              <a:rPr lang="en-US"/>
              <a:t>Click to edit Master title style</a:t>
            </a:r>
            <a:endParaRPr dirty="0"/>
          </a:p>
        </p:txBody>
      </p:sp>
      <p:sp>
        <p:nvSpPr>
          <p:cNvPr id="8" name="Subtitle 2"/>
          <p:cNvSpPr>
            <a:spLocks noGrp="1"/>
          </p:cNvSpPr>
          <p:nvPr>
            <p:ph type="subTitle" idx="1"/>
          </p:nvPr>
        </p:nvSpPr>
        <p:spPr>
          <a:xfrm>
            <a:off x="237149" y="4927600"/>
            <a:ext cx="7008574" cy="1244600"/>
          </a:xfrm>
        </p:spPr>
        <p:txBody>
          <a:bodyPr>
            <a:normAutofit/>
          </a:bodyPr>
          <a:lstStyle>
            <a:lvl1pPr marL="0" indent="0" algn="l">
              <a:spcBef>
                <a:spcPts val="0"/>
              </a:spcBef>
              <a:buNone/>
              <a:defRPr sz="2800" b="0" cap="none" spc="0">
                <a:ln w="0"/>
                <a:solidFill>
                  <a:schemeClr val="accent2">
                    <a:lumMod val="50000"/>
                  </a:schemeClr>
                </a:solidFill>
                <a:effectLst/>
              </a:defRPr>
            </a:lvl1pPr>
            <a:lvl2pPr marL="609493" indent="0" algn="ctr">
              <a:buNone/>
              <a:defRPr>
                <a:solidFill>
                  <a:schemeClr val="tx1">
                    <a:tint val="75000"/>
                  </a:schemeClr>
                </a:solidFill>
              </a:defRPr>
            </a:lvl2pPr>
            <a:lvl3pPr marL="1218987" indent="0" algn="ctr">
              <a:buNone/>
              <a:defRPr>
                <a:solidFill>
                  <a:schemeClr val="tx1">
                    <a:tint val="75000"/>
                  </a:schemeClr>
                </a:solidFill>
              </a:defRPr>
            </a:lvl3pPr>
            <a:lvl4pPr marL="1828480" indent="0" algn="ctr">
              <a:buNone/>
              <a:defRPr>
                <a:solidFill>
                  <a:schemeClr val="tx1">
                    <a:tint val="75000"/>
                  </a:schemeClr>
                </a:solidFill>
              </a:defRPr>
            </a:lvl4pPr>
            <a:lvl5pPr marL="2437973" indent="0" algn="ctr">
              <a:buNone/>
              <a:defRPr>
                <a:solidFill>
                  <a:schemeClr val="tx1">
                    <a:tint val="75000"/>
                  </a:schemeClr>
                </a:solidFill>
              </a:defRPr>
            </a:lvl5pPr>
            <a:lvl6pPr marL="3047467" indent="0" algn="ctr">
              <a:buNone/>
              <a:defRPr>
                <a:solidFill>
                  <a:schemeClr val="tx1">
                    <a:tint val="75000"/>
                  </a:schemeClr>
                </a:solidFill>
              </a:defRPr>
            </a:lvl6pPr>
            <a:lvl7pPr marL="3656960" indent="0" algn="ctr">
              <a:buNone/>
              <a:defRPr>
                <a:solidFill>
                  <a:schemeClr val="tx1">
                    <a:tint val="75000"/>
                  </a:schemeClr>
                </a:solidFill>
              </a:defRPr>
            </a:lvl7pPr>
            <a:lvl8pPr marL="4266453" indent="0" algn="ctr">
              <a:buNone/>
              <a:defRPr>
                <a:solidFill>
                  <a:schemeClr val="tx1">
                    <a:tint val="75000"/>
                  </a:schemeClr>
                </a:solidFill>
              </a:defRPr>
            </a:lvl8pPr>
            <a:lvl9pPr marL="4875947" indent="0" algn="ctr">
              <a:buNone/>
              <a:defRPr>
                <a:solidFill>
                  <a:schemeClr val="tx1">
                    <a:tint val="75000"/>
                  </a:schemeClr>
                </a:solidFill>
              </a:defRPr>
            </a:lvl9pPr>
          </a:lstStyle>
          <a:p>
            <a:r>
              <a:rPr lang="en-US"/>
              <a:t>Click to edit Master subtitle style</a:t>
            </a:r>
            <a:endParaRPr dirty="0"/>
          </a:p>
        </p:txBody>
      </p:sp>
      <p:sp>
        <p:nvSpPr>
          <p:cNvPr id="2" name="Date Placeholder 1"/>
          <p:cNvSpPr>
            <a:spLocks noGrp="1"/>
          </p:cNvSpPr>
          <p:nvPr>
            <p:ph type="dt" sz="half" idx="10"/>
          </p:nvPr>
        </p:nvSpPr>
        <p:spPr/>
        <p:txBody>
          <a:bodyPr/>
          <a:lstStyle/>
          <a:p>
            <a:fld id="{B07CEF46-0123-4A75-9835-49DC49D53DE2}" type="datetime1">
              <a:rPr lang="en-US" smtClean="0"/>
              <a:t>7/26/2026</a:t>
            </a:fld>
            <a:endParaRPr lang="en-US"/>
          </a:p>
        </p:txBody>
      </p:sp>
      <p:sp>
        <p:nvSpPr>
          <p:cNvPr id="3" name="Footer Placeholder 2"/>
          <p:cNvSpPr>
            <a:spLocks noGrp="1"/>
          </p:cNvSpPr>
          <p:nvPr>
            <p:ph type="ftr" sz="quarter" idx="11"/>
          </p:nvPr>
        </p:nvSpPr>
        <p:spPr/>
        <p:txBody>
          <a:bodyPr/>
          <a:lstStyle/>
          <a:p>
            <a:r>
              <a:rPr lang="en-US" dirty="0"/>
              <a:t>Add a footer</a:t>
            </a:r>
          </a:p>
        </p:txBody>
      </p:sp>
      <p:sp>
        <p:nvSpPr>
          <p:cNvPr id="9" name="Slide Number Placeholder 8"/>
          <p:cNvSpPr>
            <a:spLocks noGrp="1"/>
          </p:cNvSpPr>
          <p:nvPr>
            <p:ph type="sldNum" sz="quarter" idx="12"/>
          </p:nvPr>
        </p:nvSpPr>
        <p:spPr/>
        <p:txBody>
          <a:bodyPr/>
          <a:lstStyle/>
          <a:p>
            <a:fld id="{EB37DED6-D4C7-42EE-AB49-D2E39E64FDE4}" type="slidenum">
              <a:rPr lang="en-US" smtClean="0"/>
              <a:pPr/>
              <a:t>‹#›</a:t>
            </a:fld>
            <a:endParaRPr lang="en-US"/>
          </a:p>
        </p:txBody>
      </p:sp>
    </p:spTree>
    <p:extLst>
      <p:ext uri="{BB962C8B-B14F-4D97-AF65-F5344CB8AC3E}">
        <p14:creationId xmlns:p14="http://schemas.microsoft.com/office/powerpoint/2010/main" val="305258273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hasCustomPrompt="1"/>
          </p:nvPr>
        </p:nvSpPr>
        <p:spPr>
          <a:xfrm>
            <a:off x="1117309" y="1701800"/>
            <a:ext cx="4977104" cy="4470400"/>
          </a:xfrm>
        </p:spPr>
        <p:txBody>
          <a:bodyPr>
            <a:normAutofit/>
          </a:bodyPr>
          <a:lstStyle>
            <a:lvl1pPr>
              <a:defRPr sz="2400"/>
            </a:lvl1pPr>
            <a:lvl2pPr>
              <a:defRPr sz="2000"/>
            </a:lvl2pPr>
            <a:lvl3pPr>
              <a:defRPr sz="1800"/>
            </a:lvl3pPr>
            <a:lvl4pPr>
              <a:defRPr sz="1800"/>
            </a:lvl4pPr>
            <a:lvl5pPr marL="2011328">
              <a:defRPr sz="1800"/>
            </a:lvl5pPr>
            <a:lvl6pPr marL="2297078" indent="-285750">
              <a:buFont typeface="Century Gothic" panose="020B0502020202020204" pitchFamily="34" charset="0"/>
              <a:buChar char="–"/>
              <a:defRPr sz="1800"/>
            </a:lvl6pPr>
            <a:lvl7pPr marL="2568575" indent="-285750">
              <a:buFont typeface="Century Gothic" panose="020B0502020202020204" pitchFamily="34" charset="0"/>
              <a:buChar char="–"/>
              <a:defRPr sz="1800"/>
            </a:lvl7pPr>
            <a:lvl8pPr marL="2860675" indent="-285750">
              <a:defRPr sz="1800"/>
            </a:lvl8pPr>
            <a:lvl9pPr marL="3151188" indent="-285750">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8"/>
            <a:endParaRPr dirty="0"/>
          </a:p>
        </p:txBody>
      </p:sp>
      <p:sp>
        <p:nvSpPr>
          <p:cNvPr id="4" name="Content Placeholder 3"/>
          <p:cNvSpPr>
            <a:spLocks noGrp="1"/>
          </p:cNvSpPr>
          <p:nvPr>
            <p:ph sz="half" idx="2" hasCustomPrompt="1"/>
          </p:nvPr>
        </p:nvSpPr>
        <p:spPr>
          <a:xfrm>
            <a:off x="6297559" y="1701800"/>
            <a:ext cx="4977104" cy="4470400"/>
          </a:xfrm>
        </p:spPr>
        <p:txBody>
          <a:bodyPr>
            <a:normAutofit/>
          </a:bodyPr>
          <a:lstStyle>
            <a:lvl1pPr>
              <a:defRPr sz="2400"/>
            </a:lvl1pPr>
            <a:lvl2pPr>
              <a:defRPr sz="2000"/>
            </a:lvl2pPr>
            <a:lvl3pPr>
              <a:defRPr sz="1800"/>
            </a:lvl3pPr>
            <a:lvl4pPr>
              <a:defRPr sz="1800"/>
            </a:lvl4pPr>
            <a:lvl5pPr marL="2011328">
              <a:defRPr sz="1800"/>
            </a:lvl5pPr>
            <a:lvl6pPr marL="2297078" indent="-285750">
              <a:buFont typeface="Century Gothic" panose="020B0502020202020204" pitchFamily="34" charset="0"/>
              <a:buChar char="–"/>
              <a:defRPr sz="1800"/>
            </a:lvl6pPr>
            <a:lvl7pPr marL="2568575" indent="-285750">
              <a:defRPr sz="1800"/>
            </a:lvl7pPr>
            <a:lvl8pPr marL="2860675" indent="-285750">
              <a:defRPr sz="1800"/>
            </a:lvl8pPr>
            <a:lvl9pPr marL="3151188" indent="-285750">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5" name="Date Placeholder 4"/>
          <p:cNvSpPr>
            <a:spLocks noGrp="1"/>
          </p:cNvSpPr>
          <p:nvPr>
            <p:ph type="dt" sz="half" idx="10"/>
          </p:nvPr>
        </p:nvSpPr>
        <p:spPr/>
        <p:txBody>
          <a:bodyPr/>
          <a:lstStyle/>
          <a:p>
            <a:fld id="{62A6378D-18AE-47D1-B10A-42F623B40082}" type="datetime1">
              <a:rPr lang="en-US" smtClean="0"/>
              <a:t>7/26/2026</a:t>
            </a:fld>
            <a:endParaRPr lang="en-US"/>
          </a:p>
        </p:txBody>
      </p:sp>
      <p:sp>
        <p:nvSpPr>
          <p:cNvPr id="6" name="Footer Placeholder 5"/>
          <p:cNvSpPr>
            <a:spLocks noGrp="1"/>
          </p:cNvSpPr>
          <p:nvPr>
            <p:ph type="ftr" sz="quarter" idx="11"/>
          </p:nvPr>
        </p:nvSpPr>
        <p:spPr/>
        <p:txBody>
          <a:bodyPr/>
          <a:lstStyle/>
          <a:p>
            <a:r>
              <a:rPr lang="en-US" dirty="0"/>
              <a:t>Add a footer</a:t>
            </a:r>
          </a:p>
        </p:txBody>
      </p:sp>
      <p:sp>
        <p:nvSpPr>
          <p:cNvPr id="7" name="Slide Number Placeholder 6"/>
          <p:cNvSpPr>
            <a:spLocks noGrp="1"/>
          </p:cNvSpPr>
          <p:nvPr>
            <p:ph type="sldNum" sz="quarter" idx="12"/>
          </p:nvPr>
        </p:nvSpPr>
        <p:spPr/>
        <p:txBody>
          <a:bodyPr/>
          <a:lstStyle/>
          <a:p>
            <a:fld id="{EB37DED6-D4C7-42EE-AB49-D2E39E64FDE4}" type="slidenum">
              <a:rPr lang="en-US" smtClean="0"/>
              <a:t>‹#›</a:t>
            </a:fld>
            <a:endParaRPr lang="en-US"/>
          </a:p>
        </p:txBody>
      </p:sp>
    </p:spTree>
    <p:extLst>
      <p:ext uri="{BB962C8B-B14F-4D97-AF65-F5344CB8AC3E}">
        <p14:creationId xmlns:p14="http://schemas.microsoft.com/office/powerpoint/2010/main" val="20250459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a:p>
        </p:txBody>
      </p:sp>
      <p:sp>
        <p:nvSpPr>
          <p:cNvPr id="3" name="Text Placeholder 2"/>
          <p:cNvSpPr>
            <a:spLocks noGrp="1"/>
          </p:cNvSpPr>
          <p:nvPr>
            <p:ph type="body" idx="1"/>
          </p:nvPr>
        </p:nvSpPr>
        <p:spPr>
          <a:xfrm>
            <a:off x="1121372" y="1608836"/>
            <a:ext cx="4973041" cy="512064"/>
          </a:xfrm>
        </p:spPr>
        <p:txBody>
          <a:bodyPr anchor="b">
            <a:noAutofit/>
          </a:bodyPr>
          <a:lstStyle>
            <a:lvl1pPr marL="0" indent="0">
              <a:spcBef>
                <a:spcPts val="0"/>
              </a:spcBef>
              <a:buNone/>
              <a:defRPr sz="2400" b="1"/>
            </a:lvl1pPr>
            <a:lvl2pPr marL="609493" indent="0">
              <a:buNone/>
              <a:defRPr sz="2700" b="1"/>
            </a:lvl2pPr>
            <a:lvl3pPr marL="1218987" indent="0">
              <a:buNone/>
              <a:defRPr sz="2400" b="1"/>
            </a:lvl3pPr>
            <a:lvl4pPr marL="1828480" indent="0">
              <a:buNone/>
              <a:defRPr sz="2100" b="1"/>
            </a:lvl4pPr>
            <a:lvl5pPr marL="2437973" indent="0">
              <a:buNone/>
              <a:defRPr sz="2100" b="1"/>
            </a:lvl5pPr>
            <a:lvl6pPr marL="3047467" indent="0">
              <a:buNone/>
              <a:defRPr sz="2100" b="1"/>
            </a:lvl6pPr>
            <a:lvl7pPr marL="3656960" indent="0">
              <a:buNone/>
              <a:defRPr sz="2100" b="1"/>
            </a:lvl7pPr>
            <a:lvl8pPr marL="4266453" indent="0">
              <a:buNone/>
              <a:defRPr sz="2100" b="1"/>
            </a:lvl8pPr>
            <a:lvl9pPr marL="4875947" indent="0">
              <a:buNone/>
              <a:defRPr sz="2100" b="1"/>
            </a:lvl9pPr>
          </a:lstStyle>
          <a:p>
            <a:pPr lvl="0"/>
            <a:r>
              <a:rPr lang="en-US"/>
              <a:t>Click to edit Master text styles</a:t>
            </a:r>
          </a:p>
        </p:txBody>
      </p:sp>
      <p:sp>
        <p:nvSpPr>
          <p:cNvPr id="4" name="Content Placeholder 3"/>
          <p:cNvSpPr>
            <a:spLocks noGrp="1"/>
          </p:cNvSpPr>
          <p:nvPr>
            <p:ph sz="half" idx="2" hasCustomPrompt="1"/>
          </p:nvPr>
        </p:nvSpPr>
        <p:spPr>
          <a:xfrm>
            <a:off x="1117309" y="2209800"/>
            <a:ext cx="4977104" cy="3962400"/>
          </a:xfrm>
        </p:spPr>
        <p:txBody>
          <a:bodyPr>
            <a:normAutofit/>
          </a:bodyPr>
          <a:lstStyle>
            <a:lvl1pPr>
              <a:defRPr sz="2000"/>
            </a:lvl1pPr>
            <a:lvl2pPr>
              <a:defRPr sz="1800"/>
            </a:lvl2pPr>
            <a:lvl3pPr>
              <a:defRPr sz="1800"/>
            </a:lvl3pPr>
            <a:lvl4pPr>
              <a:defRPr sz="1800"/>
            </a:lvl4pPr>
            <a:lvl5pPr marL="2011328">
              <a:defRPr sz="1800"/>
            </a:lvl5pPr>
            <a:lvl6pPr marL="2297078" indent="-285750">
              <a:buFont typeface="Century Gothic" panose="020B0502020202020204" pitchFamily="34" charset="0"/>
              <a:buChar char="–"/>
              <a:defRPr sz="1800"/>
            </a:lvl6pPr>
            <a:lvl7pPr marL="2568575" indent="-285750">
              <a:defRPr sz="1800"/>
            </a:lvl7pPr>
            <a:lvl8pPr marL="2860675" indent="-285750">
              <a:defRPr sz="1800"/>
            </a:lvl8pPr>
            <a:lvl9pPr marL="3151188" indent="-285750">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5" name="Text Placeholder 4"/>
          <p:cNvSpPr>
            <a:spLocks noGrp="1"/>
          </p:cNvSpPr>
          <p:nvPr>
            <p:ph type="body" sz="quarter" idx="3"/>
          </p:nvPr>
        </p:nvSpPr>
        <p:spPr>
          <a:xfrm>
            <a:off x="6301622" y="1608836"/>
            <a:ext cx="4973041" cy="512064"/>
          </a:xfrm>
        </p:spPr>
        <p:txBody>
          <a:bodyPr anchor="b">
            <a:noAutofit/>
          </a:bodyPr>
          <a:lstStyle>
            <a:lvl1pPr marL="0" indent="0">
              <a:spcBef>
                <a:spcPts val="0"/>
              </a:spcBef>
              <a:buNone/>
              <a:defRPr sz="2400" b="1"/>
            </a:lvl1pPr>
            <a:lvl2pPr marL="609493" indent="0">
              <a:buNone/>
              <a:defRPr sz="2700" b="1"/>
            </a:lvl2pPr>
            <a:lvl3pPr marL="1218987" indent="0">
              <a:buNone/>
              <a:defRPr sz="2400" b="1"/>
            </a:lvl3pPr>
            <a:lvl4pPr marL="1828480" indent="0">
              <a:buNone/>
              <a:defRPr sz="2100" b="1"/>
            </a:lvl4pPr>
            <a:lvl5pPr marL="2437973" indent="0">
              <a:buNone/>
              <a:defRPr sz="2100" b="1"/>
            </a:lvl5pPr>
            <a:lvl6pPr marL="3047467" indent="0">
              <a:buNone/>
              <a:defRPr sz="2100" b="1"/>
            </a:lvl6pPr>
            <a:lvl7pPr marL="3656960" indent="0">
              <a:buNone/>
              <a:defRPr sz="2100" b="1"/>
            </a:lvl7pPr>
            <a:lvl8pPr marL="4266453" indent="0">
              <a:buNone/>
              <a:defRPr sz="2100" b="1"/>
            </a:lvl8pPr>
            <a:lvl9pPr marL="4875947" indent="0">
              <a:buNone/>
              <a:defRPr sz="2100" b="1"/>
            </a:lvl9pPr>
          </a:lstStyle>
          <a:p>
            <a:pPr lvl="0"/>
            <a:r>
              <a:rPr lang="en-US"/>
              <a:t>Click to edit Master text styles</a:t>
            </a:r>
          </a:p>
        </p:txBody>
      </p:sp>
      <p:sp>
        <p:nvSpPr>
          <p:cNvPr id="6" name="Content Placeholder 5"/>
          <p:cNvSpPr>
            <a:spLocks noGrp="1"/>
          </p:cNvSpPr>
          <p:nvPr>
            <p:ph sz="quarter" idx="4" hasCustomPrompt="1"/>
          </p:nvPr>
        </p:nvSpPr>
        <p:spPr>
          <a:xfrm>
            <a:off x="6297559" y="2209800"/>
            <a:ext cx="4977104" cy="3962400"/>
          </a:xfrm>
        </p:spPr>
        <p:txBody>
          <a:bodyPr>
            <a:normAutofit/>
          </a:bodyPr>
          <a:lstStyle>
            <a:lvl1pPr>
              <a:defRPr sz="2000"/>
            </a:lvl1pPr>
            <a:lvl2pPr>
              <a:defRPr sz="1800"/>
            </a:lvl2pPr>
            <a:lvl3pPr>
              <a:defRPr sz="1800"/>
            </a:lvl3pPr>
            <a:lvl4pPr>
              <a:defRPr sz="1800"/>
            </a:lvl4pPr>
            <a:lvl5pPr marL="2011328">
              <a:defRPr sz="1800"/>
            </a:lvl5pPr>
            <a:lvl6pPr marL="2297078" indent="-285750">
              <a:buFont typeface="Century Gothic" panose="020B0502020202020204" pitchFamily="34" charset="0"/>
              <a:buChar char="–"/>
              <a:defRPr sz="1800"/>
            </a:lvl6pPr>
            <a:lvl7pPr marL="2568575" indent="-285750">
              <a:defRPr sz="1800"/>
            </a:lvl7pPr>
            <a:lvl8pPr marL="2860675" indent="-285750">
              <a:defRPr sz="1800"/>
            </a:lvl8pPr>
            <a:lvl9pPr marL="3151188" indent="-285750">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7" name="Date Placeholder 6"/>
          <p:cNvSpPr>
            <a:spLocks noGrp="1"/>
          </p:cNvSpPr>
          <p:nvPr>
            <p:ph type="dt" sz="half" idx="10"/>
          </p:nvPr>
        </p:nvSpPr>
        <p:spPr/>
        <p:txBody>
          <a:bodyPr/>
          <a:lstStyle/>
          <a:p>
            <a:fld id="{321F6AE8-D704-41F6-B16A-5547B5672AC1}" type="datetime1">
              <a:rPr lang="en-US" smtClean="0"/>
              <a:t>7/26/2026</a:t>
            </a:fld>
            <a:endParaRPr lang="en-US"/>
          </a:p>
        </p:txBody>
      </p:sp>
      <p:sp>
        <p:nvSpPr>
          <p:cNvPr id="8" name="Footer Placeholder 7"/>
          <p:cNvSpPr>
            <a:spLocks noGrp="1"/>
          </p:cNvSpPr>
          <p:nvPr>
            <p:ph type="ftr" sz="quarter" idx="11"/>
          </p:nvPr>
        </p:nvSpPr>
        <p:spPr/>
        <p:txBody>
          <a:bodyPr/>
          <a:lstStyle/>
          <a:p>
            <a:r>
              <a:rPr lang="en-US" dirty="0"/>
              <a:t>Add a footer</a:t>
            </a:r>
          </a:p>
        </p:txBody>
      </p:sp>
      <p:sp>
        <p:nvSpPr>
          <p:cNvPr id="9" name="Slide Number Placeholder 8"/>
          <p:cNvSpPr>
            <a:spLocks noGrp="1"/>
          </p:cNvSpPr>
          <p:nvPr>
            <p:ph type="sldNum" sz="quarter" idx="12"/>
          </p:nvPr>
        </p:nvSpPr>
        <p:spPr/>
        <p:txBody>
          <a:bodyPr/>
          <a:lstStyle/>
          <a:p>
            <a:fld id="{EB37DED6-D4C7-42EE-AB49-D2E39E64FDE4}" type="slidenum">
              <a:rPr lang="en-US" smtClean="0"/>
              <a:t>‹#›</a:t>
            </a:fld>
            <a:endParaRPr lang="en-US"/>
          </a:p>
        </p:txBody>
      </p:sp>
    </p:spTree>
    <p:extLst>
      <p:ext uri="{BB962C8B-B14F-4D97-AF65-F5344CB8AC3E}">
        <p14:creationId xmlns:p14="http://schemas.microsoft.com/office/powerpoint/2010/main" val="9200728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Date Placeholder 2"/>
          <p:cNvSpPr>
            <a:spLocks noGrp="1"/>
          </p:cNvSpPr>
          <p:nvPr>
            <p:ph type="dt" sz="half" idx="10"/>
          </p:nvPr>
        </p:nvSpPr>
        <p:spPr/>
        <p:txBody>
          <a:bodyPr/>
          <a:lstStyle/>
          <a:p>
            <a:fld id="{58AB9538-6F63-4C0B-916D-ED3F4E0A1B28}" type="datetime1">
              <a:rPr lang="en-US" smtClean="0"/>
              <a:t>7/26/2026</a:t>
            </a:fld>
            <a:endParaRPr lang="en-US"/>
          </a:p>
        </p:txBody>
      </p:sp>
      <p:sp>
        <p:nvSpPr>
          <p:cNvPr id="4" name="Footer Placeholder 3"/>
          <p:cNvSpPr>
            <a:spLocks noGrp="1"/>
          </p:cNvSpPr>
          <p:nvPr>
            <p:ph type="ftr" sz="quarter" idx="11"/>
          </p:nvPr>
        </p:nvSpPr>
        <p:spPr/>
        <p:txBody>
          <a:bodyPr/>
          <a:lstStyle/>
          <a:p>
            <a:r>
              <a:rPr lang="en-US" dirty="0"/>
              <a:t>Add a footer</a:t>
            </a:r>
          </a:p>
        </p:txBody>
      </p:sp>
      <p:sp>
        <p:nvSpPr>
          <p:cNvPr id="5" name="Slide Number Placeholder 4"/>
          <p:cNvSpPr>
            <a:spLocks noGrp="1"/>
          </p:cNvSpPr>
          <p:nvPr>
            <p:ph type="sldNum" sz="quarter" idx="12"/>
          </p:nvPr>
        </p:nvSpPr>
        <p:spPr/>
        <p:txBody>
          <a:bodyPr/>
          <a:lstStyle/>
          <a:p>
            <a:fld id="{EB37DED6-D4C7-42EE-AB49-D2E39E64FDE4}" type="slidenum">
              <a:rPr lang="en-US" smtClean="0"/>
              <a:t>‹#›</a:t>
            </a:fld>
            <a:endParaRPr lang="en-US"/>
          </a:p>
        </p:txBody>
      </p:sp>
    </p:spTree>
    <p:extLst>
      <p:ext uri="{BB962C8B-B14F-4D97-AF65-F5344CB8AC3E}">
        <p14:creationId xmlns:p14="http://schemas.microsoft.com/office/powerpoint/2010/main" val="23048451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68F15BF-7116-4A9E-8022-5A2DC937F971}" type="datetime1">
              <a:rPr lang="en-US" smtClean="0"/>
              <a:t>7/26/2026</a:t>
            </a:fld>
            <a:endParaRPr lang="en-US"/>
          </a:p>
        </p:txBody>
      </p:sp>
      <p:sp>
        <p:nvSpPr>
          <p:cNvPr id="3" name="Footer Placeholder 2"/>
          <p:cNvSpPr>
            <a:spLocks noGrp="1"/>
          </p:cNvSpPr>
          <p:nvPr>
            <p:ph type="ftr" sz="quarter" idx="11"/>
          </p:nvPr>
        </p:nvSpPr>
        <p:spPr/>
        <p:txBody>
          <a:bodyPr/>
          <a:lstStyle/>
          <a:p>
            <a:r>
              <a:rPr lang="en-US" dirty="0"/>
              <a:t>Add a footer</a:t>
            </a:r>
          </a:p>
        </p:txBody>
      </p:sp>
      <p:sp>
        <p:nvSpPr>
          <p:cNvPr id="4" name="Slide Number Placeholder 3"/>
          <p:cNvSpPr>
            <a:spLocks noGrp="1"/>
          </p:cNvSpPr>
          <p:nvPr>
            <p:ph type="sldNum" sz="quarter" idx="12"/>
          </p:nvPr>
        </p:nvSpPr>
        <p:spPr/>
        <p:txBody>
          <a:bodyPr/>
          <a:lstStyle/>
          <a:p>
            <a:fld id="{EB37DED6-D4C7-42EE-AB49-D2E39E64FDE4}" type="slidenum">
              <a:rPr lang="en-US" smtClean="0"/>
              <a:t>‹#›</a:t>
            </a:fld>
            <a:endParaRPr lang="en-US"/>
          </a:p>
        </p:txBody>
      </p:sp>
    </p:spTree>
    <p:extLst>
      <p:ext uri="{BB962C8B-B14F-4D97-AF65-F5344CB8AC3E}">
        <p14:creationId xmlns:p14="http://schemas.microsoft.com/office/powerpoint/2010/main" val="2195072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p:cNvSpPr/>
          <p:nvPr/>
        </p:nvSpPr>
        <p:spPr>
          <a:xfrm>
            <a:off x="3961368" y="0"/>
            <a:ext cx="7922736" cy="6858000"/>
          </a:xfrm>
          <a:prstGeom prst="rect">
            <a:avLst/>
          </a:prstGeom>
          <a:gradFill flip="none" rotWithShape="1">
            <a:gsLst>
              <a:gs pos="0">
                <a:schemeClr val="bg1">
                  <a:alpha val="0"/>
                </a:schemeClr>
              </a:gs>
              <a:gs pos="100000">
                <a:schemeClr val="bg1">
                  <a:alpha val="55000"/>
                </a:schemeClr>
              </a:gs>
            </a:gsLst>
            <a:lin ang="7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a:endParaRPr/>
          </a:p>
        </p:txBody>
      </p:sp>
      <p:sp>
        <p:nvSpPr>
          <p:cNvPr id="2" name="Title 1"/>
          <p:cNvSpPr>
            <a:spLocks noGrp="1"/>
          </p:cNvSpPr>
          <p:nvPr>
            <p:ph type="title"/>
          </p:nvPr>
        </p:nvSpPr>
        <p:spPr>
          <a:xfrm>
            <a:off x="455612" y="1701800"/>
            <a:ext cx="3351927" cy="2844800"/>
          </a:xfrm>
        </p:spPr>
        <p:txBody>
          <a:bodyPr anchor="b">
            <a:normAutofit/>
          </a:bodyPr>
          <a:lstStyle>
            <a:lvl1pPr algn="l">
              <a:defRPr sz="2000" b="1">
                <a:effectLst/>
              </a:defRPr>
            </a:lvl1pPr>
          </a:lstStyle>
          <a:p>
            <a:r>
              <a:rPr lang="en-US"/>
              <a:t>Click to edit Master title style</a:t>
            </a:r>
            <a:endParaRPr dirty="0"/>
          </a:p>
        </p:txBody>
      </p:sp>
      <p:sp>
        <p:nvSpPr>
          <p:cNvPr id="3" name="Content Placeholder 2"/>
          <p:cNvSpPr>
            <a:spLocks noGrp="1"/>
          </p:cNvSpPr>
          <p:nvPr>
            <p:ph idx="1" hasCustomPrompt="1"/>
          </p:nvPr>
        </p:nvSpPr>
        <p:spPr>
          <a:xfrm>
            <a:off x="4469236" y="482600"/>
            <a:ext cx="6805427" cy="5892800"/>
          </a:xfrm>
        </p:spPr>
        <p:txBody>
          <a:bodyPr>
            <a:normAutofit/>
          </a:bodyPr>
          <a:lstStyle>
            <a:lvl1pPr>
              <a:defRPr sz="2400"/>
            </a:lvl1pPr>
            <a:lvl2pPr>
              <a:defRPr sz="2000"/>
            </a:lvl2pPr>
            <a:lvl3pPr>
              <a:defRPr sz="1800"/>
            </a:lvl3pPr>
            <a:lvl4pPr>
              <a:defRPr sz="1800"/>
            </a:lvl4pPr>
            <a:lvl5pPr>
              <a:defRPr sz="1800"/>
            </a:lvl5pPr>
            <a:lvl6pPr marL="2418976" indent="-285750">
              <a:buFont typeface="Century Gothic" panose="020B0502020202020204" pitchFamily="34" charset="0"/>
              <a:buChar cha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4" name="Text Placeholder 3"/>
          <p:cNvSpPr>
            <a:spLocks noGrp="1"/>
          </p:cNvSpPr>
          <p:nvPr>
            <p:ph type="body" sz="half" idx="2"/>
          </p:nvPr>
        </p:nvSpPr>
        <p:spPr>
          <a:xfrm>
            <a:off x="455612" y="4648200"/>
            <a:ext cx="3351927" cy="1727200"/>
          </a:xfrm>
        </p:spPr>
        <p:txBody>
          <a:bodyPr>
            <a:normAutofit/>
          </a:bodyPr>
          <a:lstStyle>
            <a:lvl1pPr marL="0" indent="0">
              <a:spcBef>
                <a:spcPts val="1200"/>
              </a:spcBef>
              <a:buNone/>
              <a:defRPr sz="1600"/>
            </a:lvl1pPr>
            <a:lvl2pPr marL="609493" indent="0">
              <a:buNone/>
              <a:defRPr sz="1600"/>
            </a:lvl2pPr>
            <a:lvl3pPr marL="1218987" indent="0">
              <a:buNone/>
              <a:defRPr sz="1300"/>
            </a:lvl3pPr>
            <a:lvl4pPr marL="1828480" indent="0">
              <a:buNone/>
              <a:defRPr sz="1200"/>
            </a:lvl4pPr>
            <a:lvl5pPr marL="2437973" indent="0">
              <a:buNone/>
              <a:defRPr sz="1200"/>
            </a:lvl5pPr>
            <a:lvl6pPr marL="3047467" indent="0">
              <a:buNone/>
              <a:defRPr sz="1200"/>
            </a:lvl6pPr>
            <a:lvl7pPr marL="3656960" indent="0">
              <a:buNone/>
              <a:defRPr sz="1200"/>
            </a:lvl7pPr>
            <a:lvl8pPr marL="4266453" indent="0">
              <a:buNone/>
              <a:defRPr sz="1200"/>
            </a:lvl8pPr>
            <a:lvl9pPr marL="4875947" indent="0">
              <a:buNone/>
              <a:defRPr sz="1200"/>
            </a:lvl9pPr>
          </a:lstStyle>
          <a:p>
            <a:pPr lvl="0"/>
            <a:r>
              <a:rPr lang="en-US"/>
              <a:t>Click to edit Master text styles</a:t>
            </a:r>
          </a:p>
        </p:txBody>
      </p:sp>
      <p:sp>
        <p:nvSpPr>
          <p:cNvPr id="5" name="Date Placeholder 4"/>
          <p:cNvSpPr>
            <a:spLocks noGrp="1"/>
          </p:cNvSpPr>
          <p:nvPr>
            <p:ph type="dt" sz="half" idx="10"/>
          </p:nvPr>
        </p:nvSpPr>
        <p:spPr/>
        <p:txBody>
          <a:bodyPr/>
          <a:lstStyle/>
          <a:p>
            <a:fld id="{41B8DC91-5A3B-40CE-8C1D-279A8EF6E008}" type="datetime1">
              <a:rPr lang="en-US" smtClean="0"/>
              <a:t>7/26/2026</a:t>
            </a:fld>
            <a:endParaRPr lang="en-US"/>
          </a:p>
        </p:txBody>
      </p:sp>
      <p:sp>
        <p:nvSpPr>
          <p:cNvPr id="6" name="Footer Placeholder 5"/>
          <p:cNvSpPr>
            <a:spLocks noGrp="1"/>
          </p:cNvSpPr>
          <p:nvPr>
            <p:ph type="ftr" sz="quarter" idx="11"/>
          </p:nvPr>
        </p:nvSpPr>
        <p:spPr/>
        <p:txBody>
          <a:bodyPr/>
          <a:lstStyle/>
          <a:p>
            <a:r>
              <a:rPr lang="en-US" dirty="0"/>
              <a:t>Add a footer</a:t>
            </a:r>
          </a:p>
        </p:txBody>
      </p:sp>
      <p:sp>
        <p:nvSpPr>
          <p:cNvPr id="7" name="Slide Number Placeholder 6"/>
          <p:cNvSpPr>
            <a:spLocks noGrp="1"/>
          </p:cNvSpPr>
          <p:nvPr>
            <p:ph type="sldNum" sz="quarter" idx="12"/>
          </p:nvPr>
        </p:nvSpPr>
        <p:spPr/>
        <p:txBody>
          <a:bodyPr/>
          <a:lstStyle/>
          <a:p>
            <a:fld id="{2DFBB78A-01B4-41F2-96B0-677A4A282832}" type="slidenum">
              <a:rPr lang="en-US" smtClean="0"/>
              <a:t>‹#›</a:t>
            </a:fld>
            <a:endParaRPr lang="en-US"/>
          </a:p>
        </p:txBody>
      </p:sp>
    </p:spTree>
    <p:extLst>
      <p:ext uri="{BB962C8B-B14F-4D97-AF65-F5344CB8AC3E}">
        <p14:creationId xmlns:p14="http://schemas.microsoft.com/office/powerpoint/2010/main" val="7891109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2082258" y="0"/>
            <a:ext cx="8024310" cy="6858000"/>
          </a:xfrm>
          <a:prstGeom prst="rect">
            <a:avLst/>
          </a:prstGeom>
          <a:gradFill flip="none" rotWithShape="1">
            <a:gsLst>
              <a:gs pos="0">
                <a:schemeClr val="bg1">
                  <a:alpha val="0"/>
                </a:schemeClr>
              </a:gs>
              <a:gs pos="100000">
                <a:schemeClr val="bg1">
                  <a:alpha val="55000"/>
                </a:schemeClr>
              </a:gs>
            </a:gsLst>
            <a:lin ang="7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a:endParaRPr/>
          </a:p>
        </p:txBody>
      </p:sp>
      <p:sp>
        <p:nvSpPr>
          <p:cNvPr id="2" name="Title 1"/>
          <p:cNvSpPr>
            <a:spLocks noGrp="1"/>
          </p:cNvSpPr>
          <p:nvPr>
            <p:ph type="title"/>
          </p:nvPr>
        </p:nvSpPr>
        <p:spPr>
          <a:xfrm>
            <a:off x="2437765" y="4800600"/>
            <a:ext cx="7313295" cy="762000"/>
          </a:xfrm>
        </p:spPr>
        <p:txBody>
          <a:bodyPr anchor="b">
            <a:normAutofit/>
          </a:bodyPr>
          <a:lstStyle>
            <a:lvl1pPr algn="l">
              <a:defRPr sz="2000" b="1">
                <a:effectLst/>
              </a:defRPr>
            </a:lvl1pPr>
          </a:lstStyle>
          <a:p>
            <a:r>
              <a:rPr lang="en-US"/>
              <a:t>Click to edit Master title style</a:t>
            </a:r>
            <a:endParaRPr/>
          </a:p>
        </p:txBody>
      </p:sp>
      <p:sp>
        <p:nvSpPr>
          <p:cNvPr id="3" name="Picture Placeholder 2" descr="An empty placeholder to add an image. Click on the placeholder and select the image that you wish to add"/>
          <p:cNvSpPr>
            <a:spLocks noGrp="1"/>
          </p:cNvSpPr>
          <p:nvPr>
            <p:ph type="pic" idx="1"/>
          </p:nvPr>
        </p:nvSpPr>
        <p:spPr>
          <a:xfrm>
            <a:off x="2437765" y="279401"/>
            <a:ext cx="7313295" cy="4448175"/>
          </a:xfrm>
        </p:spPr>
        <p:txBody>
          <a:bodyPr>
            <a:normAutofit/>
          </a:bodyPr>
          <a:lstStyle>
            <a:lvl1pPr marL="0" indent="0">
              <a:buNone/>
              <a:defRPr sz="2800"/>
            </a:lvl1pPr>
            <a:lvl2pPr marL="609493" indent="0">
              <a:buNone/>
              <a:defRPr sz="3700"/>
            </a:lvl2pPr>
            <a:lvl3pPr marL="1218987" indent="0">
              <a:buNone/>
              <a:defRPr sz="3200"/>
            </a:lvl3pPr>
            <a:lvl4pPr marL="1828480" indent="0">
              <a:buNone/>
              <a:defRPr sz="2700"/>
            </a:lvl4pPr>
            <a:lvl5pPr marL="2437973" indent="0">
              <a:buNone/>
              <a:defRPr sz="2700"/>
            </a:lvl5pPr>
            <a:lvl6pPr marL="3047467" indent="0">
              <a:buNone/>
              <a:defRPr sz="2700"/>
            </a:lvl6pPr>
            <a:lvl7pPr marL="3656960" indent="0">
              <a:buNone/>
              <a:defRPr sz="2700"/>
            </a:lvl7pPr>
            <a:lvl8pPr marL="4266453" indent="0">
              <a:buNone/>
              <a:defRPr sz="2700"/>
            </a:lvl8pPr>
            <a:lvl9pPr marL="4875947" indent="0">
              <a:buNone/>
              <a:defRPr sz="2700"/>
            </a:lvl9pPr>
          </a:lstStyle>
          <a:p>
            <a:r>
              <a:rPr lang="en-US"/>
              <a:t>Click icon to add picture</a:t>
            </a:r>
            <a:endParaRPr/>
          </a:p>
        </p:txBody>
      </p:sp>
      <p:sp>
        <p:nvSpPr>
          <p:cNvPr id="4" name="Text Placeholder 3"/>
          <p:cNvSpPr>
            <a:spLocks noGrp="1"/>
          </p:cNvSpPr>
          <p:nvPr>
            <p:ph type="body" sz="half" idx="2"/>
          </p:nvPr>
        </p:nvSpPr>
        <p:spPr>
          <a:xfrm>
            <a:off x="2437765" y="5562600"/>
            <a:ext cx="7313295" cy="812800"/>
          </a:xfrm>
        </p:spPr>
        <p:txBody>
          <a:bodyPr>
            <a:normAutofit/>
          </a:bodyPr>
          <a:lstStyle>
            <a:lvl1pPr marL="0" indent="0">
              <a:spcBef>
                <a:spcPts val="0"/>
              </a:spcBef>
              <a:buNone/>
              <a:defRPr sz="1600"/>
            </a:lvl1pPr>
            <a:lvl2pPr marL="609493" indent="0">
              <a:buNone/>
              <a:defRPr sz="1600"/>
            </a:lvl2pPr>
            <a:lvl3pPr marL="1218987" indent="0">
              <a:buNone/>
              <a:defRPr sz="1300"/>
            </a:lvl3pPr>
            <a:lvl4pPr marL="1828480" indent="0">
              <a:buNone/>
              <a:defRPr sz="1200"/>
            </a:lvl4pPr>
            <a:lvl5pPr marL="2437973" indent="0">
              <a:buNone/>
              <a:defRPr sz="1200"/>
            </a:lvl5pPr>
            <a:lvl6pPr marL="3047467" indent="0">
              <a:buNone/>
              <a:defRPr sz="1200"/>
            </a:lvl6pPr>
            <a:lvl7pPr marL="3656960" indent="0">
              <a:buNone/>
              <a:defRPr sz="1200"/>
            </a:lvl7pPr>
            <a:lvl8pPr marL="4266453" indent="0">
              <a:buNone/>
              <a:defRPr sz="1200"/>
            </a:lvl8pPr>
            <a:lvl9pPr marL="4875947" indent="0">
              <a:buNone/>
              <a:defRPr sz="1200"/>
            </a:lvl9pPr>
          </a:lstStyle>
          <a:p>
            <a:pPr lvl="0"/>
            <a:r>
              <a:rPr lang="en-US"/>
              <a:t>Click to edit Master text styles</a:t>
            </a:r>
          </a:p>
        </p:txBody>
      </p:sp>
      <p:sp>
        <p:nvSpPr>
          <p:cNvPr id="5" name="Date Placeholder 4"/>
          <p:cNvSpPr>
            <a:spLocks noGrp="1"/>
          </p:cNvSpPr>
          <p:nvPr>
            <p:ph type="dt" sz="half" idx="10"/>
          </p:nvPr>
        </p:nvSpPr>
        <p:spPr/>
        <p:txBody>
          <a:bodyPr/>
          <a:lstStyle/>
          <a:p>
            <a:fld id="{36B7C20A-B94A-4E20-B4B2-88A7825AE904}" type="datetime1">
              <a:rPr lang="en-US" smtClean="0"/>
              <a:t>7/26/2026</a:t>
            </a:fld>
            <a:endParaRPr lang="en-US"/>
          </a:p>
        </p:txBody>
      </p:sp>
      <p:sp>
        <p:nvSpPr>
          <p:cNvPr id="6" name="Footer Placeholder 5"/>
          <p:cNvSpPr>
            <a:spLocks noGrp="1"/>
          </p:cNvSpPr>
          <p:nvPr>
            <p:ph type="ftr" sz="quarter" idx="11"/>
          </p:nvPr>
        </p:nvSpPr>
        <p:spPr/>
        <p:txBody>
          <a:bodyPr/>
          <a:lstStyle/>
          <a:p>
            <a:r>
              <a:rPr lang="en-US" dirty="0"/>
              <a:t>Add a footer</a:t>
            </a:r>
          </a:p>
        </p:txBody>
      </p:sp>
      <p:sp>
        <p:nvSpPr>
          <p:cNvPr id="7" name="Slide Number Placeholder 6"/>
          <p:cNvSpPr>
            <a:spLocks noGrp="1"/>
          </p:cNvSpPr>
          <p:nvPr>
            <p:ph type="sldNum" sz="quarter" idx="12"/>
          </p:nvPr>
        </p:nvSpPr>
        <p:spPr/>
        <p:txBody>
          <a:bodyPr/>
          <a:lstStyle/>
          <a:p>
            <a:fld id="{2DFBB78A-01B4-41F2-96B0-677A4A282832}" type="slidenum">
              <a:rPr lang="en-US" smtClean="0"/>
              <a:t>‹#›</a:t>
            </a:fld>
            <a:endParaRPr lang="en-US"/>
          </a:p>
        </p:txBody>
      </p:sp>
    </p:spTree>
    <p:extLst>
      <p:ext uri="{BB962C8B-B14F-4D97-AF65-F5344CB8AC3E}">
        <p14:creationId xmlns:p14="http://schemas.microsoft.com/office/powerpoint/2010/main" val="35213725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Vertical Text Placeholder 2"/>
          <p:cNvSpPr>
            <a:spLocks noGrp="1"/>
          </p:cNvSpPr>
          <p:nvPr>
            <p:ph type="body" orient="vert" idx="1" hasCustomPrompt="1"/>
          </p:nvPr>
        </p:nvSpPr>
        <p:spPr/>
        <p:txBody>
          <a:bodyPr vert="eaVert"/>
          <a:lstStyle>
            <a:lvl5pPr>
              <a:defRPr/>
            </a:lvl5pPr>
            <a:lvl6pPr marL="2418976" indent="-285750">
              <a:buFont typeface="Century Gothic" panose="020B0502020202020204" pitchFamily="34" charset="0"/>
              <a:buChar char="–"/>
              <a:defRPr/>
            </a:lvl6pPr>
            <a:lvl7pPr>
              <a:defRPr/>
            </a:lvl7pPr>
            <a:lvl8pPr>
              <a:defRPr/>
            </a:lvl8pPr>
            <a:lvl9pP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4" name="Date Placeholder 3"/>
          <p:cNvSpPr>
            <a:spLocks noGrp="1"/>
          </p:cNvSpPr>
          <p:nvPr>
            <p:ph type="dt" sz="half" idx="10"/>
          </p:nvPr>
        </p:nvSpPr>
        <p:spPr/>
        <p:txBody>
          <a:bodyPr/>
          <a:lstStyle/>
          <a:p>
            <a:fld id="{D91CA53D-4C84-40AA-983E-A1E818A7FEFC}" type="datetime1">
              <a:rPr lang="en-US" smtClean="0"/>
              <a:t>7/26/2026</a:t>
            </a:fld>
            <a:endParaRPr lang="en-US"/>
          </a:p>
        </p:txBody>
      </p:sp>
      <p:sp>
        <p:nvSpPr>
          <p:cNvPr id="5" name="Footer Placeholder 4"/>
          <p:cNvSpPr>
            <a:spLocks noGrp="1"/>
          </p:cNvSpPr>
          <p:nvPr>
            <p:ph type="ftr" sz="quarter" idx="11"/>
          </p:nvPr>
        </p:nvSpPr>
        <p:spPr/>
        <p:txBody>
          <a:bodyPr/>
          <a:lstStyle/>
          <a:p>
            <a:r>
              <a:rPr lang="en-US" dirty="0"/>
              <a:t>Add a footer</a:t>
            </a:r>
          </a:p>
        </p:txBody>
      </p:sp>
      <p:sp>
        <p:nvSpPr>
          <p:cNvPr id="6" name="Slide Number Placeholder 5"/>
          <p:cNvSpPr>
            <a:spLocks noGrp="1"/>
          </p:cNvSpPr>
          <p:nvPr>
            <p:ph type="sldNum" sz="quarter" idx="12"/>
          </p:nvPr>
        </p:nvSpPr>
        <p:spPr/>
        <p:txBody>
          <a:bodyPr/>
          <a:lstStyle/>
          <a:p>
            <a:fld id="{591C5AD9-787D-40FA-8A4D-16A055B9AF81}" type="slidenum">
              <a:rPr lang="en-US" smtClean="0"/>
              <a:t>‹#›</a:t>
            </a:fld>
            <a:endParaRPr lang="en-US"/>
          </a:p>
        </p:txBody>
      </p:sp>
    </p:spTree>
    <p:extLst>
      <p:ext uri="{BB962C8B-B14F-4D97-AF65-F5344CB8AC3E}">
        <p14:creationId xmlns:p14="http://schemas.microsoft.com/office/powerpoint/2010/main" val="18176198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852633" y="274638"/>
            <a:ext cx="1422030" cy="5897561"/>
          </a:xfrm>
        </p:spPr>
        <p:txBody>
          <a:bodyPr vert="eaVert"/>
          <a:lstStyle/>
          <a:p>
            <a:r>
              <a:rPr lang="en-US"/>
              <a:t>Click to edit Master title style</a:t>
            </a:r>
            <a:endParaRPr/>
          </a:p>
        </p:txBody>
      </p:sp>
      <p:sp>
        <p:nvSpPr>
          <p:cNvPr id="3" name="Vertical Text Placeholder 2"/>
          <p:cNvSpPr>
            <a:spLocks noGrp="1"/>
          </p:cNvSpPr>
          <p:nvPr>
            <p:ph type="body" orient="vert" idx="1" hasCustomPrompt="1"/>
          </p:nvPr>
        </p:nvSpPr>
        <p:spPr>
          <a:xfrm>
            <a:off x="1117309" y="274638"/>
            <a:ext cx="8532178" cy="5897561"/>
          </a:xfrm>
        </p:spPr>
        <p:txBody>
          <a:bodyPr vert="eaVert"/>
          <a:lstStyle>
            <a:lvl5pPr>
              <a:defRPr/>
            </a:lvl5pPr>
            <a:lvl6pPr marL="2418976" indent="-285750">
              <a:buFont typeface="Century Gothic" panose="020B0502020202020204" pitchFamily="34" charset="0"/>
              <a:buChar char="–"/>
              <a:defRPr/>
            </a:lvl6pPr>
            <a:lvl7pPr>
              <a:defRPr/>
            </a:lvl7pPr>
            <a:lvl8pPr>
              <a:defRPr/>
            </a:lvl8pPr>
            <a:lvl9pP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4" name="Date Placeholder 3"/>
          <p:cNvSpPr>
            <a:spLocks noGrp="1"/>
          </p:cNvSpPr>
          <p:nvPr>
            <p:ph type="dt" sz="half" idx="10"/>
          </p:nvPr>
        </p:nvSpPr>
        <p:spPr/>
        <p:txBody>
          <a:bodyPr/>
          <a:lstStyle/>
          <a:p>
            <a:fld id="{C8E2FCEE-AE66-4EAB-9C04-97F8A56A6354}" type="datetime1">
              <a:rPr lang="en-US" smtClean="0"/>
              <a:t>7/26/2026</a:t>
            </a:fld>
            <a:endParaRPr lang="en-US"/>
          </a:p>
        </p:txBody>
      </p:sp>
      <p:sp>
        <p:nvSpPr>
          <p:cNvPr id="5" name="Footer Placeholder 4"/>
          <p:cNvSpPr>
            <a:spLocks noGrp="1"/>
          </p:cNvSpPr>
          <p:nvPr>
            <p:ph type="ftr" sz="quarter" idx="11"/>
          </p:nvPr>
        </p:nvSpPr>
        <p:spPr/>
        <p:txBody>
          <a:bodyPr/>
          <a:lstStyle/>
          <a:p>
            <a:r>
              <a:rPr lang="en-US" dirty="0"/>
              <a:t>Add a footer</a:t>
            </a:r>
          </a:p>
        </p:txBody>
      </p:sp>
      <p:sp>
        <p:nvSpPr>
          <p:cNvPr id="6" name="Slide Number Placeholder 5"/>
          <p:cNvSpPr>
            <a:spLocks noGrp="1"/>
          </p:cNvSpPr>
          <p:nvPr>
            <p:ph type="sldNum" sz="quarter" idx="12"/>
          </p:nvPr>
        </p:nvSpPr>
        <p:spPr/>
        <p:txBody>
          <a:bodyPr/>
          <a:lstStyle/>
          <a:p>
            <a:fld id="{591C5AD9-787D-40FA-8A4D-16A055B9AF81}" type="slidenum">
              <a:rPr lang="en-US" smtClean="0"/>
              <a:t>‹#›</a:t>
            </a:fld>
            <a:endParaRPr lang="en-US"/>
          </a:p>
        </p:txBody>
      </p:sp>
    </p:spTree>
    <p:extLst>
      <p:ext uri="{BB962C8B-B14F-4D97-AF65-F5344CB8AC3E}">
        <p14:creationId xmlns:p14="http://schemas.microsoft.com/office/powerpoint/2010/main" val="37236915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ltGray">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grpSp>
        <p:nvGrpSpPr>
          <p:cNvPr id="7" name="Group 6"/>
          <p:cNvGrpSpPr/>
          <p:nvPr/>
        </p:nvGrpSpPr>
        <p:grpSpPr>
          <a:xfrm>
            <a:off x="1620" y="0"/>
            <a:ext cx="12188952" cy="6858000"/>
            <a:chOff x="1620" y="0"/>
            <a:chExt cx="12188952" cy="6858000"/>
          </a:xfrm>
        </p:grpSpPr>
        <p:sp>
          <p:nvSpPr>
            <p:cNvPr id="10" name="Rectangle 9"/>
            <p:cNvSpPr/>
            <p:nvPr/>
          </p:nvSpPr>
          <p:spPr>
            <a:xfrm>
              <a:off x="1620" y="0"/>
              <a:ext cx="12188952" cy="6858000"/>
            </a:xfrm>
            <a:prstGeom prst="rect">
              <a:avLst/>
            </a:prstGeom>
            <a:gradFill flip="none" rotWithShape="1">
              <a:gsLst>
                <a:gs pos="0">
                  <a:schemeClr val="accent1">
                    <a:lumMod val="50000"/>
                  </a:schemeClr>
                </a:gs>
                <a:gs pos="58000">
                  <a:schemeClr val="accent1">
                    <a:lumMod val="40000"/>
                    <a:lumOff val="60000"/>
                  </a:schemeClr>
                </a:gs>
                <a:gs pos="100000">
                  <a:schemeClr val="accent1">
                    <a:lumMod val="5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a:endParaRPr/>
            </a:p>
          </p:txBody>
        </p:sp>
        <p:sp>
          <p:nvSpPr>
            <p:cNvPr id="8" name="Rectangle 7"/>
            <p:cNvSpPr/>
            <p:nvPr/>
          </p:nvSpPr>
          <p:spPr>
            <a:xfrm>
              <a:off x="304721" y="0"/>
              <a:ext cx="11579384" cy="6858000"/>
            </a:xfrm>
            <a:prstGeom prst="rect">
              <a:avLst/>
            </a:prstGeom>
            <a:solidFill>
              <a:schemeClr val="accent1">
                <a:lumMod val="20000"/>
                <a:lumOff val="8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a:endParaRPr/>
            </a:p>
          </p:txBody>
        </p:sp>
      </p:grpSp>
      <p:sp>
        <p:nvSpPr>
          <p:cNvPr id="2" name="Title Placeholder 1"/>
          <p:cNvSpPr>
            <a:spLocks noGrp="1"/>
          </p:cNvSpPr>
          <p:nvPr>
            <p:ph type="title"/>
          </p:nvPr>
        </p:nvSpPr>
        <p:spPr>
          <a:xfrm>
            <a:off x="1117309" y="76200"/>
            <a:ext cx="10157354" cy="1397000"/>
          </a:xfrm>
          <a:prstGeom prst="rect">
            <a:avLst/>
          </a:prstGeom>
        </p:spPr>
        <p:txBody>
          <a:bodyPr vert="horz" lIns="121899" tIns="60949" rIns="121899" bIns="60949" rtlCol="0" anchor="b">
            <a:normAutofit/>
          </a:bodyPr>
          <a:lstStyle/>
          <a:p>
            <a:r>
              <a:rPr lang="en-US"/>
              <a:t>Click to edit Master title style</a:t>
            </a:r>
            <a:endParaRPr dirty="0"/>
          </a:p>
        </p:txBody>
      </p:sp>
      <p:sp>
        <p:nvSpPr>
          <p:cNvPr id="3" name="Text Placeholder 2"/>
          <p:cNvSpPr>
            <a:spLocks noGrp="1"/>
          </p:cNvSpPr>
          <p:nvPr>
            <p:ph type="body" idx="1"/>
          </p:nvPr>
        </p:nvSpPr>
        <p:spPr>
          <a:xfrm>
            <a:off x="1117309" y="1701800"/>
            <a:ext cx="10157354" cy="4470400"/>
          </a:xfrm>
          <a:prstGeom prst="rect">
            <a:avLst/>
          </a:prstGeom>
        </p:spPr>
        <p:txBody>
          <a:bodyPr vert="horz" lIns="121899" tIns="60949" rIns="121899" bIns="60949"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117309" y="6400801"/>
            <a:ext cx="2742486" cy="320675"/>
          </a:xfrm>
          <a:prstGeom prst="rect">
            <a:avLst/>
          </a:prstGeom>
        </p:spPr>
        <p:txBody>
          <a:bodyPr vert="horz" lIns="121899" tIns="60949" rIns="121899" bIns="60949" rtlCol="0" anchor="b"/>
          <a:lstStyle>
            <a:lvl1pPr algn="l">
              <a:defRPr sz="1200">
                <a:solidFill>
                  <a:schemeClr val="tx2">
                    <a:lumMod val="50000"/>
                  </a:schemeClr>
                </a:solidFill>
              </a:defRPr>
            </a:lvl1pPr>
          </a:lstStyle>
          <a:p>
            <a:fld id="{859468AF-EFCF-4AAD-ACF4-3BA83EC4AF4E}" type="datetime1">
              <a:rPr lang="en-US" smtClean="0"/>
              <a:pPr/>
              <a:t>7/26/2026</a:t>
            </a:fld>
            <a:endParaRPr lang="en-US" dirty="0"/>
          </a:p>
        </p:txBody>
      </p:sp>
      <p:sp>
        <p:nvSpPr>
          <p:cNvPr id="5" name="Footer Placeholder 4"/>
          <p:cNvSpPr>
            <a:spLocks noGrp="1"/>
          </p:cNvSpPr>
          <p:nvPr>
            <p:ph type="ftr" sz="quarter" idx="3"/>
          </p:nvPr>
        </p:nvSpPr>
        <p:spPr>
          <a:xfrm>
            <a:off x="3907842" y="6400801"/>
            <a:ext cx="6216301" cy="320675"/>
          </a:xfrm>
          <a:prstGeom prst="rect">
            <a:avLst/>
          </a:prstGeom>
        </p:spPr>
        <p:txBody>
          <a:bodyPr vert="horz" lIns="121899" tIns="60949" rIns="121899" bIns="60949" rtlCol="0" anchor="b"/>
          <a:lstStyle>
            <a:lvl1pPr algn="ctr">
              <a:defRPr sz="1200">
                <a:solidFill>
                  <a:schemeClr val="tx2">
                    <a:lumMod val="50000"/>
                  </a:schemeClr>
                </a:solidFill>
              </a:defRPr>
            </a:lvl1pPr>
          </a:lstStyle>
          <a:p>
            <a:r>
              <a:rPr lang="en-US"/>
              <a:t>Add a footer</a:t>
            </a:r>
            <a:endParaRPr lang="en-US" dirty="0"/>
          </a:p>
        </p:txBody>
      </p:sp>
      <p:sp>
        <p:nvSpPr>
          <p:cNvPr id="6" name="Slide Number Placeholder 5"/>
          <p:cNvSpPr>
            <a:spLocks noGrp="1"/>
          </p:cNvSpPr>
          <p:nvPr>
            <p:ph type="sldNum" sz="quarter" idx="4"/>
          </p:nvPr>
        </p:nvSpPr>
        <p:spPr>
          <a:xfrm>
            <a:off x="10167146" y="6400801"/>
            <a:ext cx="1107518" cy="320675"/>
          </a:xfrm>
          <a:prstGeom prst="rect">
            <a:avLst/>
          </a:prstGeom>
        </p:spPr>
        <p:txBody>
          <a:bodyPr vert="horz" lIns="121899" tIns="60949" rIns="121899" bIns="60949" rtlCol="0" anchor="b"/>
          <a:lstStyle>
            <a:lvl1pPr algn="r">
              <a:defRPr sz="1200">
                <a:solidFill>
                  <a:schemeClr val="tx2">
                    <a:lumMod val="50000"/>
                  </a:schemeClr>
                </a:solidFill>
              </a:defRPr>
            </a:lvl1pPr>
          </a:lstStyle>
          <a:p>
            <a:fld id="{EB37DED6-D4C7-42EE-AB49-D2E39E64FDE4}" type="slidenum">
              <a:rPr lang="en-US" smtClean="0"/>
              <a:pPr/>
              <a:t>‹#›</a:t>
            </a:fld>
            <a:endParaRPr lang="en-US"/>
          </a:p>
        </p:txBody>
      </p:sp>
    </p:spTree>
    <p:extLst>
      <p:ext uri="{BB962C8B-B14F-4D97-AF65-F5344CB8AC3E}">
        <p14:creationId xmlns:p14="http://schemas.microsoft.com/office/powerpoint/2010/main" val="2060187724"/>
      </p:ext>
    </p:extLst>
  </p:cSld>
  <p:clrMap bg1="lt1" tx1="dk1" bg2="lt2" tx2="dk2" accent1="accent1" accent2="accent2" accent3="accent3" accent4="accent4" accent5="accent5" accent6="accent6" hlink="hlink" folHlink="folHlink"/>
  <p:sldLayoutIdLst>
    <p:sldLayoutId id="2147483693" r:id="rId1"/>
    <p:sldLayoutId id="2147483694" r:id="rId2"/>
    <p:sldLayoutId id="2147483695" r:id="rId3"/>
    <p:sldLayoutId id="2147483696" r:id="rId4"/>
    <p:sldLayoutId id="2147483697" r:id="rId5"/>
    <p:sldLayoutId id="2147483698" r:id="rId6"/>
    <p:sldLayoutId id="2147483699" r:id="rId7"/>
    <p:sldLayoutId id="2147483700" r:id="rId8"/>
    <p:sldLayoutId id="2147483701" r:id="rId9"/>
    <p:sldLayoutId id="2147483702" r:id="rId10"/>
    <p:sldLayoutId id="2147483703"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txStyles>
    <p:titleStyle>
      <a:lvl1pPr algn="l" defTabSz="1218987" rtl="0" eaLnBrk="1" latinLnBrk="0" hangingPunct="1">
        <a:lnSpc>
          <a:spcPct val="85000"/>
        </a:lnSpc>
        <a:spcBef>
          <a:spcPct val="0"/>
        </a:spcBef>
        <a:buNone/>
        <a:tabLst/>
        <a:defRPr sz="4400" b="0" kern="1200" cap="none" baseline="0">
          <a:solidFill>
            <a:schemeClr val="accent2">
              <a:lumMod val="50000"/>
            </a:schemeClr>
          </a:solidFill>
          <a:effectLst/>
          <a:latin typeface="+mj-lt"/>
          <a:ea typeface="+mj-ea"/>
          <a:cs typeface="+mj-cs"/>
        </a:defRPr>
      </a:lvl1pPr>
    </p:titleStyle>
    <p:bodyStyle>
      <a:lvl1pPr marL="304747" indent="-304747" algn="l" defTabSz="1218987" rtl="0" eaLnBrk="1" latinLnBrk="0" hangingPunct="1">
        <a:lnSpc>
          <a:spcPct val="95000"/>
        </a:lnSpc>
        <a:spcBef>
          <a:spcPts val="1866"/>
        </a:spcBef>
        <a:buClr>
          <a:schemeClr val="accent6">
            <a:lumMod val="50000"/>
          </a:schemeClr>
        </a:buClr>
        <a:buSzPct val="100000"/>
        <a:buFont typeface="Arial" pitchFamily="34" charset="0"/>
        <a:buChar char="•"/>
        <a:defRPr sz="2400" kern="1200">
          <a:solidFill>
            <a:schemeClr val="tx1"/>
          </a:solidFill>
          <a:latin typeface="+mn-lt"/>
          <a:ea typeface="+mn-ea"/>
          <a:cs typeface="+mn-cs"/>
        </a:defRPr>
      </a:lvl1pPr>
      <a:lvl2pPr marL="731392" indent="-304747" algn="l" defTabSz="1218987" rtl="0" eaLnBrk="1" latinLnBrk="0" hangingPunct="1">
        <a:lnSpc>
          <a:spcPct val="95000"/>
        </a:lnSpc>
        <a:spcBef>
          <a:spcPts val="1066"/>
        </a:spcBef>
        <a:buClr>
          <a:schemeClr val="accent6">
            <a:lumMod val="50000"/>
          </a:schemeClr>
        </a:buClr>
        <a:buSzPct val="100000"/>
        <a:buFont typeface="Century Gothic" pitchFamily="34" charset="0"/>
        <a:buChar char="–"/>
        <a:defRPr sz="2000" kern="1200">
          <a:solidFill>
            <a:schemeClr val="tx1"/>
          </a:solidFill>
          <a:latin typeface="+mn-lt"/>
          <a:ea typeface="+mn-ea"/>
          <a:cs typeface="+mn-cs"/>
        </a:defRPr>
      </a:lvl2pPr>
      <a:lvl3pPr marL="1158037" indent="-304747" algn="l" defTabSz="1218987" rtl="0" eaLnBrk="1" latinLnBrk="0" hangingPunct="1">
        <a:lnSpc>
          <a:spcPct val="95000"/>
        </a:lnSpc>
        <a:spcBef>
          <a:spcPts val="1066"/>
        </a:spcBef>
        <a:buClr>
          <a:schemeClr val="accent6">
            <a:lumMod val="50000"/>
          </a:schemeClr>
        </a:buClr>
        <a:buSzPct val="100000"/>
        <a:buFont typeface="Century Gothic" pitchFamily="34" charset="0"/>
        <a:buChar char="–"/>
        <a:defRPr sz="1800" kern="1200">
          <a:solidFill>
            <a:schemeClr val="tx1"/>
          </a:solidFill>
          <a:latin typeface="+mn-lt"/>
          <a:ea typeface="+mn-ea"/>
          <a:cs typeface="+mn-cs"/>
        </a:defRPr>
      </a:lvl3pPr>
      <a:lvl4pPr marL="1584683" indent="-304747" algn="l" defTabSz="1218987" rtl="0" eaLnBrk="1" latinLnBrk="0" hangingPunct="1">
        <a:lnSpc>
          <a:spcPct val="95000"/>
        </a:lnSpc>
        <a:spcBef>
          <a:spcPts val="1066"/>
        </a:spcBef>
        <a:buClr>
          <a:schemeClr val="accent6">
            <a:lumMod val="50000"/>
          </a:schemeClr>
        </a:buClr>
        <a:buSzPct val="100000"/>
        <a:buFont typeface="Century Gothic" pitchFamily="34" charset="0"/>
        <a:buChar char="–"/>
        <a:defRPr sz="1800" kern="1200">
          <a:solidFill>
            <a:schemeClr val="tx1"/>
          </a:solidFill>
          <a:latin typeface="+mn-lt"/>
          <a:ea typeface="+mn-ea"/>
          <a:cs typeface="+mn-cs"/>
        </a:defRPr>
      </a:lvl4pPr>
      <a:lvl5pPr marL="2011328" indent="-304747" algn="l" defTabSz="1218987" rtl="0" eaLnBrk="1" latinLnBrk="0" hangingPunct="1">
        <a:lnSpc>
          <a:spcPct val="95000"/>
        </a:lnSpc>
        <a:spcBef>
          <a:spcPts val="1066"/>
        </a:spcBef>
        <a:buClr>
          <a:schemeClr val="accent6">
            <a:lumMod val="50000"/>
          </a:schemeClr>
        </a:buClr>
        <a:buSzPct val="100000"/>
        <a:buFont typeface="Century Gothic" pitchFamily="34" charset="0"/>
        <a:buChar char="–"/>
        <a:defRPr sz="1800" kern="1200">
          <a:solidFill>
            <a:schemeClr val="tx1"/>
          </a:solidFill>
          <a:latin typeface="+mn-lt"/>
          <a:ea typeface="+mn-ea"/>
          <a:cs typeface="+mn-cs"/>
        </a:defRPr>
      </a:lvl5pPr>
      <a:lvl6pPr marL="2133226" indent="0" algn="l" defTabSz="1218987" rtl="0" eaLnBrk="1" latinLnBrk="0" hangingPunct="1">
        <a:lnSpc>
          <a:spcPct val="95000"/>
        </a:lnSpc>
        <a:spcBef>
          <a:spcPts val="1066"/>
        </a:spcBef>
        <a:buClr>
          <a:schemeClr val="accent6">
            <a:lumMod val="50000"/>
          </a:schemeClr>
        </a:buClr>
        <a:buSzPct val="90000"/>
        <a:buFont typeface="Century Gothic" panose="020B0502020202020204" pitchFamily="34" charset="0"/>
        <a:buNone/>
        <a:defRPr sz="1800" kern="1200">
          <a:solidFill>
            <a:schemeClr val="tx2">
              <a:lumMod val="50000"/>
            </a:schemeClr>
          </a:solidFill>
          <a:latin typeface="+mn-lt"/>
          <a:ea typeface="+mn-ea"/>
          <a:cs typeface="+mn-cs"/>
        </a:defRPr>
      </a:lvl6pPr>
      <a:lvl7pPr marL="2845622" indent="-285750" algn="l" defTabSz="1218987" rtl="0" eaLnBrk="1" latinLnBrk="0" hangingPunct="1">
        <a:lnSpc>
          <a:spcPct val="95000"/>
        </a:lnSpc>
        <a:spcBef>
          <a:spcPts val="1066"/>
        </a:spcBef>
        <a:buClr>
          <a:schemeClr val="accent6">
            <a:lumMod val="50000"/>
          </a:schemeClr>
        </a:buClr>
        <a:buSzPct val="90000"/>
        <a:buFont typeface="Century Gothic" panose="020B0502020202020204" pitchFamily="34" charset="0"/>
        <a:buChar char="–"/>
        <a:defRPr sz="1800" kern="1200">
          <a:solidFill>
            <a:schemeClr val="tx2">
              <a:lumMod val="50000"/>
            </a:schemeClr>
          </a:solidFill>
          <a:latin typeface="+mn-lt"/>
          <a:ea typeface="+mn-ea"/>
          <a:cs typeface="+mn-cs"/>
        </a:defRPr>
      </a:lvl7pPr>
      <a:lvl8pPr marL="3272267" indent="-285750" algn="l" defTabSz="1218987" rtl="0" eaLnBrk="1" latinLnBrk="0" hangingPunct="1">
        <a:lnSpc>
          <a:spcPct val="95000"/>
        </a:lnSpc>
        <a:spcBef>
          <a:spcPts val="1066"/>
        </a:spcBef>
        <a:buClr>
          <a:schemeClr val="accent6">
            <a:lumMod val="50000"/>
          </a:schemeClr>
        </a:buClr>
        <a:buSzPct val="90000"/>
        <a:buFont typeface="Century Gothic" panose="020B0502020202020204" pitchFamily="34" charset="0"/>
        <a:buChar char="–"/>
        <a:defRPr sz="1800" kern="1200">
          <a:solidFill>
            <a:schemeClr val="tx2">
              <a:lumMod val="50000"/>
            </a:schemeClr>
          </a:solidFill>
          <a:latin typeface="+mn-lt"/>
          <a:ea typeface="+mn-ea"/>
          <a:cs typeface="+mn-cs"/>
        </a:defRPr>
      </a:lvl8pPr>
      <a:lvl9pPr marL="3759862" indent="-285750" algn="l" defTabSz="1218987" rtl="0" eaLnBrk="1" latinLnBrk="0" hangingPunct="1">
        <a:lnSpc>
          <a:spcPct val="95000"/>
        </a:lnSpc>
        <a:spcBef>
          <a:spcPts val="1066"/>
        </a:spcBef>
        <a:buClr>
          <a:schemeClr val="accent6">
            <a:lumMod val="50000"/>
          </a:schemeClr>
        </a:buClr>
        <a:buSzPct val="90000"/>
        <a:buFont typeface="Century Gothic" panose="020B0502020202020204" pitchFamily="34" charset="0"/>
        <a:buChar char="–"/>
        <a:defRPr sz="1800" kern="1200">
          <a:solidFill>
            <a:schemeClr val="tx2">
              <a:lumMod val="50000"/>
            </a:schemeClr>
          </a:solidFill>
          <a:latin typeface="+mn-lt"/>
          <a:ea typeface="+mn-ea"/>
          <a:cs typeface="+mn-cs"/>
        </a:defRPr>
      </a:lvl9pPr>
    </p:bodyStyle>
    <p:otherStyle>
      <a:defPPr>
        <a:defRPr/>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5.emf"/><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IN" dirty="0"/>
              <a:t>Agile Processes</a:t>
            </a:r>
            <a:endParaRPr lang="en-US" dirty="0"/>
          </a:p>
        </p:txBody>
      </p:sp>
      <p:sp>
        <p:nvSpPr>
          <p:cNvPr id="5" name="Subtitle 4"/>
          <p:cNvSpPr>
            <a:spLocks noGrp="1"/>
          </p:cNvSpPr>
          <p:nvPr>
            <p:ph type="subTitle" idx="1"/>
          </p:nvPr>
        </p:nvSpPr>
        <p:spPr>
          <a:xfrm>
            <a:off x="4879346" y="4941168"/>
            <a:ext cx="7008574" cy="1244600"/>
          </a:xfrm>
        </p:spPr>
        <p:txBody>
          <a:bodyPr/>
          <a:lstStyle/>
          <a:p>
            <a:r>
              <a:rPr lang="en-US" dirty="0"/>
              <a:t>Aruna Kumbhar</a:t>
            </a:r>
          </a:p>
        </p:txBody>
      </p:sp>
    </p:spTree>
    <p:extLst>
      <p:ext uri="{BB962C8B-B14F-4D97-AF65-F5344CB8AC3E}">
        <p14:creationId xmlns:p14="http://schemas.microsoft.com/office/powerpoint/2010/main" val="1689887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5A3744-82BD-18CD-BD9F-BA4F2D7917BD}"/>
              </a:ext>
            </a:extLst>
          </p:cNvPr>
          <p:cNvSpPr>
            <a:spLocks noGrp="1"/>
          </p:cNvSpPr>
          <p:nvPr>
            <p:ph type="title"/>
          </p:nvPr>
        </p:nvSpPr>
        <p:spPr>
          <a:xfrm>
            <a:off x="1117309" y="76200"/>
            <a:ext cx="10157354" cy="904528"/>
          </a:xfrm>
        </p:spPr>
        <p:txBody>
          <a:bodyPr/>
          <a:lstStyle/>
          <a:p>
            <a:r>
              <a:rPr lang="en-IN" dirty="0"/>
              <a:t>Revise</a:t>
            </a:r>
          </a:p>
        </p:txBody>
      </p:sp>
      <p:sp>
        <p:nvSpPr>
          <p:cNvPr id="3" name="Content Placeholder 2">
            <a:extLst>
              <a:ext uri="{FF2B5EF4-FFF2-40B4-BE49-F238E27FC236}">
                <a16:creationId xmlns:a16="http://schemas.microsoft.com/office/drawing/2014/main" id="{2D861C79-8EB4-E7B5-84F2-09F2C4AB619D}"/>
              </a:ext>
            </a:extLst>
          </p:cNvPr>
          <p:cNvSpPr>
            <a:spLocks noGrp="1"/>
          </p:cNvSpPr>
          <p:nvPr>
            <p:ph idx="1"/>
          </p:nvPr>
        </p:nvSpPr>
        <p:spPr>
          <a:xfrm>
            <a:off x="909836" y="1193800"/>
            <a:ext cx="10157354" cy="4470400"/>
          </a:xfrm>
        </p:spPr>
        <p:txBody>
          <a:bodyPr>
            <a:normAutofit fontScale="92500" lnSpcReduction="20000"/>
          </a:bodyPr>
          <a:lstStyle/>
          <a:p>
            <a:r>
              <a:rPr lang="en-IN" dirty="0"/>
              <a:t>Traditional SDLC Models vs Agile</a:t>
            </a:r>
          </a:p>
          <a:p>
            <a:r>
              <a:rPr lang="en-IN" dirty="0"/>
              <a:t>History of Agile</a:t>
            </a:r>
          </a:p>
          <a:p>
            <a:r>
              <a:rPr lang="en-IN" dirty="0"/>
              <a:t>Agile Manifesto – 4 Values, 12 Principles</a:t>
            </a:r>
          </a:p>
          <a:p>
            <a:r>
              <a:rPr lang="en-IN" dirty="0"/>
              <a:t>Stakeholders and Challenges</a:t>
            </a:r>
          </a:p>
          <a:p>
            <a:r>
              <a:rPr lang="en-IN" dirty="0"/>
              <a:t>Classification of Agile Methods</a:t>
            </a:r>
          </a:p>
          <a:p>
            <a:r>
              <a:rPr lang="en-IN" dirty="0"/>
              <a:t>Agile Teams</a:t>
            </a:r>
          </a:p>
          <a:p>
            <a:r>
              <a:rPr lang="en-IN" dirty="0"/>
              <a:t>Agile Team Meetings</a:t>
            </a:r>
          </a:p>
          <a:p>
            <a:r>
              <a:rPr lang="en-IN" dirty="0"/>
              <a:t>Agile Drivers</a:t>
            </a:r>
          </a:p>
          <a:p>
            <a:r>
              <a:rPr lang="en-IN" dirty="0"/>
              <a:t>Agile Capabilities</a:t>
            </a:r>
          </a:p>
          <a:p>
            <a:endParaRPr lang="en-IN" dirty="0"/>
          </a:p>
        </p:txBody>
      </p:sp>
    </p:spTree>
    <p:extLst>
      <p:ext uri="{BB962C8B-B14F-4D97-AF65-F5344CB8AC3E}">
        <p14:creationId xmlns:p14="http://schemas.microsoft.com/office/powerpoint/2010/main" val="31029473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CB33C3AD-7F5D-51B0-BB6E-0E57D255315C}"/>
              </a:ext>
            </a:extLst>
          </p:cNvPr>
          <p:cNvSpPr>
            <a:spLocks noGrp="1"/>
          </p:cNvSpPr>
          <p:nvPr>
            <p:ph type="title"/>
          </p:nvPr>
        </p:nvSpPr>
        <p:spPr>
          <a:xfrm>
            <a:off x="1117309" y="76200"/>
            <a:ext cx="10157354" cy="904528"/>
          </a:xfrm>
        </p:spPr>
        <p:txBody>
          <a:bodyPr/>
          <a:lstStyle/>
          <a:p>
            <a:r>
              <a:rPr lang="en-IN" dirty="0"/>
              <a:t>Agile vs Agile Methodologies</a:t>
            </a:r>
          </a:p>
        </p:txBody>
      </p:sp>
      <p:sp>
        <p:nvSpPr>
          <p:cNvPr id="2" name="TextBox 1">
            <a:extLst>
              <a:ext uri="{FF2B5EF4-FFF2-40B4-BE49-F238E27FC236}">
                <a16:creationId xmlns:a16="http://schemas.microsoft.com/office/drawing/2014/main" id="{9864F07E-2E1A-799D-E457-9B6D39F4B1C1}"/>
              </a:ext>
            </a:extLst>
          </p:cNvPr>
          <p:cNvSpPr txBox="1"/>
          <p:nvPr/>
        </p:nvSpPr>
        <p:spPr>
          <a:xfrm>
            <a:off x="837828" y="1412776"/>
            <a:ext cx="4824536" cy="1144929"/>
          </a:xfrm>
          <a:prstGeom prst="rect">
            <a:avLst/>
          </a:prstGeom>
          <a:noFill/>
        </p:spPr>
        <p:txBody>
          <a:bodyPr wrap="square" rtlCol="0">
            <a:spAutoFit/>
          </a:bodyPr>
          <a:lstStyle/>
          <a:p>
            <a:pPr>
              <a:lnSpc>
                <a:spcPct val="95000"/>
              </a:lnSpc>
            </a:pPr>
            <a:r>
              <a:rPr lang="en-US" dirty="0"/>
              <a:t>Agile is </a:t>
            </a:r>
            <a:r>
              <a:rPr lang="en-US" b="1" dirty="0"/>
              <a:t>not a methodology. </a:t>
            </a:r>
          </a:p>
          <a:p>
            <a:pPr>
              <a:lnSpc>
                <a:spcPct val="95000"/>
              </a:lnSpc>
            </a:pPr>
            <a:endParaRPr lang="en-US" b="1" dirty="0"/>
          </a:p>
          <a:p>
            <a:pPr>
              <a:lnSpc>
                <a:spcPct val="95000"/>
              </a:lnSpc>
            </a:pPr>
            <a:r>
              <a:rPr lang="en-IN" dirty="0"/>
              <a:t>It is a </a:t>
            </a:r>
            <a:r>
              <a:rPr lang="en-IN" b="1" dirty="0"/>
              <a:t>mindset</a:t>
            </a:r>
            <a:r>
              <a:rPr lang="en-IN" dirty="0"/>
              <a:t>.</a:t>
            </a:r>
          </a:p>
        </p:txBody>
      </p:sp>
      <p:pic>
        <p:nvPicPr>
          <p:cNvPr id="1026" name="Picture 2" descr="What is Agile? - Agile Coach Merle Randlepp">
            <a:extLst>
              <a:ext uri="{FF2B5EF4-FFF2-40B4-BE49-F238E27FC236}">
                <a16:creationId xmlns:a16="http://schemas.microsoft.com/office/drawing/2014/main" id="{5EE535BF-7311-CEE2-0343-A8291466B90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74331" y="1268760"/>
            <a:ext cx="6251927" cy="52565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55688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BA0BC35E-B3E4-982E-89A7-9A01FCD640F8}"/>
              </a:ext>
            </a:extLst>
          </p:cNvPr>
          <p:cNvSpPr>
            <a:spLocks noGrp="1"/>
          </p:cNvSpPr>
          <p:nvPr>
            <p:ph type="title"/>
          </p:nvPr>
        </p:nvSpPr>
        <p:spPr>
          <a:xfrm>
            <a:off x="1049626" y="-133815"/>
            <a:ext cx="10157354" cy="904528"/>
          </a:xfrm>
        </p:spPr>
        <p:txBody>
          <a:bodyPr/>
          <a:lstStyle/>
          <a:p>
            <a:r>
              <a:rPr lang="en-IN" dirty="0"/>
              <a:t>1. Scrum</a:t>
            </a:r>
          </a:p>
        </p:txBody>
      </p:sp>
      <p:sp>
        <p:nvSpPr>
          <p:cNvPr id="5" name="TextBox 4">
            <a:extLst>
              <a:ext uri="{FF2B5EF4-FFF2-40B4-BE49-F238E27FC236}">
                <a16:creationId xmlns:a16="http://schemas.microsoft.com/office/drawing/2014/main" id="{A030A2E6-CD63-CF80-71D6-69546BBC9C3C}"/>
              </a:ext>
            </a:extLst>
          </p:cNvPr>
          <p:cNvSpPr txBox="1"/>
          <p:nvPr/>
        </p:nvSpPr>
        <p:spPr>
          <a:xfrm>
            <a:off x="909836" y="927114"/>
            <a:ext cx="5544616" cy="1261884"/>
          </a:xfrm>
          <a:prstGeom prst="rect">
            <a:avLst/>
          </a:prstGeom>
          <a:noFill/>
        </p:spPr>
        <p:txBody>
          <a:bodyPr wrap="square" rtlCol="0">
            <a:spAutoFit/>
          </a:bodyPr>
          <a:lstStyle/>
          <a:p>
            <a:pPr>
              <a:lnSpc>
                <a:spcPct val="95000"/>
              </a:lnSpc>
            </a:pPr>
            <a:r>
              <a:rPr lang="en-US" sz="2000" dirty="0"/>
              <a:t>"Suppose your college is organizing a Tech Fest in one month. Would you wait until the last day to see whether everything is ready?"</a:t>
            </a:r>
            <a:endParaRPr lang="en-IN" sz="2000" dirty="0"/>
          </a:p>
        </p:txBody>
      </p:sp>
      <p:sp>
        <p:nvSpPr>
          <p:cNvPr id="6" name="TextBox 5">
            <a:extLst>
              <a:ext uri="{FF2B5EF4-FFF2-40B4-BE49-F238E27FC236}">
                <a16:creationId xmlns:a16="http://schemas.microsoft.com/office/drawing/2014/main" id="{6FD775E4-8CF3-0F7B-A16A-A6CE6C594872}"/>
              </a:ext>
            </a:extLst>
          </p:cNvPr>
          <p:cNvSpPr txBox="1"/>
          <p:nvPr/>
        </p:nvSpPr>
        <p:spPr>
          <a:xfrm>
            <a:off x="7534572" y="795339"/>
            <a:ext cx="2464136" cy="1554272"/>
          </a:xfrm>
          <a:prstGeom prst="rect">
            <a:avLst/>
          </a:prstGeom>
          <a:noFill/>
        </p:spPr>
        <p:txBody>
          <a:bodyPr wrap="none" rtlCol="0">
            <a:spAutoFit/>
          </a:bodyPr>
          <a:lstStyle/>
          <a:p>
            <a:pPr marL="342900" indent="-342900">
              <a:lnSpc>
                <a:spcPct val="95000"/>
              </a:lnSpc>
              <a:buFont typeface="Arial" panose="020B0604020202020204" pitchFamily="34" charset="0"/>
              <a:buChar char="•"/>
            </a:pPr>
            <a:r>
              <a:rPr lang="en-US" sz="2000" dirty="0"/>
              <a:t>Plan weekly</a:t>
            </a:r>
          </a:p>
          <a:p>
            <a:pPr marL="342900" indent="-342900">
              <a:lnSpc>
                <a:spcPct val="95000"/>
              </a:lnSpc>
              <a:buFont typeface="Arial" panose="020B0604020202020204" pitchFamily="34" charset="0"/>
              <a:buChar char="•"/>
            </a:pPr>
            <a:r>
              <a:rPr lang="en-US" sz="2000" dirty="0"/>
              <a:t>Divide work</a:t>
            </a:r>
          </a:p>
          <a:p>
            <a:pPr marL="342900" indent="-342900">
              <a:lnSpc>
                <a:spcPct val="95000"/>
              </a:lnSpc>
              <a:buFont typeface="Arial" panose="020B0604020202020204" pitchFamily="34" charset="0"/>
              <a:buChar char="•"/>
            </a:pPr>
            <a:r>
              <a:rPr lang="en-US" sz="2000" dirty="0"/>
              <a:t>Meet regularly</a:t>
            </a:r>
          </a:p>
          <a:p>
            <a:pPr marL="342900" indent="-342900">
              <a:lnSpc>
                <a:spcPct val="95000"/>
              </a:lnSpc>
              <a:buFont typeface="Arial" panose="020B0604020202020204" pitchFamily="34" charset="0"/>
              <a:buChar char="•"/>
            </a:pPr>
            <a:r>
              <a:rPr lang="en-US" sz="2000" dirty="0"/>
              <a:t>Check progress</a:t>
            </a:r>
          </a:p>
          <a:p>
            <a:pPr marL="342900" indent="-342900">
              <a:lnSpc>
                <a:spcPct val="95000"/>
              </a:lnSpc>
              <a:buFont typeface="Arial" panose="020B0604020202020204" pitchFamily="34" charset="0"/>
              <a:buChar char="•"/>
            </a:pPr>
            <a:r>
              <a:rPr lang="en-US" sz="2000" dirty="0"/>
              <a:t>Fix problems</a:t>
            </a:r>
            <a:endParaRPr lang="en-IN" sz="2000" dirty="0"/>
          </a:p>
        </p:txBody>
      </p:sp>
      <p:sp>
        <p:nvSpPr>
          <p:cNvPr id="8" name="TextBox 7">
            <a:extLst>
              <a:ext uri="{FF2B5EF4-FFF2-40B4-BE49-F238E27FC236}">
                <a16:creationId xmlns:a16="http://schemas.microsoft.com/office/drawing/2014/main" id="{276914DF-65D4-957A-E2C6-3679217D28E1}"/>
              </a:ext>
            </a:extLst>
          </p:cNvPr>
          <p:cNvSpPr txBox="1"/>
          <p:nvPr/>
        </p:nvSpPr>
        <p:spPr>
          <a:xfrm>
            <a:off x="765820" y="2374237"/>
            <a:ext cx="10441160" cy="969496"/>
          </a:xfrm>
          <a:prstGeom prst="rect">
            <a:avLst/>
          </a:prstGeom>
          <a:noFill/>
        </p:spPr>
        <p:txBody>
          <a:bodyPr wrap="square" rtlCol="0">
            <a:spAutoFit/>
          </a:bodyPr>
          <a:lstStyle/>
          <a:p>
            <a:pPr>
              <a:lnSpc>
                <a:spcPct val="95000"/>
              </a:lnSpc>
            </a:pPr>
            <a:r>
              <a:rPr lang="en-US" sz="2000" b="1" dirty="0">
                <a:solidFill>
                  <a:srgbClr val="FF0000"/>
                </a:solidFill>
              </a:rPr>
              <a:t>Scrum is an Agile framework used to develop software in small, manageable parts called Sprints, with regular planning, teamwork, feedback, and continuous improvement.</a:t>
            </a:r>
            <a:endParaRPr lang="en-IN" sz="2000" b="1" dirty="0">
              <a:solidFill>
                <a:srgbClr val="FF0000"/>
              </a:solidFill>
            </a:endParaRPr>
          </a:p>
        </p:txBody>
      </p:sp>
      <p:sp>
        <p:nvSpPr>
          <p:cNvPr id="12" name="TextBox 11">
            <a:extLst>
              <a:ext uri="{FF2B5EF4-FFF2-40B4-BE49-F238E27FC236}">
                <a16:creationId xmlns:a16="http://schemas.microsoft.com/office/drawing/2014/main" id="{F2983258-6274-25DC-4521-00F7E63A267D}"/>
              </a:ext>
            </a:extLst>
          </p:cNvPr>
          <p:cNvSpPr txBox="1"/>
          <p:nvPr/>
        </p:nvSpPr>
        <p:spPr>
          <a:xfrm>
            <a:off x="724175" y="3514268"/>
            <a:ext cx="6388287" cy="384721"/>
          </a:xfrm>
          <a:prstGeom prst="rect">
            <a:avLst/>
          </a:prstGeom>
          <a:noFill/>
        </p:spPr>
        <p:txBody>
          <a:bodyPr wrap="none" rtlCol="0">
            <a:spAutoFit/>
          </a:bodyPr>
          <a:lstStyle/>
          <a:p>
            <a:pPr>
              <a:lnSpc>
                <a:spcPct val="95000"/>
              </a:lnSpc>
            </a:pPr>
            <a:r>
              <a:rPr lang="en-US" sz="2000" dirty="0"/>
              <a:t>The word </a:t>
            </a:r>
            <a:r>
              <a:rPr lang="en-US" sz="2000" b="1" dirty="0"/>
              <a:t>"Scrum"</a:t>
            </a:r>
            <a:r>
              <a:rPr lang="en-US" sz="2000" dirty="0"/>
              <a:t> comes from the game of </a:t>
            </a:r>
            <a:r>
              <a:rPr lang="en-US" sz="2000" b="1" dirty="0"/>
              <a:t>Rugby</a:t>
            </a:r>
            <a:endParaRPr lang="en-IN" sz="2000" dirty="0"/>
          </a:p>
        </p:txBody>
      </p:sp>
      <p:sp>
        <p:nvSpPr>
          <p:cNvPr id="13" name="TextBox 12">
            <a:extLst>
              <a:ext uri="{FF2B5EF4-FFF2-40B4-BE49-F238E27FC236}">
                <a16:creationId xmlns:a16="http://schemas.microsoft.com/office/drawing/2014/main" id="{EEADC521-A85D-15D9-234B-47D56FA94695}"/>
              </a:ext>
            </a:extLst>
          </p:cNvPr>
          <p:cNvSpPr txBox="1"/>
          <p:nvPr/>
        </p:nvSpPr>
        <p:spPr>
          <a:xfrm>
            <a:off x="765820" y="4070538"/>
            <a:ext cx="7188186" cy="2539157"/>
          </a:xfrm>
          <a:prstGeom prst="rect">
            <a:avLst/>
          </a:prstGeom>
          <a:noFill/>
        </p:spPr>
        <p:txBody>
          <a:bodyPr wrap="none" rtlCol="0">
            <a:spAutoFit/>
          </a:bodyPr>
          <a:lstStyle/>
          <a:p>
            <a:r>
              <a:rPr lang="en-US" sz="2000" dirty="0"/>
              <a:t>In Rugby,</a:t>
            </a:r>
          </a:p>
          <a:p>
            <a:r>
              <a:rPr lang="en-US" sz="2000" dirty="0"/>
              <a:t>players stand together,</a:t>
            </a:r>
          </a:p>
          <a:p>
            <a:r>
              <a:rPr lang="en-US" sz="2000" dirty="0"/>
              <a:t>communicate,</a:t>
            </a:r>
          </a:p>
          <a:p>
            <a:r>
              <a:rPr lang="en-US" sz="2000" dirty="0"/>
              <a:t>support each other,</a:t>
            </a:r>
          </a:p>
          <a:p>
            <a:r>
              <a:rPr lang="en-US" sz="2000" dirty="0"/>
              <a:t>and move forward as one team.</a:t>
            </a:r>
          </a:p>
          <a:p>
            <a:r>
              <a:rPr lang="en-US" sz="2000" dirty="0"/>
              <a:t>Similarly,</a:t>
            </a:r>
          </a:p>
          <a:p>
            <a:r>
              <a:rPr lang="en-US" sz="2000" dirty="0"/>
              <a:t>Scrum teams work together to achieve a common goal.</a:t>
            </a:r>
          </a:p>
          <a:p>
            <a:pPr>
              <a:lnSpc>
                <a:spcPct val="95000"/>
              </a:lnSpc>
            </a:pPr>
            <a:endParaRPr lang="en-IN" sz="2000" dirty="0"/>
          </a:p>
        </p:txBody>
      </p:sp>
      <p:pic>
        <p:nvPicPr>
          <p:cNvPr id="2051" name="Picture 3" descr="Mastering the Rugby Scrum: Technique Guide | Optimum">
            <a:extLst>
              <a:ext uri="{FF2B5EF4-FFF2-40B4-BE49-F238E27FC236}">
                <a16:creationId xmlns:a16="http://schemas.microsoft.com/office/drawing/2014/main" id="{BEE157B7-2D0E-86F3-3C87-364904C17CB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18270" y="3124067"/>
            <a:ext cx="3646380" cy="36463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802610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BA0BC35E-B3E4-982E-89A7-9A01FCD640F8}"/>
              </a:ext>
            </a:extLst>
          </p:cNvPr>
          <p:cNvSpPr>
            <a:spLocks noGrp="1"/>
          </p:cNvSpPr>
          <p:nvPr>
            <p:ph type="title"/>
          </p:nvPr>
        </p:nvSpPr>
        <p:spPr>
          <a:xfrm>
            <a:off x="1117309" y="76200"/>
            <a:ext cx="10157354" cy="904528"/>
          </a:xfrm>
        </p:spPr>
        <p:txBody>
          <a:bodyPr/>
          <a:lstStyle/>
          <a:p>
            <a:r>
              <a:rPr lang="en-IN" dirty="0"/>
              <a:t>1. Scrum</a:t>
            </a:r>
          </a:p>
        </p:txBody>
      </p:sp>
      <p:sp>
        <p:nvSpPr>
          <p:cNvPr id="2" name="TextBox 1">
            <a:extLst>
              <a:ext uri="{FF2B5EF4-FFF2-40B4-BE49-F238E27FC236}">
                <a16:creationId xmlns:a16="http://schemas.microsoft.com/office/drawing/2014/main" id="{B7319854-4846-C230-F2D3-4E624EB903AE}"/>
              </a:ext>
            </a:extLst>
          </p:cNvPr>
          <p:cNvSpPr txBox="1"/>
          <p:nvPr/>
        </p:nvSpPr>
        <p:spPr>
          <a:xfrm>
            <a:off x="945841" y="1076426"/>
            <a:ext cx="9145016" cy="794064"/>
          </a:xfrm>
          <a:prstGeom prst="rect">
            <a:avLst/>
          </a:prstGeom>
          <a:noFill/>
        </p:spPr>
        <p:txBody>
          <a:bodyPr wrap="square" rtlCol="0">
            <a:spAutoFit/>
          </a:bodyPr>
          <a:lstStyle/>
          <a:p>
            <a:pPr>
              <a:lnSpc>
                <a:spcPct val="95000"/>
              </a:lnSpc>
            </a:pPr>
            <a:r>
              <a:rPr lang="en-US" dirty="0"/>
              <a:t>Scrum is the most widely used Agile framework for managing software development in short iterations called </a:t>
            </a:r>
            <a:r>
              <a:rPr lang="en-US" b="1" dirty="0"/>
              <a:t>Sprints</a:t>
            </a:r>
            <a:endParaRPr lang="en-IN" dirty="0"/>
          </a:p>
        </p:txBody>
      </p:sp>
      <p:sp>
        <p:nvSpPr>
          <p:cNvPr id="3" name="TextBox 2">
            <a:extLst>
              <a:ext uri="{FF2B5EF4-FFF2-40B4-BE49-F238E27FC236}">
                <a16:creationId xmlns:a16="http://schemas.microsoft.com/office/drawing/2014/main" id="{0B09FC0F-11F0-656E-1084-C362DD0FBD7B}"/>
              </a:ext>
            </a:extLst>
          </p:cNvPr>
          <p:cNvSpPr txBox="1"/>
          <p:nvPr/>
        </p:nvSpPr>
        <p:spPr>
          <a:xfrm>
            <a:off x="981845" y="2132856"/>
            <a:ext cx="4536504" cy="1920526"/>
          </a:xfrm>
          <a:prstGeom prst="rect">
            <a:avLst/>
          </a:prstGeom>
          <a:noFill/>
        </p:spPr>
        <p:txBody>
          <a:bodyPr wrap="square" rtlCol="0">
            <a:spAutoFit/>
          </a:bodyPr>
          <a:lstStyle/>
          <a:p>
            <a:r>
              <a:rPr lang="en-US" b="1" dirty="0"/>
              <a:t>Best For</a:t>
            </a:r>
          </a:p>
          <a:p>
            <a:pPr>
              <a:buFont typeface="Arial" panose="020B0604020202020204" pitchFamily="34" charset="0"/>
              <a:buChar char="•"/>
            </a:pPr>
            <a:r>
              <a:rPr lang="en-US" dirty="0"/>
              <a:t>Medium to large projects </a:t>
            </a:r>
          </a:p>
          <a:p>
            <a:pPr>
              <a:buFont typeface="Arial" panose="020B0604020202020204" pitchFamily="34" charset="0"/>
              <a:buChar char="•"/>
            </a:pPr>
            <a:r>
              <a:rPr lang="en-US" dirty="0"/>
              <a:t>Frequently changing requirements</a:t>
            </a:r>
          </a:p>
          <a:p>
            <a:pPr>
              <a:lnSpc>
                <a:spcPct val="95000"/>
              </a:lnSpc>
            </a:pPr>
            <a:endParaRPr lang="en-IN" dirty="0"/>
          </a:p>
        </p:txBody>
      </p:sp>
      <p:sp>
        <p:nvSpPr>
          <p:cNvPr id="9" name="TextBox 8">
            <a:extLst>
              <a:ext uri="{FF2B5EF4-FFF2-40B4-BE49-F238E27FC236}">
                <a16:creationId xmlns:a16="http://schemas.microsoft.com/office/drawing/2014/main" id="{EB22F361-74D6-A071-9973-ECD57DCF2F36}"/>
              </a:ext>
            </a:extLst>
          </p:cNvPr>
          <p:cNvSpPr txBox="1"/>
          <p:nvPr/>
        </p:nvSpPr>
        <p:spPr>
          <a:xfrm>
            <a:off x="6742484" y="1999656"/>
            <a:ext cx="2850460" cy="2289858"/>
          </a:xfrm>
          <a:prstGeom prst="rect">
            <a:avLst/>
          </a:prstGeom>
          <a:noFill/>
        </p:spPr>
        <p:txBody>
          <a:bodyPr wrap="none" rtlCol="0">
            <a:spAutoFit/>
          </a:bodyPr>
          <a:lstStyle/>
          <a:p>
            <a:r>
              <a:rPr lang="en-US" b="1" dirty="0"/>
              <a:t>Key Concepts</a:t>
            </a:r>
          </a:p>
          <a:p>
            <a:pPr>
              <a:buFont typeface="Arial" panose="020B0604020202020204" pitchFamily="34" charset="0"/>
              <a:buChar char="•"/>
            </a:pPr>
            <a:r>
              <a:rPr lang="en-US" dirty="0"/>
              <a:t>Sprint </a:t>
            </a:r>
          </a:p>
          <a:p>
            <a:pPr>
              <a:buFont typeface="Arial" panose="020B0604020202020204" pitchFamily="34" charset="0"/>
              <a:buChar char="•"/>
            </a:pPr>
            <a:r>
              <a:rPr lang="en-US" dirty="0"/>
              <a:t>Product Backlog </a:t>
            </a:r>
          </a:p>
          <a:p>
            <a:pPr>
              <a:buFont typeface="Arial" panose="020B0604020202020204" pitchFamily="34" charset="0"/>
              <a:buChar char="•"/>
            </a:pPr>
            <a:r>
              <a:rPr lang="en-US" dirty="0"/>
              <a:t>Sprint Backlog </a:t>
            </a:r>
          </a:p>
          <a:p>
            <a:pPr>
              <a:buFont typeface="Arial" panose="020B0604020202020204" pitchFamily="34" charset="0"/>
              <a:buChar char="•"/>
            </a:pPr>
            <a:r>
              <a:rPr lang="en-US" dirty="0"/>
              <a:t>Daily Scrum</a:t>
            </a:r>
          </a:p>
          <a:p>
            <a:pPr>
              <a:lnSpc>
                <a:spcPct val="95000"/>
              </a:lnSpc>
            </a:pPr>
            <a:endParaRPr lang="en-IN" dirty="0"/>
          </a:p>
        </p:txBody>
      </p:sp>
      <p:sp>
        <p:nvSpPr>
          <p:cNvPr id="10" name="TextBox 9">
            <a:extLst>
              <a:ext uri="{FF2B5EF4-FFF2-40B4-BE49-F238E27FC236}">
                <a16:creationId xmlns:a16="http://schemas.microsoft.com/office/drawing/2014/main" id="{320DDC0A-5F7A-D7C5-90AE-5CE440C90896}"/>
              </a:ext>
            </a:extLst>
          </p:cNvPr>
          <p:cNvSpPr txBox="1"/>
          <p:nvPr/>
        </p:nvSpPr>
        <p:spPr>
          <a:xfrm>
            <a:off x="981844" y="4149080"/>
            <a:ext cx="3260829" cy="1920526"/>
          </a:xfrm>
          <a:prstGeom prst="rect">
            <a:avLst/>
          </a:prstGeom>
          <a:noFill/>
        </p:spPr>
        <p:txBody>
          <a:bodyPr wrap="none" rtlCol="0">
            <a:spAutoFit/>
          </a:bodyPr>
          <a:lstStyle/>
          <a:p>
            <a:r>
              <a:rPr lang="en-US" b="1" dirty="0"/>
              <a:t>Roles</a:t>
            </a:r>
          </a:p>
          <a:p>
            <a:pPr>
              <a:buFont typeface="Arial" panose="020B0604020202020204" pitchFamily="34" charset="0"/>
              <a:buChar char="•"/>
            </a:pPr>
            <a:r>
              <a:rPr lang="en-US" dirty="0"/>
              <a:t>Product Owner </a:t>
            </a:r>
          </a:p>
          <a:p>
            <a:pPr>
              <a:buFont typeface="Arial" panose="020B0604020202020204" pitchFamily="34" charset="0"/>
              <a:buChar char="•"/>
            </a:pPr>
            <a:r>
              <a:rPr lang="en-US" dirty="0"/>
              <a:t>Scrum Master </a:t>
            </a:r>
          </a:p>
          <a:p>
            <a:pPr>
              <a:buFont typeface="Arial" panose="020B0604020202020204" pitchFamily="34" charset="0"/>
              <a:buChar char="•"/>
            </a:pPr>
            <a:r>
              <a:rPr lang="en-US" dirty="0"/>
              <a:t>Development Team</a:t>
            </a:r>
          </a:p>
          <a:p>
            <a:pPr>
              <a:lnSpc>
                <a:spcPct val="95000"/>
              </a:lnSpc>
            </a:pPr>
            <a:endParaRPr lang="en-IN" dirty="0"/>
          </a:p>
        </p:txBody>
      </p:sp>
      <p:sp>
        <p:nvSpPr>
          <p:cNvPr id="11" name="TextBox 10">
            <a:extLst>
              <a:ext uri="{FF2B5EF4-FFF2-40B4-BE49-F238E27FC236}">
                <a16:creationId xmlns:a16="http://schemas.microsoft.com/office/drawing/2014/main" id="{E4059110-A55C-F70A-EAB2-140D0B7FFCE9}"/>
              </a:ext>
            </a:extLst>
          </p:cNvPr>
          <p:cNvSpPr txBox="1"/>
          <p:nvPr/>
        </p:nvSpPr>
        <p:spPr>
          <a:xfrm>
            <a:off x="6670476" y="4198810"/>
            <a:ext cx="3804247" cy="2659190"/>
          </a:xfrm>
          <a:prstGeom prst="rect">
            <a:avLst/>
          </a:prstGeom>
          <a:noFill/>
        </p:spPr>
        <p:txBody>
          <a:bodyPr wrap="none" rtlCol="0">
            <a:spAutoFit/>
          </a:bodyPr>
          <a:lstStyle/>
          <a:p>
            <a:r>
              <a:rPr lang="en-US" b="1" dirty="0"/>
              <a:t>Example</a:t>
            </a:r>
          </a:p>
          <a:p>
            <a:r>
              <a:rPr lang="en-US" dirty="0"/>
              <a:t>A banking app releases:</a:t>
            </a:r>
          </a:p>
          <a:p>
            <a:r>
              <a:rPr lang="en-US" dirty="0"/>
              <a:t>Sprint 1 → Login</a:t>
            </a:r>
          </a:p>
          <a:p>
            <a:r>
              <a:rPr lang="en-US" dirty="0"/>
              <a:t>Sprint 2 → UPI</a:t>
            </a:r>
          </a:p>
          <a:p>
            <a:r>
              <a:rPr lang="en-US" dirty="0"/>
              <a:t>Sprint 3 → Loan Module</a:t>
            </a:r>
          </a:p>
          <a:p>
            <a:r>
              <a:rPr lang="en-US" dirty="0"/>
              <a:t>Sprint 4 → Investment</a:t>
            </a:r>
          </a:p>
          <a:p>
            <a:pPr>
              <a:lnSpc>
                <a:spcPct val="95000"/>
              </a:lnSpc>
            </a:pPr>
            <a:endParaRPr lang="en-IN" dirty="0"/>
          </a:p>
        </p:txBody>
      </p:sp>
    </p:spTree>
    <p:extLst>
      <p:ext uri="{BB962C8B-B14F-4D97-AF65-F5344CB8AC3E}">
        <p14:creationId xmlns:p14="http://schemas.microsoft.com/office/powerpoint/2010/main" val="37279345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5136C817-A46A-9621-FF29-0EEA964E5E27}"/>
              </a:ext>
            </a:extLst>
          </p:cNvPr>
          <p:cNvSpPr>
            <a:spLocks noGrp="1"/>
          </p:cNvSpPr>
          <p:nvPr>
            <p:ph type="title"/>
          </p:nvPr>
        </p:nvSpPr>
        <p:spPr>
          <a:xfrm>
            <a:off x="1103618" y="-20690"/>
            <a:ext cx="10157354" cy="904528"/>
          </a:xfrm>
        </p:spPr>
        <p:txBody>
          <a:bodyPr/>
          <a:lstStyle/>
          <a:p>
            <a:r>
              <a:rPr lang="en-IN" dirty="0"/>
              <a:t>1. Scrum</a:t>
            </a:r>
          </a:p>
        </p:txBody>
      </p:sp>
      <p:sp>
        <p:nvSpPr>
          <p:cNvPr id="6" name="TextBox 5">
            <a:extLst>
              <a:ext uri="{FF2B5EF4-FFF2-40B4-BE49-F238E27FC236}">
                <a16:creationId xmlns:a16="http://schemas.microsoft.com/office/drawing/2014/main" id="{FD8B9F5C-E1A6-C81F-2CFA-801D87E159FB}"/>
              </a:ext>
            </a:extLst>
          </p:cNvPr>
          <p:cNvSpPr txBox="1"/>
          <p:nvPr/>
        </p:nvSpPr>
        <p:spPr>
          <a:xfrm>
            <a:off x="909836" y="1124744"/>
            <a:ext cx="3694650" cy="5170646"/>
          </a:xfrm>
          <a:prstGeom prst="rect">
            <a:avLst/>
          </a:prstGeom>
          <a:noFill/>
        </p:spPr>
        <p:txBody>
          <a:bodyPr wrap="square">
            <a:spAutoFit/>
          </a:bodyPr>
          <a:lstStyle/>
          <a:p>
            <a:r>
              <a:rPr lang="en-IN" sz="2200" dirty="0"/>
              <a:t>Product Backlog</a:t>
            </a:r>
          </a:p>
          <a:p>
            <a:r>
              <a:rPr lang="en-IN" sz="2200" dirty="0"/>
              <a:t>        ↓</a:t>
            </a:r>
          </a:p>
          <a:p>
            <a:r>
              <a:rPr lang="en-IN" sz="2200" dirty="0"/>
              <a:t>Sprint Planning</a:t>
            </a:r>
          </a:p>
          <a:p>
            <a:r>
              <a:rPr lang="en-IN" sz="2200" dirty="0"/>
              <a:t>        ↓</a:t>
            </a:r>
          </a:p>
          <a:p>
            <a:r>
              <a:rPr lang="en-IN" sz="2200" dirty="0"/>
              <a:t>Sprint (2 Weeks)</a:t>
            </a:r>
          </a:p>
          <a:p>
            <a:r>
              <a:rPr lang="en-IN" sz="2200" dirty="0"/>
              <a:t>        ↓</a:t>
            </a:r>
          </a:p>
          <a:p>
            <a:r>
              <a:rPr lang="en-IN" sz="2200" dirty="0"/>
              <a:t>Daily Scrum</a:t>
            </a:r>
          </a:p>
          <a:p>
            <a:r>
              <a:rPr lang="en-IN" sz="2200" dirty="0"/>
              <a:t>        ↓</a:t>
            </a:r>
          </a:p>
          <a:p>
            <a:r>
              <a:rPr lang="en-IN" sz="2200" dirty="0"/>
              <a:t>Working Software</a:t>
            </a:r>
          </a:p>
          <a:p>
            <a:r>
              <a:rPr lang="en-IN" sz="2200" dirty="0"/>
              <a:t>        ↓</a:t>
            </a:r>
          </a:p>
          <a:p>
            <a:r>
              <a:rPr lang="en-IN" sz="2200" dirty="0"/>
              <a:t>Sprint Review</a:t>
            </a:r>
          </a:p>
          <a:p>
            <a:r>
              <a:rPr lang="en-IN" sz="2200" dirty="0"/>
              <a:t>        ↓</a:t>
            </a:r>
          </a:p>
          <a:p>
            <a:r>
              <a:rPr lang="en-IN" sz="2200" dirty="0"/>
              <a:t>Sprint Retrospective</a:t>
            </a:r>
          </a:p>
          <a:p>
            <a:r>
              <a:rPr lang="en-IN" sz="2200" dirty="0"/>
              <a:t>        ↓</a:t>
            </a:r>
          </a:p>
          <a:p>
            <a:r>
              <a:rPr lang="en-IN" sz="2200" dirty="0"/>
              <a:t>Next Sprint</a:t>
            </a:r>
          </a:p>
        </p:txBody>
      </p:sp>
      <p:sp>
        <p:nvSpPr>
          <p:cNvPr id="7" name="TextBox 6">
            <a:extLst>
              <a:ext uri="{FF2B5EF4-FFF2-40B4-BE49-F238E27FC236}">
                <a16:creationId xmlns:a16="http://schemas.microsoft.com/office/drawing/2014/main" id="{DD548FDC-4D98-2CA9-5109-4BD928D36BE6}"/>
              </a:ext>
            </a:extLst>
          </p:cNvPr>
          <p:cNvSpPr txBox="1"/>
          <p:nvPr/>
        </p:nvSpPr>
        <p:spPr>
          <a:xfrm>
            <a:off x="4078188" y="898239"/>
            <a:ext cx="3891351" cy="2342116"/>
          </a:xfrm>
          <a:prstGeom prst="rect">
            <a:avLst/>
          </a:prstGeom>
          <a:noFill/>
        </p:spPr>
        <p:txBody>
          <a:bodyPr wrap="square" rtlCol="0">
            <a:spAutoFit/>
          </a:bodyPr>
          <a:lstStyle/>
          <a:p>
            <a:pPr>
              <a:lnSpc>
                <a:spcPct val="150000"/>
              </a:lnSpc>
            </a:pPr>
            <a:r>
              <a:rPr lang="en-IN" sz="2000" b="1" dirty="0">
                <a:solidFill>
                  <a:srgbClr val="7030A0"/>
                </a:solidFill>
              </a:rPr>
              <a:t>Product Owner:</a:t>
            </a:r>
          </a:p>
          <a:p>
            <a:pPr marL="342900" indent="-342900">
              <a:lnSpc>
                <a:spcPct val="150000"/>
              </a:lnSpc>
              <a:buFont typeface="Arial" panose="020B0604020202020204" pitchFamily="34" charset="0"/>
              <a:buChar char="•"/>
            </a:pPr>
            <a:r>
              <a:rPr lang="en-US" sz="2000" dirty="0">
                <a:solidFill>
                  <a:srgbClr val="7030A0"/>
                </a:solidFill>
              </a:rPr>
              <a:t>Understand customer needs</a:t>
            </a:r>
          </a:p>
          <a:p>
            <a:pPr marL="342900" indent="-342900">
              <a:lnSpc>
                <a:spcPct val="150000"/>
              </a:lnSpc>
              <a:buFont typeface="Arial" panose="020B0604020202020204" pitchFamily="34" charset="0"/>
              <a:buChar char="•"/>
            </a:pPr>
            <a:r>
              <a:rPr lang="en-US" sz="2000" dirty="0">
                <a:solidFill>
                  <a:srgbClr val="7030A0"/>
                </a:solidFill>
              </a:rPr>
              <a:t>Prioritize features</a:t>
            </a:r>
          </a:p>
          <a:p>
            <a:pPr marL="342900" indent="-342900">
              <a:lnSpc>
                <a:spcPct val="150000"/>
              </a:lnSpc>
              <a:buFont typeface="Arial" panose="020B0604020202020204" pitchFamily="34" charset="0"/>
              <a:buChar char="•"/>
            </a:pPr>
            <a:r>
              <a:rPr lang="en-US" sz="2000" dirty="0">
                <a:solidFill>
                  <a:srgbClr val="7030A0"/>
                </a:solidFill>
              </a:rPr>
              <a:t>Maintain Product Backlog</a:t>
            </a:r>
            <a:endParaRPr lang="en-IN" sz="2000" dirty="0">
              <a:solidFill>
                <a:srgbClr val="7030A0"/>
              </a:solidFill>
            </a:endParaRPr>
          </a:p>
        </p:txBody>
      </p:sp>
      <p:sp>
        <p:nvSpPr>
          <p:cNvPr id="9" name="TextBox 8">
            <a:extLst>
              <a:ext uri="{FF2B5EF4-FFF2-40B4-BE49-F238E27FC236}">
                <a16:creationId xmlns:a16="http://schemas.microsoft.com/office/drawing/2014/main" id="{0CBA479D-562F-CF43-F2D3-5356A19C9CC0}"/>
              </a:ext>
            </a:extLst>
          </p:cNvPr>
          <p:cNvSpPr txBox="1"/>
          <p:nvPr/>
        </p:nvSpPr>
        <p:spPr>
          <a:xfrm>
            <a:off x="8254652" y="883838"/>
            <a:ext cx="3525474" cy="2342116"/>
          </a:xfrm>
          <a:prstGeom prst="rect">
            <a:avLst/>
          </a:prstGeom>
          <a:noFill/>
        </p:spPr>
        <p:txBody>
          <a:bodyPr wrap="square" rtlCol="0">
            <a:spAutoFit/>
          </a:bodyPr>
          <a:lstStyle>
            <a:defPPr>
              <a:defRPr lang="en-US"/>
            </a:defPPr>
            <a:lvl1pPr>
              <a:lnSpc>
                <a:spcPct val="150000"/>
              </a:lnSpc>
              <a:defRPr sz="2000">
                <a:solidFill>
                  <a:srgbClr val="7030A0"/>
                </a:solidFill>
              </a:defRPr>
            </a:lvl1pPr>
          </a:lstStyle>
          <a:p>
            <a:r>
              <a:rPr lang="en-IN" b="1" dirty="0">
                <a:solidFill>
                  <a:schemeClr val="accent2">
                    <a:lumMod val="75000"/>
                  </a:schemeClr>
                </a:solidFill>
              </a:rPr>
              <a:t>Scrum Master:</a:t>
            </a:r>
          </a:p>
          <a:p>
            <a:r>
              <a:rPr lang="en-US" dirty="0">
                <a:solidFill>
                  <a:schemeClr val="accent2">
                    <a:lumMod val="75000"/>
                  </a:schemeClr>
                </a:solidFill>
              </a:rPr>
              <a:t>Ensures Scrum is followed correctly</a:t>
            </a:r>
            <a:endParaRPr lang="en-IN" dirty="0">
              <a:solidFill>
                <a:schemeClr val="accent2">
                  <a:lumMod val="75000"/>
                </a:schemeClr>
              </a:solidFill>
            </a:endParaRPr>
          </a:p>
          <a:p>
            <a:r>
              <a:rPr lang="en-IN" dirty="0">
                <a:solidFill>
                  <a:schemeClr val="accent2">
                    <a:lumMod val="75000"/>
                  </a:schemeClr>
                </a:solidFill>
              </a:rPr>
              <a:t>Removes obstacles</a:t>
            </a:r>
          </a:p>
          <a:p>
            <a:r>
              <a:rPr lang="en-IN" dirty="0">
                <a:solidFill>
                  <a:schemeClr val="accent2">
                    <a:lumMod val="75000"/>
                  </a:schemeClr>
                </a:solidFill>
              </a:rPr>
              <a:t>Guides the team</a:t>
            </a:r>
          </a:p>
        </p:txBody>
      </p:sp>
      <p:sp>
        <p:nvSpPr>
          <p:cNvPr id="10" name="TextBox 9">
            <a:extLst>
              <a:ext uri="{FF2B5EF4-FFF2-40B4-BE49-F238E27FC236}">
                <a16:creationId xmlns:a16="http://schemas.microsoft.com/office/drawing/2014/main" id="{8781646B-EAFD-6AD6-82CE-37BF3DCE2D80}"/>
              </a:ext>
            </a:extLst>
          </p:cNvPr>
          <p:cNvSpPr txBox="1"/>
          <p:nvPr/>
        </p:nvSpPr>
        <p:spPr>
          <a:xfrm>
            <a:off x="5230316" y="3429000"/>
            <a:ext cx="5688632" cy="3265446"/>
          </a:xfrm>
          <a:prstGeom prst="rect">
            <a:avLst/>
          </a:prstGeom>
          <a:noFill/>
        </p:spPr>
        <p:txBody>
          <a:bodyPr wrap="square" rtlCol="0">
            <a:spAutoFit/>
          </a:bodyPr>
          <a:lstStyle>
            <a:defPPr>
              <a:defRPr lang="en-US"/>
            </a:defPPr>
            <a:lvl1pPr>
              <a:lnSpc>
                <a:spcPct val="150000"/>
              </a:lnSpc>
              <a:defRPr sz="2000" b="1">
                <a:solidFill>
                  <a:schemeClr val="accent2">
                    <a:lumMod val="75000"/>
                  </a:schemeClr>
                </a:solidFill>
              </a:defRPr>
            </a:lvl1pPr>
          </a:lstStyle>
          <a:p>
            <a:r>
              <a:rPr lang="en-US" dirty="0">
                <a:solidFill>
                  <a:schemeClr val="accent6">
                    <a:lumMod val="75000"/>
                  </a:schemeClr>
                </a:solidFill>
              </a:rPr>
              <a:t>Development Team</a:t>
            </a:r>
          </a:p>
          <a:p>
            <a:pPr marL="342900" indent="-342900">
              <a:buFont typeface="Arial" panose="020B0604020202020204" pitchFamily="34" charset="0"/>
              <a:buChar char="•"/>
            </a:pPr>
            <a:r>
              <a:rPr lang="en-US" b="0" dirty="0">
                <a:solidFill>
                  <a:schemeClr val="accent6">
                    <a:lumMod val="75000"/>
                  </a:schemeClr>
                </a:solidFill>
              </a:rPr>
              <a:t>Developers</a:t>
            </a:r>
          </a:p>
          <a:p>
            <a:pPr marL="342900" indent="-342900">
              <a:buFont typeface="Arial" panose="020B0604020202020204" pitchFamily="34" charset="0"/>
              <a:buChar char="•"/>
            </a:pPr>
            <a:r>
              <a:rPr lang="en-US" b="0" dirty="0">
                <a:solidFill>
                  <a:schemeClr val="accent6">
                    <a:lumMod val="75000"/>
                  </a:schemeClr>
                </a:solidFill>
              </a:rPr>
              <a:t>Testers</a:t>
            </a:r>
          </a:p>
          <a:p>
            <a:pPr marL="342900" indent="-342900">
              <a:buFont typeface="Arial" panose="020B0604020202020204" pitchFamily="34" charset="0"/>
              <a:buChar char="•"/>
            </a:pPr>
            <a:r>
              <a:rPr lang="en-US" b="0" dirty="0">
                <a:solidFill>
                  <a:schemeClr val="accent6">
                    <a:lumMod val="75000"/>
                  </a:schemeClr>
                </a:solidFill>
              </a:rPr>
              <a:t>UI Designers</a:t>
            </a:r>
          </a:p>
          <a:p>
            <a:pPr marL="342900" indent="-342900">
              <a:buFont typeface="Arial" panose="020B0604020202020204" pitchFamily="34" charset="0"/>
              <a:buChar char="•"/>
            </a:pPr>
            <a:r>
              <a:rPr lang="en-US" b="0" dirty="0">
                <a:solidFill>
                  <a:schemeClr val="accent6">
                    <a:lumMod val="75000"/>
                  </a:schemeClr>
                </a:solidFill>
              </a:rPr>
              <a:t>DevOps Engineers</a:t>
            </a:r>
          </a:p>
          <a:p>
            <a:pPr marL="342900" indent="-342900">
              <a:buFont typeface="Arial" panose="020B0604020202020204" pitchFamily="34" charset="0"/>
              <a:buChar char="•"/>
            </a:pPr>
            <a:r>
              <a:rPr lang="en-US" b="0" dirty="0">
                <a:solidFill>
                  <a:schemeClr val="accent6">
                    <a:lumMod val="75000"/>
                  </a:schemeClr>
                </a:solidFill>
              </a:rPr>
              <a:t>Database Engineers</a:t>
            </a:r>
          </a:p>
          <a:p>
            <a:r>
              <a:rPr lang="en-US" b="0" dirty="0">
                <a:solidFill>
                  <a:schemeClr val="accent6">
                    <a:lumMod val="75000"/>
                  </a:schemeClr>
                </a:solidFill>
              </a:rPr>
              <a:t>They decide: HOW to build the software</a:t>
            </a:r>
            <a:endParaRPr lang="en-IN" b="0" dirty="0">
              <a:solidFill>
                <a:schemeClr val="accent6">
                  <a:lumMod val="75000"/>
                </a:schemeClr>
              </a:solidFill>
            </a:endParaRPr>
          </a:p>
        </p:txBody>
      </p:sp>
    </p:spTree>
    <p:extLst>
      <p:ext uri="{BB962C8B-B14F-4D97-AF65-F5344CB8AC3E}">
        <p14:creationId xmlns:p14="http://schemas.microsoft.com/office/powerpoint/2010/main" val="9570845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SCRUM in Hindi | Software Engineering Tutorials">
            <a:extLst>
              <a:ext uri="{FF2B5EF4-FFF2-40B4-BE49-F238E27FC236}">
                <a16:creationId xmlns:a16="http://schemas.microsoft.com/office/drawing/2014/main" id="{2CCDE2E6-ABC3-A088-2173-EA5D7EBE652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518" y="0"/>
            <a:ext cx="12112317" cy="68133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207007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4FFD58D1-17C9-266B-6CDA-A8C14E73F3EA}"/>
              </a:ext>
            </a:extLst>
          </p:cNvPr>
          <p:cNvSpPr>
            <a:spLocks noGrp="1"/>
          </p:cNvSpPr>
          <p:nvPr>
            <p:ph type="title"/>
          </p:nvPr>
        </p:nvSpPr>
        <p:spPr>
          <a:xfrm>
            <a:off x="1103618" y="-20690"/>
            <a:ext cx="10157354" cy="904528"/>
          </a:xfrm>
        </p:spPr>
        <p:txBody>
          <a:bodyPr/>
          <a:lstStyle/>
          <a:p>
            <a:r>
              <a:rPr lang="en-IN" dirty="0"/>
              <a:t>1. Scrum</a:t>
            </a:r>
          </a:p>
        </p:txBody>
      </p:sp>
      <p:sp>
        <p:nvSpPr>
          <p:cNvPr id="5" name="Rectangle: Rounded Corners 4">
            <a:extLst>
              <a:ext uri="{FF2B5EF4-FFF2-40B4-BE49-F238E27FC236}">
                <a16:creationId xmlns:a16="http://schemas.microsoft.com/office/drawing/2014/main" id="{729E3EF9-9AB9-E9C1-3315-DE5B7173503A}"/>
              </a:ext>
            </a:extLst>
          </p:cNvPr>
          <p:cNvSpPr/>
          <p:nvPr/>
        </p:nvSpPr>
        <p:spPr>
          <a:xfrm>
            <a:off x="981844" y="1340768"/>
            <a:ext cx="2520280" cy="1440160"/>
          </a:xfrm>
          <a:prstGeom prst="roundRect">
            <a:avLst/>
          </a:prstGeom>
          <a:solidFill>
            <a:schemeClr val="accent5">
              <a:lumMod val="50000"/>
            </a:schemeClr>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IN" sz="1600" b="1" dirty="0"/>
              <a:t>Empirical Process Control</a:t>
            </a:r>
          </a:p>
          <a:p>
            <a:pPr algn="ctr"/>
            <a:r>
              <a:rPr lang="en-IN" sz="1400" dirty="0"/>
              <a:t>Learn from Experience</a:t>
            </a:r>
            <a:endParaRPr lang="en-IN" sz="1400" b="1" dirty="0">
              <a:solidFill>
                <a:schemeClr val="bg1"/>
              </a:solidFill>
            </a:endParaRPr>
          </a:p>
        </p:txBody>
      </p:sp>
      <p:sp>
        <p:nvSpPr>
          <p:cNvPr id="6" name="Rectangle: Rounded Corners 5">
            <a:extLst>
              <a:ext uri="{FF2B5EF4-FFF2-40B4-BE49-F238E27FC236}">
                <a16:creationId xmlns:a16="http://schemas.microsoft.com/office/drawing/2014/main" id="{4EA952BE-2948-D967-E66D-06758D524327}"/>
              </a:ext>
            </a:extLst>
          </p:cNvPr>
          <p:cNvSpPr/>
          <p:nvPr/>
        </p:nvSpPr>
        <p:spPr>
          <a:xfrm>
            <a:off x="4438228" y="1340768"/>
            <a:ext cx="2808312" cy="1440160"/>
          </a:xfrm>
          <a:prstGeom prst="roundRect">
            <a:avLst/>
          </a:prstGeom>
          <a:solidFill>
            <a:schemeClr val="accent5">
              <a:lumMod val="50000"/>
            </a:schemeClr>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IN" sz="2000" b="1" dirty="0"/>
              <a:t>Self-Organizing Team</a:t>
            </a:r>
          </a:p>
          <a:p>
            <a:pPr algn="ctr"/>
            <a:r>
              <a:rPr lang="en-US" sz="1400" dirty="0"/>
              <a:t>The team decides </a:t>
            </a:r>
            <a:r>
              <a:rPr lang="en-US" sz="1400" b="1" dirty="0"/>
              <a:t>how</a:t>
            </a:r>
            <a:r>
              <a:rPr lang="en-US" sz="1400" dirty="0"/>
              <a:t> to complete the work</a:t>
            </a:r>
            <a:endParaRPr lang="en-IN" sz="1400" b="1" dirty="0">
              <a:solidFill>
                <a:schemeClr val="bg1"/>
              </a:solidFill>
            </a:endParaRPr>
          </a:p>
        </p:txBody>
      </p:sp>
      <p:sp>
        <p:nvSpPr>
          <p:cNvPr id="7" name="Rectangle: Rounded Corners 6">
            <a:extLst>
              <a:ext uri="{FF2B5EF4-FFF2-40B4-BE49-F238E27FC236}">
                <a16:creationId xmlns:a16="http://schemas.microsoft.com/office/drawing/2014/main" id="{BAB29A62-0A84-51D8-9BCB-63BDD0F8EA85}"/>
              </a:ext>
            </a:extLst>
          </p:cNvPr>
          <p:cNvSpPr/>
          <p:nvPr/>
        </p:nvSpPr>
        <p:spPr>
          <a:xfrm>
            <a:off x="8326660" y="1281944"/>
            <a:ext cx="2808312" cy="1440160"/>
          </a:xfrm>
          <a:prstGeom prst="roundRect">
            <a:avLst/>
          </a:prstGeom>
          <a:solidFill>
            <a:schemeClr val="accent5">
              <a:lumMod val="50000"/>
            </a:schemeClr>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IN" sz="2000" b="1" dirty="0"/>
              <a:t>Collaboration</a:t>
            </a:r>
          </a:p>
          <a:p>
            <a:pPr algn="ctr"/>
            <a:r>
              <a:rPr lang="en-US" sz="1400" dirty="0"/>
              <a:t>Continuous Communication. Everyone works together</a:t>
            </a:r>
            <a:endParaRPr lang="en-IN" sz="1400" b="1" dirty="0">
              <a:solidFill>
                <a:schemeClr val="bg1"/>
              </a:solidFill>
            </a:endParaRPr>
          </a:p>
        </p:txBody>
      </p:sp>
      <p:sp>
        <p:nvSpPr>
          <p:cNvPr id="8" name="Rectangle: Rounded Corners 7">
            <a:extLst>
              <a:ext uri="{FF2B5EF4-FFF2-40B4-BE49-F238E27FC236}">
                <a16:creationId xmlns:a16="http://schemas.microsoft.com/office/drawing/2014/main" id="{4BD98895-7E60-8F6E-1B41-4CF14217BAC8}"/>
              </a:ext>
            </a:extLst>
          </p:cNvPr>
          <p:cNvSpPr/>
          <p:nvPr/>
        </p:nvSpPr>
        <p:spPr>
          <a:xfrm>
            <a:off x="981844" y="3429000"/>
            <a:ext cx="2808312" cy="1440160"/>
          </a:xfrm>
          <a:prstGeom prst="roundRect">
            <a:avLst/>
          </a:prstGeom>
          <a:solidFill>
            <a:schemeClr val="accent5">
              <a:lumMod val="50000"/>
            </a:schemeClr>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IN" sz="2000" b="1" dirty="0"/>
              <a:t>Value-Based Prioritization</a:t>
            </a:r>
          </a:p>
          <a:p>
            <a:pPr algn="ctr"/>
            <a:r>
              <a:rPr lang="en-US" sz="1400" dirty="0"/>
              <a:t>Develop the most important features first</a:t>
            </a:r>
            <a:endParaRPr lang="en-IN" sz="1400" b="1" dirty="0">
              <a:solidFill>
                <a:schemeClr val="bg1"/>
              </a:solidFill>
            </a:endParaRPr>
          </a:p>
        </p:txBody>
      </p:sp>
      <p:sp>
        <p:nvSpPr>
          <p:cNvPr id="9" name="Rectangle: Rounded Corners 8">
            <a:extLst>
              <a:ext uri="{FF2B5EF4-FFF2-40B4-BE49-F238E27FC236}">
                <a16:creationId xmlns:a16="http://schemas.microsoft.com/office/drawing/2014/main" id="{C14B7C24-7738-57D3-AA57-70FF2CF777BC}"/>
              </a:ext>
            </a:extLst>
          </p:cNvPr>
          <p:cNvSpPr/>
          <p:nvPr/>
        </p:nvSpPr>
        <p:spPr>
          <a:xfrm>
            <a:off x="4451920" y="3429000"/>
            <a:ext cx="2808312" cy="1440160"/>
          </a:xfrm>
          <a:prstGeom prst="roundRect">
            <a:avLst/>
          </a:prstGeom>
          <a:solidFill>
            <a:schemeClr val="accent5">
              <a:lumMod val="50000"/>
            </a:schemeClr>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IN" sz="2000" b="1" dirty="0"/>
              <a:t>Time-Boxing</a:t>
            </a:r>
          </a:p>
          <a:p>
            <a:pPr algn="ctr"/>
            <a:r>
              <a:rPr lang="en-US" sz="1400" dirty="0"/>
              <a:t>Every scrum activity has a fixed time limit</a:t>
            </a:r>
            <a:endParaRPr lang="en-IN" sz="1400" b="1" dirty="0">
              <a:solidFill>
                <a:schemeClr val="bg1"/>
              </a:solidFill>
            </a:endParaRPr>
          </a:p>
        </p:txBody>
      </p:sp>
      <p:sp>
        <p:nvSpPr>
          <p:cNvPr id="10" name="Rectangle: Rounded Corners 9">
            <a:extLst>
              <a:ext uri="{FF2B5EF4-FFF2-40B4-BE49-F238E27FC236}">
                <a16:creationId xmlns:a16="http://schemas.microsoft.com/office/drawing/2014/main" id="{3093C690-4481-1588-47AD-23B458017BB1}"/>
              </a:ext>
            </a:extLst>
          </p:cNvPr>
          <p:cNvSpPr/>
          <p:nvPr/>
        </p:nvSpPr>
        <p:spPr>
          <a:xfrm>
            <a:off x="8326660" y="3415817"/>
            <a:ext cx="2808312" cy="1440160"/>
          </a:xfrm>
          <a:prstGeom prst="roundRect">
            <a:avLst/>
          </a:prstGeom>
          <a:solidFill>
            <a:schemeClr val="accent5">
              <a:lumMod val="50000"/>
            </a:schemeClr>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IN" sz="2000" b="1" dirty="0"/>
              <a:t>Iterative Development</a:t>
            </a:r>
          </a:p>
          <a:p>
            <a:pPr algn="ctr"/>
            <a:r>
              <a:rPr lang="en-US" sz="1400" dirty="0"/>
              <a:t>Don't build the entire software at once. Build it </a:t>
            </a:r>
            <a:r>
              <a:rPr lang="en-US" sz="1400" b="1" dirty="0"/>
              <a:t>piece by piece</a:t>
            </a:r>
            <a:endParaRPr lang="en-US" sz="1400" dirty="0"/>
          </a:p>
        </p:txBody>
      </p:sp>
      <p:sp>
        <p:nvSpPr>
          <p:cNvPr id="11" name="Rectangle: Rounded Corners 10">
            <a:extLst>
              <a:ext uri="{FF2B5EF4-FFF2-40B4-BE49-F238E27FC236}">
                <a16:creationId xmlns:a16="http://schemas.microsoft.com/office/drawing/2014/main" id="{AED65BEF-3191-88B5-85D9-B26E1E365DCE}"/>
              </a:ext>
            </a:extLst>
          </p:cNvPr>
          <p:cNvSpPr/>
          <p:nvPr/>
        </p:nvSpPr>
        <p:spPr>
          <a:xfrm>
            <a:off x="983367" y="5316151"/>
            <a:ext cx="2808312" cy="1440160"/>
          </a:xfrm>
          <a:prstGeom prst="roundRect">
            <a:avLst/>
          </a:prstGeom>
          <a:solidFill>
            <a:schemeClr val="accent5">
              <a:lumMod val="50000"/>
            </a:schemeClr>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IN" sz="2000" b="1" dirty="0"/>
              <a:t>Continuous Feedback</a:t>
            </a:r>
          </a:p>
          <a:p>
            <a:pPr algn="ctr"/>
            <a:r>
              <a:rPr lang="en-US" sz="1400" dirty="0"/>
              <a:t>Show working software regularly to customers and gather feedback</a:t>
            </a:r>
          </a:p>
        </p:txBody>
      </p:sp>
    </p:spTree>
    <p:extLst>
      <p:ext uri="{BB962C8B-B14F-4D97-AF65-F5344CB8AC3E}">
        <p14:creationId xmlns:p14="http://schemas.microsoft.com/office/powerpoint/2010/main" val="8119023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9D07EEA6-FE01-FD6D-1D28-B868A813CDCD}"/>
              </a:ext>
            </a:extLst>
          </p:cNvPr>
          <p:cNvSpPr>
            <a:spLocks noGrp="1"/>
          </p:cNvSpPr>
          <p:nvPr>
            <p:ph type="title"/>
          </p:nvPr>
        </p:nvSpPr>
        <p:spPr>
          <a:xfrm>
            <a:off x="1117309" y="76200"/>
            <a:ext cx="10157354" cy="904528"/>
          </a:xfrm>
        </p:spPr>
        <p:txBody>
          <a:bodyPr/>
          <a:lstStyle/>
          <a:p>
            <a:r>
              <a:rPr lang="en-IN" dirty="0"/>
              <a:t>2. Extreme Programming (XP)</a:t>
            </a:r>
          </a:p>
        </p:txBody>
      </p:sp>
      <p:sp>
        <p:nvSpPr>
          <p:cNvPr id="5" name="TextBox 4">
            <a:extLst>
              <a:ext uri="{FF2B5EF4-FFF2-40B4-BE49-F238E27FC236}">
                <a16:creationId xmlns:a16="http://schemas.microsoft.com/office/drawing/2014/main" id="{543F973D-AA63-E130-DCDD-ED2493DE0FA9}"/>
              </a:ext>
            </a:extLst>
          </p:cNvPr>
          <p:cNvSpPr txBox="1"/>
          <p:nvPr/>
        </p:nvSpPr>
        <p:spPr>
          <a:xfrm>
            <a:off x="909836" y="1268760"/>
            <a:ext cx="7657866" cy="384721"/>
          </a:xfrm>
          <a:prstGeom prst="rect">
            <a:avLst/>
          </a:prstGeom>
          <a:noFill/>
        </p:spPr>
        <p:txBody>
          <a:bodyPr wrap="none" rtlCol="0">
            <a:spAutoFit/>
          </a:bodyPr>
          <a:lstStyle/>
          <a:p>
            <a:pPr>
              <a:lnSpc>
                <a:spcPct val="95000"/>
              </a:lnSpc>
            </a:pPr>
            <a:r>
              <a:rPr lang="en-US" sz="2000" dirty="0"/>
              <a:t>"Imagine you're writing an important exam. Which is better?"</a:t>
            </a:r>
            <a:endParaRPr lang="en-IN" sz="2000" dirty="0"/>
          </a:p>
        </p:txBody>
      </p:sp>
      <p:sp>
        <p:nvSpPr>
          <p:cNvPr id="6" name="TextBox 5">
            <a:extLst>
              <a:ext uri="{FF2B5EF4-FFF2-40B4-BE49-F238E27FC236}">
                <a16:creationId xmlns:a16="http://schemas.microsoft.com/office/drawing/2014/main" id="{72F47238-2C56-25C9-9821-E6BDA0DEB23A}"/>
              </a:ext>
            </a:extLst>
          </p:cNvPr>
          <p:cNvSpPr txBox="1"/>
          <p:nvPr/>
        </p:nvSpPr>
        <p:spPr>
          <a:xfrm>
            <a:off x="903398" y="1813173"/>
            <a:ext cx="6055110" cy="2231380"/>
          </a:xfrm>
          <a:prstGeom prst="rect">
            <a:avLst/>
          </a:prstGeom>
          <a:noFill/>
        </p:spPr>
        <p:txBody>
          <a:bodyPr wrap="square" rtlCol="0">
            <a:spAutoFit/>
          </a:bodyPr>
          <a:lstStyle/>
          <a:p>
            <a:r>
              <a:rPr lang="en-US" sz="2000" b="1" dirty="0"/>
              <a:t>Option A:</a:t>
            </a:r>
            <a:r>
              <a:rPr lang="en-US" sz="2000" dirty="0"/>
              <a:t> Write the entire paper and check it only at the end.</a:t>
            </a:r>
          </a:p>
          <a:p>
            <a:r>
              <a:rPr lang="en-US" sz="2000" dirty="0"/>
              <a:t>			</a:t>
            </a:r>
            <a:r>
              <a:rPr lang="en-US" sz="2000" b="1" dirty="0"/>
              <a:t>OR</a:t>
            </a:r>
          </a:p>
          <a:p>
            <a:r>
              <a:rPr lang="en-US" sz="2000" b="1" dirty="0"/>
              <a:t>Option B:</a:t>
            </a:r>
            <a:r>
              <a:rPr lang="en-US" sz="2000" dirty="0"/>
              <a:t> Solve one question, check it immediately, correct mistakes, and then move to the next question.</a:t>
            </a:r>
          </a:p>
          <a:p>
            <a:pPr>
              <a:lnSpc>
                <a:spcPct val="95000"/>
              </a:lnSpc>
            </a:pPr>
            <a:endParaRPr lang="en-IN" sz="2000" dirty="0"/>
          </a:p>
        </p:txBody>
      </p:sp>
      <p:sp>
        <p:nvSpPr>
          <p:cNvPr id="7" name="TextBox 6">
            <a:extLst>
              <a:ext uri="{FF2B5EF4-FFF2-40B4-BE49-F238E27FC236}">
                <a16:creationId xmlns:a16="http://schemas.microsoft.com/office/drawing/2014/main" id="{3873A210-B2F5-CFA4-069A-9177B79A6F7D}"/>
              </a:ext>
            </a:extLst>
          </p:cNvPr>
          <p:cNvSpPr txBox="1"/>
          <p:nvPr/>
        </p:nvSpPr>
        <p:spPr>
          <a:xfrm>
            <a:off x="903398" y="3933056"/>
            <a:ext cx="6055110" cy="969496"/>
          </a:xfrm>
          <a:prstGeom prst="rect">
            <a:avLst/>
          </a:prstGeom>
          <a:noFill/>
        </p:spPr>
        <p:txBody>
          <a:bodyPr wrap="square" rtlCol="0">
            <a:spAutoFit/>
          </a:bodyPr>
          <a:lstStyle/>
          <a:p>
            <a:pPr>
              <a:lnSpc>
                <a:spcPct val="95000"/>
              </a:lnSpc>
            </a:pPr>
            <a:r>
              <a:rPr lang="en-US" sz="2000" dirty="0"/>
              <a:t>"That's exactly the idea behind Extreme Programming (XP). Build a little, test a little, improve a little, and repeat."</a:t>
            </a:r>
            <a:endParaRPr lang="en-IN" sz="2000" dirty="0"/>
          </a:p>
        </p:txBody>
      </p:sp>
      <p:sp>
        <p:nvSpPr>
          <p:cNvPr id="8" name="TextBox 7">
            <a:extLst>
              <a:ext uri="{FF2B5EF4-FFF2-40B4-BE49-F238E27FC236}">
                <a16:creationId xmlns:a16="http://schemas.microsoft.com/office/drawing/2014/main" id="{C0ECAB79-9DD0-1428-F7AF-493746BC206F}"/>
              </a:ext>
            </a:extLst>
          </p:cNvPr>
          <p:cNvSpPr txBox="1"/>
          <p:nvPr/>
        </p:nvSpPr>
        <p:spPr>
          <a:xfrm>
            <a:off x="801823" y="5373216"/>
            <a:ext cx="10585177" cy="969496"/>
          </a:xfrm>
          <a:prstGeom prst="rect">
            <a:avLst/>
          </a:prstGeom>
          <a:noFill/>
        </p:spPr>
        <p:txBody>
          <a:bodyPr wrap="square" rtlCol="0">
            <a:spAutoFit/>
          </a:bodyPr>
          <a:lstStyle/>
          <a:p>
            <a:pPr>
              <a:lnSpc>
                <a:spcPct val="95000"/>
              </a:lnSpc>
            </a:pPr>
            <a:r>
              <a:rPr lang="en-US" sz="2000" b="1" dirty="0">
                <a:solidFill>
                  <a:srgbClr val="FF0000"/>
                </a:solidFill>
              </a:rPr>
              <a:t>Extreme Programming (XP) is an Agile software development methodology that focuses on high-quality software, close customer collaboration, and continuous improvement through disciplined engineering practices</a:t>
            </a:r>
            <a:endParaRPr lang="en-IN" sz="2000" b="1" dirty="0">
              <a:solidFill>
                <a:srgbClr val="FF0000"/>
              </a:solidFill>
            </a:endParaRPr>
          </a:p>
        </p:txBody>
      </p:sp>
      <p:sp>
        <p:nvSpPr>
          <p:cNvPr id="11" name="TextBox 10">
            <a:extLst>
              <a:ext uri="{FF2B5EF4-FFF2-40B4-BE49-F238E27FC236}">
                <a16:creationId xmlns:a16="http://schemas.microsoft.com/office/drawing/2014/main" id="{25D5B201-1C8D-731B-2420-03B46C2CDAD0}"/>
              </a:ext>
            </a:extLst>
          </p:cNvPr>
          <p:cNvSpPr txBox="1"/>
          <p:nvPr/>
        </p:nvSpPr>
        <p:spPr>
          <a:xfrm>
            <a:off x="8661652" y="1787818"/>
            <a:ext cx="2808312" cy="3139321"/>
          </a:xfrm>
          <a:prstGeom prst="rect">
            <a:avLst/>
          </a:prstGeom>
          <a:noFill/>
        </p:spPr>
        <p:txBody>
          <a:bodyPr wrap="square">
            <a:spAutoFit/>
          </a:bodyPr>
          <a:lstStyle/>
          <a:p>
            <a:r>
              <a:rPr lang="en-IN" sz="2200" b="1" dirty="0"/>
              <a:t>Plan</a:t>
            </a:r>
          </a:p>
          <a:p>
            <a:r>
              <a:rPr lang="en-IN" sz="2200" b="1" dirty="0"/>
              <a:t>   ↓</a:t>
            </a:r>
          </a:p>
          <a:p>
            <a:r>
              <a:rPr lang="en-IN" sz="2200" b="1" dirty="0"/>
              <a:t>Write Code</a:t>
            </a:r>
          </a:p>
          <a:p>
            <a:r>
              <a:rPr lang="en-IN" sz="2200" b="1" dirty="0"/>
              <a:t>   ↓</a:t>
            </a:r>
          </a:p>
          <a:p>
            <a:r>
              <a:rPr lang="en-IN" sz="2200" b="1" dirty="0"/>
              <a:t>Test</a:t>
            </a:r>
          </a:p>
          <a:p>
            <a:r>
              <a:rPr lang="en-IN" sz="2200" b="1" dirty="0"/>
              <a:t>   ↓</a:t>
            </a:r>
          </a:p>
          <a:p>
            <a:r>
              <a:rPr lang="en-IN" sz="2200" b="1" dirty="0"/>
              <a:t>Improve Code</a:t>
            </a:r>
          </a:p>
          <a:p>
            <a:r>
              <a:rPr lang="en-IN" sz="2200" b="1" dirty="0"/>
              <a:t>   ↓</a:t>
            </a:r>
          </a:p>
          <a:p>
            <a:r>
              <a:rPr lang="en-IN" sz="2200" b="1" dirty="0"/>
              <a:t>Repeat</a:t>
            </a:r>
          </a:p>
        </p:txBody>
      </p:sp>
    </p:spTree>
    <p:extLst>
      <p:ext uri="{BB962C8B-B14F-4D97-AF65-F5344CB8AC3E}">
        <p14:creationId xmlns:p14="http://schemas.microsoft.com/office/powerpoint/2010/main" val="6657182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9D07EEA6-FE01-FD6D-1D28-B868A813CDCD}"/>
              </a:ext>
            </a:extLst>
          </p:cNvPr>
          <p:cNvSpPr>
            <a:spLocks noGrp="1"/>
          </p:cNvSpPr>
          <p:nvPr>
            <p:ph type="title"/>
          </p:nvPr>
        </p:nvSpPr>
        <p:spPr>
          <a:xfrm>
            <a:off x="866224" y="0"/>
            <a:ext cx="10157354" cy="904528"/>
          </a:xfrm>
        </p:spPr>
        <p:txBody>
          <a:bodyPr/>
          <a:lstStyle/>
          <a:p>
            <a:r>
              <a:rPr lang="en-IN" dirty="0"/>
              <a:t>2. Extreme Programming (XP)</a:t>
            </a:r>
          </a:p>
        </p:txBody>
      </p:sp>
      <p:sp>
        <p:nvSpPr>
          <p:cNvPr id="2" name="TextBox 1">
            <a:extLst>
              <a:ext uri="{FF2B5EF4-FFF2-40B4-BE49-F238E27FC236}">
                <a16:creationId xmlns:a16="http://schemas.microsoft.com/office/drawing/2014/main" id="{9E13633C-FE66-AF66-6E02-9CF03529CFD1}"/>
              </a:ext>
            </a:extLst>
          </p:cNvPr>
          <p:cNvSpPr txBox="1"/>
          <p:nvPr/>
        </p:nvSpPr>
        <p:spPr>
          <a:xfrm>
            <a:off x="765820" y="904528"/>
            <a:ext cx="9926115" cy="443198"/>
          </a:xfrm>
          <a:prstGeom prst="rect">
            <a:avLst/>
          </a:prstGeom>
          <a:noFill/>
        </p:spPr>
        <p:txBody>
          <a:bodyPr wrap="none" rtlCol="0">
            <a:spAutoFit/>
          </a:bodyPr>
          <a:lstStyle/>
          <a:p>
            <a:pPr>
              <a:lnSpc>
                <a:spcPct val="95000"/>
              </a:lnSpc>
            </a:pPr>
            <a:r>
              <a:rPr lang="en-US" dirty="0"/>
              <a:t>Improve software quality through excellent engineering practices</a:t>
            </a:r>
            <a:endParaRPr lang="en-IN" dirty="0"/>
          </a:p>
        </p:txBody>
      </p:sp>
      <p:pic>
        <p:nvPicPr>
          <p:cNvPr id="7" name="Picture 6">
            <a:extLst>
              <a:ext uri="{FF2B5EF4-FFF2-40B4-BE49-F238E27FC236}">
                <a16:creationId xmlns:a16="http://schemas.microsoft.com/office/drawing/2014/main" id="{26D1A99C-BC4A-1D9C-351F-DCECA476B1DD}"/>
              </a:ext>
            </a:extLst>
          </p:cNvPr>
          <p:cNvPicPr>
            <a:picLocks noChangeAspect="1"/>
          </p:cNvPicPr>
          <p:nvPr/>
        </p:nvPicPr>
        <p:blipFill>
          <a:blip r:embed="rId2"/>
          <a:stretch>
            <a:fillRect/>
          </a:stretch>
        </p:blipFill>
        <p:spPr>
          <a:xfrm>
            <a:off x="2016826" y="1484784"/>
            <a:ext cx="8182042" cy="5315392"/>
          </a:xfrm>
          <a:prstGeom prst="rect">
            <a:avLst/>
          </a:prstGeom>
        </p:spPr>
      </p:pic>
    </p:spTree>
    <p:extLst>
      <p:ext uri="{BB962C8B-B14F-4D97-AF65-F5344CB8AC3E}">
        <p14:creationId xmlns:p14="http://schemas.microsoft.com/office/powerpoint/2010/main" val="30620969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descr="Extreme Programming – Custom Web &amp; Mobile Development Company – New Line  Technologies">
            <a:extLst>
              <a:ext uri="{FF2B5EF4-FFF2-40B4-BE49-F238E27FC236}">
                <a16:creationId xmlns:a16="http://schemas.microsoft.com/office/drawing/2014/main" id="{DC7DB0EC-3FDD-607B-D480-9F66AE2AC72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37791" y="692696"/>
            <a:ext cx="10448942" cy="554461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215650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A9630628-1E1C-4360-2A4B-F46C3B479559}"/>
              </a:ext>
            </a:extLst>
          </p:cNvPr>
          <p:cNvSpPr>
            <a:spLocks noGrp="1"/>
          </p:cNvSpPr>
          <p:nvPr>
            <p:ph type="title"/>
          </p:nvPr>
        </p:nvSpPr>
        <p:spPr>
          <a:xfrm>
            <a:off x="1117309" y="76200"/>
            <a:ext cx="10157354" cy="904528"/>
          </a:xfrm>
        </p:spPr>
        <p:txBody>
          <a:bodyPr/>
          <a:lstStyle/>
          <a:p>
            <a:r>
              <a:rPr lang="en-IN" dirty="0"/>
              <a:t>2. Extreme Programming (XP)</a:t>
            </a:r>
          </a:p>
        </p:txBody>
      </p:sp>
      <p:sp>
        <p:nvSpPr>
          <p:cNvPr id="5" name="Rectangle: Rounded Corners 4">
            <a:extLst>
              <a:ext uri="{FF2B5EF4-FFF2-40B4-BE49-F238E27FC236}">
                <a16:creationId xmlns:a16="http://schemas.microsoft.com/office/drawing/2014/main" id="{93C48021-7354-690D-52C4-8ADC47D73585}"/>
              </a:ext>
            </a:extLst>
          </p:cNvPr>
          <p:cNvSpPr/>
          <p:nvPr/>
        </p:nvSpPr>
        <p:spPr>
          <a:xfrm>
            <a:off x="981844" y="1340768"/>
            <a:ext cx="2520280" cy="1440160"/>
          </a:xfrm>
          <a:prstGeom prst="roundRect">
            <a:avLst/>
          </a:prstGeom>
          <a:solidFill>
            <a:schemeClr val="accent5">
              <a:lumMod val="50000"/>
            </a:schemeClr>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IN" sz="1600" b="1" dirty="0"/>
              <a:t>Rapid Feedback</a:t>
            </a:r>
          </a:p>
          <a:p>
            <a:pPr algn="ctr"/>
            <a:r>
              <a:rPr lang="en-US" sz="1400" dirty="0"/>
              <a:t>Get feedback </a:t>
            </a:r>
            <a:r>
              <a:rPr lang="en-US" sz="1400" b="1" dirty="0"/>
              <a:t>as early and as often as possible</a:t>
            </a:r>
            <a:endParaRPr lang="en-IN" sz="1400" b="1" dirty="0">
              <a:solidFill>
                <a:schemeClr val="bg1"/>
              </a:solidFill>
            </a:endParaRPr>
          </a:p>
        </p:txBody>
      </p:sp>
      <p:sp>
        <p:nvSpPr>
          <p:cNvPr id="6" name="Rectangle: Rounded Corners 5">
            <a:extLst>
              <a:ext uri="{FF2B5EF4-FFF2-40B4-BE49-F238E27FC236}">
                <a16:creationId xmlns:a16="http://schemas.microsoft.com/office/drawing/2014/main" id="{235E350D-271F-115B-5327-FE018A9DCCAF}"/>
              </a:ext>
            </a:extLst>
          </p:cNvPr>
          <p:cNvSpPr/>
          <p:nvPr/>
        </p:nvSpPr>
        <p:spPr>
          <a:xfrm>
            <a:off x="4582244" y="1340768"/>
            <a:ext cx="2520280" cy="1440160"/>
          </a:xfrm>
          <a:prstGeom prst="roundRect">
            <a:avLst/>
          </a:prstGeom>
          <a:solidFill>
            <a:schemeClr val="accent5">
              <a:lumMod val="50000"/>
            </a:schemeClr>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IN" sz="1600" b="1" dirty="0"/>
              <a:t>Assume Simplicity</a:t>
            </a:r>
          </a:p>
          <a:p>
            <a:pPr algn="ctr"/>
            <a:r>
              <a:rPr lang="en-US" sz="1400" dirty="0"/>
              <a:t>Build only what is needed </a:t>
            </a:r>
            <a:r>
              <a:rPr lang="en-US" sz="1400" b="1" dirty="0"/>
              <a:t>today</a:t>
            </a:r>
            <a:r>
              <a:rPr lang="en-US" sz="1400" dirty="0"/>
              <a:t>. Don't add unnecessary features "just in case."</a:t>
            </a:r>
          </a:p>
        </p:txBody>
      </p:sp>
      <p:sp>
        <p:nvSpPr>
          <p:cNvPr id="7" name="Rectangle: Rounded Corners 6">
            <a:extLst>
              <a:ext uri="{FF2B5EF4-FFF2-40B4-BE49-F238E27FC236}">
                <a16:creationId xmlns:a16="http://schemas.microsoft.com/office/drawing/2014/main" id="{4756AC5D-9769-D22E-6942-3FE9B74A0F5C}"/>
              </a:ext>
            </a:extLst>
          </p:cNvPr>
          <p:cNvSpPr/>
          <p:nvPr/>
        </p:nvSpPr>
        <p:spPr>
          <a:xfrm>
            <a:off x="8182644" y="1340768"/>
            <a:ext cx="2520280" cy="1440160"/>
          </a:xfrm>
          <a:prstGeom prst="roundRect">
            <a:avLst/>
          </a:prstGeom>
          <a:solidFill>
            <a:schemeClr val="accent5">
              <a:lumMod val="50000"/>
            </a:schemeClr>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IN" sz="1600" b="1" dirty="0"/>
              <a:t>Incremental Change</a:t>
            </a:r>
          </a:p>
          <a:p>
            <a:pPr algn="ctr"/>
            <a:r>
              <a:rPr lang="en-US" sz="1400" dirty="0"/>
              <a:t>Improve software </a:t>
            </a:r>
            <a:r>
              <a:rPr lang="en-US" sz="1400" b="1" dirty="0"/>
              <a:t>step by step</a:t>
            </a:r>
            <a:r>
              <a:rPr lang="en-US" sz="1400" dirty="0"/>
              <a:t>, not all at once</a:t>
            </a:r>
          </a:p>
        </p:txBody>
      </p:sp>
      <p:sp>
        <p:nvSpPr>
          <p:cNvPr id="8" name="Rectangle: Rounded Corners 7">
            <a:extLst>
              <a:ext uri="{FF2B5EF4-FFF2-40B4-BE49-F238E27FC236}">
                <a16:creationId xmlns:a16="http://schemas.microsoft.com/office/drawing/2014/main" id="{F622F25B-5D28-E83E-2731-DC395074B806}"/>
              </a:ext>
            </a:extLst>
          </p:cNvPr>
          <p:cNvSpPr/>
          <p:nvPr/>
        </p:nvSpPr>
        <p:spPr>
          <a:xfrm>
            <a:off x="1011156" y="3356993"/>
            <a:ext cx="2520280" cy="1440160"/>
          </a:xfrm>
          <a:prstGeom prst="roundRect">
            <a:avLst/>
          </a:prstGeom>
          <a:solidFill>
            <a:schemeClr val="accent5">
              <a:lumMod val="50000"/>
            </a:schemeClr>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IN" sz="1600" b="1" dirty="0"/>
              <a:t>Embrace Change</a:t>
            </a:r>
          </a:p>
          <a:p>
            <a:pPr algn="ctr"/>
            <a:r>
              <a:rPr lang="en-US" sz="1400" dirty="0"/>
              <a:t>Requirements will change. Instead of resisting, accept them</a:t>
            </a:r>
          </a:p>
        </p:txBody>
      </p:sp>
      <p:sp>
        <p:nvSpPr>
          <p:cNvPr id="9" name="Rectangle: Rounded Corners 8">
            <a:extLst>
              <a:ext uri="{FF2B5EF4-FFF2-40B4-BE49-F238E27FC236}">
                <a16:creationId xmlns:a16="http://schemas.microsoft.com/office/drawing/2014/main" id="{E204F1D9-0B44-422D-9DD3-5C7468531965}"/>
              </a:ext>
            </a:extLst>
          </p:cNvPr>
          <p:cNvSpPr/>
          <p:nvPr/>
        </p:nvSpPr>
        <p:spPr>
          <a:xfrm>
            <a:off x="4510236" y="3429000"/>
            <a:ext cx="2520280" cy="1440160"/>
          </a:xfrm>
          <a:prstGeom prst="roundRect">
            <a:avLst/>
          </a:prstGeom>
          <a:solidFill>
            <a:schemeClr val="accent5">
              <a:lumMod val="50000"/>
            </a:schemeClr>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IN" sz="1600" b="1" dirty="0"/>
              <a:t>Quality Work</a:t>
            </a:r>
          </a:p>
          <a:p>
            <a:pPr algn="ctr"/>
            <a:r>
              <a:rPr lang="en-US" sz="1400" dirty="0"/>
              <a:t>Never compromise software quality, even when working quickly</a:t>
            </a:r>
          </a:p>
        </p:txBody>
      </p:sp>
    </p:spTree>
    <p:extLst>
      <p:ext uri="{BB962C8B-B14F-4D97-AF65-F5344CB8AC3E}">
        <p14:creationId xmlns:p14="http://schemas.microsoft.com/office/powerpoint/2010/main" val="42888847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336DA113-9A3E-3015-68B4-064C2494D242}"/>
              </a:ext>
            </a:extLst>
          </p:cNvPr>
          <p:cNvSpPr>
            <a:spLocks noGrp="1"/>
          </p:cNvSpPr>
          <p:nvPr>
            <p:ph type="title"/>
          </p:nvPr>
        </p:nvSpPr>
        <p:spPr>
          <a:xfrm>
            <a:off x="1117309" y="76200"/>
            <a:ext cx="10157354" cy="904528"/>
          </a:xfrm>
        </p:spPr>
        <p:txBody>
          <a:bodyPr>
            <a:normAutofit fontScale="90000"/>
          </a:bodyPr>
          <a:lstStyle/>
          <a:p>
            <a:r>
              <a:rPr lang="en-US" dirty="0"/>
              <a:t>3. Feature Driven Development (FDD)</a:t>
            </a:r>
            <a:endParaRPr lang="en-IN" dirty="0"/>
          </a:p>
        </p:txBody>
      </p:sp>
      <p:sp>
        <p:nvSpPr>
          <p:cNvPr id="5" name="TextBox 4">
            <a:extLst>
              <a:ext uri="{FF2B5EF4-FFF2-40B4-BE49-F238E27FC236}">
                <a16:creationId xmlns:a16="http://schemas.microsoft.com/office/drawing/2014/main" id="{321176D8-1E8C-C819-F1E3-8656FCFA3B9D}"/>
              </a:ext>
            </a:extLst>
          </p:cNvPr>
          <p:cNvSpPr txBox="1"/>
          <p:nvPr/>
        </p:nvSpPr>
        <p:spPr>
          <a:xfrm>
            <a:off x="837828" y="1268760"/>
            <a:ext cx="9937104" cy="1144929"/>
          </a:xfrm>
          <a:prstGeom prst="rect">
            <a:avLst/>
          </a:prstGeom>
          <a:noFill/>
        </p:spPr>
        <p:txBody>
          <a:bodyPr wrap="square" rtlCol="0">
            <a:spAutoFit/>
          </a:bodyPr>
          <a:lstStyle/>
          <a:p>
            <a:pPr>
              <a:lnSpc>
                <a:spcPct val="95000"/>
              </a:lnSpc>
            </a:pPr>
            <a:r>
              <a:rPr lang="en-US" b="1" dirty="0"/>
              <a:t>Feature-Driven Development (FDD)</a:t>
            </a:r>
            <a:r>
              <a:rPr lang="en-US" dirty="0"/>
              <a:t> is an Agile methodology in which software is developed </a:t>
            </a:r>
            <a:r>
              <a:rPr lang="en-US" b="1" dirty="0"/>
              <a:t>one small, client-valued feature at a time</a:t>
            </a:r>
            <a:r>
              <a:rPr lang="en-US" dirty="0"/>
              <a:t>.</a:t>
            </a:r>
            <a:endParaRPr lang="en-IN" dirty="0"/>
          </a:p>
        </p:txBody>
      </p:sp>
      <p:sp>
        <p:nvSpPr>
          <p:cNvPr id="7" name="TextBox 6">
            <a:extLst>
              <a:ext uri="{FF2B5EF4-FFF2-40B4-BE49-F238E27FC236}">
                <a16:creationId xmlns:a16="http://schemas.microsoft.com/office/drawing/2014/main" id="{4706742D-B275-0CB0-36DC-A93C6DF55B60}"/>
              </a:ext>
            </a:extLst>
          </p:cNvPr>
          <p:cNvSpPr txBox="1"/>
          <p:nvPr/>
        </p:nvSpPr>
        <p:spPr>
          <a:xfrm>
            <a:off x="4222204" y="2413689"/>
            <a:ext cx="3744416" cy="4093428"/>
          </a:xfrm>
          <a:prstGeom prst="rect">
            <a:avLst/>
          </a:prstGeom>
          <a:noFill/>
        </p:spPr>
        <p:txBody>
          <a:bodyPr wrap="square">
            <a:spAutoFit/>
          </a:bodyPr>
          <a:lstStyle/>
          <a:p>
            <a:r>
              <a:rPr lang="en-IN" sz="2000" dirty="0"/>
              <a:t>Overall Model</a:t>
            </a:r>
          </a:p>
          <a:p>
            <a:r>
              <a:rPr lang="en-IN" sz="2000" dirty="0"/>
              <a:t>      ↓</a:t>
            </a:r>
          </a:p>
          <a:p>
            <a:r>
              <a:rPr lang="en-IN" sz="2000" dirty="0"/>
              <a:t>Feature List</a:t>
            </a:r>
          </a:p>
          <a:p>
            <a:r>
              <a:rPr lang="en-IN" sz="2000" dirty="0"/>
              <a:t>      ↓</a:t>
            </a:r>
          </a:p>
          <a:p>
            <a:r>
              <a:rPr lang="en-IN" sz="2000" dirty="0"/>
              <a:t>Plan by Feature</a:t>
            </a:r>
          </a:p>
          <a:p>
            <a:r>
              <a:rPr lang="en-IN" sz="2000" dirty="0"/>
              <a:t>      ↓</a:t>
            </a:r>
          </a:p>
          <a:p>
            <a:r>
              <a:rPr lang="en-IN" sz="2000" dirty="0"/>
              <a:t>Design by Feature</a:t>
            </a:r>
          </a:p>
          <a:p>
            <a:r>
              <a:rPr lang="en-IN" sz="2000" dirty="0"/>
              <a:t>      ↓</a:t>
            </a:r>
          </a:p>
          <a:p>
            <a:r>
              <a:rPr lang="en-IN" sz="2000" dirty="0"/>
              <a:t>Build by Feature</a:t>
            </a:r>
          </a:p>
          <a:p>
            <a:r>
              <a:rPr lang="en-IN" sz="2000" dirty="0"/>
              <a:t>      ↓</a:t>
            </a:r>
          </a:p>
          <a:p>
            <a:r>
              <a:rPr lang="en-IN" sz="2000" dirty="0"/>
              <a:t>Deliver Feature</a:t>
            </a:r>
          </a:p>
          <a:p>
            <a:r>
              <a:rPr lang="en-IN" sz="2000" dirty="0"/>
              <a:t>      ↓</a:t>
            </a:r>
          </a:p>
          <a:p>
            <a:r>
              <a:rPr lang="en-IN" sz="2000" dirty="0"/>
              <a:t>Repeat</a:t>
            </a:r>
          </a:p>
        </p:txBody>
      </p:sp>
    </p:spTree>
    <p:extLst>
      <p:ext uri="{BB962C8B-B14F-4D97-AF65-F5344CB8AC3E}">
        <p14:creationId xmlns:p14="http://schemas.microsoft.com/office/powerpoint/2010/main" val="8412337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336DA113-9A3E-3015-68B4-064C2494D242}"/>
              </a:ext>
            </a:extLst>
          </p:cNvPr>
          <p:cNvSpPr>
            <a:spLocks noGrp="1"/>
          </p:cNvSpPr>
          <p:nvPr>
            <p:ph type="title"/>
          </p:nvPr>
        </p:nvSpPr>
        <p:spPr>
          <a:xfrm>
            <a:off x="1117309" y="76200"/>
            <a:ext cx="10157354" cy="904528"/>
          </a:xfrm>
        </p:spPr>
        <p:txBody>
          <a:bodyPr>
            <a:normAutofit fontScale="90000"/>
          </a:bodyPr>
          <a:lstStyle/>
          <a:p>
            <a:r>
              <a:rPr lang="en-US" dirty="0"/>
              <a:t>3. Feature Driven Development (FDD)</a:t>
            </a:r>
            <a:endParaRPr lang="en-IN" dirty="0"/>
          </a:p>
        </p:txBody>
      </p:sp>
      <p:sp>
        <p:nvSpPr>
          <p:cNvPr id="2" name="TextBox 1">
            <a:extLst>
              <a:ext uri="{FF2B5EF4-FFF2-40B4-BE49-F238E27FC236}">
                <a16:creationId xmlns:a16="http://schemas.microsoft.com/office/drawing/2014/main" id="{021B8A80-012B-0D13-10B5-F2EB6C2386F5}"/>
              </a:ext>
            </a:extLst>
          </p:cNvPr>
          <p:cNvSpPr txBox="1"/>
          <p:nvPr/>
        </p:nvSpPr>
        <p:spPr>
          <a:xfrm>
            <a:off x="1053852" y="1228296"/>
            <a:ext cx="5638082" cy="443198"/>
          </a:xfrm>
          <a:prstGeom prst="rect">
            <a:avLst/>
          </a:prstGeom>
          <a:noFill/>
        </p:spPr>
        <p:txBody>
          <a:bodyPr wrap="none" rtlCol="0">
            <a:spAutoFit/>
          </a:bodyPr>
          <a:lstStyle/>
          <a:p>
            <a:pPr>
              <a:lnSpc>
                <a:spcPct val="95000"/>
              </a:lnSpc>
            </a:pPr>
            <a:r>
              <a:rPr lang="en-US" dirty="0"/>
              <a:t>Develop software feature by feature</a:t>
            </a:r>
            <a:endParaRPr lang="en-IN" dirty="0"/>
          </a:p>
        </p:txBody>
      </p:sp>
      <p:sp>
        <p:nvSpPr>
          <p:cNvPr id="3" name="TextBox 2">
            <a:extLst>
              <a:ext uri="{FF2B5EF4-FFF2-40B4-BE49-F238E27FC236}">
                <a16:creationId xmlns:a16="http://schemas.microsoft.com/office/drawing/2014/main" id="{C7DF9BFC-0C40-604E-9313-1D43A9EBAFA1}"/>
              </a:ext>
            </a:extLst>
          </p:cNvPr>
          <p:cNvSpPr txBox="1"/>
          <p:nvPr/>
        </p:nvSpPr>
        <p:spPr>
          <a:xfrm>
            <a:off x="1053852" y="1892490"/>
            <a:ext cx="3868367" cy="1181862"/>
          </a:xfrm>
          <a:prstGeom prst="rect">
            <a:avLst/>
          </a:prstGeom>
          <a:noFill/>
        </p:spPr>
        <p:txBody>
          <a:bodyPr wrap="none" rtlCol="0">
            <a:spAutoFit/>
          </a:bodyPr>
          <a:lstStyle/>
          <a:p>
            <a:r>
              <a:rPr lang="en-US" dirty="0"/>
              <a:t>Best for</a:t>
            </a:r>
          </a:p>
          <a:p>
            <a:r>
              <a:rPr lang="en-US" dirty="0"/>
              <a:t>Large enterprise projects</a:t>
            </a:r>
          </a:p>
          <a:p>
            <a:pPr>
              <a:lnSpc>
                <a:spcPct val="95000"/>
              </a:lnSpc>
            </a:pPr>
            <a:endParaRPr lang="en-IN" dirty="0"/>
          </a:p>
        </p:txBody>
      </p:sp>
      <p:sp>
        <p:nvSpPr>
          <p:cNvPr id="9" name="TextBox 8">
            <a:extLst>
              <a:ext uri="{FF2B5EF4-FFF2-40B4-BE49-F238E27FC236}">
                <a16:creationId xmlns:a16="http://schemas.microsoft.com/office/drawing/2014/main" id="{913D6414-7791-2367-1ACC-3DF66DC9565D}"/>
              </a:ext>
            </a:extLst>
          </p:cNvPr>
          <p:cNvSpPr txBox="1"/>
          <p:nvPr/>
        </p:nvSpPr>
        <p:spPr>
          <a:xfrm>
            <a:off x="1053852" y="2981873"/>
            <a:ext cx="3927678" cy="3767185"/>
          </a:xfrm>
          <a:prstGeom prst="rect">
            <a:avLst/>
          </a:prstGeom>
          <a:noFill/>
        </p:spPr>
        <p:txBody>
          <a:bodyPr wrap="none" rtlCol="0">
            <a:spAutoFit/>
          </a:bodyPr>
          <a:lstStyle/>
          <a:p>
            <a:pPr>
              <a:lnSpc>
                <a:spcPct val="150000"/>
              </a:lnSpc>
            </a:pPr>
            <a:r>
              <a:rPr lang="en-US" b="1" dirty="0"/>
              <a:t>Process</a:t>
            </a:r>
          </a:p>
          <a:p>
            <a:pPr>
              <a:lnSpc>
                <a:spcPct val="150000"/>
              </a:lnSpc>
              <a:buFont typeface="+mj-lt"/>
              <a:buAutoNum type="arabicPeriod"/>
            </a:pPr>
            <a:r>
              <a:rPr lang="en-US" dirty="0"/>
              <a:t>Develop overall model </a:t>
            </a:r>
          </a:p>
          <a:p>
            <a:pPr>
              <a:lnSpc>
                <a:spcPct val="150000"/>
              </a:lnSpc>
              <a:buFont typeface="+mj-lt"/>
              <a:buAutoNum type="arabicPeriod"/>
            </a:pPr>
            <a:r>
              <a:rPr lang="en-US" dirty="0"/>
              <a:t>Build feature list </a:t>
            </a:r>
          </a:p>
          <a:p>
            <a:pPr>
              <a:lnSpc>
                <a:spcPct val="150000"/>
              </a:lnSpc>
              <a:buFont typeface="+mj-lt"/>
              <a:buAutoNum type="arabicPeriod"/>
            </a:pPr>
            <a:r>
              <a:rPr lang="en-US" dirty="0"/>
              <a:t>Plan by feature </a:t>
            </a:r>
          </a:p>
          <a:p>
            <a:pPr>
              <a:lnSpc>
                <a:spcPct val="150000"/>
              </a:lnSpc>
              <a:buFont typeface="+mj-lt"/>
              <a:buAutoNum type="arabicPeriod"/>
            </a:pPr>
            <a:r>
              <a:rPr lang="en-US" dirty="0"/>
              <a:t>Design by feature </a:t>
            </a:r>
          </a:p>
          <a:p>
            <a:pPr>
              <a:lnSpc>
                <a:spcPct val="150000"/>
              </a:lnSpc>
              <a:buFont typeface="+mj-lt"/>
              <a:buAutoNum type="arabicPeriod"/>
            </a:pPr>
            <a:r>
              <a:rPr lang="en-US" dirty="0"/>
              <a:t>Build by feature</a:t>
            </a:r>
          </a:p>
          <a:p>
            <a:pPr>
              <a:lnSpc>
                <a:spcPct val="95000"/>
              </a:lnSpc>
            </a:pPr>
            <a:endParaRPr lang="en-IN" dirty="0"/>
          </a:p>
        </p:txBody>
      </p:sp>
      <p:sp>
        <p:nvSpPr>
          <p:cNvPr id="10" name="TextBox 9">
            <a:extLst>
              <a:ext uri="{FF2B5EF4-FFF2-40B4-BE49-F238E27FC236}">
                <a16:creationId xmlns:a16="http://schemas.microsoft.com/office/drawing/2014/main" id="{78E957D3-63C7-1782-5594-684AED23D9D3}"/>
              </a:ext>
            </a:extLst>
          </p:cNvPr>
          <p:cNvSpPr txBox="1"/>
          <p:nvPr/>
        </p:nvSpPr>
        <p:spPr>
          <a:xfrm>
            <a:off x="6107496" y="1772816"/>
            <a:ext cx="5211683" cy="5429179"/>
          </a:xfrm>
          <a:prstGeom prst="rect">
            <a:avLst/>
          </a:prstGeom>
          <a:noFill/>
        </p:spPr>
        <p:txBody>
          <a:bodyPr wrap="none" rtlCol="0">
            <a:spAutoFit/>
          </a:bodyPr>
          <a:lstStyle/>
          <a:p>
            <a:pPr>
              <a:lnSpc>
                <a:spcPct val="150000"/>
              </a:lnSpc>
            </a:pPr>
            <a:r>
              <a:rPr lang="en-US" b="1" dirty="0"/>
              <a:t>Example</a:t>
            </a:r>
          </a:p>
          <a:p>
            <a:pPr>
              <a:lnSpc>
                <a:spcPct val="150000"/>
              </a:lnSpc>
            </a:pPr>
            <a:r>
              <a:rPr lang="en-US" dirty="0"/>
              <a:t>Instagram</a:t>
            </a:r>
          </a:p>
          <a:p>
            <a:pPr>
              <a:lnSpc>
                <a:spcPct val="150000"/>
              </a:lnSpc>
            </a:pPr>
            <a:r>
              <a:rPr lang="en-US" dirty="0"/>
              <a:t>Instead of developing everything,</a:t>
            </a:r>
          </a:p>
          <a:p>
            <a:pPr>
              <a:lnSpc>
                <a:spcPct val="150000"/>
              </a:lnSpc>
            </a:pPr>
            <a:r>
              <a:rPr lang="en-US" dirty="0"/>
              <a:t>deliver</a:t>
            </a:r>
          </a:p>
          <a:p>
            <a:pPr lvl="1">
              <a:lnSpc>
                <a:spcPct val="150000"/>
              </a:lnSpc>
              <a:buFont typeface="Arial" panose="020B0604020202020204" pitchFamily="34" charset="0"/>
              <a:buChar char="•"/>
            </a:pPr>
            <a:r>
              <a:rPr lang="en-US" dirty="0"/>
              <a:t>Login </a:t>
            </a:r>
          </a:p>
          <a:p>
            <a:pPr lvl="1">
              <a:lnSpc>
                <a:spcPct val="150000"/>
              </a:lnSpc>
              <a:buFont typeface="Arial" panose="020B0604020202020204" pitchFamily="34" charset="0"/>
              <a:buChar char="•"/>
            </a:pPr>
            <a:r>
              <a:rPr lang="en-US" dirty="0"/>
              <a:t>Stories </a:t>
            </a:r>
          </a:p>
          <a:p>
            <a:pPr lvl="1">
              <a:lnSpc>
                <a:spcPct val="150000"/>
              </a:lnSpc>
              <a:buFont typeface="Arial" panose="020B0604020202020204" pitchFamily="34" charset="0"/>
              <a:buChar char="•"/>
            </a:pPr>
            <a:r>
              <a:rPr lang="en-US" dirty="0"/>
              <a:t>Reels </a:t>
            </a:r>
          </a:p>
          <a:p>
            <a:pPr lvl="1">
              <a:lnSpc>
                <a:spcPct val="150000"/>
              </a:lnSpc>
              <a:buFont typeface="Arial" panose="020B0604020202020204" pitchFamily="34" charset="0"/>
              <a:buChar char="•"/>
            </a:pPr>
            <a:r>
              <a:rPr lang="en-US" dirty="0"/>
              <a:t>Messaging </a:t>
            </a:r>
          </a:p>
          <a:p>
            <a:pPr>
              <a:lnSpc>
                <a:spcPct val="150000"/>
              </a:lnSpc>
            </a:pPr>
            <a:r>
              <a:rPr lang="en-US" dirty="0"/>
              <a:t>one feature at a time</a:t>
            </a:r>
          </a:p>
          <a:p>
            <a:pPr>
              <a:lnSpc>
                <a:spcPct val="95000"/>
              </a:lnSpc>
            </a:pPr>
            <a:endParaRPr lang="en-IN" dirty="0"/>
          </a:p>
        </p:txBody>
      </p:sp>
    </p:spTree>
    <p:extLst>
      <p:ext uri="{BB962C8B-B14F-4D97-AF65-F5344CB8AC3E}">
        <p14:creationId xmlns:p14="http://schemas.microsoft.com/office/powerpoint/2010/main" val="25866485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Feature-Driven Development PowerPoint and Google Slides Template - PPT  Slides">
            <a:extLst>
              <a:ext uri="{FF2B5EF4-FFF2-40B4-BE49-F238E27FC236}">
                <a16:creationId xmlns:a16="http://schemas.microsoft.com/office/drawing/2014/main" id="{9B06894C-B66F-B726-D27B-9F30E270934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7778" y="116632"/>
            <a:ext cx="11393267" cy="64087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834477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D2D201EE-B4EB-72A2-74E8-DC44929CDD88}"/>
              </a:ext>
            </a:extLst>
          </p:cNvPr>
          <p:cNvSpPr>
            <a:spLocks noGrp="1"/>
          </p:cNvSpPr>
          <p:nvPr>
            <p:ph type="title"/>
          </p:nvPr>
        </p:nvSpPr>
        <p:spPr>
          <a:xfrm>
            <a:off x="1117309" y="76200"/>
            <a:ext cx="10157354" cy="904528"/>
          </a:xfrm>
        </p:spPr>
        <p:txBody>
          <a:bodyPr>
            <a:normAutofit fontScale="90000"/>
          </a:bodyPr>
          <a:lstStyle/>
          <a:p>
            <a:r>
              <a:rPr lang="en-US" dirty="0"/>
              <a:t>3. Feature Driven Development (FDD)</a:t>
            </a:r>
            <a:endParaRPr lang="en-IN" dirty="0"/>
          </a:p>
        </p:txBody>
      </p:sp>
      <p:sp>
        <p:nvSpPr>
          <p:cNvPr id="5" name="Rectangle: Rounded Corners 4">
            <a:extLst>
              <a:ext uri="{FF2B5EF4-FFF2-40B4-BE49-F238E27FC236}">
                <a16:creationId xmlns:a16="http://schemas.microsoft.com/office/drawing/2014/main" id="{93B79A42-F167-F16A-05B4-AAACB22E8FDD}"/>
              </a:ext>
            </a:extLst>
          </p:cNvPr>
          <p:cNvSpPr/>
          <p:nvPr/>
        </p:nvSpPr>
        <p:spPr>
          <a:xfrm>
            <a:off x="981844" y="1340768"/>
            <a:ext cx="2520280" cy="1440160"/>
          </a:xfrm>
          <a:prstGeom prst="roundRect">
            <a:avLst/>
          </a:prstGeom>
          <a:solidFill>
            <a:schemeClr val="accent5">
              <a:lumMod val="50000"/>
            </a:schemeClr>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IN" sz="1600" b="1" dirty="0"/>
              <a:t>Develop by Feature</a:t>
            </a:r>
          </a:p>
          <a:p>
            <a:pPr algn="ctr"/>
            <a:r>
              <a:rPr lang="en-US" sz="1400" dirty="0"/>
              <a:t>Break a large project into </a:t>
            </a:r>
            <a:r>
              <a:rPr lang="en-US" sz="1400" b="1" dirty="0"/>
              <a:t>small, customer-valued features</a:t>
            </a:r>
            <a:endParaRPr lang="en-IN" sz="1400" b="1" dirty="0">
              <a:solidFill>
                <a:schemeClr val="bg1"/>
              </a:solidFill>
            </a:endParaRPr>
          </a:p>
        </p:txBody>
      </p:sp>
      <p:sp>
        <p:nvSpPr>
          <p:cNvPr id="6" name="Rectangle: Rounded Corners 5">
            <a:extLst>
              <a:ext uri="{FF2B5EF4-FFF2-40B4-BE49-F238E27FC236}">
                <a16:creationId xmlns:a16="http://schemas.microsoft.com/office/drawing/2014/main" id="{6D031880-7B37-40D6-E15A-67ACB3A9EC43}"/>
              </a:ext>
            </a:extLst>
          </p:cNvPr>
          <p:cNvSpPr/>
          <p:nvPr/>
        </p:nvSpPr>
        <p:spPr>
          <a:xfrm>
            <a:off x="4582244" y="1341985"/>
            <a:ext cx="2520280" cy="1440160"/>
          </a:xfrm>
          <a:prstGeom prst="roundRect">
            <a:avLst/>
          </a:prstGeom>
          <a:solidFill>
            <a:schemeClr val="accent5">
              <a:lumMod val="50000"/>
            </a:schemeClr>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IN" sz="1600" b="1" dirty="0"/>
              <a:t>Customer Value First</a:t>
            </a:r>
          </a:p>
          <a:p>
            <a:pPr algn="ctr"/>
            <a:r>
              <a:rPr lang="en-US" sz="1400" dirty="0"/>
              <a:t>Every feature should provide </a:t>
            </a:r>
            <a:r>
              <a:rPr lang="en-US" sz="1400" b="1" dirty="0"/>
              <a:t>real value</a:t>
            </a:r>
            <a:r>
              <a:rPr lang="en-US" sz="1400" dirty="0"/>
              <a:t> to the customer</a:t>
            </a:r>
            <a:endParaRPr lang="en-IN" sz="1400" b="1" dirty="0">
              <a:solidFill>
                <a:schemeClr val="bg1"/>
              </a:solidFill>
            </a:endParaRPr>
          </a:p>
        </p:txBody>
      </p:sp>
      <p:sp>
        <p:nvSpPr>
          <p:cNvPr id="7" name="Rectangle: Rounded Corners 6">
            <a:extLst>
              <a:ext uri="{FF2B5EF4-FFF2-40B4-BE49-F238E27FC236}">
                <a16:creationId xmlns:a16="http://schemas.microsoft.com/office/drawing/2014/main" id="{1C334A77-52DE-4082-9945-16B17259044A}"/>
              </a:ext>
            </a:extLst>
          </p:cNvPr>
          <p:cNvSpPr/>
          <p:nvPr/>
        </p:nvSpPr>
        <p:spPr>
          <a:xfrm>
            <a:off x="8182644" y="1340768"/>
            <a:ext cx="2520280" cy="1440160"/>
          </a:xfrm>
          <a:prstGeom prst="roundRect">
            <a:avLst/>
          </a:prstGeom>
          <a:solidFill>
            <a:schemeClr val="accent5">
              <a:lumMod val="50000"/>
            </a:schemeClr>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IN" sz="1600" b="1" dirty="0"/>
              <a:t>Frequent Delivery</a:t>
            </a:r>
          </a:p>
          <a:p>
            <a:pPr algn="ctr"/>
            <a:r>
              <a:rPr lang="en-US" sz="1400" dirty="0"/>
              <a:t>Deliver completed features regularly instead of waiting until the whole project is finished</a:t>
            </a:r>
            <a:endParaRPr lang="en-IN" sz="1400" b="1" dirty="0">
              <a:solidFill>
                <a:schemeClr val="bg1"/>
              </a:solidFill>
            </a:endParaRPr>
          </a:p>
        </p:txBody>
      </p:sp>
      <p:sp>
        <p:nvSpPr>
          <p:cNvPr id="8" name="Rectangle: Rounded Corners 7">
            <a:extLst>
              <a:ext uri="{FF2B5EF4-FFF2-40B4-BE49-F238E27FC236}">
                <a16:creationId xmlns:a16="http://schemas.microsoft.com/office/drawing/2014/main" id="{24A55043-FD9A-3CC5-B643-CB010CCF97C5}"/>
              </a:ext>
            </a:extLst>
          </p:cNvPr>
          <p:cNvSpPr/>
          <p:nvPr/>
        </p:nvSpPr>
        <p:spPr>
          <a:xfrm>
            <a:off x="1011359" y="3501008"/>
            <a:ext cx="2520280" cy="1440160"/>
          </a:xfrm>
          <a:prstGeom prst="roundRect">
            <a:avLst/>
          </a:prstGeom>
          <a:solidFill>
            <a:schemeClr val="accent5">
              <a:lumMod val="50000"/>
            </a:schemeClr>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IN" sz="1600" b="1" dirty="0"/>
              <a:t>Domain Object Modelling</a:t>
            </a:r>
          </a:p>
          <a:p>
            <a:pPr algn="ctr"/>
            <a:r>
              <a:rPr lang="en-US" sz="1400" dirty="0"/>
              <a:t>Understand the </a:t>
            </a:r>
            <a:r>
              <a:rPr lang="en-US" sz="1400" b="1" dirty="0"/>
              <a:t>business domain</a:t>
            </a:r>
            <a:r>
              <a:rPr lang="en-US" sz="1400" dirty="0"/>
              <a:t> before writing code</a:t>
            </a:r>
            <a:endParaRPr lang="en-IN" sz="1400" b="1" dirty="0">
              <a:solidFill>
                <a:schemeClr val="bg1"/>
              </a:solidFill>
            </a:endParaRPr>
          </a:p>
        </p:txBody>
      </p:sp>
      <p:sp>
        <p:nvSpPr>
          <p:cNvPr id="9" name="Rectangle: Rounded Corners 8">
            <a:extLst>
              <a:ext uri="{FF2B5EF4-FFF2-40B4-BE49-F238E27FC236}">
                <a16:creationId xmlns:a16="http://schemas.microsoft.com/office/drawing/2014/main" id="{8C77E743-DD86-E28D-88B2-1258E1927738}"/>
              </a:ext>
            </a:extLst>
          </p:cNvPr>
          <p:cNvSpPr/>
          <p:nvPr/>
        </p:nvSpPr>
        <p:spPr>
          <a:xfrm>
            <a:off x="4582244" y="3479101"/>
            <a:ext cx="2520280" cy="1440160"/>
          </a:xfrm>
          <a:prstGeom prst="roundRect">
            <a:avLst/>
          </a:prstGeom>
          <a:solidFill>
            <a:schemeClr val="accent5">
              <a:lumMod val="50000"/>
            </a:schemeClr>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IN" sz="1600" b="1" dirty="0"/>
              <a:t>Ownership of Features</a:t>
            </a:r>
          </a:p>
          <a:p>
            <a:pPr algn="ctr"/>
            <a:r>
              <a:rPr lang="en-US" sz="1400" dirty="0"/>
              <a:t>Each feature has a responsible developer or small team</a:t>
            </a:r>
            <a:endParaRPr lang="en-IN" sz="1400" b="1" dirty="0">
              <a:solidFill>
                <a:schemeClr val="bg1"/>
              </a:solidFill>
            </a:endParaRPr>
          </a:p>
        </p:txBody>
      </p:sp>
      <p:sp>
        <p:nvSpPr>
          <p:cNvPr id="10" name="Rectangle: Rounded Corners 9">
            <a:extLst>
              <a:ext uri="{FF2B5EF4-FFF2-40B4-BE49-F238E27FC236}">
                <a16:creationId xmlns:a16="http://schemas.microsoft.com/office/drawing/2014/main" id="{B7A34780-C7A0-ED98-97F2-84DB80E021B2}"/>
              </a:ext>
            </a:extLst>
          </p:cNvPr>
          <p:cNvSpPr/>
          <p:nvPr/>
        </p:nvSpPr>
        <p:spPr>
          <a:xfrm>
            <a:off x="8193700" y="3466525"/>
            <a:ext cx="2520280" cy="1440160"/>
          </a:xfrm>
          <a:prstGeom prst="roundRect">
            <a:avLst/>
          </a:prstGeom>
          <a:solidFill>
            <a:schemeClr val="accent5">
              <a:lumMod val="50000"/>
            </a:schemeClr>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IN" sz="1600" b="1" dirty="0"/>
              <a:t>Regular Inspection &amp; Quality</a:t>
            </a:r>
          </a:p>
          <a:p>
            <a:pPr algn="ctr"/>
            <a:r>
              <a:rPr lang="en-US" sz="1400" dirty="0"/>
              <a:t>Review and test every feature before delivering it</a:t>
            </a:r>
            <a:endParaRPr lang="en-IN" sz="1400" b="1" dirty="0">
              <a:solidFill>
                <a:schemeClr val="bg1"/>
              </a:solidFill>
            </a:endParaRPr>
          </a:p>
        </p:txBody>
      </p:sp>
    </p:spTree>
    <p:extLst>
      <p:ext uri="{BB962C8B-B14F-4D97-AF65-F5344CB8AC3E}">
        <p14:creationId xmlns:p14="http://schemas.microsoft.com/office/powerpoint/2010/main" val="3114178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3FAE68E0-F440-D706-F6AF-85D7DE049BDA}"/>
              </a:ext>
            </a:extLst>
          </p:cNvPr>
          <p:cNvSpPr>
            <a:spLocks noGrp="1"/>
          </p:cNvSpPr>
          <p:nvPr>
            <p:ph type="title"/>
          </p:nvPr>
        </p:nvSpPr>
        <p:spPr>
          <a:xfrm>
            <a:off x="910625" y="79594"/>
            <a:ext cx="10157354" cy="829126"/>
          </a:xfrm>
        </p:spPr>
        <p:txBody>
          <a:bodyPr/>
          <a:lstStyle/>
          <a:p>
            <a:r>
              <a:rPr lang="en-IN" dirty="0"/>
              <a:t>4. Crystal Method</a:t>
            </a:r>
          </a:p>
        </p:txBody>
      </p:sp>
      <p:sp>
        <p:nvSpPr>
          <p:cNvPr id="2" name="TextBox 1">
            <a:extLst>
              <a:ext uri="{FF2B5EF4-FFF2-40B4-BE49-F238E27FC236}">
                <a16:creationId xmlns:a16="http://schemas.microsoft.com/office/drawing/2014/main" id="{5AF5A2AD-3BA9-708A-B520-A110B75F1554}"/>
              </a:ext>
            </a:extLst>
          </p:cNvPr>
          <p:cNvSpPr txBox="1"/>
          <p:nvPr/>
        </p:nvSpPr>
        <p:spPr>
          <a:xfrm>
            <a:off x="910625" y="1062808"/>
            <a:ext cx="6098144" cy="384721"/>
          </a:xfrm>
          <a:prstGeom prst="rect">
            <a:avLst/>
          </a:prstGeom>
          <a:noFill/>
        </p:spPr>
        <p:txBody>
          <a:bodyPr wrap="none" rtlCol="0">
            <a:spAutoFit/>
          </a:bodyPr>
          <a:lstStyle/>
          <a:p>
            <a:pPr>
              <a:lnSpc>
                <a:spcPct val="95000"/>
              </a:lnSpc>
            </a:pPr>
            <a:r>
              <a:rPr lang="en-US" sz="2000" dirty="0"/>
              <a:t>Different projects need different methodologies</a:t>
            </a:r>
            <a:endParaRPr lang="en-IN" sz="2000" dirty="0"/>
          </a:p>
        </p:txBody>
      </p:sp>
      <p:sp>
        <p:nvSpPr>
          <p:cNvPr id="3" name="TextBox 2">
            <a:extLst>
              <a:ext uri="{FF2B5EF4-FFF2-40B4-BE49-F238E27FC236}">
                <a16:creationId xmlns:a16="http://schemas.microsoft.com/office/drawing/2014/main" id="{0823381F-599F-F64F-8ED7-3DCD0D55CCD3}"/>
              </a:ext>
            </a:extLst>
          </p:cNvPr>
          <p:cNvSpPr txBox="1"/>
          <p:nvPr/>
        </p:nvSpPr>
        <p:spPr>
          <a:xfrm>
            <a:off x="910625" y="1601617"/>
            <a:ext cx="5759851" cy="5001369"/>
          </a:xfrm>
          <a:prstGeom prst="rect">
            <a:avLst/>
          </a:prstGeom>
          <a:noFill/>
        </p:spPr>
        <p:txBody>
          <a:bodyPr wrap="square" rtlCol="0">
            <a:spAutoFit/>
          </a:bodyPr>
          <a:lstStyle/>
          <a:p>
            <a:pPr>
              <a:lnSpc>
                <a:spcPct val="150000"/>
              </a:lnSpc>
            </a:pPr>
            <a:r>
              <a:rPr lang="en-US" sz="2000" dirty="0"/>
              <a:t>Imagine a hospital.</a:t>
            </a:r>
          </a:p>
          <a:p>
            <a:pPr>
              <a:lnSpc>
                <a:spcPct val="150000"/>
              </a:lnSpc>
            </a:pPr>
            <a:r>
              <a:rPr lang="en-US" sz="2000" dirty="0"/>
              <a:t>Would the doctor prescribe the </a:t>
            </a:r>
            <a:r>
              <a:rPr lang="en-US" sz="2000" b="1" dirty="0"/>
              <a:t>same medicine</a:t>
            </a:r>
            <a:r>
              <a:rPr lang="en-US" sz="2000" dirty="0"/>
              <a:t> to:</a:t>
            </a:r>
          </a:p>
          <a:p>
            <a:pPr>
              <a:lnSpc>
                <a:spcPct val="150000"/>
              </a:lnSpc>
              <a:buFont typeface="Arial" panose="020B0604020202020204" pitchFamily="34" charset="0"/>
              <a:buChar char="•"/>
            </a:pPr>
            <a:r>
              <a:rPr lang="en-US" sz="2000" dirty="0"/>
              <a:t>A child with fever 👶 </a:t>
            </a:r>
          </a:p>
          <a:p>
            <a:pPr>
              <a:lnSpc>
                <a:spcPct val="150000"/>
              </a:lnSpc>
              <a:buFont typeface="Arial" panose="020B0604020202020204" pitchFamily="34" charset="0"/>
              <a:buChar char="•"/>
            </a:pPr>
            <a:r>
              <a:rPr lang="en-US" sz="2000" dirty="0"/>
              <a:t>A pregnant woman 🤰 </a:t>
            </a:r>
          </a:p>
          <a:p>
            <a:pPr>
              <a:lnSpc>
                <a:spcPct val="150000"/>
              </a:lnSpc>
              <a:buFont typeface="Arial" panose="020B0604020202020204" pitchFamily="34" charset="0"/>
              <a:buChar char="•"/>
            </a:pPr>
            <a:r>
              <a:rPr lang="en-US" sz="2000" dirty="0"/>
              <a:t>An elderly patient 👴 </a:t>
            </a:r>
          </a:p>
          <a:p>
            <a:pPr>
              <a:lnSpc>
                <a:spcPct val="150000"/>
              </a:lnSpc>
            </a:pPr>
            <a:r>
              <a:rPr lang="en-US" sz="2000" dirty="0"/>
              <a:t>The treatment depends on:</a:t>
            </a:r>
          </a:p>
          <a:p>
            <a:pPr>
              <a:lnSpc>
                <a:spcPct val="150000"/>
              </a:lnSpc>
              <a:buFont typeface="Arial" panose="020B0604020202020204" pitchFamily="34" charset="0"/>
              <a:buChar char="•"/>
            </a:pPr>
            <a:r>
              <a:rPr lang="en-US" sz="2000" dirty="0"/>
              <a:t>Age </a:t>
            </a:r>
          </a:p>
          <a:p>
            <a:pPr>
              <a:lnSpc>
                <a:spcPct val="150000"/>
              </a:lnSpc>
              <a:buFont typeface="Arial" panose="020B0604020202020204" pitchFamily="34" charset="0"/>
              <a:buChar char="•"/>
            </a:pPr>
            <a:r>
              <a:rPr lang="en-US" sz="2000" dirty="0"/>
              <a:t>Health condition </a:t>
            </a:r>
          </a:p>
          <a:p>
            <a:pPr>
              <a:lnSpc>
                <a:spcPct val="150000"/>
              </a:lnSpc>
              <a:buFont typeface="Arial" panose="020B0604020202020204" pitchFamily="34" charset="0"/>
              <a:buChar char="•"/>
            </a:pPr>
            <a:r>
              <a:rPr lang="en-US" sz="2000" dirty="0"/>
              <a:t>Severity</a:t>
            </a:r>
          </a:p>
          <a:p>
            <a:pPr>
              <a:lnSpc>
                <a:spcPct val="95000"/>
              </a:lnSpc>
            </a:pPr>
            <a:endParaRPr lang="en-IN" sz="2000" dirty="0"/>
          </a:p>
        </p:txBody>
      </p:sp>
      <p:sp>
        <p:nvSpPr>
          <p:cNvPr id="7" name="TextBox 6">
            <a:extLst>
              <a:ext uri="{FF2B5EF4-FFF2-40B4-BE49-F238E27FC236}">
                <a16:creationId xmlns:a16="http://schemas.microsoft.com/office/drawing/2014/main" id="{FA1A3572-268E-0F15-B5A7-17FB351EEFD6}"/>
              </a:ext>
            </a:extLst>
          </p:cNvPr>
          <p:cNvSpPr txBox="1"/>
          <p:nvPr/>
        </p:nvSpPr>
        <p:spPr>
          <a:xfrm>
            <a:off x="6526460" y="1724570"/>
            <a:ext cx="4968552" cy="2139047"/>
          </a:xfrm>
          <a:prstGeom prst="rect">
            <a:avLst/>
          </a:prstGeom>
          <a:noFill/>
        </p:spPr>
        <p:txBody>
          <a:bodyPr wrap="square" rtlCol="0">
            <a:spAutoFit/>
          </a:bodyPr>
          <a:lstStyle/>
          <a:p>
            <a:pPr>
              <a:lnSpc>
                <a:spcPct val="95000"/>
              </a:lnSpc>
            </a:pPr>
            <a:r>
              <a:rPr lang="en-US" sz="2000" dirty="0"/>
              <a:t>Similarly,</a:t>
            </a:r>
          </a:p>
          <a:p>
            <a:pPr>
              <a:lnSpc>
                <a:spcPct val="95000"/>
              </a:lnSpc>
            </a:pPr>
            <a:endParaRPr lang="en-US" sz="2000" dirty="0"/>
          </a:p>
          <a:p>
            <a:pPr>
              <a:lnSpc>
                <a:spcPct val="95000"/>
              </a:lnSpc>
            </a:pPr>
            <a:r>
              <a:rPr lang="en-US" sz="2000" dirty="0"/>
              <a:t>Crystal says:</a:t>
            </a:r>
          </a:p>
          <a:p>
            <a:pPr>
              <a:lnSpc>
                <a:spcPct val="95000"/>
              </a:lnSpc>
            </a:pPr>
            <a:endParaRPr lang="en-US" sz="2000" dirty="0"/>
          </a:p>
          <a:p>
            <a:pPr>
              <a:lnSpc>
                <a:spcPct val="95000"/>
              </a:lnSpc>
            </a:pPr>
            <a:r>
              <a:rPr lang="en-US" sz="2000" dirty="0"/>
              <a:t>"Every software project is different. So why should every project use the same development process?"</a:t>
            </a:r>
            <a:endParaRPr lang="en-IN" sz="2000" dirty="0"/>
          </a:p>
        </p:txBody>
      </p:sp>
      <p:sp>
        <p:nvSpPr>
          <p:cNvPr id="8" name="TextBox 7">
            <a:extLst>
              <a:ext uri="{FF2B5EF4-FFF2-40B4-BE49-F238E27FC236}">
                <a16:creationId xmlns:a16="http://schemas.microsoft.com/office/drawing/2014/main" id="{6CB4FDAC-E404-624C-DB15-0ECE98D2DD10}"/>
              </a:ext>
            </a:extLst>
          </p:cNvPr>
          <p:cNvSpPr txBox="1"/>
          <p:nvPr/>
        </p:nvSpPr>
        <p:spPr>
          <a:xfrm>
            <a:off x="5434714" y="4437112"/>
            <a:ext cx="6680492" cy="1261884"/>
          </a:xfrm>
          <a:prstGeom prst="rect">
            <a:avLst/>
          </a:prstGeom>
          <a:noFill/>
        </p:spPr>
        <p:txBody>
          <a:bodyPr wrap="square" rtlCol="0">
            <a:spAutoFit/>
          </a:bodyPr>
          <a:lstStyle/>
          <a:p>
            <a:pPr>
              <a:lnSpc>
                <a:spcPct val="95000"/>
              </a:lnSpc>
            </a:pPr>
            <a:r>
              <a:rPr lang="en-US" sz="2000" b="1" dirty="0">
                <a:solidFill>
                  <a:srgbClr val="FF0000"/>
                </a:solidFill>
              </a:rPr>
              <a:t>Crystal is an Agile methodology that adapts the software development process according to the project's size, team size, and criticality (how serious the consequences of failure are)</a:t>
            </a:r>
            <a:endParaRPr lang="en-IN" sz="2000" b="1" dirty="0">
              <a:solidFill>
                <a:srgbClr val="FF0000"/>
              </a:solidFill>
            </a:endParaRPr>
          </a:p>
        </p:txBody>
      </p:sp>
    </p:spTree>
    <p:extLst>
      <p:ext uri="{BB962C8B-B14F-4D97-AF65-F5344CB8AC3E}">
        <p14:creationId xmlns:p14="http://schemas.microsoft.com/office/powerpoint/2010/main" val="31206487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045E2A5B-3A0A-0587-7D25-6D84FC79A1BF}"/>
              </a:ext>
            </a:extLst>
          </p:cNvPr>
          <p:cNvSpPr>
            <a:spLocks noGrp="1"/>
          </p:cNvSpPr>
          <p:nvPr>
            <p:ph type="title"/>
          </p:nvPr>
        </p:nvSpPr>
        <p:spPr>
          <a:xfrm>
            <a:off x="910625" y="79594"/>
            <a:ext cx="10157354" cy="829126"/>
          </a:xfrm>
        </p:spPr>
        <p:txBody>
          <a:bodyPr/>
          <a:lstStyle/>
          <a:p>
            <a:r>
              <a:rPr lang="en-IN" dirty="0"/>
              <a:t>4. Crystal Method</a:t>
            </a:r>
          </a:p>
        </p:txBody>
      </p:sp>
      <p:sp>
        <p:nvSpPr>
          <p:cNvPr id="5" name="TextBox 4">
            <a:extLst>
              <a:ext uri="{FF2B5EF4-FFF2-40B4-BE49-F238E27FC236}">
                <a16:creationId xmlns:a16="http://schemas.microsoft.com/office/drawing/2014/main" id="{5F9C9D8E-3C39-32B7-C748-9C739B3EB630}"/>
              </a:ext>
            </a:extLst>
          </p:cNvPr>
          <p:cNvSpPr txBox="1"/>
          <p:nvPr/>
        </p:nvSpPr>
        <p:spPr>
          <a:xfrm>
            <a:off x="801824" y="852878"/>
            <a:ext cx="10585176" cy="1769715"/>
          </a:xfrm>
          <a:prstGeom prst="rect">
            <a:avLst/>
          </a:prstGeom>
          <a:noFill/>
        </p:spPr>
        <p:txBody>
          <a:bodyPr wrap="square" rtlCol="0">
            <a:spAutoFit/>
          </a:bodyPr>
          <a:lstStyle/>
          <a:p>
            <a:pPr>
              <a:lnSpc>
                <a:spcPct val="150000"/>
              </a:lnSpc>
            </a:pPr>
            <a:r>
              <a:rPr lang="en-US" sz="2000" dirty="0"/>
              <a:t>Crystal was developed by </a:t>
            </a:r>
            <a:r>
              <a:rPr lang="en-US" sz="2000" b="1" dirty="0"/>
              <a:t>Alistair Cockburn</a:t>
            </a:r>
            <a:r>
              <a:rPr lang="en-US" sz="2000" dirty="0"/>
              <a:t>, one of the </a:t>
            </a:r>
            <a:r>
              <a:rPr lang="en-US" sz="2000" b="1" dirty="0"/>
              <a:t>17 authors of the Agile Manifesto</a:t>
            </a:r>
            <a:r>
              <a:rPr lang="en-US" sz="2000" dirty="0"/>
              <a:t>. He named it </a:t>
            </a:r>
            <a:r>
              <a:rPr lang="en-US" sz="2000" b="1" dirty="0"/>
              <a:t>Crystal</a:t>
            </a:r>
            <a:r>
              <a:rPr lang="en-US" sz="2000" dirty="0"/>
              <a:t> because crystals come in many colors, and </a:t>
            </a:r>
            <a:r>
              <a:rPr lang="en-US" sz="2000" b="1" dirty="0"/>
              <a:t>each color represents a different methodology for different project sizes and criticality.</a:t>
            </a:r>
            <a:endParaRPr lang="en-US" sz="2000" dirty="0"/>
          </a:p>
          <a:p>
            <a:pPr>
              <a:lnSpc>
                <a:spcPct val="95000"/>
              </a:lnSpc>
            </a:pPr>
            <a:endParaRPr lang="en-IN" sz="2000" dirty="0"/>
          </a:p>
        </p:txBody>
      </p:sp>
      <p:pic>
        <p:nvPicPr>
          <p:cNvPr id="7" name="Picture 6">
            <a:extLst>
              <a:ext uri="{FF2B5EF4-FFF2-40B4-BE49-F238E27FC236}">
                <a16:creationId xmlns:a16="http://schemas.microsoft.com/office/drawing/2014/main" id="{E70F8083-8F65-44C6-FA12-2220715064D7}"/>
              </a:ext>
            </a:extLst>
          </p:cNvPr>
          <p:cNvPicPr>
            <a:picLocks noChangeAspect="1"/>
          </p:cNvPicPr>
          <p:nvPr/>
        </p:nvPicPr>
        <p:blipFill>
          <a:blip r:embed="rId2"/>
          <a:stretch>
            <a:fillRect/>
          </a:stretch>
        </p:blipFill>
        <p:spPr>
          <a:xfrm>
            <a:off x="693812" y="2348880"/>
            <a:ext cx="10493696" cy="4235407"/>
          </a:xfrm>
          <a:prstGeom prst="rect">
            <a:avLst/>
          </a:prstGeom>
        </p:spPr>
      </p:pic>
    </p:spTree>
    <p:extLst>
      <p:ext uri="{BB962C8B-B14F-4D97-AF65-F5344CB8AC3E}">
        <p14:creationId xmlns:p14="http://schemas.microsoft.com/office/powerpoint/2010/main" val="41571651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CA687DC2-FAA0-3DC9-1CAD-D657EA5D2EA7}"/>
              </a:ext>
            </a:extLst>
          </p:cNvPr>
          <p:cNvSpPr>
            <a:spLocks noGrp="1"/>
          </p:cNvSpPr>
          <p:nvPr>
            <p:ph type="title"/>
          </p:nvPr>
        </p:nvSpPr>
        <p:spPr>
          <a:xfrm>
            <a:off x="910625" y="79594"/>
            <a:ext cx="10157354" cy="829126"/>
          </a:xfrm>
        </p:spPr>
        <p:txBody>
          <a:bodyPr/>
          <a:lstStyle/>
          <a:p>
            <a:r>
              <a:rPr lang="en-IN" dirty="0"/>
              <a:t>4. Crystal Method</a:t>
            </a:r>
          </a:p>
        </p:txBody>
      </p:sp>
      <p:sp>
        <p:nvSpPr>
          <p:cNvPr id="7" name="Rectangle: Rounded Corners 6">
            <a:extLst>
              <a:ext uri="{FF2B5EF4-FFF2-40B4-BE49-F238E27FC236}">
                <a16:creationId xmlns:a16="http://schemas.microsoft.com/office/drawing/2014/main" id="{89D9366A-06C3-544F-9A1F-0C9681DF5799}"/>
              </a:ext>
            </a:extLst>
          </p:cNvPr>
          <p:cNvSpPr/>
          <p:nvPr/>
        </p:nvSpPr>
        <p:spPr>
          <a:xfrm>
            <a:off x="981844" y="1340768"/>
            <a:ext cx="2520280" cy="1512168"/>
          </a:xfrm>
          <a:prstGeom prst="roundRect">
            <a:avLst/>
          </a:prstGeom>
          <a:solidFill>
            <a:schemeClr val="accent5">
              <a:lumMod val="50000"/>
            </a:schemeClr>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IN" sz="2000" b="1" dirty="0">
                <a:solidFill>
                  <a:schemeClr val="bg1"/>
                </a:solidFill>
              </a:rPr>
              <a:t>People First</a:t>
            </a:r>
          </a:p>
          <a:p>
            <a:pPr algn="ctr"/>
            <a:r>
              <a:rPr lang="en-US" sz="1400" dirty="0"/>
              <a:t>Good communication is more important than rigid rules</a:t>
            </a:r>
            <a:endParaRPr lang="en-IN" sz="1400" b="1" dirty="0">
              <a:solidFill>
                <a:schemeClr val="bg1"/>
              </a:solidFill>
            </a:endParaRPr>
          </a:p>
          <a:p>
            <a:pPr algn="ctr"/>
            <a:endParaRPr lang="en-IN" sz="2000" b="1" dirty="0">
              <a:solidFill>
                <a:schemeClr val="bg1"/>
              </a:solidFill>
            </a:endParaRPr>
          </a:p>
        </p:txBody>
      </p:sp>
      <p:sp>
        <p:nvSpPr>
          <p:cNvPr id="8" name="Rectangle: Rounded Corners 7">
            <a:extLst>
              <a:ext uri="{FF2B5EF4-FFF2-40B4-BE49-F238E27FC236}">
                <a16:creationId xmlns:a16="http://schemas.microsoft.com/office/drawing/2014/main" id="{E62DB70D-2B41-A7D2-0DAB-EB101FCA168F}"/>
              </a:ext>
            </a:extLst>
          </p:cNvPr>
          <p:cNvSpPr/>
          <p:nvPr/>
        </p:nvSpPr>
        <p:spPr>
          <a:xfrm>
            <a:off x="4474232" y="1340768"/>
            <a:ext cx="2520280" cy="1512168"/>
          </a:xfrm>
          <a:prstGeom prst="roundRect">
            <a:avLst/>
          </a:prstGeom>
          <a:solidFill>
            <a:schemeClr val="accent5">
              <a:lumMod val="50000"/>
            </a:schemeClr>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IN" sz="2000" b="1" dirty="0"/>
              <a:t>Frequent Delivery</a:t>
            </a:r>
          </a:p>
          <a:p>
            <a:pPr algn="ctr"/>
            <a:r>
              <a:rPr lang="en-IN" sz="1400" dirty="0"/>
              <a:t>Deliver working software regularly</a:t>
            </a:r>
            <a:endParaRPr lang="en-IN" sz="1400" b="1" dirty="0">
              <a:solidFill>
                <a:schemeClr val="bg1"/>
              </a:solidFill>
            </a:endParaRPr>
          </a:p>
        </p:txBody>
      </p:sp>
      <p:sp>
        <p:nvSpPr>
          <p:cNvPr id="9" name="Rectangle: Rounded Corners 8">
            <a:extLst>
              <a:ext uri="{FF2B5EF4-FFF2-40B4-BE49-F238E27FC236}">
                <a16:creationId xmlns:a16="http://schemas.microsoft.com/office/drawing/2014/main" id="{BF0DED53-0F89-72B4-05E2-489DEB64140E}"/>
              </a:ext>
            </a:extLst>
          </p:cNvPr>
          <p:cNvSpPr/>
          <p:nvPr/>
        </p:nvSpPr>
        <p:spPr>
          <a:xfrm>
            <a:off x="8038628" y="1340768"/>
            <a:ext cx="2520280" cy="1512168"/>
          </a:xfrm>
          <a:prstGeom prst="roundRect">
            <a:avLst/>
          </a:prstGeom>
          <a:solidFill>
            <a:schemeClr val="accent5">
              <a:lumMod val="50000"/>
            </a:schemeClr>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IN" sz="2000" b="1" dirty="0"/>
              <a:t>Continuous Communication</a:t>
            </a:r>
          </a:p>
          <a:p>
            <a:pPr algn="ctr"/>
            <a:r>
              <a:rPr lang="en-IN" sz="1400" dirty="0"/>
              <a:t>Everyone should communicate regularly</a:t>
            </a:r>
            <a:endParaRPr lang="en-IN" sz="1400" b="1" dirty="0">
              <a:solidFill>
                <a:schemeClr val="bg1"/>
              </a:solidFill>
            </a:endParaRPr>
          </a:p>
        </p:txBody>
      </p:sp>
      <p:sp>
        <p:nvSpPr>
          <p:cNvPr id="10" name="Rectangle: Rounded Corners 9">
            <a:extLst>
              <a:ext uri="{FF2B5EF4-FFF2-40B4-BE49-F238E27FC236}">
                <a16:creationId xmlns:a16="http://schemas.microsoft.com/office/drawing/2014/main" id="{95C74FFA-097A-465C-9B3D-2556E848FFDB}"/>
              </a:ext>
            </a:extLst>
          </p:cNvPr>
          <p:cNvSpPr/>
          <p:nvPr/>
        </p:nvSpPr>
        <p:spPr>
          <a:xfrm>
            <a:off x="920057" y="3725348"/>
            <a:ext cx="2520280" cy="1512168"/>
          </a:xfrm>
          <a:prstGeom prst="roundRect">
            <a:avLst/>
          </a:prstGeom>
          <a:solidFill>
            <a:schemeClr val="accent5">
              <a:lumMod val="50000"/>
            </a:schemeClr>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IN" sz="2000" b="1" dirty="0"/>
              <a:t>Reflect and Improve</a:t>
            </a:r>
          </a:p>
          <a:p>
            <a:pPr algn="ctr"/>
            <a:r>
              <a:rPr lang="en-US" sz="1400" dirty="0"/>
              <a:t>What worked well?</a:t>
            </a:r>
          </a:p>
          <a:p>
            <a:pPr algn="ctr"/>
            <a:r>
              <a:rPr lang="en-US" sz="1400" dirty="0"/>
              <a:t>What can be improved?</a:t>
            </a:r>
            <a:endParaRPr lang="en-IN" sz="1400" b="1" dirty="0">
              <a:solidFill>
                <a:schemeClr val="bg1"/>
              </a:solidFill>
            </a:endParaRPr>
          </a:p>
        </p:txBody>
      </p:sp>
      <p:sp>
        <p:nvSpPr>
          <p:cNvPr id="13" name="Rectangle: Rounded Corners 12">
            <a:extLst>
              <a:ext uri="{FF2B5EF4-FFF2-40B4-BE49-F238E27FC236}">
                <a16:creationId xmlns:a16="http://schemas.microsoft.com/office/drawing/2014/main" id="{47A336FB-6009-D95A-45ED-339FAD585D5D}"/>
              </a:ext>
            </a:extLst>
          </p:cNvPr>
          <p:cNvSpPr/>
          <p:nvPr/>
        </p:nvSpPr>
        <p:spPr>
          <a:xfrm>
            <a:off x="4438622" y="3658613"/>
            <a:ext cx="2808312" cy="1645637"/>
          </a:xfrm>
          <a:prstGeom prst="roundRect">
            <a:avLst/>
          </a:prstGeom>
          <a:solidFill>
            <a:schemeClr val="accent5">
              <a:lumMod val="50000"/>
            </a:schemeClr>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IN" sz="2000" b="1" dirty="0"/>
              <a:t>Focus on Safety</a:t>
            </a:r>
          </a:p>
          <a:p>
            <a:pPr algn="ctr"/>
            <a:r>
              <a:rPr lang="en-US" sz="1400" dirty="0"/>
              <a:t>People should feel safe to</a:t>
            </a:r>
          </a:p>
          <a:p>
            <a:pPr algn="ctr"/>
            <a:r>
              <a:rPr lang="en-US" sz="1400" dirty="0"/>
              <a:t>Ask questions</a:t>
            </a:r>
          </a:p>
          <a:p>
            <a:pPr algn="ctr"/>
            <a:r>
              <a:rPr lang="en-US" sz="1400" dirty="0"/>
              <a:t>Admit mistakes</a:t>
            </a:r>
          </a:p>
          <a:p>
            <a:pPr algn="ctr"/>
            <a:r>
              <a:rPr lang="en-US" sz="1400" dirty="0"/>
              <a:t>Suggest improvements</a:t>
            </a:r>
            <a:endParaRPr lang="en-IN" sz="1400" b="1" dirty="0">
              <a:solidFill>
                <a:schemeClr val="bg1"/>
              </a:solidFill>
            </a:endParaRPr>
          </a:p>
        </p:txBody>
      </p:sp>
      <p:sp>
        <p:nvSpPr>
          <p:cNvPr id="14" name="TextBox 13">
            <a:extLst>
              <a:ext uri="{FF2B5EF4-FFF2-40B4-BE49-F238E27FC236}">
                <a16:creationId xmlns:a16="http://schemas.microsoft.com/office/drawing/2014/main" id="{2EC56330-584B-821D-F992-3AE4E75F4FD2}"/>
              </a:ext>
            </a:extLst>
          </p:cNvPr>
          <p:cNvSpPr txBox="1"/>
          <p:nvPr/>
        </p:nvSpPr>
        <p:spPr>
          <a:xfrm>
            <a:off x="7822604" y="3284984"/>
            <a:ext cx="3960440" cy="3122393"/>
          </a:xfrm>
          <a:prstGeom prst="rect">
            <a:avLst/>
          </a:prstGeom>
          <a:noFill/>
        </p:spPr>
        <p:txBody>
          <a:bodyPr wrap="square" rtlCol="0">
            <a:spAutoFit/>
          </a:bodyPr>
          <a:lstStyle/>
          <a:p>
            <a:r>
              <a:rPr lang="en-US" sz="2200" dirty="0"/>
              <a:t>Typical roles include:</a:t>
            </a:r>
          </a:p>
          <a:p>
            <a:pPr marL="342900" indent="-342900">
              <a:buFont typeface="Arial" panose="020B0604020202020204" pitchFamily="34" charset="0"/>
              <a:buChar char="•"/>
            </a:pPr>
            <a:r>
              <a:rPr lang="en-US" sz="2200" dirty="0"/>
              <a:t>Project Sponsor </a:t>
            </a:r>
          </a:p>
          <a:p>
            <a:pPr marL="342900" indent="-342900">
              <a:buFont typeface="Arial" panose="020B0604020202020204" pitchFamily="34" charset="0"/>
              <a:buChar char="•"/>
            </a:pPr>
            <a:r>
              <a:rPr lang="en-US" sz="2200" dirty="0"/>
              <a:t>Project Manager </a:t>
            </a:r>
          </a:p>
          <a:p>
            <a:pPr marL="342900" indent="-342900">
              <a:buFont typeface="Arial" panose="020B0604020202020204" pitchFamily="34" charset="0"/>
              <a:buChar char="•"/>
            </a:pPr>
            <a:r>
              <a:rPr lang="en-US" sz="2200" dirty="0"/>
              <a:t>Business Expert (Domain Expert) </a:t>
            </a:r>
          </a:p>
          <a:p>
            <a:pPr marL="342900" indent="-342900">
              <a:buFont typeface="Arial" panose="020B0604020202020204" pitchFamily="34" charset="0"/>
              <a:buChar char="•"/>
            </a:pPr>
            <a:r>
              <a:rPr lang="en-US" sz="2200" dirty="0"/>
              <a:t>Developers </a:t>
            </a:r>
          </a:p>
          <a:p>
            <a:pPr marL="342900" indent="-342900">
              <a:buFont typeface="Arial" panose="020B0604020202020204" pitchFamily="34" charset="0"/>
              <a:buChar char="•"/>
            </a:pPr>
            <a:r>
              <a:rPr lang="en-US" sz="2200" dirty="0"/>
              <a:t>Testers </a:t>
            </a:r>
          </a:p>
          <a:p>
            <a:pPr marL="342900" indent="-342900">
              <a:buFont typeface="Arial" panose="020B0604020202020204" pitchFamily="34" charset="0"/>
              <a:buChar char="•"/>
            </a:pPr>
            <a:r>
              <a:rPr lang="en-US" sz="2200" dirty="0"/>
              <a:t>Users</a:t>
            </a:r>
          </a:p>
          <a:p>
            <a:pPr>
              <a:lnSpc>
                <a:spcPct val="95000"/>
              </a:lnSpc>
            </a:pPr>
            <a:endParaRPr lang="en-IN" sz="2200" dirty="0"/>
          </a:p>
        </p:txBody>
      </p:sp>
    </p:spTree>
    <p:extLst>
      <p:ext uri="{BB962C8B-B14F-4D97-AF65-F5344CB8AC3E}">
        <p14:creationId xmlns:p14="http://schemas.microsoft.com/office/powerpoint/2010/main" val="27678603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8752E1-EB62-04E0-B82E-6DB65C44F635}"/>
              </a:ext>
            </a:extLst>
          </p:cNvPr>
          <p:cNvSpPr>
            <a:spLocks noGrp="1"/>
          </p:cNvSpPr>
          <p:nvPr>
            <p:ph type="title"/>
          </p:nvPr>
        </p:nvSpPr>
        <p:spPr>
          <a:xfrm>
            <a:off x="1117309" y="76200"/>
            <a:ext cx="10157354" cy="976536"/>
          </a:xfrm>
        </p:spPr>
        <p:txBody>
          <a:bodyPr/>
          <a:lstStyle/>
          <a:p>
            <a:r>
              <a:rPr lang="en-IN" dirty="0"/>
              <a:t>5. Kanban</a:t>
            </a:r>
          </a:p>
        </p:txBody>
      </p:sp>
      <p:sp>
        <p:nvSpPr>
          <p:cNvPr id="4" name="TextBox 3">
            <a:extLst>
              <a:ext uri="{FF2B5EF4-FFF2-40B4-BE49-F238E27FC236}">
                <a16:creationId xmlns:a16="http://schemas.microsoft.com/office/drawing/2014/main" id="{17FAA847-8C90-24CB-FA20-0D3F23F544BF}"/>
              </a:ext>
            </a:extLst>
          </p:cNvPr>
          <p:cNvSpPr txBox="1"/>
          <p:nvPr/>
        </p:nvSpPr>
        <p:spPr>
          <a:xfrm>
            <a:off x="831390" y="1124744"/>
            <a:ext cx="10729192" cy="384721"/>
          </a:xfrm>
          <a:prstGeom prst="rect">
            <a:avLst/>
          </a:prstGeom>
          <a:noFill/>
        </p:spPr>
        <p:txBody>
          <a:bodyPr wrap="square" rtlCol="0">
            <a:spAutoFit/>
          </a:bodyPr>
          <a:lstStyle/>
          <a:p>
            <a:pPr>
              <a:lnSpc>
                <a:spcPct val="95000"/>
              </a:lnSpc>
            </a:pPr>
            <a:r>
              <a:rPr lang="en-US" sz="2000" dirty="0"/>
              <a:t>"When you visit Domino's or Pizza Hut, have you noticed the order tracking screen?"</a:t>
            </a:r>
            <a:endParaRPr lang="en-IN" sz="2000" dirty="0"/>
          </a:p>
        </p:txBody>
      </p:sp>
      <p:sp>
        <p:nvSpPr>
          <p:cNvPr id="6" name="TextBox 5">
            <a:extLst>
              <a:ext uri="{FF2B5EF4-FFF2-40B4-BE49-F238E27FC236}">
                <a16:creationId xmlns:a16="http://schemas.microsoft.com/office/drawing/2014/main" id="{91567E0E-1E7C-54F3-A7D3-C4EB8239A105}"/>
              </a:ext>
            </a:extLst>
          </p:cNvPr>
          <p:cNvSpPr txBox="1"/>
          <p:nvPr/>
        </p:nvSpPr>
        <p:spPr>
          <a:xfrm>
            <a:off x="909836" y="1591006"/>
            <a:ext cx="3528392" cy="2804742"/>
          </a:xfrm>
          <a:prstGeom prst="rect">
            <a:avLst/>
          </a:prstGeom>
          <a:noFill/>
        </p:spPr>
        <p:txBody>
          <a:bodyPr wrap="square">
            <a:spAutoFit/>
          </a:bodyPr>
          <a:lstStyle/>
          <a:p>
            <a:pPr>
              <a:lnSpc>
                <a:spcPct val="150000"/>
              </a:lnSpc>
            </a:pPr>
            <a:r>
              <a:rPr lang="en-US" sz="2000" dirty="0"/>
              <a:t>It usually shows:</a:t>
            </a:r>
          </a:p>
          <a:p>
            <a:pPr>
              <a:lnSpc>
                <a:spcPct val="150000"/>
              </a:lnSpc>
            </a:pPr>
            <a:r>
              <a:rPr lang="en-US" sz="2000" dirty="0"/>
              <a:t>🍕 Order Received</a:t>
            </a:r>
          </a:p>
          <a:p>
            <a:pPr>
              <a:lnSpc>
                <a:spcPct val="150000"/>
              </a:lnSpc>
            </a:pPr>
            <a:r>
              <a:rPr lang="en-US" sz="2000" dirty="0"/>
              <a:t>👨‍🍳 Preparing</a:t>
            </a:r>
          </a:p>
          <a:p>
            <a:pPr>
              <a:lnSpc>
                <a:spcPct val="150000"/>
              </a:lnSpc>
            </a:pPr>
            <a:r>
              <a:rPr lang="en-US" sz="2000" dirty="0"/>
              <a:t>🔥 Baking</a:t>
            </a:r>
          </a:p>
          <a:p>
            <a:pPr>
              <a:lnSpc>
                <a:spcPct val="150000"/>
              </a:lnSpc>
            </a:pPr>
            <a:r>
              <a:rPr lang="en-US" sz="2000" dirty="0"/>
              <a:t>🛵 Out for Delivery</a:t>
            </a:r>
          </a:p>
          <a:p>
            <a:pPr>
              <a:lnSpc>
                <a:spcPct val="150000"/>
              </a:lnSpc>
            </a:pPr>
            <a:r>
              <a:rPr lang="en-US" sz="2000" dirty="0"/>
              <a:t>✅ Delivered</a:t>
            </a:r>
          </a:p>
        </p:txBody>
      </p:sp>
      <p:sp>
        <p:nvSpPr>
          <p:cNvPr id="7" name="TextBox 6">
            <a:extLst>
              <a:ext uri="{FF2B5EF4-FFF2-40B4-BE49-F238E27FC236}">
                <a16:creationId xmlns:a16="http://schemas.microsoft.com/office/drawing/2014/main" id="{7D45421F-8434-5697-D153-859ED80A6706}"/>
              </a:ext>
            </a:extLst>
          </p:cNvPr>
          <p:cNvSpPr txBox="1"/>
          <p:nvPr/>
        </p:nvSpPr>
        <p:spPr>
          <a:xfrm>
            <a:off x="5806380" y="1772816"/>
            <a:ext cx="4049507" cy="384721"/>
          </a:xfrm>
          <a:prstGeom prst="rect">
            <a:avLst/>
          </a:prstGeom>
          <a:noFill/>
        </p:spPr>
        <p:txBody>
          <a:bodyPr wrap="none" rtlCol="0">
            <a:spAutoFit/>
          </a:bodyPr>
          <a:lstStyle/>
          <a:p>
            <a:pPr>
              <a:lnSpc>
                <a:spcPct val="95000"/>
              </a:lnSpc>
            </a:pPr>
            <a:r>
              <a:rPr lang="en-US" sz="2000" dirty="0"/>
              <a:t>"Why do restaurants show this?"</a:t>
            </a:r>
            <a:endParaRPr lang="en-IN" sz="2000" dirty="0"/>
          </a:p>
        </p:txBody>
      </p:sp>
      <p:sp>
        <p:nvSpPr>
          <p:cNvPr id="8" name="TextBox 7">
            <a:extLst>
              <a:ext uri="{FF2B5EF4-FFF2-40B4-BE49-F238E27FC236}">
                <a16:creationId xmlns:a16="http://schemas.microsoft.com/office/drawing/2014/main" id="{5734769D-29CE-5AB9-284E-9BD7F4EF3EC5}"/>
              </a:ext>
            </a:extLst>
          </p:cNvPr>
          <p:cNvSpPr txBox="1"/>
          <p:nvPr/>
        </p:nvSpPr>
        <p:spPr>
          <a:xfrm>
            <a:off x="5878388" y="2208449"/>
            <a:ext cx="3756156" cy="1418786"/>
          </a:xfrm>
          <a:prstGeom prst="rect">
            <a:avLst/>
          </a:prstGeom>
          <a:noFill/>
        </p:spPr>
        <p:txBody>
          <a:bodyPr wrap="none" rtlCol="0">
            <a:spAutoFit/>
          </a:bodyPr>
          <a:lstStyle/>
          <a:p>
            <a:pPr marL="342900" indent="-342900">
              <a:lnSpc>
                <a:spcPct val="150000"/>
              </a:lnSpc>
              <a:buFont typeface="Arial" panose="020B0604020202020204" pitchFamily="34" charset="0"/>
              <a:buChar char="•"/>
            </a:pPr>
            <a:r>
              <a:rPr lang="en-US" sz="2000" dirty="0"/>
              <a:t>To track progress</a:t>
            </a:r>
          </a:p>
          <a:p>
            <a:pPr marL="342900" indent="-342900">
              <a:lnSpc>
                <a:spcPct val="150000"/>
              </a:lnSpc>
              <a:buFont typeface="Arial" panose="020B0604020202020204" pitchFamily="34" charset="0"/>
              <a:buChar char="•"/>
            </a:pPr>
            <a:r>
              <a:rPr lang="en-US" sz="2000" dirty="0"/>
              <a:t>To know the current status</a:t>
            </a:r>
          </a:p>
          <a:p>
            <a:pPr marL="342900" indent="-342900">
              <a:lnSpc>
                <a:spcPct val="150000"/>
              </a:lnSpc>
              <a:buFont typeface="Arial" panose="020B0604020202020204" pitchFamily="34" charset="0"/>
              <a:buChar char="•"/>
            </a:pPr>
            <a:r>
              <a:rPr lang="en-US" sz="2000" dirty="0"/>
              <a:t>To avoid confusion</a:t>
            </a:r>
            <a:endParaRPr lang="en-IN" sz="2000" dirty="0"/>
          </a:p>
        </p:txBody>
      </p:sp>
      <p:sp>
        <p:nvSpPr>
          <p:cNvPr id="10" name="TextBox 9">
            <a:extLst>
              <a:ext uri="{FF2B5EF4-FFF2-40B4-BE49-F238E27FC236}">
                <a16:creationId xmlns:a16="http://schemas.microsoft.com/office/drawing/2014/main" id="{F698C6AA-0CAC-FD0B-FEB9-E5445B475209}"/>
              </a:ext>
            </a:extLst>
          </p:cNvPr>
          <p:cNvSpPr txBox="1"/>
          <p:nvPr/>
        </p:nvSpPr>
        <p:spPr>
          <a:xfrm>
            <a:off x="1131406" y="4694529"/>
            <a:ext cx="10003565" cy="677108"/>
          </a:xfrm>
          <a:prstGeom prst="rect">
            <a:avLst/>
          </a:prstGeom>
          <a:noFill/>
        </p:spPr>
        <p:txBody>
          <a:bodyPr wrap="square" rtlCol="0">
            <a:spAutoFit/>
          </a:bodyPr>
          <a:lstStyle/>
          <a:p>
            <a:pPr>
              <a:lnSpc>
                <a:spcPct val="95000"/>
              </a:lnSpc>
            </a:pPr>
            <a:r>
              <a:rPr lang="en-US" sz="2000" b="1" dirty="0">
                <a:solidFill>
                  <a:srgbClr val="FF0000"/>
                </a:solidFill>
              </a:rPr>
              <a:t>Kanban is an Agile method that helps teams visualize their work, limit the amount of work in progress (WIP), and continuously improve the flow of work</a:t>
            </a:r>
            <a:endParaRPr lang="en-IN" sz="2000" b="1" dirty="0">
              <a:solidFill>
                <a:srgbClr val="FF0000"/>
              </a:solidFill>
            </a:endParaRPr>
          </a:p>
        </p:txBody>
      </p:sp>
    </p:spTree>
    <p:extLst>
      <p:ext uri="{BB962C8B-B14F-4D97-AF65-F5344CB8AC3E}">
        <p14:creationId xmlns:p14="http://schemas.microsoft.com/office/powerpoint/2010/main" val="15812969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0579E7DE-BC9B-C03A-69D1-F0A1EC275AA2}"/>
              </a:ext>
            </a:extLst>
          </p:cNvPr>
          <p:cNvSpPr>
            <a:spLocks noGrp="1"/>
          </p:cNvSpPr>
          <p:nvPr>
            <p:ph type="title"/>
          </p:nvPr>
        </p:nvSpPr>
        <p:spPr>
          <a:xfrm>
            <a:off x="1125860" y="260648"/>
            <a:ext cx="10157354" cy="891808"/>
          </a:xfrm>
        </p:spPr>
        <p:txBody>
          <a:bodyPr/>
          <a:lstStyle/>
          <a:p>
            <a:r>
              <a:rPr lang="en-IN" dirty="0"/>
              <a:t>5. Kanban</a:t>
            </a:r>
          </a:p>
        </p:txBody>
      </p:sp>
      <p:sp>
        <p:nvSpPr>
          <p:cNvPr id="5" name="TextBox 4">
            <a:extLst>
              <a:ext uri="{FF2B5EF4-FFF2-40B4-BE49-F238E27FC236}">
                <a16:creationId xmlns:a16="http://schemas.microsoft.com/office/drawing/2014/main" id="{CC4E1BC7-40D6-88EE-1916-6DD43479DD37}"/>
              </a:ext>
            </a:extLst>
          </p:cNvPr>
          <p:cNvSpPr txBox="1"/>
          <p:nvPr/>
        </p:nvSpPr>
        <p:spPr>
          <a:xfrm>
            <a:off x="767933" y="1340768"/>
            <a:ext cx="10873208" cy="3265446"/>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en-US" sz="2000" dirty="0"/>
              <a:t>The word Kanban is a Japanese word meaning "Visual Card" or "Signboard."</a:t>
            </a:r>
          </a:p>
          <a:p>
            <a:pPr marL="342900" indent="-342900">
              <a:lnSpc>
                <a:spcPct val="150000"/>
              </a:lnSpc>
              <a:buFont typeface="Arial" panose="020B0604020202020204" pitchFamily="34" charset="0"/>
              <a:buChar char="•"/>
            </a:pPr>
            <a:r>
              <a:rPr lang="en-US" sz="2000" dirty="0"/>
              <a:t>It was introduced by Toyota in the 1940s to improve manufacturing efficiency.</a:t>
            </a:r>
          </a:p>
          <a:p>
            <a:pPr marL="342900" indent="-342900">
              <a:lnSpc>
                <a:spcPct val="150000"/>
              </a:lnSpc>
              <a:buFont typeface="Arial" panose="020B0604020202020204" pitchFamily="34" charset="0"/>
              <a:buChar char="•"/>
            </a:pPr>
            <a:r>
              <a:rPr lang="en-US" sz="2000" dirty="0"/>
              <a:t>Instead of producing too many cars, Toyota produced only what was needed.</a:t>
            </a:r>
          </a:p>
          <a:p>
            <a:pPr marL="342900" indent="-342900">
              <a:lnSpc>
                <a:spcPct val="150000"/>
              </a:lnSpc>
              <a:buFont typeface="Arial" panose="020B0604020202020204" pitchFamily="34" charset="0"/>
              <a:buChar char="•"/>
            </a:pPr>
            <a:r>
              <a:rPr lang="en-US" sz="2000" dirty="0"/>
              <a:t>This reduced waste.</a:t>
            </a:r>
          </a:p>
          <a:p>
            <a:pPr marL="342900" indent="-342900">
              <a:lnSpc>
                <a:spcPct val="150000"/>
              </a:lnSpc>
              <a:buFont typeface="Arial" panose="020B0604020202020204" pitchFamily="34" charset="0"/>
              <a:buChar char="•"/>
            </a:pPr>
            <a:r>
              <a:rPr lang="en-US" sz="2000" dirty="0"/>
              <a:t>Today, software teams use the same idea</a:t>
            </a:r>
          </a:p>
          <a:p>
            <a:pPr marL="342900" indent="-342900">
              <a:lnSpc>
                <a:spcPct val="150000"/>
              </a:lnSpc>
              <a:buFont typeface="Arial" panose="020B0604020202020204" pitchFamily="34" charset="0"/>
              <a:buChar char="•"/>
            </a:pPr>
            <a:r>
              <a:rPr lang="en-US" sz="2000" dirty="0"/>
              <a:t>Kanban says: "Stop starting. Start finishing."</a:t>
            </a:r>
          </a:p>
          <a:p>
            <a:pPr marL="342900" indent="-342900">
              <a:lnSpc>
                <a:spcPct val="150000"/>
              </a:lnSpc>
              <a:buFont typeface="Arial" panose="020B0604020202020204" pitchFamily="34" charset="0"/>
              <a:buChar char="•"/>
            </a:pPr>
            <a:r>
              <a:rPr lang="en-US" sz="2000" dirty="0"/>
              <a:t>Instead of doing many things at once, finish current work first, then take new work</a:t>
            </a:r>
            <a:endParaRPr lang="en-IN" sz="2000" dirty="0"/>
          </a:p>
        </p:txBody>
      </p:sp>
    </p:spTree>
    <p:extLst>
      <p:ext uri="{BB962C8B-B14F-4D97-AF65-F5344CB8AC3E}">
        <p14:creationId xmlns:p14="http://schemas.microsoft.com/office/powerpoint/2010/main" val="31132052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descr="How to Create a Kanban Board for Any Project | Kanban Zone">
            <a:extLst>
              <a:ext uri="{FF2B5EF4-FFF2-40B4-BE49-F238E27FC236}">
                <a16:creationId xmlns:a16="http://schemas.microsoft.com/office/drawing/2014/main" id="{AF5F5F5D-75AE-EA02-5E05-27ED0053108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7674" y="95113"/>
            <a:ext cx="11853475" cy="666777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074558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B964101D-220A-3F95-2186-3ED150E667CF}"/>
              </a:ext>
            </a:extLst>
          </p:cNvPr>
          <p:cNvSpPr>
            <a:spLocks noGrp="1"/>
          </p:cNvSpPr>
          <p:nvPr>
            <p:ph type="title"/>
          </p:nvPr>
        </p:nvSpPr>
        <p:spPr>
          <a:xfrm>
            <a:off x="1125860" y="260648"/>
            <a:ext cx="10157354" cy="891808"/>
          </a:xfrm>
        </p:spPr>
        <p:txBody>
          <a:bodyPr/>
          <a:lstStyle/>
          <a:p>
            <a:r>
              <a:rPr lang="en-IN" dirty="0"/>
              <a:t>5. Kanban</a:t>
            </a:r>
          </a:p>
        </p:txBody>
      </p:sp>
      <p:sp>
        <p:nvSpPr>
          <p:cNvPr id="5" name="Rectangle: Rounded Corners 4">
            <a:extLst>
              <a:ext uri="{FF2B5EF4-FFF2-40B4-BE49-F238E27FC236}">
                <a16:creationId xmlns:a16="http://schemas.microsoft.com/office/drawing/2014/main" id="{6D89B7DC-1100-3EAB-C6D8-4E9AA28D87A3}"/>
              </a:ext>
            </a:extLst>
          </p:cNvPr>
          <p:cNvSpPr/>
          <p:nvPr/>
        </p:nvSpPr>
        <p:spPr>
          <a:xfrm>
            <a:off x="981844" y="1340768"/>
            <a:ext cx="3096344" cy="1584176"/>
          </a:xfrm>
          <a:prstGeom prst="roundRect">
            <a:avLst/>
          </a:prstGeom>
          <a:solidFill>
            <a:schemeClr val="accent5">
              <a:lumMod val="50000"/>
            </a:schemeClr>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IN" sz="2000" b="1" dirty="0"/>
              <a:t>Visualize Work</a:t>
            </a:r>
          </a:p>
          <a:p>
            <a:pPr algn="ctr"/>
            <a:r>
              <a:rPr lang="en-US" sz="1400" dirty="0"/>
              <a:t>Show every task on a board.</a:t>
            </a:r>
          </a:p>
          <a:p>
            <a:pPr algn="ctr"/>
            <a:r>
              <a:rPr lang="en-US" sz="1400" dirty="0"/>
              <a:t>Everyone knows</a:t>
            </a:r>
          </a:p>
          <a:p>
            <a:pPr algn="ctr"/>
            <a:r>
              <a:rPr lang="en-US" sz="1400" dirty="0"/>
              <a:t>Who is working on what</a:t>
            </a:r>
          </a:p>
          <a:p>
            <a:pPr algn="ctr"/>
            <a:endParaRPr lang="en-IN" sz="2000" b="1" dirty="0">
              <a:solidFill>
                <a:schemeClr val="bg1"/>
              </a:solidFill>
            </a:endParaRPr>
          </a:p>
        </p:txBody>
      </p:sp>
      <p:sp>
        <p:nvSpPr>
          <p:cNvPr id="6" name="Rectangle: Rounded Corners 5">
            <a:extLst>
              <a:ext uri="{FF2B5EF4-FFF2-40B4-BE49-F238E27FC236}">
                <a16:creationId xmlns:a16="http://schemas.microsoft.com/office/drawing/2014/main" id="{11AE674B-7966-CD02-E66D-C80F76A1C994}"/>
              </a:ext>
            </a:extLst>
          </p:cNvPr>
          <p:cNvSpPr/>
          <p:nvPr/>
        </p:nvSpPr>
        <p:spPr>
          <a:xfrm>
            <a:off x="4656365" y="1340768"/>
            <a:ext cx="3096344" cy="1584176"/>
          </a:xfrm>
          <a:prstGeom prst="roundRect">
            <a:avLst/>
          </a:prstGeom>
          <a:solidFill>
            <a:schemeClr val="accent5">
              <a:lumMod val="50000"/>
            </a:schemeClr>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IN" sz="2000" b="1" dirty="0"/>
              <a:t>Limit Work in Progress</a:t>
            </a:r>
          </a:p>
          <a:p>
            <a:pPr algn="ctr"/>
            <a:r>
              <a:rPr lang="en-US" sz="1400" dirty="0"/>
              <a:t>Never start too many tasks.</a:t>
            </a:r>
          </a:p>
          <a:p>
            <a:pPr algn="ctr"/>
            <a:r>
              <a:rPr lang="en-US" sz="1400" dirty="0"/>
              <a:t>Complete current work first.</a:t>
            </a:r>
          </a:p>
          <a:p>
            <a:pPr algn="ctr"/>
            <a:endParaRPr lang="en-IN" sz="2000" b="1" dirty="0">
              <a:solidFill>
                <a:schemeClr val="bg1"/>
              </a:solidFill>
            </a:endParaRPr>
          </a:p>
        </p:txBody>
      </p:sp>
      <p:sp>
        <p:nvSpPr>
          <p:cNvPr id="7" name="Rectangle: Rounded Corners 6">
            <a:extLst>
              <a:ext uri="{FF2B5EF4-FFF2-40B4-BE49-F238E27FC236}">
                <a16:creationId xmlns:a16="http://schemas.microsoft.com/office/drawing/2014/main" id="{B1721527-A7DC-1D94-44C8-A0A6C0D1D3A2}"/>
              </a:ext>
            </a:extLst>
          </p:cNvPr>
          <p:cNvSpPr/>
          <p:nvPr/>
        </p:nvSpPr>
        <p:spPr>
          <a:xfrm>
            <a:off x="8470676" y="1340768"/>
            <a:ext cx="3096344" cy="1584176"/>
          </a:xfrm>
          <a:prstGeom prst="roundRect">
            <a:avLst/>
          </a:prstGeom>
          <a:solidFill>
            <a:schemeClr val="accent5">
              <a:lumMod val="50000"/>
            </a:schemeClr>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IN" sz="2000" b="1" dirty="0"/>
              <a:t>Manage Flow</a:t>
            </a:r>
          </a:p>
          <a:p>
            <a:pPr algn="ctr"/>
            <a:r>
              <a:rPr lang="en-US" sz="1400" dirty="0"/>
              <a:t>Ensure tasks move smoothly</a:t>
            </a:r>
          </a:p>
          <a:p>
            <a:pPr algn="ctr"/>
            <a:r>
              <a:rPr lang="en-US" sz="1400" dirty="0"/>
              <a:t>From To Do -&gt; In Progress -&gt; Done</a:t>
            </a:r>
          </a:p>
          <a:p>
            <a:pPr algn="ctr"/>
            <a:endParaRPr lang="en-IN" sz="2000" b="1" dirty="0">
              <a:solidFill>
                <a:schemeClr val="bg1"/>
              </a:solidFill>
            </a:endParaRPr>
          </a:p>
        </p:txBody>
      </p:sp>
      <p:sp>
        <p:nvSpPr>
          <p:cNvPr id="8" name="Rectangle: Rounded Corners 7">
            <a:extLst>
              <a:ext uri="{FF2B5EF4-FFF2-40B4-BE49-F238E27FC236}">
                <a16:creationId xmlns:a16="http://schemas.microsoft.com/office/drawing/2014/main" id="{2DA37435-9060-467A-EE6B-05CBAABA51B1}"/>
              </a:ext>
            </a:extLst>
          </p:cNvPr>
          <p:cNvSpPr/>
          <p:nvPr/>
        </p:nvSpPr>
        <p:spPr>
          <a:xfrm>
            <a:off x="981844" y="3429000"/>
            <a:ext cx="3528392" cy="1584176"/>
          </a:xfrm>
          <a:prstGeom prst="roundRect">
            <a:avLst/>
          </a:prstGeom>
          <a:solidFill>
            <a:schemeClr val="accent5">
              <a:lumMod val="50000"/>
            </a:schemeClr>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IN" sz="2000" b="1" dirty="0"/>
              <a:t>Continuous Improvement</a:t>
            </a:r>
          </a:p>
          <a:p>
            <a:pPr algn="ctr"/>
            <a:r>
              <a:rPr lang="en-US" sz="1400" dirty="0"/>
              <a:t>Every week, ask</a:t>
            </a:r>
          </a:p>
          <a:p>
            <a:pPr algn="ctr">
              <a:buFont typeface="Arial" panose="020B0604020202020204" pitchFamily="34" charset="0"/>
              <a:buChar char="•"/>
            </a:pPr>
            <a:r>
              <a:rPr lang="en-US" sz="1400" dirty="0"/>
              <a:t>Where are tasks getting stuck? </a:t>
            </a:r>
          </a:p>
          <a:p>
            <a:pPr algn="ctr">
              <a:buFont typeface="Arial" panose="020B0604020202020204" pitchFamily="34" charset="0"/>
              <a:buChar char="•"/>
            </a:pPr>
            <a:r>
              <a:rPr lang="en-US" sz="1400" dirty="0"/>
              <a:t>Why are they delayed? </a:t>
            </a:r>
          </a:p>
          <a:p>
            <a:pPr algn="ctr">
              <a:buFont typeface="Arial" panose="020B0604020202020204" pitchFamily="34" charset="0"/>
              <a:buChar char="•"/>
            </a:pPr>
            <a:r>
              <a:rPr lang="en-US" sz="1400" dirty="0"/>
              <a:t>How can we improve?</a:t>
            </a:r>
          </a:p>
          <a:p>
            <a:pPr algn="ctr"/>
            <a:endParaRPr lang="en-IN" sz="2000" b="1" dirty="0">
              <a:solidFill>
                <a:schemeClr val="bg1"/>
              </a:solidFill>
            </a:endParaRPr>
          </a:p>
        </p:txBody>
      </p:sp>
      <p:sp>
        <p:nvSpPr>
          <p:cNvPr id="9" name="TextBox 8">
            <a:extLst>
              <a:ext uri="{FF2B5EF4-FFF2-40B4-BE49-F238E27FC236}">
                <a16:creationId xmlns:a16="http://schemas.microsoft.com/office/drawing/2014/main" id="{FB08DE07-9D58-CEF0-AE58-685D40970794}"/>
              </a:ext>
            </a:extLst>
          </p:cNvPr>
          <p:cNvSpPr txBox="1"/>
          <p:nvPr/>
        </p:nvSpPr>
        <p:spPr>
          <a:xfrm>
            <a:off x="5590356" y="3789040"/>
            <a:ext cx="5048177" cy="443198"/>
          </a:xfrm>
          <a:prstGeom prst="rect">
            <a:avLst/>
          </a:prstGeom>
          <a:noFill/>
        </p:spPr>
        <p:txBody>
          <a:bodyPr wrap="none" rtlCol="0">
            <a:spAutoFit/>
          </a:bodyPr>
          <a:lstStyle/>
          <a:p>
            <a:pPr>
              <a:lnSpc>
                <a:spcPct val="95000"/>
              </a:lnSpc>
            </a:pPr>
            <a:r>
              <a:rPr lang="en-US" dirty="0"/>
              <a:t>Kanban has </a:t>
            </a:r>
            <a:r>
              <a:rPr lang="en-US" b="1" dirty="0"/>
              <a:t>no mandatory roles</a:t>
            </a:r>
            <a:r>
              <a:rPr lang="en-US" dirty="0"/>
              <a:t>.</a:t>
            </a:r>
            <a:endParaRPr lang="en-IN" dirty="0"/>
          </a:p>
        </p:txBody>
      </p:sp>
    </p:spTree>
    <p:extLst>
      <p:ext uri="{BB962C8B-B14F-4D97-AF65-F5344CB8AC3E}">
        <p14:creationId xmlns:p14="http://schemas.microsoft.com/office/powerpoint/2010/main" val="25465638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FCE63E-9D2B-0205-8138-BE0AF9B6FB7A}"/>
              </a:ext>
            </a:extLst>
          </p:cNvPr>
          <p:cNvSpPr>
            <a:spLocks noGrp="1"/>
          </p:cNvSpPr>
          <p:nvPr>
            <p:ph type="title"/>
          </p:nvPr>
        </p:nvSpPr>
        <p:spPr>
          <a:xfrm>
            <a:off x="765820" y="76200"/>
            <a:ext cx="10508843" cy="976536"/>
          </a:xfrm>
        </p:spPr>
        <p:txBody>
          <a:bodyPr>
            <a:normAutofit/>
          </a:bodyPr>
          <a:lstStyle/>
          <a:p>
            <a:r>
              <a:rPr lang="en-IN" sz="4000" dirty="0"/>
              <a:t>6. Adaptive Software Development (ASD)</a:t>
            </a:r>
          </a:p>
        </p:txBody>
      </p:sp>
      <p:sp>
        <p:nvSpPr>
          <p:cNvPr id="4" name="TextBox 3">
            <a:extLst>
              <a:ext uri="{FF2B5EF4-FFF2-40B4-BE49-F238E27FC236}">
                <a16:creationId xmlns:a16="http://schemas.microsoft.com/office/drawing/2014/main" id="{A3114DB3-6C02-84B2-1638-C8482E01DEA7}"/>
              </a:ext>
            </a:extLst>
          </p:cNvPr>
          <p:cNvSpPr txBox="1"/>
          <p:nvPr/>
        </p:nvSpPr>
        <p:spPr>
          <a:xfrm>
            <a:off x="765820" y="1268760"/>
            <a:ext cx="10945216" cy="677108"/>
          </a:xfrm>
          <a:prstGeom prst="rect">
            <a:avLst/>
          </a:prstGeom>
          <a:noFill/>
        </p:spPr>
        <p:txBody>
          <a:bodyPr wrap="square" rtlCol="0">
            <a:spAutoFit/>
          </a:bodyPr>
          <a:lstStyle/>
          <a:p>
            <a:pPr>
              <a:lnSpc>
                <a:spcPct val="95000"/>
              </a:lnSpc>
            </a:pPr>
            <a:r>
              <a:rPr lang="en-US" sz="2000" dirty="0"/>
              <a:t>"Suppose you are planning a picnic next Sunday. Suddenly, it starts raining heavily. What will you do?"</a:t>
            </a:r>
            <a:endParaRPr lang="en-IN" sz="2000" dirty="0"/>
          </a:p>
        </p:txBody>
      </p:sp>
      <p:sp>
        <p:nvSpPr>
          <p:cNvPr id="5" name="TextBox 4">
            <a:extLst>
              <a:ext uri="{FF2B5EF4-FFF2-40B4-BE49-F238E27FC236}">
                <a16:creationId xmlns:a16="http://schemas.microsoft.com/office/drawing/2014/main" id="{A2C774D9-C118-9CCA-DFD2-E52437C74568}"/>
              </a:ext>
            </a:extLst>
          </p:cNvPr>
          <p:cNvSpPr txBox="1"/>
          <p:nvPr/>
        </p:nvSpPr>
        <p:spPr>
          <a:xfrm>
            <a:off x="837828" y="1844824"/>
            <a:ext cx="3651962" cy="1418786"/>
          </a:xfrm>
          <a:prstGeom prst="rect">
            <a:avLst/>
          </a:prstGeom>
          <a:noFill/>
        </p:spPr>
        <p:txBody>
          <a:bodyPr wrap="none" rtlCol="0">
            <a:spAutoFit/>
          </a:bodyPr>
          <a:lstStyle/>
          <a:p>
            <a:pPr marL="342900" indent="-342900">
              <a:lnSpc>
                <a:spcPct val="150000"/>
              </a:lnSpc>
              <a:buFont typeface="Arial" panose="020B0604020202020204" pitchFamily="34" charset="0"/>
              <a:buChar char="•"/>
            </a:pPr>
            <a:r>
              <a:rPr lang="en-US" sz="2000" dirty="0"/>
              <a:t>Change the date</a:t>
            </a:r>
          </a:p>
          <a:p>
            <a:pPr marL="342900" indent="-342900">
              <a:lnSpc>
                <a:spcPct val="150000"/>
              </a:lnSpc>
              <a:buFont typeface="Arial" panose="020B0604020202020204" pitchFamily="34" charset="0"/>
              <a:buChar char="•"/>
            </a:pPr>
            <a:r>
              <a:rPr lang="en-US" sz="2000" dirty="0"/>
              <a:t>Move the picnic indoors</a:t>
            </a:r>
          </a:p>
          <a:p>
            <a:pPr marL="342900" indent="-342900">
              <a:lnSpc>
                <a:spcPct val="150000"/>
              </a:lnSpc>
              <a:buFont typeface="Arial" panose="020B0604020202020204" pitchFamily="34" charset="0"/>
              <a:buChar char="•"/>
            </a:pPr>
            <a:r>
              <a:rPr lang="en-US" sz="2000" dirty="0"/>
              <a:t>Choose another location</a:t>
            </a:r>
            <a:endParaRPr lang="en-IN" sz="2000" dirty="0"/>
          </a:p>
        </p:txBody>
      </p:sp>
      <p:sp>
        <p:nvSpPr>
          <p:cNvPr id="7" name="TextBox 6">
            <a:extLst>
              <a:ext uri="{FF2B5EF4-FFF2-40B4-BE49-F238E27FC236}">
                <a16:creationId xmlns:a16="http://schemas.microsoft.com/office/drawing/2014/main" id="{755F3BA9-A38D-0BBE-C51F-8F6F49C7576F}"/>
              </a:ext>
            </a:extLst>
          </p:cNvPr>
          <p:cNvSpPr txBox="1"/>
          <p:nvPr/>
        </p:nvSpPr>
        <p:spPr>
          <a:xfrm>
            <a:off x="837828" y="3429000"/>
            <a:ext cx="8804013" cy="384721"/>
          </a:xfrm>
          <a:prstGeom prst="rect">
            <a:avLst/>
          </a:prstGeom>
          <a:noFill/>
        </p:spPr>
        <p:txBody>
          <a:bodyPr wrap="none" rtlCol="0">
            <a:spAutoFit/>
          </a:bodyPr>
          <a:lstStyle/>
          <a:p>
            <a:pPr>
              <a:lnSpc>
                <a:spcPct val="95000"/>
              </a:lnSpc>
            </a:pPr>
            <a:r>
              <a:rPr lang="en-US" sz="2000" dirty="0"/>
              <a:t>"Will you continue with the original plan just because it was planned?"</a:t>
            </a:r>
            <a:endParaRPr lang="en-IN" sz="2000" dirty="0"/>
          </a:p>
        </p:txBody>
      </p:sp>
      <p:sp>
        <p:nvSpPr>
          <p:cNvPr id="8" name="TextBox 7">
            <a:extLst>
              <a:ext uri="{FF2B5EF4-FFF2-40B4-BE49-F238E27FC236}">
                <a16:creationId xmlns:a16="http://schemas.microsoft.com/office/drawing/2014/main" id="{0F6ADF26-A782-BDE7-94FD-3EAF00AB34E7}"/>
              </a:ext>
            </a:extLst>
          </p:cNvPr>
          <p:cNvSpPr txBox="1"/>
          <p:nvPr/>
        </p:nvSpPr>
        <p:spPr>
          <a:xfrm>
            <a:off x="766125" y="3952678"/>
            <a:ext cx="10513168" cy="677108"/>
          </a:xfrm>
          <a:prstGeom prst="rect">
            <a:avLst/>
          </a:prstGeom>
          <a:noFill/>
        </p:spPr>
        <p:txBody>
          <a:bodyPr wrap="square" rtlCol="0">
            <a:spAutoFit/>
          </a:bodyPr>
          <a:lstStyle/>
          <a:p>
            <a:pPr>
              <a:lnSpc>
                <a:spcPct val="95000"/>
              </a:lnSpc>
            </a:pPr>
            <a:r>
              <a:rPr lang="en-US" sz="2000" dirty="0"/>
              <a:t>That's exactly what Adaptive Software Development (ASD) says. When the situation changes, don't stick to the old plan—adapt!</a:t>
            </a:r>
            <a:endParaRPr lang="en-IN" sz="2000" dirty="0"/>
          </a:p>
        </p:txBody>
      </p:sp>
      <p:sp>
        <p:nvSpPr>
          <p:cNvPr id="9" name="TextBox 8">
            <a:extLst>
              <a:ext uri="{FF2B5EF4-FFF2-40B4-BE49-F238E27FC236}">
                <a16:creationId xmlns:a16="http://schemas.microsoft.com/office/drawing/2014/main" id="{DB0B494D-E187-BE27-4787-0CC61DBADCD0}"/>
              </a:ext>
            </a:extLst>
          </p:cNvPr>
          <p:cNvSpPr txBox="1"/>
          <p:nvPr/>
        </p:nvSpPr>
        <p:spPr>
          <a:xfrm>
            <a:off x="666263" y="4912133"/>
            <a:ext cx="10585175" cy="969496"/>
          </a:xfrm>
          <a:prstGeom prst="rect">
            <a:avLst/>
          </a:prstGeom>
          <a:noFill/>
        </p:spPr>
        <p:txBody>
          <a:bodyPr wrap="square" rtlCol="0">
            <a:spAutoFit/>
          </a:bodyPr>
          <a:lstStyle/>
          <a:p>
            <a:pPr>
              <a:lnSpc>
                <a:spcPct val="95000"/>
              </a:lnSpc>
            </a:pPr>
            <a:r>
              <a:rPr lang="en-US" sz="2000" b="1" dirty="0">
                <a:solidFill>
                  <a:srgbClr val="FF0000"/>
                </a:solidFill>
              </a:rPr>
              <a:t>Adaptive Software Development (ASD)</a:t>
            </a:r>
            <a:r>
              <a:rPr lang="en-US" sz="2000" dirty="0">
                <a:solidFill>
                  <a:srgbClr val="FF0000"/>
                </a:solidFill>
              </a:rPr>
              <a:t> is an Agile methodology that encourages teams to </a:t>
            </a:r>
            <a:r>
              <a:rPr lang="en-US" sz="2000" b="1" dirty="0">
                <a:solidFill>
                  <a:srgbClr val="FF0000"/>
                </a:solidFill>
              </a:rPr>
              <a:t>adapt continuously to changing requirements, customer feedback, and new technologies instead of strictly following the original plan</a:t>
            </a:r>
            <a:endParaRPr lang="en-IN" sz="2000" dirty="0">
              <a:solidFill>
                <a:srgbClr val="FF0000"/>
              </a:solidFill>
            </a:endParaRPr>
          </a:p>
        </p:txBody>
      </p:sp>
    </p:spTree>
    <p:extLst>
      <p:ext uri="{BB962C8B-B14F-4D97-AF65-F5344CB8AC3E}">
        <p14:creationId xmlns:p14="http://schemas.microsoft.com/office/powerpoint/2010/main" val="2298167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2A2DB1D4-6C81-6E03-89DD-03811DC838A3}"/>
              </a:ext>
            </a:extLst>
          </p:cNvPr>
          <p:cNvSpPr>
            <a:spLocks noGrp="1"/>
          </p:cNvSpPr>
          <p:nvPr>
            <p:ph type="title"/>
          </p:nvPr>
        </p:nvSpPr>
        <p:spPr>
          <a:xfrm>
            <a:off x="765820" y="76200"/>
            <a:ext cx="10508843" cy="976536"/>
          </a:xfrm>
        </p:spPr>
        <p:txBody>
          <a:bodyPr>
            <a:normAutofit/>
          </a:bodyPr>
          <a:lstStyle/>
          <a:p>
            <a:r>
              <a:rPr lang="en-IN" sz="4000" dirty="0"/>
              <a:t>6. Adaptive Software Development (ASD)</a:t>
            </a:r>
          </a:p>
        </p:txBody>
      </p:sp>
      <p:sp>
        <p:nvSpPr>
          <p:cNvPr id="5" name="TextBox 4">
            <a:extLst>
              <a:ext uri="{FF2B5EF4-FFF2-40B4-BE49-F238E27FC236}">
                <a16:creationId xmlns:a16="http://schemas.microsoft.com/office/drawing/2014/main" id="{DAE9B4A6-84B1-5B6E-0633-0E98C819620D}"/>
              </a:ext>
            </a:extLst>
          </p:cNvPr>
          <p:cNvSpPr txBox="1"/>
          <p:nvPr/>
        </p:nvSpPr>
        <p:spPr>
          <a:xfrm>
            <a:off x="748680" y="1196752"/>
            <a:ext cx="5561756" cy="3616375"/>
          </a:xfrm>
          <a:prstGeom prst="rect">
            <a:avLst/>
          </a:prstGeom>
          <a:noFill/>
        </p:spPr>
        <p:txBody>
          <a:bodyPr wrap="square" rtlCol="0">
            <a:spAutoFit/>
          </a:bodyPr>
          <a:lstStyle/>
          <a:p>
            <a:pPr>
              <a:lnSpc>
                <a:spcPct val="150000"/>
              </a:lnSpc>
            </a:pPr>
            <a:r>
              <a:rPr lang="en-US" sz="2000" dirty="0"/>
              <a:t>Suppose you score only </a:t>
            </a:r>
            <a:r>
              <a:rPr lang="en-US" sz="2000" b="1" dirty="0"/>
              <a:t>55 marks</a:t>
            </a:r>
            <a:r>
              <a:rPr lang="en-US" sz="2000" dirty="0"/>
              <a:t> in the first internal exam.</a:t>
            </a:r>
          </a:p>
          <a:p>
            <a:pPr>
              <a:lnSpc>
                <a:spcPct val="150000"/>
              </a:lnSpc>
            </a:pPr>
            <a:r>
              <a:rPr lang="en-US" sz="2000" dirty="0"/>
              <a:t>Do you continue studying the same way?</a:t>
            </a:r>
          </a:p>
          <a:p>
            <a:pPr marL="342900" indent="-342900">
              <a:lnSpc>
                <a:spcPct val="150000"/>
              </a:lnSpc>
              <a:buFont typeface="Arial" panose="020B0604020202020204" pitchFamily="34" charset="0"/>
              <a:buChar char="•"/>
            </a:pPr>
            <a:r>
              <a:rPr lang="en-US" sz="2000" dirty="0"/>
              <a:t>Analyze mistakes </a:t>
            </a:r>
          </a:p>
          <a:p>
            <a:pPr marL="342900" indent="-342900">
              <a:lnSpc>
                <a:spcPct val="150000"/>
              </a:lnSpc>
              <a:buFont typeface="Arial" panose="020B0604020202020204" pitchFamily="34" charset="0"/>
              <a:buChar char="•"/>
            </a:pPr>
            <a:r>
              <a:rPr lang="en-US" sz="2000" dirty="0"/>
              <a:t>Improve preparation </a:t>
            </a:r>
          </a:p>
          <a:p>
            <a:pPr marL="342900" indent="-342900">
              <a:lnSpc>
                <a:spcPct val="150000"/>
              </a:lnSpc>
              <a:buFont typeface="Arial" panose="020B0604020202020204" pitchFamily="34" charset="0"/>
              <a:buChar char="•"/>
            </a:pPr>
            <a:r>
              <a:rPr lang="en-US" sz="2000" dirty="0"/>
              <a:t>Score higher next time </a:t>
            </a:r>
          </a:p>
          <a:p>
            <a:pPr>
              <a:lnSpc>
                <a:spcPct val="150000"/>
              </a:lnSpc>
            </a:pPr>
            <a:r>
              <a:rPr lang="en-US" sz="2000" dirty="0"/>
              <a:t>This is ASD Thinking</a:t>
            </a:r>
          </a:p>
          <a:p>
            <a:pPr>
              <a:lnSpc>
                <a:spcPct val="95000"/>
              </a:lnSpc>
            </a:pPr>
            <a:endParaRPr lang="en-IN" sz="2000" dirty="0"/>
          </a:p>
        </p:txBody>
      </p:sp>
      <p:sp>
        <p:nvSpPr>
          <p:cNvPr id="6" name="TextBox 5">
            <a:extLst>
              <a:ext uri="{FF2B5EF4-FFF2-40B4-BE49-F238E27FC236}">
                <a16:creationId xmlns:a16="http://schemas.microsoft.com/office/drawing/2014/main" id="{DB285920-B87F-576F-6D1B-7EFE1D6AF659}"/>
              </a:ext>
            </a:extLst>
          </p:cNvPr>
          <p:cNvSpPr txBox="1"/>
          <p:nvPr/>
        </p:nvSpPr>
        <p:spPr>
          <a:xfrm>
            <a:off x="6543601" y="1161863"/>
            <a:ext cx="4896544" cy="5001369"/>
          </a:xfrm>
          <a:prstGeom prst="rect">
            <a:avLst/>
          </a:prstGeom>
          <a:noFill/>
        </p:spPr>
        <p:txBody>
          <a:bodyPr wrap="square" rtlCol="0">
            <a:spAutoFit/>
          </a:bodyPr>
          <a:lstStyle/>
          <a:p>
            <a:pPr>
              <a:lnSpc>
                <a:spcPct val="150000"/>
              </a:lnSpc>
            </a:pPr>
            <a:r>
              <a:rPr lang="en-US" sz="2000" dirty="0"/>
              <a:t>Imagine developing </a:t>
            </a:r>
            <a:r>
              <a:rPr lang="en-US" sz="2000" b="1" dirty="0"/>
              <a:t>Swiggy</a:t>
            </a:r>
            <a:r>
              <a:rPr lang="en-US" sz="2000" dirty="0"/>
              <a:t>. Initially,</a:t>
            </a:r>
          </a:p>
          <a:p>
            <a:pPr>
              <a:lnSpc>
                <a:spcPct val="150000"/>
              </a:lnSpc>
            </a:pPr>
            <a:r>
              <a:rPr lang="en-US" sz="2000" dirty="0"/>
              <a:t>only food delivery existed. Then customers requested</a:t>
            </a:r>
          </a:p>
          <a:p>
            <a:pPr marL="342900" indent="-342900">
              <a:lnSpc>
                <a:spcPct val="150000"/>
              </a:lnSpc>
              <a:buFont typeface="Arial" panose="020B0604020202020204" pitchFamily="34" charset="0"/>
              <a:buChar char="•"/>
            </a:pPr>
            <a:r>
              <a:rPr lang="en-US" sz="2000" dirty="0"/>
              <a:t>Grocery Delivery </a:t>
            </a:r>
          </a:p>
          <a:p>
            <a:pPr marL="342900" indent="-342900">
              <a:lnSpc>
                <a:spcPct val="150000"/>
              </a:lnSpc>
              <a:buFont typeface="Arial" panose="020B0604020202020204" pitchFamily="34" charset="0"/>
              <a:buChar char="•"/>
            </a:pPr>
            <a:r>
              <a:rPr lang="en-US" sz="2000" dirty="0" err="1"/>
              <a:t>Instamart</a:t>
            </a:r>
            <a:r>
              <a:rPr lang="en-US" sz="2000" dirty="0"/>
              <a:t> </a:t>
            </a:r>
          </a:p>
          <a:p>
            <a:pPr marL="342900" indent="-342900">
              <a:lnSpc>
                <a:spcPct val="150000"/>
              </a:lnSpc>
              <a:buFont typeface="Arial" panose="020B0604020202020204" pitchFamily="34" charset="0"/>
              <a:buChar char="•"/>
            </a:pPr>
            <a:r>
              <a:rPr lang="en-US" sz="2000" dirty="0" err="1"/>
              <a:t>Dineout</a:t>
            </a:r>
            <a:r>
              <a:rPr lang="en-US" sz="2000" dirty="0"/>
              <a:t> </a:t>
            </a:r>
          </a:p>
          <a:p>
            <a:pPr marL="342900" indent="-342900">
              <a:lnSpc>
                <a:spcPct val="150000"/>
              </a:lnSpc>
              <a:buFont typeface="Arial" panose="020B0604020202020204" pitchFamily="34" charset="0"/>
              <a:buChar char="•"/>
            </a:pPr>
            <a:r>
              <a:rPr lang="en-US" sz="2000" dirty="0"/>
              <a:t>Genie </a:t>
            </a:r>
          </a:p>
          <a:p>
            <a:pPr>
              <a:lnSpc>
                <a:spcPct val="150000"/>
              </a:lnSpc>
            </a:pPr>
            <a:r>
              <a:rPr lang="en-US" sz="2000" dirty="0"/>
              <a:t>Instead of saying, "Our plan is fixed,"</a:t>
            </a:r>
          </a:p>
          <a:p>
            <a:pPr>
              <a:lnSpc>
                <a:spcPct val="150000"/>
              </a:lnSpc>
            </a:pPr>
            <a:r>
              <a:rPr lang="en-US" sz="2000" dirty="0"/>
              <a:t>the company adapted.</a:t>
            </a:r>
          </a:p>
          <a:p>
            <a:pPr>
              <a:lnSpc>
                <a:spcPct val="150000"/>
              </a:lnSpc>
            </a:pPr>
            <a:r>
              <a:rPr lang="en-US" sz="2000" dirty="0"/>
              <a:t>This is ASD thinking</a:t>
            </a:r>
          </a:p>
          <a:p>
            <a:pPr>
              <a:lnSpc>
                <a:spcPct val="95000"/>
              </a:lnSpc>
            </a:pPr>
            <a:endParaRPr lang="en-IN" sz="2000" dirty="0"/>
          </a:p>
        </p:txBody>
      </p:sp>
    </p:spTree>
    <p:extLst>
      <p:ext uri="{BB962C8B-B14F-4D97-AF65-F5344CB8AC3E}">
        <p14:creationId xmlns:p14="http://schemas.microsoft.com/office/powerpoint/2010/main" val="22881434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descr="Adaptive Software Development: Modernizing Enterprise Systems Without  Disruption">
            <a:extLst>
              <a:ext uri="{FF2B5EF4-FFF2-40B4-BE49-F238E27FC236}">
                <a16:creationId xmlns:a16="http://schemas.microsoft.com/office/drawing/2014/main" id="{1EB6DDD0-CC23-0F1A-6F6B-43A12CB2FB5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97868" y="836712"/>
            <a:ext cx="10182981" cy="52565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37590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2A2DB1D4-6C81-6E03-89DD-03811DC838A3}"/>
              </a:ext>
            </a:extLst>
          </p:cNvPr>
          <p:cNvSpPr>
            <a:spLocks noGrp="1"/>
          </p:cNvSpPr>
          <p:nvPr>
            <p:ph type="title"/>
          </p:nvPr>
        </p:nvSpPr>
        <p:spPr>
          <a:xfrm>
            <a:off x="765820" y="76200"/>
            <a:ext cx="10508843" cy="976536"/>
          </a:xfrm>
        </p:spPr>
        <p:txBody>
          <a:bodyPr>
            <a:normAutofit/>
          </a:bodyPr>
          <a:lstStyle/>
          <a:p>
            <a:r>
              <a:rPr lang="en-IN" sz="4000" dirty="0"/>
              <a:t>6. Adaptive Software Development (ASD)</a:t>
            </a:r>
          </a:p>
        </p:txBody>
      </p:sp>
      <p:sp>
        <p:nvSpPr>
          <p:cNvPr id="7" name="Rectangle: Rounded Corners 6">
            <a:extLst>
              <a:ext uri="{FF2B5EF4-FFF2-40B4-BE49-F238E27FC236}">
                <a16:creationId xmlns:a16="http://schemas.microsoft.com/office/drawing/2014/main" id="{B050B1CC-9449-6546-0F08-7FDA593858CE}"/>
              </a:ext>
            </a:extLst>
          </p:cNvPr>
          <p:cNvSpPr/>
          <p:nvPr/>
        </p:nvSpPr>
        <p:spPr>
          <a:xfrm>
            <a:off x="765820" y="1340768"/>
            <a:ext cx="2736304" cy="1512168"/>
          </a:xfrm>
          <a:prstGeom prst="roundRect">
            <a:avLst/>
          </a:prstGeom>
          <a:solidFill>
            <a:schemeClr val="accent5">
              <a:lumMod val="50000"/>
            </a:schemeClr>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IN" sz="2000" b="1" dirty="0"/>
              <a:t>Accept Change</a:t>
            </a:r>
          </a:p>
          <a:p>
            <a:pPr algn="ctr"/>
            <a:r>
              <a:rPr lang="en-US" sz="1400" dirty="0"/>
              <a:t>Changes are expected,</a:t>
            </a:r>
          </a:p>
          <a:p>
            <a:pPr algn="ctr"/>
            <a:r>
              <a:rPr lang="en-US" sz="1400" dirty="0"/>
              <a:t>not feared</a:t>
            </a:r>
          </a:p>
          <a:p>
            <a:pPr algn="ctr"/>
            <a:endParaRPr lang="en-IN" sz="2000" b="1" dirty="0">
              <a:solidFill>
                <a:schemeClr val="bg1"/>
              </a:solidFill>
            </a:endParaRPr>
          </a:p>
        </p:txBody>
      </p:sp>
      <p:sp>
        <p:nvSpPr>
          <p:cNvPr id="8" name="Rectangle: Rounded Corners 7">
            <a:extLst>
              <a:ext uri="{FF2B5EF4-FFF2-40B4-BE49-F238E27FC236}">
                <a16:creationId xmlns:a16="http://schemas.microsoft.com/office/drawing/2014/main" id="{8E3DAFB6-666E-4BF9-FBDD-0BADE915BACA}"/>
              </a:ext>
            </a:extLst>
          </p:cNvPr>
          <p:cNvSpPr/>
          <p:nvPr/>
        </p:nvSpPr>
        <p:spPr>
          <a:xfrm>
            <a:off x="4294212" y="1340768"/>
            <a:ext cx="2930117" cy="1512168"/>
          </a:xfrm>
          <a:prstGeom prst="roundRect">
            <a:avLst/>
          </a:prstGeom>
          <a:solidFill>
            <a:schemeClr val="accent5">
              <a:lumMod val="50000"/>
            </a:schemeClr>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IN" sz="2000" b="1" dirty="0"/>
              <a:t>Collaboration</a:t>
            </a:r>
          </a:p>
          <a:p>
            <a:pPr algn="ctr"/>
            <a:r>
              <a:rPr lang="en-US" sz="1400" dirty="0"/>
              <a:t>Developers, customers, and testers work together continuously</a:t>
            </a:r>
          </a:p>
          <a:p>
            <a:pPr algn="ctr"/>
            <a:endParaRPr lang="en-IN" sz="2000" b="1" dirty="0">
              <a:solidFill>
                <a:schemeClr val="bg1"/>
              </a:solidFill>
            </a:endParaRPr>
          </a:p>
        </p:txBody>
      </p:sp>
      <p:sp>
        <p:nvSpPr>
          <p:cNvPr id="9" name="Rectangle: Rounded Corners 8">
            <a:extLst>
              <a:ext uri="{FF2B5EF4-FFF2-40B4-BE49-F238E27FC236}">
                <a16:creationId xmlns:a16="http://schemas.microsoft.com/office/drawing/2014/main" id="{D8BBC877-B3B7-9E61-FDB2-96B68E3B4887}"/>
              </a:ext>
            </a:extLst>
          </p:cNvPr>
          <p:cNvSpPr/>
          <p:nvPr/>
        </p:nvSpPr>
        <p:spPr>
          <a:xfrm>
            <a:off x="759990" y="3204490"/>
            <a:ext cx="2891981" cy="1512168"/>
          </a:xfrm>
          <a:prstGeom prst="roundRect">
            <a:avLst/>
          </a:prstGeom>
          <a:solidFill>
            <a:schemeClr val="accent5">
              <a:lumMod val="50000"/>
            </a:schemeClr>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IN" sz="2000" b="1" dirty="0"/>
              <a:t>Learning</a:t>
            </a:r>
          </a:p>
          <a:p>
            <a:pPr algn="ctr"/>
            <a:r>
              <a:rPr lang="en-US" sz="1400" dirty="0"/>
              <a:t>Every iteration improves the product and the team</a:t>
            </a:r>
          </a:p>
          <a:p>
            <a:pPr algn="ctr"/>
            <a:endParaRPr lang="en-IN" sz="2000" b="1" dirty="0">
              <a:solidFill>
                <a:schemeClr val="bg1"/>
              </a:solidFill>
            </a:endParaRPr>
          </a:p>
        </p:txBody>
      </p:sp>
      <p:sp>
        <p:nvSpPr>
          <p:cNvPr id="10" name="Rectangle: Rounded Corners 9">
            <a:extLst>
              <a:ext uri="{FF2B5EF4-FFF2-40B4-BE49-F238E27FC236}">
                <a16:creationId xmlns:a16="http://schemas.microsoft.com/office/drawing/2014/main" id="{A5EAA710-41A7-61FD-80DB-91F6524BFD6C}"/>
              </a:ext>
            </a:extLst>
          </p:cNvPr>
          <p:cNvSpPr/>
          <p:nvPr/>
        </p:nvSpPr>
        <p:spPr>
          <a:xfrm>
            <a:off x="4344009" y="3109458"/>
            <a:ext cx="2880320" cy="1646583"/>
          </a:xfrm>
          <a:prstGeom prst="roundRect">
            <a:avLst/>
          </a:prstGeom>
          <a:solidFill>
            <a:schemeClr val="accent5">
              <a:lumMod val="50000"/>
            </a:schemeClr>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IN" sz="2000" b="1" dirty="0"/>
              <a:t>Incremental Development</a:t>
            </a:r>
          </a:p>
          <a:p>
            <a:pPr algn="ctr"/>
            <a:r>
              <a:rPr lang="en-US" sz="1400" dirty="0"/>
              <a:t>Build software step by step,</a:t>
            </a:r>
          </a:p>
          <a:p>
            <a:pPr algn="ctr"/>
            <a:r>
              <a:rPr lang="en-US" sz="1400" dirty="0"/>
              <a:t>not all at once</a:t>
            </a:r>
          </a:p>
          <a:p>
            <a:pPr algn="ctr"/>
            <a:endParaRPr lang="en-IN" sz="2000" b="1" dirty="0">
              <a:solidFill>
                <a:schemeClr val="bg1"/>
              </a:solidFill>
            </a:endParaRPr>
          </a:p>
        </p:txBody>
      </p:sp>
      <p:sp>
        <p:nvSpPr>
          <p:cNvPr id="11" name="Rectangle: Rounded Corners 10">
            <a:extLst>
              <a:ext uri="{FF2B5EF4-FFF2-40B4-BE49-F238E27FC236}">
                <a16:creationId xmlns:a16="http://schemas.microsoft.com/office/drawing/2014/main" id="{E92FC7A0-4E0E-0646-5E13-0284BEE1D673}"/>
              </a:ext>
            </a:extLst>
          </p:cNvPr>
          <p:cNvSpPr/>
          <p:nvPr/>
        </p:nvSpPr>
        <p:spPr>
          <a:xfrm>
            <a:off x="775103" y="5056042"/>
            <a:ext cx="2880320" cy="1646583"/>
          </a:xfrm>
          <a:prstGeom prst="roundRect">
            <a:avLst/>
          </a:prstGeom>
          <a:solidFill>
            <a:schemeClr val="accent5">
              <a:lumMod val="50000"/>
            </a:schemeClr>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IN" sz="2000" b="1" dirty="0"/>
              <a:t>Customer Feedback</a:t>
            </a:r>
          </a:p>
          <a:p>
            <a:pPr algn="ctr"/>
            <a:r>
              <a:rPr lang="en-US" sz="1400" dirty="0"/>
              <a:t>Customers regularly review the software, and their feedback influences future work</a:t>
            </a:r>
          </a:p>
          <a:p>
            <a:pPr algn="ctr"/>
            <a:endParaRPr lang="en-IN" sz="2000" b="1" dirty="0">
              <a:solidFill>
                <a:schemeClr val="bg1"/>
              </a:solidFill>
            </a:endParaRPr>
          </a:p>
        </p:txBody>
      </p:sp>
      <p:sp>
        <p:nvSpPr>
          <p:cNvPr id="13" name="TextBox 12">
            <a:extLst>
              <a:ext uri="{FF2B5EF4-FFF2-40B4-BE49-F238E27FC236}">
                <a16:creationId xmlns:a16="http://schemas.microsoft.com/office/drawing/2014/main" id="{6E3D86A2-3505-3471-CFA0-7CB03C50D1FE}"/>
              </a:ext>
            </a:extLst>
          </p:cNvPr>
          <p:cNvSpPr txBox="1"/>
          <p:nvPr/>
        </p:nvSpPr>
        <p:spPr>
          <a:xfrm>
            <a:off x="7969666" y="1484784"/>
            <a:ext cx="3663126" cy="4708981"/>
          </a:xfrm>
          <a:prstGeom prst="rect">
            <a:avLst/>
          </a:prstGeom>
          <a:noFill/>
        </p:spPr>
        <p:txBody>
          <a:bodyPr wrap="square">
            <a:spAutoFit/>
          </a:bodyPr>
          <a:lstStyle/>
          <a:p>
            <a:r>
              <a:rPr lang="en-IN" sz="2000" dirty="0"/>
              <a:t>Customer Requirement</a:t>
            </a:r>
          </a:p>
          <a:p>
            <a:r>
              <a:rPr lang="en-IN" sz="2000" dirty="0"/>
              <a:t>        ↓</a:t>
            </a:r>
          </a:p>
          <a:p>
            <a:r>
              <a:rPr lang="en-IN" sz="2000" dirty="0"/>
              <a:t>Speculate</a:t>
            </a:r>
          </a:p>
          <a:p>
            <a:r>
              <a:rPr lang="en-IN" sz="2000" dirty="0"/>
              <a:t>        ↓</a:t>
            </a:r>
          </a:p>
          <a:p>
            <a:r>
              <a:rPr lang="en-IN" sz="2000" dirty="0"/>
              <a:t>Develop</a:t>
            </a:r>
          </a:p>
          <a:p>
            <a:r>
              <a:rPr lang="en-IN" sz="2000" dirty="0"/>
              <a:t>        ↓</a:t>
            </a:r>
          </a:p>
          <a:p>
            <a:r>
              <a:rPr lang="en-IN" sz="2000" dirty="0"/>
              <a:t>Collaborate</a:t>
            </a:r>
          </a:p>
          <a:p>
            <a:r>
              <a:rPr lang="en-IN" sz="2000" dirty="0"/>
              <a:t>        ↓</a:t>
            </a:r>
          </a:p>
          <a:p>
            <a:r>
              <a:rPr lang="en-IN" sz="2000" dirty="0"/>
              <a:t>Customer Feedback</a:t>
            </a:r>
          </a:p>
          <a:p>
            <a:r>
              <a:rPr lang="en-IN" sz="2000" dirty="0"/>
              <a:t>        ↓</a:t>
            </a:r>
          </a:p>
          <a:p>
            <a:r>
              <a:rPr lang="en-IN" sz="2000" dirty="0"/>
              <a:t>Learn</a:t>
            </a:r>
          </a:p>
          <a:p>
            <a:r>
              <a:rPr lang="en-IN" sz="2000" dirty="0"/>
              <a:t>        ↓</a:t>
            </a:r>
          </a:p>
          <a:p>
            <a:r>
              <a:rPr lang="en-IN" sz="2000" dirty="0"/>
              <a:t>Improve</a:t>
            </a:r>
          </a:p>
          <a:p>
            <a:r>
              <a:rPr lang="en-IN" sz="2000" dirty="0"/>
              <a:t>        ↓</a:t>
            </a:r>
          </a:p>
          <a:p>
            <a:r>
              <a:rPr lang="en-IN" sz="2000" dirty="0"/>
              <a:t>Next Iteration</a:t>
            </a:r>
          </a:p>
        </p:txBody>
      </p:sp>
    </p:spTree>
    <p:extLst>
      <p:ext uri="{BB962C8B-B14F-4D97-AF65-F5344CB8AC3E}">
        <p14:creationId xmlns:p14="http://schemas.microsoft.com/office/powerpoint/2010/main" val="45492222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A06ED6-5154-C3F2-43D0-266FEDF63E3A}"/>
              </a:ext>
            </a:extLst>
          </p:cNvPr>
          <p:cNvSpPr>
            <a:spLocks noGrp="1"/>
          </p:cNvSpPr>
          <p:nvPr>
            <p:ph type="title"/>
          </p:nvPr>
        </p:nvSpPr>
        <p:spPr>
          <a:xfrm>
            <a:off x="1117309" y="76200"/>
            <a:ext cx="10157354" cy="832520"/>
          </a:xfrm>
        </p:spPr>
        <p:txBody>
          <a:bodyPr/>
          <a:lstStyle/>
          <a:p>
            <a:r>
              <a:rPr lang="en-US" dirty="0"/>
              <a:t>7. </a:t>
            </a:r>
            <a:r>
              <a:rPr lang="en-IN" dirty="0"/>
              <a:t>Lean Software Development (LSD)</a:t>
            </a:r>
          </a:p>
        </p:txBody>
      </p:sp>
      <p:sp>
        <p:nvSpPr>
          <p:cNvPr id="4" name="TextBox 3">
            <a:extLst>
              <a:ext uri="{FF2B5EF4-FFF2-40B4-BE49-F238E27FC236}">
                <a16:creationId xmlns:a16="http://schemas.microsoft.com/office/drawing/2014/main" id="{DBE30F3D-1D40-4295-C9F0-50EBB54E35F2}"/>
              </a:ext>
            </a:extLst>
          </p:cNvPr>
          <p:cNvSpPr txBox="1"/>
          <p:nvPr/>
        </p:nvSpPr>
        <p:spPr>
          <a:xfrm>
            <a:off x="817987" y="1196752"/>
            <a:ext cx="10441160" cy="3016210"/>
          </a:xfrm>
          <a:prstGeom prst="rect">
            <a:avLst/>
          </a:prstGeom>
          <a:noFill/>
        </p:spPr>
        <p:txBody>
          <a:bodyPr wrap="square" rtlCol="0">
            <a:spAutoFit/>
          </a:bodyPr>
          <a:lstStyle/>
          <a:p>
            <a:pPr>
              <a:lnSpc>
                <a:spcPct val="95000"/>
              </a:lnSpc>
            </a:pPr>
            <a:r>
              <a:rPr lang="en-US" sz="2000" dirty="0"/>
              <a:t>"Suppose your mother asks you to buy only three things from the supermarket: Milk, Bread, and Eggs. Instead, you buy 20 unnecessary items. What will happen?"</a:t>
            </a:r>
          </a:p>
          <a:p>
            <a:pPr>
              <a:lnSpc>
                <a:spcPct val="95000"/>
              </a:lnSpc>
            </a:pPr>
            <a:endParaRPr lang="en-US" sz="2000" dirty="0"/>
          </a:p>
          <a:p>
            <a:pPr marL="342900" indent="-342900">
              <a:lnSpc>
                <a:spcPct val="95000"/>
              </a:lnSpc>
              <a:buFont typeface="Arial" panose="020B0604020202020204" pitchFamily="34" charset="0"/>
              <a:buChar char="•"/>
            </a:pPr>
            <a:r>
              <a:rPr lang="en-US" sz="2000" dirty="0"/>
              <a:t>Waste of money</a:t>
            </a:r>
          </a:p>
          <a:p>
            <a:pPr marL="342900" indent="-342900">
              <a:lnSpc>
                <a:spcPct val="95000"/>
              </a:lnSpc>
              <a:buFont typeface="Arial" panose="020B0604020202020204" pitchFamily="34" charset="0"/>
              <a:buChar char="•"/>
            </a:pPr>
            <a:r>
              <a:rPr lang="en-US" sz="2000" dirty="0"/>
              <a:t>Waste of time</a:t>
            </a:r>
          </a:p>
          <a:p>
            <a:pPr marL="342900" indent="-342900">
              <a:lnSpc>
                <a:spcPct val="95000"/>
              </a:lnSpc>
              <a:buFont typeface="Arial" panose="020B0604020202020204" pitchFamily="34" charset="0"/>
              <a:buChar char="•"/>
            </a:pPr>
            <a:r>
              <a:rPr lang="en-US" sz="2000" dirty="0"/>
              <a:t>Hard to carry</a:t>
            </a:r>
          </a:p>
          <a:p>
            <a:pPr marL="342900" indent="-342900">
              <a:lnSpc>
                <a:spcPct val="95000"/>
              </a:lnSpc>
              <a:buFont typeface="Arial" panose="020B0604020202020204" pitchFamily="34" charset="0"/>
              <a:buChar char="•"/>
            </a:pPr>
            <a:r>
              <a:rPr lang="en-US" sz="2000" dirty="0"/>
              <a:t>Many things may not even be used</a:t>
            </a:r>
          </a:p>
          <a:p>
            <a:pPr>
              <a:lnSpc>
                <a:spcPct val="95000"/>
              </a:lnSpc>
            </a:pPr>
            <a:endParaRPr lang="en-US" sz="2000" dirty="0"/>
          </a:p>
          <a:p>
            <a:pPr>
              <a:lnSpc>
                <a:spcPct val="95000"/>
              </a:lnSpc>
            </a:pPr>
            <a:r>
              <a:rPr lang="en-US" sz="2000" dirty="0"/>
              <a:t>"Exactly! Lean Software Development says—don't build things that the customer doesn't need."</a:t>
            </a:r>
            <a:endParaRPr lang="en-IN" sz="2000" dirty="0"/>
          </a:p>
        </p:txBody>
      </p:sp>
      <p:sp>
        <p:nvSpPr>
          <p:cNvPr id="6" name="TextBox 5">
            <a:extLst>
              <a:ext uri="{FF2B5EF4-FFF2-40B4-BE49-F238E27FC236}">
                <a16:creationId xmlns:a16="http://schemas.microsoft.com/office/drawing/2014/main" id="{E0D986AE-EA70-8789-5B5A-6F0D20B5FB29}"/>
              </a:ext>
            </a:extLst>
          </p:cNvPr>
          <p:cNvSpPr txBox="1"/>
          <p:nvPr/>
        </p:nvSpPr>
        <p:spPr>
          <a:xfrm>
            <a:off x="693812" y="4530203"/>
            <a:ext cx="10729192" cy="1378839"/>
          </a:xfrm>
          <a:prstGeom prst="rect">
            <a:avLst/>
          </a:prstGeom>
          <a:noFill/>
        </p:spPr>
        <p:txBody>
          <a:bodyPr wrap="square" rtlCol="0">
            <a:spAutoFit/>
          </a:bodyPr>
          <a:lstStyle/>
          <a:p>
            <a:pPr>
              <a:lnSpc>
                <a:spcPct val="95000"/>
              </a:lnSpc>
            </a:pPr>
            <a:r>
              <a:rPr lang="en-US" sz="2200" b="1" dirty="0">
                <a:solidFill>
                  <a:srgbClr val="FF0000"/>
                </a:solidFill>
              </a:rPr>
              <a:t>Lean Software Development is an Agile methodology that focuses on delivering maximum value to the customer by eliminating waste, improving quality, and continuously improving the development process.</a:t>
            </a:r>
            <a:endParaRPr lang="en-US" sz="2200" dirty="0">
              <a:solidFill>
                <a:srgbClr val="FF0000"/>
              </a:solidFill>
            </a:endParaRPr>
          </a:p>
          <a:p>
            <a:pPr>
              <a:lnSpc>
                <a:spcPct val="95000"/>
              </a:lnSpc>
            </a:pPr>
            <a:endParaRPr lang="en-IN" sz="2200" dirty="0">
              <a:solidFill>
                <a:srgbClr val="FF0000"/>
              </a:solidFill>
            </a:endParaRPr>
          </a:p>
        </p:txBody>
      </p:sp>
    </p:spTree>
    <p:extLst>
      <p:ext uri="{BB962C8B-B14F-4D97-AF65-F5344CB8AC3E}">
        <p14:creationId xmlns:p14="http://schemas.microsoft.com/office/powerpoint/2010/main" val="18588713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A06ED6-5154-C3F2-43D0-266FEDF63E3A}"/>
              </a:ext>
            </a:extLst>
          </p:cNvPr>
          <p:cNvSpPr>
            <a:spLocks noGrp="1"/>
          </p:cNvSpPr>
          <p:nvPr>
            <p:ph type="title"/>
          </p:nvPr>
        </p:nvSpPr>
        <p:spPr>
          <a:xfrm>
            <a:off x="1117309" y="76200"/>
            <a:ext cx="10157354" cy="832520"/>
          </a:xfrm>
        </p:spPr>
        <p:txBody>
          <a:bodyPr/>
          <a:lstStyle/>
          <a:p>
            <a:r>
              <a:rPr lang="en-US" dirty="0"/>
              <a:t>7. </a:t>
            </a:r>
            <a:r>
              <a:rPr lang="en-IN" dirty="0"/>
              <a:t>Lean Software Development (LSD)</a:t>
            </a:r>
          </a:p>
        </p:txBody>
      </p:sp>
      <p:sp>
        <p:nvSpPr>
          <p:cNvPr id="3" name="TextBox 2">
            <a:extLst>
              <a:ext uri="{FF2B5EF4-FFF2-40B4-BE49-F238E27FC236}">
                <a16:creationId xmlns:a16="http://schemas.microsoft.com/office/drawing/2014/main" id="{07A95C55-5902-932D-7153-4ACBDD482C24}"/>
              </a:ext>
            </a:extLst>
          </p:cNvPr>
          <p:cNvSpPr txBox="1"/>
          <p:nvPr/>
        </p:nvSpPr>
        <p:spPr>
          <a:xfrm>
            <a:off x="837828" y="1124744"/>
            <a:ext cx="2919389" cy="3893374"/>
          </a:xfrm>
          <a:prstGeom prst="rect">
            <a:avLst/>
          </a:prstGeom>
          <a:noFill/>
        </p:spPr>
        <p:txBody>
          <a:bodyPr wrap="none" rtlCol="0">
            <a:spAutoFit/>
          </a:bodyPr>
          <a:lstStyle/>
          <a:p>
            <a:pPr>
              <a:lnSpc>
                <a:spcPct val="95000"/>
              </a:lnSpc>
            </a:pPr>
            <a:r>
              <a:rPr lang="en-US" sz="2000" dirty="0"/>
              <a:t>The word Lean means</a:t>
            </a:r>
          </a:p>
          <a:p>
            <a:pPr>
              <a:lnSpc>
                <a:spcPct val="95000"/>
              </a:lnSpc>
            </a:pPr>
            <a:r>
              <a:rPr lang="en-US" sz="2000" dirty="0"/>
              <a:t>Doing more with less.</a:t>
            </a:r>
          </a:p>
          <a:p>
            <a:pPr>
              <a:lnSpc>
                <a:spcPct val="95000"/>
              </a:lnSpc>
            </a:pPr>
            <a:endParaRPr lang="en-US" sz="2000" dirty="0"/>
          </a:p>
          <a:p>
            <a:pPr>
              <a:lnSpc>
                <a:spcPct val="95000"/>
              </a:lnSpc>
            </a:pPr>
            <a:r>
              <a:rPr lang="en-US" sz="2000" dirty="0"/>
              <a:t>Less</a:t>
            </a:r>
          </a:p>
          <a:p>
            <a:pPr marL="342900" indent="-342900">
              <a:lnSpc>
                <a:spcPct val="95000"/>
              </a:lnSpc>
              <a:buFont typeface="Arial" panose="020B0604020202020204" pitchFamily="34" charset="0"/>
              <a:buChar char="•"/>
            </a:pPr>
            <a:r>
              <a:rPr lang="en-US" sz="2000" dirty="0"/>
              <a:t>Time</a:t>
            </a:r>
          </a:p>
          <a:p>
            <a:pPr marL="342900" indent="-342900">
              <a:lnSpc>
                <a:spcPct val="95000"/>
              </a:lnSpc>
              <a:buFont typeface="Arial" panose="020B0604020202020204" pitchFamily="34" charset="0"/>
              <a:buChar char="•"/>
            </a:pPr>
            <a:r>
              <a:rPr lang="en-US" sz="2000" dirty="0"/>
              <a:t>Cost</a:t>
            </a:r>
          </a:p>
          <a:p>
            <a:pPr marL="342900" indent="-342900">
              <a:lnSpc>
                <a:spcPct val="95000"/>
              </a:lnSpc>
              <a:buFont typeface="Arial" panose="020B0604020202020204" pitchFamily="34" charset="0"/>
              <a:buChar char="•"/>
            </a:pPr>
            <a:r>
              <a:rPr lang="en-US" sz="2000" dirty="0"/>
              <a:t>Effort</a:t>
            </a:r>
          </a:p>
          <a:p>
            <a:pPr marL="342900" indent="-342900">
              <a:lnSpc>
                <a:spcPct val="95000"/>
              </a:lnSpc>
              <a:buFont typeface="Arial" panose="020B0604020202020204" pitchFamily="34" charset="0"/>
              <a:buChar char="•"/>
            </a:pPr>
            <a:r>
              <a:rPr lang="en-US" sz="2000" dirty="0"/>
              <a:t>Waste</a:t>
            </a:r>
          </a:p>
          <a:p>
            <a:pPr>
              <a:lnSpc>
                <a:spcPct val="95000"/>
              </a:lnSpc>
            </a:pPr>
            <a:endParaRPr lang="en-US" sz="2000" dirty="0"/>
          </a:p>
          <a:p>
            <a:pPr>
              <a:lnSpc>
                <a:spcPct val="95000"/>
              </a:lnSpc>
            </a:pPr>
            <a:r>
              <a:rPr lang="en-US" sz="2000" dirty="0"/>
              <a:t>More</a:t>
            </a:r>
          </a:p>
          <a:p>
            <a:pPr marL="342900" indent="-342900">
              <a:lnSpc>
                <a:spcPct val="95000"/>
              </a:lnSpc>
              <a:buFont typeface="Arial" panose="020B0604020202020204" pitchFamily="34" charset="0"/>
              <a:buChar char="•"/>
            </a:pPr>
            <a:r>
              <a:rPr lang="en-US" sz="2000" dirty="0"/>
              <a:t>Customer Value</a:t>
            </a:r>
          </a:p>
          <a:p>
            <a:pPr marL="342900" indent="-342900">
              <a:lnSpc>
                <a:spcPct val="95000"/>
              </a:lnSpc>
              <a:buFont typeface="Arial" panose="020B0604020202020204" pitchFamily="34" charset="0"/>
              <a:buChar char="•"/>
            </a:pPr>
            <a:r>
              <a:rPr lang="en-US" sz="2000" dirty="0"/>
              <a:t>Quality</a:t>
            </a:r>
          </a:p>
          <a:p>
            <a:pPr marL="342900" indent="-342900">
              <a:lnSpc>
                <a:spcPct val="95000"/>
              </a:lnSpc>
              <a:buFont typeface="Arial" panose="020B0604020202020204" pitchFamily="34" charset="0"/>
              <a:buChar char="•"/>
            </a:pPr>
            <a:r>
              <a:rPr lang="en-US" sz="2000" dirty="0"/>
              <a:t>Productivity</a:t>
            </a:r>
            <a:endParaRPr lang="en-IN" sz="2000" dirty="0"/>
          </a:p>
        </p:txBody>
      </p:sp>
      <p:sp>
        <p:nvSpPr>
          <p:cNvPr id="7" name="TextBox 6">
            <a:extLst>
              <a:ext uri="{FF2B5EF4-FFF2-40B4-BE49-F238E27FC236}">
                <a16:creationId xmlns:a16="http://schemas.microsoft.com/office/drawing/2014/main" id="{D9E6777B-353F-8D8A-5FDA-0EED299BA834}"/>
              </a:ext>
            </a:extLst>
          </p:cNvPr>
          <p:cNvSpPr txBox="1"/>
          <p:nvPr/>
        </p:nvSpPr>
        <p:spPr>
          <a:xfrm>
            <a:off x="5950396" y="1052736"/>
            <a:ext cx="5760640" cy="5062924"/>
          </a:xfrm>
          <a:prstGeom prst="rect">
            <a:avLst/>
          </a:prstGeom>
          <a:noFill/>
        </p:spPr>
        <p:txBody>
          <a:bodyPr wrap="square" rtlCol="0">
            <a:spAutoFit/>
          </a:bodyPr>
          <a:lstStyle/>
          <a:p>
            <a:pPr>
              <a:lnSpc>
                <a:spcPct val="95000"/>
              </a:lnSpc>
            </a:pPr>
            <a:r>
              <a:rPr lang="en-US" sz="2000" dirty="0"/>
              <a:t>Imagine packing your school bag. Would you carry</a:t>
            </a:r>
          </a:p>
          <a:p>
            <a:pPr marL="342900" indent="-342900">
              <a:lnSpc>
                <a:spcPct val="95000"/>
              </a:lnSpc>
              <a:buFont typeface="Arial" panose="020B0604020202020204" pitchFamily="34" charset="0"/>
              <a:buChar char="•"/>
            </a:pPr>
            <a:r>
              <a:rPr lang="en-US" sz="2000" dirty="0"/>
              <a:t>Every textbook</a:t>
            </a:r>
          </a:p>
          <a:p>
            <a:pPr marL="342900" indent="-342900">
              <a:lnSpc>
                <a:spcPct val="95000"/>
              </a:lnSpc>
              <a:buFont typeface="Arial" panose="020B0604020202020204" pitchFamily="34" charset="0"/>
              <a:buChar char="•"/>
            </a:pPr>
            <a:r>
              <a:rPr lang="en-US" sz="2000" dirty="0"/>
              <a:t>All notebooks</a:t>
            </a:r>
          </a:p>
          <a:p>
            <a:pPr marL="342900" indent="-342900">
              <a:lnSpc>
                <a:spcPct val="95000"/>
              </a:lnSpc>
              <a:buFont typeface="Arial" panose="020B0604020202020204" pitchFamily="34" charset="0"/>
              <a:buChar char="•"/>
            </a:pPr>
            <a:r>
              <a:rPr lang="en-US" sz="2000" dirty="0"/>
              <a:t>Sports equipment</a:t>
            </a:r>
          </a:p>
          <a:p>
            <a:pPr marL="342900" indent="-342900">
              <a:lnSpc>
                <a:spcPct val="95000"/>
              </a:lnSpc>
              <a:buFont typeface="Arial" panose="020B0604020202020204" pitchFamily="34" charset="0"/>
              <a:buChar char="•"/>
            </a:pPr>
            <a:r>
              <a:rPr lang="en-US" sz="2000" dirty="0"/>
              <a:t>Laptop</a:t>
            </a:r>
          </a:p>
          <a:p>
            <a:pPr marL="342900" indent="-342900">
              <a:lnSpc>
                <a:spcPct val="95000"/>
              </a:lnSpc>
              <a:buFont typeface="Arial" panose="020B0604020202020204" pitchFamily="34" charset="0"/>
              <a:buChar char="•"/>
            </a:pPr>
            <a:r>
              <a:rPr lang="en-US" sz="2000" dirty="0"/>
              <a:t>Umbrella</a:t>
            </a:r>
          </a:p>
          <a:p>
            <a:pPr marL="342900" indent="-342900">
              <a:lnSpc>
                <a:spcPct val="95000"/>
              </a:lnSpc>
              <a:buFont typeface="Arial" panose="020B0604020202020204" pitchFamily="34" charset="0"/>
              <a:buChar char="•"/>
            </a:pPr>
            <a:r>
              <a:rPr lang="en-US" sz="2000" dirty="0"/>
              <a:t>Lunch box</a:t>
            </a:r>
          </a:p>
          <a:p>
            <a:pPr marL="342900" indent="-342900">
              <a:lnSpc>
                <a:spcPct val="95000"/>
              </a:lnSpc>
              <a:buFont typeface="Arial" panose="020B0604020202020204" pitchFamily="34" charset="0"/>
              <a:buChar char="•"/>
            </a:pPr>
            <a:r>
              <a:rPr lang="en-US" sz="2000" dirty="0"/>
              <a:t>Dictionary</a:t>
            </a:r>
          </a:p>
          <a:p>
            <a:pPr>
              <a:lnSpc>
                <a:spcPct val="95000"/>
              </a:lnSpc>
            </a:pPr>
            <a:endParaRPr lang="en-US" sz="2000" dirty="0"/>
          </a:p>
          <a:p>
            <a:pPr>
              <a:lnSpc>
                <a:spcPct val="95000"/>
              </a:lnSpc>
            </a:pPr>
            <a:r>
              <a:rPr lang="en-US" sz="2000" dirty="0"/>
              <a:t>Even if you need only two books today?</a:t>
            </a:r>
          </a:p>
          <a:p>
            <a:pPr>
              <a:lnSpc>
                <a:spcPct val="95000"/>
              </a:lnSpc>
            </a:pPr>
            <a:endParaRPr lang="en-US" sz="2000" dirty="0"/>
          </a:p>
          <a:p>
            <a:pPr>
              <a:lnSpc>
                <a:spcPct val="95000"/>
              </a:lnSpc>
            </a:pPr>
            <a:r>
              <a:rPr lang="en-US" sz="2000" dirty="0"/>
              <a:t>You carry only what is necessary.</a:t>
            </a:r>
          </a:p>
          <a:p>
            <a:pPr>
              <a:lnSpc>
                <a:spcPct val="95000"/>
              </a:lnSpc>
            </a:pPr>
            <a:endParaRPr lang="en-US" sz="2000" dirty="0"/>
          </a:p>
          <a:p>
            <a:pPr>
              <a:lnSpc>
                <a:spcPct val="95000"/>
              </a:lnSpc>
            </a:pPr>
            <a:r>
              <a:rPr lang="en-US" sz="2000" dirty="0"/>
              <a:t>Lean says</a:t>
            </a:r>
          </a:p>
          <a:p>
            <a:pPr>
              <a:lnSpc>
                <a:spcPct val="95000"/>
              </a:lnSpc>
            </a:pPr>
            <a:endParaRPr lang="en-US" sz="2000" dirty="0"/>
          </a:p>
          <a:p>
            <a:pPr>
              <a:lnSpc>
                <a:spcPct val="95000"/>
              </a:lnSpc>
            </a:pPr>
            <a:r>
              <a:rPr lang="en-US" sz="2000" b="1" dirty="0"/>
              <a:t>"Develop only what is necessary."</a:t>
            </a:r>
            <a:endParaRPr lang="en-IN" sz="2000" b="1" dirty="0"/>
          </a:p>
        </p:txBody>
      </p:sp>
    </p:spTree>
    <p:extLst>
      <p:ext uri="{BB962C8B-B14F-4D97-AF65-F5344CB8AC3E}">
        <p14:creationId xmlns:p14="http://schemas.microsoft.com/office/powerpoint/2010/main" val="314278955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A06ED6-5154-C3F2-43D0-266FEDF63E3A}"/>
              </a:ext>
            </a:extLst>
          </p:cNvPr>
          <p:cNvSpPr>
            <a:spLocks noGrp="1"/>
          </p:cNvSpPr>
          <p:nvPr>
            <p:ph type="title"/>
          </p:nvPr>
        </p:nvSpPr>
        <p:spPr>
          <a:xfrm>
            <a:off x="1117309" y="76200"/>
            <a:ext cx="10157354" cy="832520"/>
          </a:xfrm>
        </p:spPr>
        <p:txBody>
          <a:bodyPr/>
          <a:lstStyle/>
          <a:p>
            <a:r>
              <a:rPr lang="en-US" dirty="0"/>
              <a:t>7. </a:t>
            </a:r>
            <a:r>
              <a:rPr lang="en-IN" dirty="0"/>
              <a:t>Lean Software Development (LSD)</a:t>
            </a:r>
          </a:p>
        </p:txBody>
      </p:sp>
      <p:sp>
        <p:nvSpPr>
          <p:cNvPr id="11" name="TextBox 10">
            <a:extLst>
              <a:ext uri="{FF2B5EF4-FFF2-40B4-BE49-F238E27FC236}">
                <a16:creationId xmlns:a16="http://schemas.microsoft.com/office/drawing/2014/main" id="{41B3A451-EE85-03DA-CFB7-D56C41E1BC24}"/>
              </a:ext>
            </a:extLst>
          </p:cNvPr>
          <p:cNvSpPr txBox="1"/>
          <p:nvPr/>
        </p:nvSpPr>
        <p:spPr>
          <a:xfrm>
            <a:off x="547497" y="1052736"/>
            <a:ext cx="11379563" cy="1261884"/>
          </a:xfrm>
          <a:prstGeom prst="rect">
            <a:avLst/>
          </a:prstGeom>
          <a:noFill/>
        </p:spPr>
        <p:txBody>
          <a:bodyPr wrap="square" rtlCol="0">
            <a:spAutoFit/>
          </a:bodyPr>
          <a:lstStyle/>
          <a:p>
            <a:pPr>
              <a:lnSpc>
                <a:spcPct val="95000"/>
              </a:lnSpc>
            </a:pPr>
            <a:r>
              <a:rPr lang="en-US" sz="2000" dirty="0"/>
              <a:t>In the 1940s and 1950s, after World War II, Toyota was a small automobile company in Japan. Unlike companies such as Ford, Toyota did not have enough money, factory space, or raw materials to manufacture thousands of cars and store them in warehouses. They had to find a smarter way to work.</a:t>
            </a:r>
            <a:endParaRPr lang="en-IN" sz="2000" dirty="0"/>
          </a:p>
        </p:txBody>
      </p:sp>
      <p:sp>
        <p:nvSpPr>
          <p:cNvPr id="12" name="TextBox 11">
            <a:extLst>
              <a:ext uri="{FF2B5EF4-FFF2-40B4-BE49-F238E27FC236}">
                <a16:creationId xmlns:a16="http://schemas.microsoft.com/office/drawing/2014/main" id="{2404EDC8-3204-927E-2AC4-20302D04F3E0}"/>
              </a:ext>
            </a:extLst>
          </p:cNvPr>
          <p:cNvSpPr txBox="1"/>
          <p:nvPr/>
        </p:nvSpPr>
        <p:spPr>
          <a:xfrm>
            <a:off x="555509" y="2460259"/>
            <a:ext cx="5051383" cy="1554272"/>
          </a:xfrm>
          <a:prstGeom prst="rect">
            <a:avLst/>
          </a:prstGeom>
          <a:noFill/>
        </p:spPr>
        <p:txBody>
          <a:bodyPr wrap="none" rtlCol="0">
            <a:spAutoFit/>
          </a:bodyPr>
          <a:lstStyle/>
          <a:p>
            <a:pPr>
              <a:lnSpc>
                <a:spcPct val="95000"/>
              </a:lnSpc>
            </a:pPr>
            <a:r>
              <a:rPr lang="en-US" sz="2000" dirty="0"/>
              <a:t>Many factories followed this approach:</a:t>
            </a:r>
          </a:p>
          <a:p>
            <a:pPr marL="342900" indent="-342900">
              <a:lnSpc>
                <a:spcPct val="95000"/>
              </a:lnSpc>
              <a:buFont typeface="Arial" panose="020B0604020202020204" pitchFamily="34" charset="0"/>
              <a:buChar char="•"/>
            </a:pPr>
            <a:r>
              <a:rPr lang="en-US" sz="2000" dirty="0"/>
              <a:t>Produce as many cars as possible</a:t>
            </a:r>
          </a:p>
          <a:p>
            <a:pPr marL="342900" indent="-342900">
              <a:lnSpc>
                <a:spcPct val="95000"/>
              </a:lnSpc>
              <a:buFont typeface="Arial" panose="020B0604020202020204" pitchFamily="34" charset="0"/>
              <a:buChar char="•"/>
            </a:pPr>
            <a:r>
              <a:rPr lang="en-US" sz="2000" dirty="0"/>
              <a:t>Store them in large warehouses</a:t>
            </a:r>
          </a:p>
          <a:p>
            <a:pPr marL="342900" indent="-342900">
              <a:lnSpc>
                <a:spcPct val="95000"/>
              </a:lnSpc>
              <a:buFont typeface="Arial" panose="020B0604020202020204" pitchFamily="34" charset="0"/>
              <a:buChar char="•"/>
            </a:pPr>
            <a:r>
              <a:rPr lang="en-US" sz="2000" dirty="0"/>
              <a:t>Sell them later</a:t>
            </a:r>
          </a:p>
          <a:p>
            <a:pPr>
              <a:lnSpc>
                <a:spcPct val="95000"/>
              </a:lnSpc>
            </a:pPr>
            <a:endParaRPr lang="en-IN" sz="2000" dirty="0"/>
          </a:p>
        </p:txBody>
      </p:sp>
      <p:sp>
        <p:nvSpPr>
          <p:cNvPr id="13" name="TextBox 12">
            <a:extLst>
              <a:ext uri="{FF2B5EF4-FFF2-40B4-BE49-F238E27FC236}">
                <a16:creationId xmlns:a16="http://schemas.microsoft.com/office/drawing/2014/main" id="{08CB63F8-2B43-4484-366B-3DB5F6B4C6B0}"/>
              </a:ext>
            </a:extLst>
          </p:cNvPr>
          <p:cNvSpPr txBox="1"/>
          <p:nvPr/>
        </p:nvSpPr>
        <p:spPr>
          <a:xfrm>
            <a:off x="7174532" y="2491313"/>
            <a:ext cx="3999813" cy="1261884"/>
          </a:xfrm>
          <a:prstGeom prst="rect">
            <a:avLst/>
          </a:prstGeom>
          <a:noFill/>
        </p:spPr>
        <p:txBody>
          <a:bodyPr wrap="none" rtlCol="0">
            <a:spAutoFit/>
          </a:bodyPr>
          <a:lstStyle/>
          <a:p>
            <a:pPr>
              <a:lnSpc>
                <a:spcPct val="95000"/>
              </a:lnSpc>
            </a:pPr>
            <a:r>
              <a:rPr lang="en-US" sz="2000" dirty="0"/>
              <a:t>🚗 Unsold cars</a:t>
            </a:r>
          </a:p>
          <a:p>
            <a:pPr>
              <a:lnSpc>
                <a:spcPct val="95000"/>
              </a:lnSpc>
            </a:pPr>
            <a:r>
              <a:rPr lang="en-US" sz="2000" dirty="0"/>
              <a:t>💰 Money tied up in inventory</a:t>
            </a:r>
          </a:p>
          <a:p>
            <a:pPr>
              <a:lnSpc>
                <a:spcPct val="95000"/>
              </a:lnSpc>
            </a:pPr>
            <a:r>
              <a:rPr lang="en-US" sz="2000" dirty="0"/>
              <a:t>🏭 Large storage costs</a:t>
            </a:r>
          </a:p>
          <a:p>
            <a:pPr>
              <a:lnSpc>
                <a:spcPct val="95000"/>
              </a:lnSpc>
            </a:pPr>
            <a:r>
              <a:rPr lang="en-US" sz="2000" dirty="0"/>
              <a:t>⏳ Wasted time and resources</a:t>
            </a:r>
            <a:endParaRPr lang="en-IN" sz="2000" dirty="0"/>
          </a:p>
        </p:txBody>
      </p:sp>
      <p:sp>
        <p:nvSpPr>
          <p:cNvPr id="14" name="Arrow: Right 13">
            <a:extLst>
              <a:ext uri="{FF2B5EF4-FFF2-40B4-BE49-F238E27FC236}">
                <a16:creationId xmlns:a16="http://schemas.microsoft.com/office/drawing/2014/main" id="{EEFB40C1-B4F5-BFD8-F26D-4C066F66D932}"/>
              </a:ext>
            </a:extLst>
          </p:cNvPr>
          <p:cNvSpPr/>
          <p:nvPr/>
        </p:nvSpPr>
        <p:spPr>
          <a:xfrm>
            <a:off x="5606892" y="2924944"/>
            <a:ext cx="1440160" cy="288032"/>
          </a:xfrm>
          <a:prstGeom prst="rightArrow">
            <a:avLst/>
          </a:prstGeom>
          <a:ln/>
        </p:spPr>
        <p:style>
          <a:lnRef idx="3">
            <a:schemeClr val="lt1"/>
          </a:lnRef>
          <a:fillRef idx="1">
            <a:schemeClr val="accent4"/>
          </a:fillRef>
          <a:effectRef idx="1">
            <a:schemeClr val="accent4"/>
          </a:effectRef>
          <a:fontRef idx="minor">
            <a:schemeClr val="lt1"/>
          </a:fontRef>
        </p:style>
        <p:txBody>
          <a:bodyPr rtlCol="0" anchor="ctr"/>
          <a:lstStyle/>
          <a:p>
            <a:pPr algn="ctr"/>
            <a:endParaRPr lang="en-IN"/>
          </a:p>
        </p:txBody>
      </p:sp>
      <p:sp>
        <p:nvSpPr>
          <p:cNvPr id="15" name="TextBox 14">
            <a:extLst>
              <a:ext uri="{FF2B5EF4-FFF2-40B4-BE49-F238E27FC236}">
                <a16:creationId xmlns:a16="http://schemas.microsoft.com/office/drawing/2014/main" id="{4900C8B0-9513-9B45-3633-097BAB6DA37D}"/>
              </a:ext>
            </a:extLst>
          </p:cNvPr>
          <p:cNvSpPr txBox="1"/>
          <p:nvPr/>
        </p:nvSpPr>
        <p:spPr>
          <a:xfrm>
            <a:off x="555509" y="4149080"/>
            <a:ext cx="6186975" cy="2139047"/>
          </a:xfrm>
          <a:prstGeom prst="rect">
            <a:avLst/>
          </a:prstGeom>
          <a:noFill/>
        </p:spPr>
        <p:txBody>
          <a:bodyPr wrap="square" rtlCol="0">
            <a:spAutoFit/>
          </a:bodyPr>
          <a:lstStyle/>
          <a:p>
            <a:pPr>
              <a:lnSpc>
                <a:spcPct val="95000"/>
              </a:lnSpc>
            </a:pPr>
            <a:r>
              <a:rPr lang="en-US" sz="2000" dirty="0"/>
              <a:t>Toyota asked a simple question:</a:t>
            </a:r>
          </a:p>
          <a:p>
            <a:pPr>
              <a:lnSpc>
                <a:spcPct val="95000"/>
              </a:lnSpc>
            </a:pPr>
            <a:r>
              <a:rPr lang="en-US" sz="2000" dirty="0"/>
              <a:t>"Why produce something before the customer actually needs it?"</a:t>
            </a:r>
          </a:p>
          <a:p>
            <a:pPr>
              <a:lnSpc>
                <a:spcPct val="95000"/>
              </a:lnSpc>
            </a:pPr>
            <a:endParaRPr lang="en-US" sz="2000" dirty="0"/>
          </a:p>
          <a:p>
            <a:pPr>
              <a:lnSpc>
                <a:spcPct val="95000"/>
              </a:lnSpc>
            </a:pPr>
            <a:r>
              <a:rPr lang="en-US" sz="2000" dirty="0"/>
              <a:t>Instead of making 1,000 cars in advance, Toyota produced only what customers ordered, when they needed it.</a:t>
            </a:r>
            <a:endParaRPr lang="en-IN" sz="2000" dirty="0"/>
          </a:p>
        </p:txBody>
      </p:sp>
      <p:sp>
        <p:nvSpPr>
          <p:cNvPr id="16" name="TextBox 15">
            <a:extLst>
              <a:ext uri="{FF2B5EF4-FFF2-40B4-BE49-F238E27FC236}">
                <a16:creationId xmlns:a16="http://schemas.microsoft.com/office/drawing/2014/main" id="{CF0D3DFA-560E-6933-3304-C1D741AEE86E}"/>
              </a:ext>
            </a:extLst>
          </p:cNvPr>
          <p:cNvSpPr txBox="1"/>
          <p:nvPr/>
        </p:nvSpPr>
        <p:spPr>
          <a:xfrm>
            <a:off x="7678588" y="4293096"/>
            <a:ext cx="4124847" cy="1261884"/>
          </a:xfrm>
          <a:prstGeom prst="rect">
            <a:avLst/>
          </a:prstGeom>
          <a:noFill/>
        </p:spPr>
        <p:txBody>
          <a:bodyPr wrap="none" rtlCol="0">
            <a:spAutoFit/>
          </a:bodyPr>
          <a:lstStyle/>
          <a:p>
            <a:pPr>
              <a:lnSpc>
                <a:spcPct val="95000"/>
              </a:lnSpc>
            </a:pPr>
            <a:r>
              <a:rPr lang="en-US" sz="2000" dirty="0"/>
              <a:t>Reduced waste</a:t>
            </a:r>
          </a:p>
          <a:p>
            <a:pPr>
              <a:lnSpc>
                <a:spcPct val="95000"/>
              </a:lnSpc>
            </a:pPr>
            <a:r>
              <a:rPr lang="en-US" sz="2000" dirty="0"/>
              <a:t>Saved money</a:t>
            </a:r>
          </a:p>
          <a:p>
            <a:pPr>
              <a:lnSpc>
                <a:spcPct val="95000"/>
              </a:lnSpc>
            </a:pPr>
            <a:r>
              <a:rPr lang="en-US" sz="2000" dirty="0"/>
              <a:t>Improved quality</a:t>
            </a:r>
          </a:p>
          <a:p>
            <a:pPr>
              <a:lnSpc>
                <a:spcPct val="95000"/>
              </a:lnSpc>
            </a:pPr>
            <a:r>
              <a:rPr lang="en-US" sz="2000" dirty="0"/>
              <a:t>Increased customer satisfaction</a:t>
            </a:r>
            <a:endParaRPr lang="en-IN" sz="2000" dirty="0"/>
          </a:p>
        </p:txBody>
      </p:sp>
      <p:sp>
        <p:nvSpPr>
          <p:cNvPr id="17" name="Arrow: Right 16">
            <a:extLst>
              <a:ext uri="{FF2B5EF4-FFF2-40B4-BE49-F238E27FC236}">
                <a16:creationId xmlns:a16="http://schemas.microsoft.com/office/drawing/2014/main" id="{AFF6AF47-6E5D-F860-6604-8199A87E55F6}"/>
              </a:ext>
            </a:extLst>
          </p:cNvPr>
          <p:cNvSpPr/>
          <p:nvPr/>
        </p:nvSpPr>
        <p:spPr>
          <a:xfrm>
            <a:off x="6022404" y="4918378"/>
            <a:ext cx="1440160" cy="288032"/>
          </a:xfrm>
          <a:prstGeom prst="rightArrow">
            <a:avLst/>
          </a:prstGeom>
          <a:ln/>
        </p:spPr>
        <p:style>
          <a:lnRef idx="3">
            <a:schemeClr val="lt1"/>
          </a:lnRef>
          <a:fillRef idx="1">
            <a:schemeClr val="accent4"/>
          </a:fillRef>
          <a:effectRef idx="1">
            <a:schemeClr val="accent4"/>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97515037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descr="What is Lean Software Development (LSD) | Vit Lyoshin">
            <a:extLst>
              <a:ext uri="{FF2B5EF4-FFF2-40B4-BE49-F238E27FC236}">
                <a16:creationId xmlns:a16="http://schemas.microsoft.com/office/drawing/2014/main" id="{6326BE3E-5304-6CEC-8CE4-FF9DF084A05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8581" y="139055"/>
            <a:ext cx="11751661" cy="65798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866105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A06ED6-5154-C3F2-43D0-266FEDF63E3A}"/>
              </a:ext>
            </a:extLst>
          </p:cNvPr>
          <p:cNvSpPr>
            <a:spLocks noGrp="1"/>
          </p:cNvSpPr>
          <p:nvPr>
            <p:ph type="title"/>
          </p:nvPr>
        </p:nvSpPr>
        <p:spPr>
          <a:xfrm>
            <a:off x="1117309" y="76200"/>
            <a:ext cx="10157354" cy="832520"/>
          </a:xfrm>
        </p:spPr>
        <p:txBody>
          <a:bodyPr/>
          <a:lstStyle/>
          <a:p>
            <a:r>
              <a:rPr lang="en-US" dirty="0"/>
              <a:t>7. </a:t>
            </a:r>
            <a:r>
              <a:rPr lang="en-IN" dirty="0"/>
              <a:t>Lean Software Development (LSD)</a:t>
            </a:r>
          </a:p>
        </p:txBody>
      </p:sp>
      <p:sp>
        <p:nvSpPr>
          <p:cNvPr id="3" name="Rectangle: Rounded Corners 2">
            <a:extLst>
              <a:ext uri="{FF2B5EF4-FFF2-40B4-BE49-F238E27FC236}">
                <a16:creationId xmlns:a16="http://schemas.microsoft.com/office/drawing/2014/main" id="{CBAE85BB-0D21-1AC1-D4D6-207A0303CD00}"/>
              </a:ext>
            </a:extLst>
          </p:cNvPr>
          <p:cNvSpPr/>
          <p:nvPr/>
        </p:nvSpPr>
        <p:spPr>
          <a:xfrm>
            <a:off x="765820" y="1340768"/>
            <a:ext cx="2736304" cy="1512168"/>
          </a:xfrm>
          <a:prstGeom prst="roundRect">
            <a:avLst/>
          </a:prstGeom>
          <a:solidFill>
            <a:schemeClr val="accent5">
              <a:lumMod val="50000"/>
            </a:schemeClr>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IN" sz="2000" b="1" dirty="0"/>
              <a:t>Eliminate Waste</a:t>
            </a:r>
          </a:p>
          <a:p>
            <a:pPr algn="ctr"/>
            <a:r>
              <a:rPr lang="en-US" sz="1400" dirty="0"/>
              <a:t>Remove anything that doesn't add value to the customer</a:t>
            </a:r>
            <a:endParaRPr lang="en-IN" sz="1400" b="1" dirty="0">
              <a:solidFill>
                <a:schemeClr val="bg1"/>
              </a:solidFill>
            </a:endParaRPr>
          </a:p>
        </p:txBody>
      </p:sp>
      <p:sp>
        <p:nvSpPr>
          <p:cNvPr id="4" name="Rectangle: Rounded Corners 3">
            <a:extLst>
              <a:ext uri="{FF2B5EF4-FFF2-40B4-BE49-F238E27FC236}">
                <a16:creationId xmlns:a16="http://schemas.microsoft.com/office/drawing/2014/main" id="{4C5EC602-AA25-20CD-4F09-4DC2381DC4FF}"/>
              </a:ext>
            </a:extLst>
          </p:cNvPr>
          <p:cNvSpPr/>
          <p:nvPr/>
        </p:nvSpPr>
        <p:spPr>
          <a:xfrm>
            <a:off x="4186200" y="1332654"/>
            <a:ext cx="2736304" cy="1512168"/>
          </a:xfrm>
          <a:prstGeom prst="roundRect">
            <a:avLst/>
          </a:prstGeom>
          <a:solidFill>
            <a:schemeClr val="accent5">
              <a:lumMod val="50000"/>
            </a:schemeClr>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IN" sz="2000" b="1" dirty="0"/>
              <a:t>Build Quality In</a:t>
            </a:r>
          </a:p>
          <a:p>
            <a:pPr algn="ctr"/>
            <a:r>
              <a:rPr lang="en-US" sz="1400" dirty="0"/>
              <a:t>Don't wait until the end to find bugs. Develop software correctly from the beginning</a:t>
            </a:r>
          </a:p>
        </p:txBody>
      </p:sp>
      <p:sp>
        <p:nvSpPr>
          <p:cNvPr id="5" name="Rectangle: Rounded Corners 4">
            <a:extLst>
              <a:ext uri="{FF2B5EF4-FFF2-40B4-BE49-F238E27FC236}">
                <a16:creationId xmlns:a16="http://schemas.microsoft.com/office/drawing/2014/main" id="{D79F573C-B082-CB36-2FAF-CBDF0E17B4CB}"/>
              </a:ext>
            </a:extLst>
          </p:cNvPr>
          <p:cNvSpPr/>
          <p:nvPr/>
        </p:nvSpPr>
        <p:spPr>
          <a:xfrm>
            <a:off x="7606580" y="1332654"/>
            <a:ext cx="2736304" cy="1512168"/>
          </a:xfrm>
          <a:prstGeom prst="roundRect">
            <a:avLst/>
          </a:prstGeom>
          <a:solidFill>
            <a:schemeClr val="accent5">
              <a:lumMod val="50000"/>
            </a:schemeClr>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IN" sz="2000" b="1" dirty="0"/>
              <a:t>Create Knowledge</a:t>
            </a:r>
          </a:p>
          <a:p>
            <a:pPr algn="ctr"/>
            <a:r>
              <a:rPr lang="en-US" sz="1400" dirty="0"/>
              <a:t>Every project teaches something. Developers should continuously learn</a:t>
            </a:r>
          </a:p>
          <a:p>
            <a:pPr algn="ctr"/>
            <a:r>
              <a:rPr lang="en-US" sz="1400" dirty="0"/>
              <a:t>and improve</a:t>
            </a:r>
          </a:p>
        </p:txBody>
      </p:sp>
      <p:sp>
        <p:nvSpPr>
          <p:cNvPr id="6" name="Rectangle: Rounded Corners 5">
            <a:extLst>
              <a:ext uri="{FF2B5EF4-FFF2-40B4-BE49-F238E27FC236}">
                <a16:creationId xmlns:a16="http://schemas.microsoft.com/office/drawing/2014/main" id="{387D2327-53BC-84AA-9212-EFCF59B18C07}"/>
              </a:ext>
            </a:extLst>
          </p:cNvPr>
          <p:cNvSpPr/>
          <p:nvPr/>
        </p:nvSpPr>
        <p:spPr>
          <a:xfrm>
            <a:off x="765820" y="3312840"/>
            <a:ext cx="2736304" cy="1512168"/>
          </a:xfrm>
          <a:prstGeom prst="roundRect">
            <a:avLst/>
          </a:prstGeom>
          <a:solidFill>
            <a:schemeClr val="accent5">
              <a:lumMod val="50000"/>
            </a:schemeClr>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IN" sz="2000" b="1" dirty="0"/>
              <a:t>Defer Commitment</a:t>
            </a:r>
          </a:p>
          <a:p>
            <a:pPr algn="ctr"/>
            <a:r>
              <a:rPr lang="en-US" sz="1400" dirty="0"/>
              <a:t>Don't make important decisions too early. Wait until enough information is available</a:t>
            </a:r>
          </a:p>
        </p:txBody>
      </p:sp>
      <p:sp>
        <p:nvSpPr>
          <p:cNvPr id="7" name="Rectangle: Rounded Corners 6">
            <a:extLst>
              <a:ext uri="{FF2B5EF4-FFF2-40B4-BE49-F238E27FC236}">
                <a16:creationId xmlns:a16="http://schemas.microsoft.com/office/drawing/2014/main" id="{28EAB5D1-2E87-FF13-7CF6-37F02CE5334E}"/>
              </a:ext>
            </a:extLst>
          </p:cNvPr>
          <p:cNvSpPr/>
          <p:nvPr/>
        </p:nvSpPr>
        <p:spPr>
          <a:xfrm>
            <a:off x="4186200" y="3344280"/>
            <a:ext cx="2736304" cy="1512168"/>
          </a:xfrm>
          <a:prstGeom prst="roundRect">
            <a:avLst/>
          </a:prstGeom>
          <a:solidFill>
            <a:schemeClr val="accent5">
              <a:lumMod val="50000"/>
            </a:schemeClr>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IN" sz="2000" b="1" dirty="0"/>
              <a:t>Deliver Fast</a:t>
            </a:r>
          </a:p>
          <a:p>
            <a:pPr algn="ctr"/>
            <a:r>
              <a:rPr lang="en-US" sz="1400" dirty="0"/>
              <a:t>Deliver useful software quickly. Don't make customers wait for months</a:t>
            </a:r>
          </a:p>
        </p:txBody>
      </p:sp>
      <p:sp>
        <p:nvSpPr>
          <p:cNvPr id="8" name="Rectangle: Rounded Corners 7">
            <a:extLst>
              <a:ext uri="{FF2B5EF4-FFF2-40B4-BE49-F238E27FC236}">
                <a16:creationId xmlns:a16="http://schemas.microsoft.com/office/drawing/2014/main" id="{798F1B19-50F4-A6C1-0771-A7A16CAC0BBB}"/>
              </a:ext>
            </a:extLst>
          </p:cNvPr>
          <p:cNvSpPr/>
          <p:nvPr/>
        </p:nvSpPr>
        <p:spPr>
          <a:xfrm>
            <a:off x="7606580" y="3312840"/>
            <a:ext cx="2736304" cy="1512168"/>
          </a:xfrm>
          <a:prstGeom prst="roundRect">
            <a:avLst/>
          </a:prstGeom>
          <a:solidFill>
            <a:schemeClr val="accent5">
              <a:lumMod val="50000"/>
            </a:schemeClr>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IN" sz="2000" b="1" dirty="0"/>
              <a:t>Respect People</a:t>
            </a:r>
          </a:p>
          <a:p>
            <a:pPr algn="ctr"/>
            <a:r>
              <a:rPr lang="en-US" sz="1400" dirty="0"/>
              <a:t>Trust developers. Encourage teamwork. Listen to ideas</a:t>
            </a:r>
          </a:p>
        </p:txBody>
      </p:sp>
      <p:sp>
        <p:nvSpPr>
          <p:cNvPr id="9" name="Rectangle: Rounded Corners 8">
            <a:extLst>
              <a:ext uri="{FF2B5EF4-FFF2-40B4-BE49-F238E27FC236}">
                <a16:creationId xmlns:a16="http://schemas.microsoft.com/office/drawing/2014/main" id="{D6A81DD7-9E23-C815-0127-998E96705297}"/>
              </a:ext>
            </a:extLst>
          </p:cNvPr>
          <p:cNvSpPr/>
          <p:nvPr/>
        </p:nvSpPr>
        <p:spPr>
          <a:xfrm>
            <a:off x="765820" y="5269632"/>
            <a:ext cx="2736304" cy="1512168"/>
          </a:xfrm>
          <a:prstGeom prst="roundRect">
            <a:avLst/>
          </a:prstGeom>
          <a:solidFill>
            <a:schemeClr val="accent5">
              <a:lumMod val="50000"/>
            </a:schemeClr>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IN" sz="2000" b="1" dirty="0"/>
              <a:t>Optimize the Whole</a:t>
            </a:r>
          </a:p>
          <a:p>
            <a:pPr algn="ctr"/>
            <a:r>
              <a:rPr lang="en-US" sz="1400" dirty="0"/>
              <a:t>Improve the </a:t>
            </a:r>
            <a:r>
              <a:rPr lang="en-US" sz="1400" b="1" dirty="0"/>
              <a:t>entire system</a:t>
            </a:r>
            <a:r>
              <a:rPr lang="en-US" sz="1400" dirty="0"/>
              <a:t>, not just one part</a:t>
            </a:r>
          </a:p>
        </p:txBody>
      </p:sp>
    </p:spTree>
    <p:extLst>
      <p:ext uri="{BB962C8B-B14F-4D97-AF65-F5344CB8AC3E}">
        <p14:creationId xmlns:p14="http://schemas.microsoft.com/office/powerpoint/2010/main" val="21828432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A06ED6-5154-C3F2-43D0-266FEDF63E3A}"/>
              </a:ext>
            </a:extLst>
          </p:cNvPr>
          <p:cNvSpPr>
            <a:spLocks noGrp="1"/>
          </p:cNvSpPr>
          <p:nvPr>
            <p:ph type="title"/>
          </p:nvPr>
        </p:nvSpPr>
        <p:spPr>
          <a:xfrm>
            <a:off x="1117309" y="76200"/>
            <a:ext cx="10157354" cy="832520"/>
          </a:xfrm>
        </p:spPr>
        <p:txBody>
          <a:bodyPr/>
          <a:lstStyle/>
          <a:p>
            <a:r>
              <a:rPr lang="en-US" dirty="0"/>
              <a:t>7. </a:t>
            </a:r>
            <a:r>
              <a:rPr lang="en-IN" dirty="0"/>
              <a:t>Lean Software Development (LSD)</a:t>
            </a:r>
          </a:p>
        </p:txBody>
      </p:sp>
      <p:sp>
        <p:nvSpPr>
          <p:cNvPr id="10" name="TextBox 9">
            <a:extLst>
              <a:ext uri="{FF2B5EF4-FFF2-40B4-BE49-F238E27FC236}">
                <a16:creationId xmlns:a16="http://schemas.microsoft.com/office/drawing/2014/main" id="{942CD83C-CCC9-2A27-35A5-CE8CB6FE45F6}"/>
              </a:ext>
            </a:extLst>
          </p:cNvPr>
          <p:cNvSpPr txBox="1"/>
          <p:nvPr/>
        </p:nvSpPr>
        <p:spPr>
          <a:xfrm>
            <a:off x="4006180" y="1196752"/>
            <a:ext cx="3342582" cy="4916731"/>
          </a:xfrm>
          <a:prstGeom prst="rect">
            <a:avLst/>
          </a:prstGeom>
          <a:noFill/>
        </p:spPr>
        <p:txBody>
          <a:bodyPr wrap="none" rtlCol="0">
            <a:spAutoFit/>
          </a:bodyPr>
          <a:lstStyle/>
          <a:p>
            <a:pPr>
              <a:lnSpc>
                <a:spcPct val="95000"/>
              </a:lnSpc>
            </a:pPr>
            <a:r>
              <a:rPr lang="en-IN" sz="2200" dirty="0"/>
              <a:t>Customer Requirement</a:t>
            </a:r>
          </a:p>
          <a:p>
            <a:pPr>
              <a:lnSpc>
                <a:spcPct val="95000"/>
              </a:lnSpc>
            </a:pPr>
            <a:r>
              <a:rPr lang="en-IN" sz="2200" dirty="0"/>
              <a:t>        ↓</a:t>
            </a:r>
          </a:p>
          <a:p>
            <a:pPr>
              <a:lnSpc>
                <a:spcPct val="95000"/>
              </a:lnSpc>
            </a:pPr>
            <a:r>
              <a:rPr lang="en-IN" sz="2200" dirty="0"/>
              <a:t>Identify Value</a:t>
            </a:r>
          </a:p>
          <a:p>
            <a:pPr>
              <a:lnSpc>
                <a:spcPct val="95000"/>
              </a:lnSpc>
            </a:pPr>
            <a:r>
              <a:rPr lang="en-IN" sz="2200" dirty="0"/>
              <a:t>        ↓</a:t>
            </a:r>
          </a:p>
          <a:p>
            <a:pPr>
              <a:lnSpc>
                <a:spcPct val="95000"/>
              </a:lnSpc>
            </a:pPr>
            <a:r>
              <a:rPr lang="en-IN" sz="2200" dirty="0"/>
              <a:t>Remove Waste</a:t>
            </a:r>
          </a:p>
          <a:p>
            <a:pPr>
              <a:lnSpc>
                <a:spcPct val="95000"/>
              </a:lnSpc>
            </a:pPr>
            <a:r>
              <a:rPr lang="en-IN" sz="2200" dirty="0"/>
              <a:t>        ↓</a:t>
            </a:r>
          </a:p>
          <a:p>
            <a:pPr>
              <a:lnSpc>
                <a:spcPct val="95000"/>
              </a:lnSpc>
            </a:pPr>
            <a:r>
              <a:rPr lang="en-IN" sz="2200" dirty="0"/>
              <a:t>Develop</a:t>
            </a:r>
          </a:p>
          <a:p>
            <a:pPr>
              <a:lnSpc>
                <a:spcPct val="95000"/>
              </a:lnSpc>
            </a:pPr>
            <a:r>
              <a:rPr lang="en-IN" sz="2200" dirty="0"/>
              <a:t>        ↓</a:t>
            </a:r>
          </a:p>
          <a:p>
            <a:pPr>
              <a:lnSpc>
                <a:spcPct val="95000"/>
              </a:lnSpc>
            </a:pPr>
            <a:r>
              <a:rPr lang="en-IN" sz="2200" dirty="0"/>
              <a:t>Continuous Testing</a:t>
            </a:r>
          </a:p>
          <a:p>
            <a:pPr>
              <a:lnSpc>
                <a:spcPct val="95000"/>
              </a:lnSpc>
            </a:pPr>
            <a:r>
              <a:rPr lang="en-IN" sz="2200" dirty="0"/>
              <a:t>        ↓</a:t>
            </a:r>
          </a:p>
          <a:p>
            <a:pPr>
              <a:lnSpc>
                <a:spcPct val="95000"/>
              </a:lnSpc>
            </a:pPr>
            <a:r>
              <a:rPr lang="en-IN" sz="2200" dirty="0"/>
              <a:t>Customer Feedback</a:t>
            </a:r>
          </a:p>
          <a:p>
            <a:pPr>
              <a:lnSpc>
                <a:spcPct val="95000"/>
              </a:lnSpc>
            </a:pPr>
            <a:r>
              <a:rPr lang="en-IN" sz="2200" dirty="0"/>
              <a:t>        ↓</a:t>
            </a:r>
          </a:p>
          <a:p>
            <a:pPr>
              <a:lnSpc>
                <a:spcPct val="95000"/>
              </a:lnSpc>
            </a:pPr>
            <a:r>
              <a:rPr lang="en-IN" sz="2200" dirty="0"/>
              <a:t>Improve</a:t>
            </a:r>
          </a:p>
          <a:p>
            <a:pPr>
              <a:lnSpc>
                <a:spcPct val="95000"/>
              </a:lnSpc>
            </a:pPr>
            <a:r>
              <a:rPr lang="en-IN" sz="2200" dirty="0"/>
              <a:t>        ↓</a:t>
            </a:r>
          </a:p>
          <a:p>
            <a:pPr>
              <a:lnSpc>
                <a:spcPct val="95000"/>
              </a:lnSpc>
            </a:pPr>
            <a:r>
              <a:rPr lang="en-IN" sz="2200" dirty="0"/>
              <a:t>Deliver Quickly</a:t>
            </a:r>
          </a:p>
        </p:txBody>
      </p:sp>
    </p:spTree>
    <p:extLst>
      <p:ext uri="{BB962C8B-B14F-4D97-AF65-F5344CB8AC3E}">
        <p14:creationId xmlns:p14="http://schemas.microsoft.com/office/powerpoint/2010/main" val="416639937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146F60E8-336D-41FB-9CB6-006442A86949}"/>
              </a:ext>
            </a:extLst>
          </p:cNvPr>
          <p:cNvGraphicFramePr>
            <a:graphicFrameLocks noGrp="1"/>
          </p:cNvGraphicFramePr>
          <p:nvPr>
            <p:extLst>
              <p:ext uri="{D42A27DB-BD31-4B8C-83A1-F6EECF244321}">
                <p14:modId xmlns:p14="http://schemas.microsoft.com/office/powerpoint/2010/main" val="1449070828"/>
              </p:ext>
            </p:extLst>
          </p:nvPr>
        </p:nvGraphicFramePr>
        <p:xfrm>
          <a:off x="1197868" y="620688"/>
          <a:ext cx="9721080" cy="6048672"/>
        </p:xfrm>
        <a:graphic>
          <a:graphicData uri="http://schemas.openxmlformats.org/drawingml/2006/table">
            <a:tbl>
              <a:tblPr/>
              <a:tblGrid>
                <a:gridCol w="4860540">
                  <a:extLst>
                    <a:ext uri="{9D8B030D-6E8A-4147-A177-3AD203B41FA5}">
                      <a16:colId xmlns:a16="http://schemas.microsoft.com/office/drawing/2014/main" val="95709030"/>
                    </a:ext>
                  </a:extLst>
                </a:gridCol>
                <a:gridCol w="4860540">
                  <a:extLst>
                    <a:ext uri="{9D8B030D-6E8A-4147-A177-3AD203B41FA5}">
                      <a16:colId xmlns:a16="http://schemas.microsoft.com/office/drawing/2014/main" val="2977995394"/>
                    </a:ext>
                  </a:extLst>
                </a:gridCol>
              </a:tblGrid>
              <a:tr h="539990">
                <a:tc>
                  <a:txBody>
                    <a:bodyPr/>
                    <a:lstStyle/>
                    <a:p>
                      <a:r>
                        <a:rPr lang="en-IN" sz="2100" b="1" dirty="0"/>
                        <a:t>If your project is...</a:t>
                      </a:r>
                    </a:p>
                  </a:txBody>
                  <a:tcPr marL="79829" marR="79829" marT="39914" marB="39914" anchor="ctr">
                    <a:lnL>
                      <a:noFill/>
                    </a:lnL>
                    <a:lnR>
                      <a:noFill/>
                    </a:lnR>
                    <a:lnT>
                      <a:noFill/>
                    </a:lnT>
                    <a:lnB>
                      <a:noFill/>
                    </a:lnB>
                    <a:noFill/>
                  </a:tcPr>
                </a:tc>
                <a:tc>
                  <a:txBody>
                    <a:bodyPr/>
                    <a:lstStyle/>
                    <a:p>
                      <a:r>
                        <a:rPr lang="en-IN" sz="2100" b="1" dirty="0"/>
                        <a:t>Choose...</a:t>
                      </a:r>
                    </a:p>
                  </a:txBody>
                  <a:tcPr marL="79829" marR="79829" marT="39914" marB="39914" anchor="ctr">
                    <a:lnL>
                      <a:noFill/>
                    </a:lnL>
                    <a:lnR>
                      <a:noFill/>
                    </a:lnR>
                    <a:lnT>
                      <a:noFill/>
                    </a:lnT>
                    <a:lnB>
                      <a:noFill/>
                    </a:lnB>
                    <a:noFill/>
                  </a:tcPr>
                </a:tc>
                <a:extLst>
                  <a:ext uri="{0D108BD9-81ED-4DB2-BD59-A6C34878D82A}">
                    <a16:rowId xmlns:a16="http://schemas.microsoft.com/office/drawing/2014/main" val="1318262975"/>
                  </a:ext>
                </a:extLst>
              </a:tr>
              <a:tr h="972178">
                <a:tc>
                  <a:txBody>
                    <a:bodyPr/>
                    <a:lstStyle/>
                    <a:p>
                      <a:r>
                        <a:rPr lang="en-US" sz="2100" dirty="0"/>
                        <a:t>New product with changing requirements</a:t>
                      </a:r>
                    </a:p>
                  </a:txBody>
                  <a:tcPr marL="79829" marR="79829" marT="39914" marB="39914" anchor="ctr">
                    <a:lnL>
                      <a:noFill/>
                    </a:lnL>
                    <a:lnR>
                      <a:noFill/>
                    </a:lnR>
                    <a:lnT>
                      <a:noFill/>
                    </a:lnT>
                    <a:lnB>
                      <a:noFill/>
                    </a:lnB>
                    <a:noFill/>
                  </a:tcPr>
                </a:tc>
                <a:tc>
                  <a:txBody>
                    <a:bodyPr/>
                    <a:lstStyle/>
                    <a:p>
                      <a:r>
                        <a:rPr lang="en-IN" sz="2100"/>
                        <a:t>Scrum</a:t>
                      </a:r>
                    </a:p>
                  </a:txBody>
                  <a:tcPr marL="79829" marR="79829" marT="39914" marB="39914" anchor="ctr">
                    <a:lnL>
                      <a:noFill/>
                    </a:lnL>
                    <a:lnR>
                      <a:noFill/>
                    </a:lnR>
                    <a:lnT>
                      <a:noFill/>
                    </a:lnT>
                    <a:lnB>
                      <a:noFill/>
                    </a:lnB>
                    <a:noFill/>
                  </a:tcPr>
                </a:tc>
                <a:extLst>
                  <a:ext uri="{0D108BD9-81ED-4DB2-BD59-A6C34878D82A}">
                    <a16:rowId xmlns:a16="http://schemas.microsoft.com/office/drawing/2014/main" val="3391034246"/>
                  </a:ext>
                </a:extLst>
              </a:tr>
              <a:tr h="539990">
                <a:tc>
                  <a:txBody>
                    <a:bodyPr/>
                    <a:lstStyle/>
                    <a:p>
                      <a:r>
                        <a:rPr lang="en-IN" sz="2100"/>
                        <a:t>Code quality is critical</a:t>
                      </a:r>
                    </a:p>
                  </a:txBody>
                  <a:tcPr marL="79829" marR="79829" marT="39914" marB="39914" anchor="ctr">
                    <a:lnL>
                      <a:noFill/>
                    </a:lnL>
                    <a:lnR>
                      <a:noFill/>
                    </a:lnR>
                    <a:lnT>
                      <a:noFill/>
                    </a:lnT>
                    <a:lnB>
                      <a:noFill/>
                    </a:lnB>
                    <a:noFill/>
                  </a:tcPr>
                </a:tc>
                <a:tc>
                  <a:txBody>
                    <a:bodyPr/>
                    <a:lstStyle/>
                    <a:p>
                      <a:r>
                        <a:rPr lang="en-IN" sz="2100"/>
                        <a:t>XP + TDD</a:t>
                      </a:r>
                    </a:p>
                  </a:txBody>
                  <a:tcPr marL="79829" marR="79829" marT="39914" marB="39914" anchor="ctr">
                    <a:lnL>
                      <a:noFill/>
                    </a:lnL>
                    <a:lnR>
                      <a:noFill/>
                    </a:lnR>
                    <a:lnT>
                      <a:noFill/>
                    </a:lnT>
                    <a:lnB>
                      <a:noFill/>
                    </a:lnB>
                    <a:noFill/>
                  </a:tcPr>
                </a:tc>
                <a:extLst>
                  <a:ext uri="{0D108BD9-81ED-4DB2-BD59-A6C34878D82A}">
                    <a16:rowId xmlns:a16="http://schemas.microsoft.com/office/drawing/2014/main" val="1291596717"/>
                  </a:ext>
                </a:extLst>
              </a:tr>
              <a:tr h="972178">
                <a:tc>
                  <a:txBody>
                    <a:bodyPr/>
                    <a:lstStyle/>
                    <a:p>
                      <a:r>
                        <a:rPr lang="en-IN" sz="2100"/>
                        <a:t>Continuous support or operations</a:t>
                      </a:r>
                    </a:p>
                  </a:txBody>
                  <a:tcPr marL="79829" marR="79829" marT="39914" marB="39914" anchor="ctr">
                    <a:lnL>
                      <a:noFill/>
                    </a:lnL>
                    <a:lnR>
                      <a:noFill/>
                    </a:lnR>
                    <a:lnT>
                      <a:noFill/>
                    </a:lnT>
                    <a:lnB>
                      <a:noFill/>
                    </a:lnB>
                    <a:noFill/>
                  </a:tcPr>
                </a:tc>
                <a:tc>
                  <a:txBody>
                    <a:bodyPr/>
                    <a:lstStyle/>
                    <a:p>
                      <a:r>
                        <a:rPr lang="en-IN" sz="2100" dirty="0"/>
                        <a:t>Kanban</a:t>
                      </a:r>
                    </a:p>
                  </a:txBody>
                  <a:tcPr marL="79829" marR="79829" marT="39914" marB="39914" anchor="ctr">
                    <a:lnL>
                      <a:noFill/>
                    </a:lnL>
                    <a:lnR>
                      <a:noFill/>
                    </a:lnR>
                    <a:lnT>
                      <a:noFill/>
                    </a:lnT>
                    <a:lnB>
                      <a:noFill/>
                    </a:lnB>
                    <a:noFill/>
                  </a:tcPr>
                </a:tc>
                <a:extLst>
                  <a:ext uri="{0D108BD9-81ED-4DB2-BD59-A6C34878D82A}">
                    <a16:rowId xmlns:a16="http://schemas.microsoft.com/office/drawing/2014/main" val="3437921319"/>
                  </a:ext>
                </a:extLst>
              </a:tr>
              <a:tr h="972178">
                <a:tc>
                  <a:txBody>
                    <a:bodyPr/>
                    <a:lstStyle/>
                    <a:p>
                      <a:r>
                        <a:rPr lang="en-US" sz="2100"/>
                        <a:t>Large enterprise with many features</a:t>
                      </a:r>
                    </a:p>
                  </a:txBody>
                  <a:tcPr marL="79829" marR="79829" marT="39914" marB="39914" anchor="ctr">
                    <a:lnL>
                      <a:noFill/>
                    </a:lnL>
                    <a:lnR>
                      <a:noFill/>
                    </a:lnR>
                    <a:lnT>
                      <a:noFill/>
                    </a:lnT>
                    <a:lnB>
                      <a:noFill/>
                    </a:lnB>
                    <a:noFill/>
                  </a:tcPr>
                </a:tc>
                <a:tc>
                  <a:txBody>
                    <a:bodyPr/>
                    <a:lstStyle/>
                    <a:p>
                      <a:r>
                        <a:rPr lang="en-IN" sz="2100"/>
                        <a:t>FDD</a:t>
                      </a:r>
                    </a:p>
                  </a:txBody>
                  <a:tcPr marL="79829" marR="79829" marT="39914" marB="39914" anchor="ctr">
                    <a:lnL>
                      <a:noFill/>
                    </a:lnL>
                    <a:lnR>
                      <a:noFill/>
                    </a:lnR>
                    <a:lnT>
                      <a:noFill/>
                    </a:lnT>
                    <a:lnB>
                      <a:noFill/>
                    </a:lnB>
                    <a:noFill/>
                  </a:tcPr>
                </a:tc>
                <a:extLst>
                  <a:ext uri="{0D108BD9-81ED-4DB2-BD59-A6C34878D82A}">
                    <a16:rowId xmlns:a16="http://schemas.microsoft.com/office/drawing/2014/main" val="3908573423"/>
                  </a:ext>
                </a:extLst>
              </a:tr>
              <a:tr h="539990">
                <a:tc>
                  <a:txBody>
                    <a:bodyPr/>
                    <a:lstStyle/>
                    <a:p>
                      <a:r>
                        <a:rPr lang="en-IN" sz="2100"/>
                        <a:t>Small team</a:t>
                      </a:r>
                    </a:p>
                  </a:txBody>
                  <a:tcPr marL="79829" marR="79829" marT="39914" marB="39914" anchor="ctr">
                    <a:lnL>
                      <a:noFill/>
                    </a:lnL>
                    <a:lnR>
                      <a:noFill/>
                    </a:lnR>
                    <a:lnT>
                      <a:noFill/>
                    </a:lnT>
                    <a:lnB>
                      <a:noFill/>
                    </a:lnB>
                    <a:noFill/>
                  </a:tcPr>
                </a:tc>
                <a:tc>
                  <a:txBody>
                    <a:bodyPr/>
                    <a:lstStyle/>
                    <a:p>
                      <a:r>
                        <a:rPr lang="en-IN" sz="2100"/>
                        <a:t>Crystal</a:t>
                      </a:r>
                    </a:p>
                  </a:txBody>
                  <a:tcPr marL="79829" marR="79829" marT="39914" marB="39914" anchor="ctr">
                    <a:lnL>
                      <a:noFill/>
                    </a:lnL>
                    <a:lnR>
                      <a:noFill/>
                    </a:lnR>
                    <a:lnT>
                      <a:noFill/>
                    </a:lnT>
                    <a:lnB>
                      <a:noFill/>
                    </a:lnB>
                    <a:noFill/>
                  </a:tcPr>
                </a:tc>
                <a:extLst>
                  <a:ext uri="{0D108BD9-81ED-4DB2-BD59-A6C34878D82A}">
                    <a16:rowId xmlns:a16="http://schemas.microsoft.com/office/drawing/2014/main" val="3547217687"/>
                  </a:ext>
                </a:extLst>
              </a:tr>
              <a:tr h="539990">
                <a:tc>
                  <a:txBody>
                    <a:bodyPr/>
                    <a:lstStyle/>
                    <a:p>
                      <a:r>
                        <a:rPr lang="en-IN" sz="2100"/>
                        <a:t>Research or AI prototype</a:t>
                      </a:r>
                    </a:p>
                  </a:txBody>
                  <a:tcPr marL="79829" marR="79829" marT="39914" marB="39914" anchor="ctr">
                    <a:lnL>
                      <a:noFill/>
                    </a:lnL>
                    <a:lnR>
                      <a:noFill/>
                    </a:lnR>
                    <a:lnT>
                      <a:noFill/>
                    </a:lnT>
                    <a:lnB>
                      <a:noFill/>
                    </a:lnB>
                    <a:noFill/>
                  </a:tcPr>
                </a:tc>
                <a:tc>
                  <a:txBody>
                    <a:bodyPr/>
                    <a:lstStyle/>
                    <a:p>
                      <a:r>
                        <a:rPr lang="en-IN" sz="2100"/>
                        <a:t>ASD</a:t>
                      </a:r>
                    </a:p>
                  </a:txBody>
                  <a:tcPr marL="79829" marR="79829" marT="39914" marB="39914" anchor="ctr">
                    <a:lnL>
                      <a:noFill/>
                    </a:lnL>
                    <a:lnR>
                      <a:noFill/>
                    </a:lnR>
                    <a:lnT>
                      <a:noFill/>
                    </a:lnT>
                    <a:lnB>
                      <a:noFill/>
                    </a:lnB>
                    <a:noFill/>
                  </a:tcPr>
                </a:tc>
                <a:extLst>
                  <a:ext uri="{0D108BD9-81ED-4DB2-BD59-A6C34878D82A}">
                    <a16:rowId xmlns:a16="http://schemas.microsoft.com/office/drawing/2014/main" val="1678275723"/>
                  </a:ext>
                </a:extLst>
              </a:tr>
              <a:tr h="972178">
                <a:tc>
                  <a:txBody>
                    <a:bodyPr/>
                    <a:lstStyle/>
                    <a:p>
                      <a:r>
                        <a:rPr lang="en-US" sz="2100"/>
                        <a:t>Need to reduce waste and improve efficiency</a:t>
                      </a:r>
                    </a:p>
                  </a:txBody>
                  <a:tcPr marL="79829" marR="79829" marT="39914" marB="39914" anchor="ctr">
                    <a:lnL>
                      <a:noFill/>
                    </a:lnL>
                    <a:lnR>
                      <a:noFill/>
                    </a:lnR>
                    <a:lnT>
                      <a:noFill/>
                    </a:lnT>
                    <a:lnB>
                      <a:noFill/>
                    </a:lnB>
                    <a:noFill/>
                  </a:tcPr>
                </a:tc>
                <a:tc>
                  <a:txBody>
                    <a:bodyPr/>
                    <a:lstStyle/>
                    <a:p>
                      <a:r>
                        <a:rPr lang="en-IN" sz="2100" dirty="0"/>
                        <a:t>Lean</a:t>
                      </a:r>
                    </a:p>
                  </a:txBody>
                  <a:tcPr marL="79829" marR="79829" marT="39914" marB="39914" anchor="ctr">
                    <a:lnL>
                      <a:noFill/>
                    </a:lnL>
                    <a:lnR>
                      <a:noFill/>
                    </a:lnR>
                    <a:lnT>
                      <a:noFill/>
                    </a:lnT>
                    <a:lnB>
                      <a:noFill/>
                    </a:lnB>
                    <a:noFill/>
                  </a:tcPr>
                </a:tc>
                <a:extLst>
                  <a:ext uri="{0D108BD9-81ED-4DB2-BD59-A6C34878D82A}">
                    <a16:rowId xmlns:a16="http://schemas.microsoft.com/office/drawing/2014/main" val="105338357"/>
                  </a:ext>
                </a:extLst>
              </a:tr>
            </a:tbl>
          </a:graphicData>
        </a:graphic>
      </p:graphicFrame>
    </p:spTree>
    <p:extLst>
      <p:ext uri="{BB962C8B-B14F-4D97-AF65-F5344CB8AC3E}">
        <p14:creationId xmlns:p14="http://schemas.microsoft.com/office/powerpoint/2010/main" val="31304114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0055CBB-6685-9ED3-D78A-65C7EB29535F}"/>
              </a:ext>
            </a:extLst>
          </p:cNvPr>
          <p:cNvPicPr>
            <a:picLocks noChangeAspect="1"/>
          </p:cNvPicPr>
          <p:nvPr/>
        </p:nvPicPr>
        <p:blipFill>
          <a:blip r:embed="rId2"/>
          <a:stretch>
            <a:fillRect/>
          </a:stretch>
        </p:blipFill>
        <p:spPr>
          <a:xfrm>
            <a:off x="204152" y="1203960"/>
            <a:ext cx="11780520" cy="4450080"/>
          </a:xfrm>
          <a:prstGeom prst="rect">
            <a:avLst/>
          </a:prstGeom>
        </p:spPr>
      </p:pic>
    </p:spTree>
    <p:extLst>
      <p:ext uri="{BB962C8B-B14F-4D97-AF65-F5344CB8AC3E}">
        <p14:creationId xmlns:p14="http://schemas.microsoft.com/office/powerpoint/2010/main" val="28257726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Class open house presentatio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entury Gothic">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100000" t="-80000" r="-50000" b="180000"/>
          </a:path>
        </a:gradFill>
        <a:gradFill rotWithShape="1">
          <a:gsLst>
            <a:gs pos="0">
              <a:schemeClr val="phClr">
                <a:tint val="80000"/>
                <a:satMod val="300000"/>
              </a:schemeClr>
            </a:gs>
            <a:gs pos="100000">
              <a:schemeClr val="phClr">
                <a:shade val="30000"/>
                <a:satMod val="200000"/>
              </a:schemeClr>
            </a:gs>
          </a:gsLst>
          <a:path path="circle">
            <a:fillToRect l="30000" t="30000" r="70000" b="100000"/>
          </a:path>
        </a:gradFill>
      </a:bgFillStyleLst>
    </a:fmtScheme>
  </a:themeElements>
  <a:objectDefaults>
    <a:spDef>
      <a:spPr>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miter lim="800000"/>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lnSpc>
            <a:spcPct val="95000"/>
          </a:lnSpc>
          <a:defRPr/>
        </a:defPPr>
      </a:lstStyle>
    </a:txDef>
  </a:objectDefaults>
  <a:extraClrSchemeLst/>
  <a:extLst>
    <a:ext uri="{05A4C25C-085E-4340-85A3-A5531E510DB2}">
      <thm15:themeFamily xmlns:thm15="http://schemas.microsoft.com/office/thememl/2012/main" name="Classroom open house presentation.potx" id="{AB7D8AB0-4323-4322-AB21-8CB398DB9E96}" vid="{5BFEA1FF-C39F-48A2-B239-4B55565FC3E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entury Gothic">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entury Gothic">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Classroom open house presentation</Template>
  <TotalTime>1386</TotalTime>
  <Words>2031</Words>
  <Application>Microsoft Office PowerPoint</Application>
  <PresentationFormat>Custom</PresentationFormat>
  <Paragraphs>412</Paragraphs>
  <Slides>35</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35</vt:i4>
      </vt:variant>
    </vt:vector>
  </HeadingPairs>
  <TitlesOfParts>
    <vt:vector size="38" baseType="lpstr">
      <vt:lpstr>Arial</vt:lpstr>
      <vt:lpstr>Century Gothic</vt:lpstr>
      <vt:lpstr>Class open house presentation</vt:lpstr>
      <vt:lpstr>Agile Processes</vt:lpstr>
      <vt:lpstr>Revise</vt:lpstr>
      <vt:lpstr>Agile vs Agile Methodologies</vt:lpstr>
      <vt:lpstr>1. Scrum</vt:lpstr>
      <vt:lpstr>1. Scrum</vt:lpstr>
      <vt:lpstr>1. Scrum</vt:lpstr>
      <vt:lpstr>PowerPoint Presentation</vt:lpstr>
      <vt:lpstr>1. Scrum</vt:lpstr>
      <vt:lpstr>2. Extreme Programming (XP)</vt:lpstr>
      <vt:lpstr>2. Extreme Programming (XP)</vt:lpstr>
      <vt:lpstr>PowerPoint Presentation</vt:lpstr>
      <vt:lpstr>2. Extreme Programming (XP)</vt:lpstr>
      <vt:lpstr>3. Feature Driven Development (FDD)</vt:lpstr>
      <vt:lpstr>3. Feature Driven Development (FDD)</vt:lpstr>
      <vt:lpstr>PowerPoint Presentation</vt:lpstr>
      <vt:lpstr>3. Feature Driven Development (FDD)</vt:lpstr>
      <vt:lpstr>4. Crystal Method</vt:lpstr>
      <vt:lpstr>4. Crystal Method</vt:lpstr>
      <vt:lpstr>4. Crystal Method</vt:lpstr>
      <vt:lpstr>5. Kanban</vt:lpstr>
      <vt:lpstr>5. Kanban</vt:lpstr>
      <vt:lpstr>PowerPoint Presentation</vt:lpstr>
      <vt:lpstr>5. Kanban</vt:lpstr>
      <vt:lpstr>6. Adaptive Software Development (ASD)</vt:lpstr>
      <vt:lpstr>6. Adaptive Software Development (ASD)</vt:lpstr>
      <vt:lpstr>PowerPoint Presentation</vt:lpstr>
      <vt:lpstr>6. Adaptive Software Development (ASD)</vt:lpstr>
      <vt:lpstr>7. Lean Software Development (LSD)</vt:lpstr>
      <vt:lpstr>7. Lean Software Development (LSD)</vt:lpstr>
      <vt:lpstr>7. Lean Software Development (LSD)</vt:lpstr>
      <vt:lpstr>PowerPoint Presentation</vt:lpstr>
      <vt:lpstr>7. Lean Software Development (LSD)</vt:lpstr>
      <vt:lpstr>7. Lean Software Development (LSD)</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Aruna Inamdar</dc:creator>
  <cp:lastModifiedBy>Aruna Inamdar</cp:lastModifiedBy>
  <cp:revision>167</cp:revision>
  <dcterms:created xsi:type="dcterms:W3CDTF">2026-07-15T13:08:00Z</dcterms:created>
  <dcterms:modified xsi:type="dcterms:W3CDTF">2026-07-26T09:23:40Z</dcterms:modified>
  <cp:version/>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0x010100AA3F7D94069FF64A86F7DFF56D60E3BE</vt:lpwstr>
  </property>
  <property fmtid="{D5CDD505-2E9C-101B-9397-08002B2CF9AE}" pid="3" name="Order">
    <vt:r8>74062800</vt:r8>
  </property>
  <property fmtid="{D5CDD505-2E9C-101B-9397-08002B2CF9AE}" pid="4" name="HiddenCategoryTags">
    <vt:lpwstr/>
  </property>
  <property fmtid="{D5CDD505-2E9C-101B-9397-08002B2CF9AE}" pid="5" name="InternalTags">
    <vt:lpwstr/>
  </property>
  <property fmtid="{D5CDD505-2E9C-101B-9397-08002B2CF9AE}" pid="6" name="FeatureTags">
    <vt:lpwstr/>
  </property>
  <property fmtid="{D5CDD505-2E9C-101B-9397-08002B2CF9AE}" pid="7" name="LocalizationTags">
    <vt:lpwstr/>
  </property>
  <property fmtid="{D5CDD505-2E9C-101B-9397-08002B2CF9AE}" pid="8" name="CategoryTags">
    <vt:lpwstr/>
  </property>
  <property fmtid="{D5CDD505-2E9C-101B-9397-08002B2CF9AE}" pid="9" name="Applications">
    <vt:lpwstr/>
  </property>
  <property fmtid="{D5CDD505-2E9C-101B-9397-08002B2CF9AE}" pid="10" name="CampaignTags">
    <vt:lpwstr/>
  </property>
  <property fmtid="{D5CDD505-2E9C-101B-9397-08002B2CF9AE}" pid="11" name="ScenarioTags">
    <vt:lpwstr/>
  </property>
</Properties>
</file>