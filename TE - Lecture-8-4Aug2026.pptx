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7" r:id="rId3"/>
    <p:sldId id="269" r:id="rId4"/>
    <p:sldId id="270" r:id="rId5"/>
    <p:sldId id="271" r:id="rId6"/>
    <p:sldId id="272" r:id="rId7"/>
    <p:sldId id="273" r:id="rId8"/>
    <p:sldId id="268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945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2">
          <p15:clr>
            <a:srgbClr val="A4A3A4"/>
          </p15:clr>
        </p15:guide>
        <p15:guide id="5" orient="horz" pos="1072">
          <p15:clr>
            <a:srgbClr val="A4A3A4"/>
          </p15:clr>
        </p15:guide>
        <p15:guide id="6" pos="3839">
          <p15:clr>
            <a:srgbClr val="A4A3A4"/>
          </p15:clr>
        </p15:guide>
        <p15:guide id="7" pos="704">
          <p15:clr>
            <a:srgbClr val="A4A3A4"/>
          </p15:clr>
        </p15:guide>
        <p15:guide id="8" pos="710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DBED569-4797-4DF1-A0F4-6AAB3CD982D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182" autoAdjust="0"/>
  </p:normalViewPr>
  <p:slideViewPr>
    <p:cSldViewPr showGuides="1">
      <p:cViewPr varScale="1">
        <p:scale>
          <a:sx n="82" d="100"/>
          <a:sy n="82" d="100"/>
        </p:scale>
        <p:origin x="720" y="72"/>
      </p:cViewPr>
      <p:guideLst>
        <p:guide orient="horz" pos="2160"/>
        <p:guide orient="horz" pos="945"/>
        <p:guide orient="horz" pos="3888"/>
        <p:guide orient="horz" pos="192"/>
        <p:guide orient="horz" pos="1072"/>
        <p:guide pos="3839"/>
        <p:guide pos="704"/>
        <p:guide pos="7102"/>
      </p:guideLst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1644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8/9/2026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8/9/2026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05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190572" cy="6858000"/>
            <a:chOff x="0" y="0"/>
            <a:chExt cx="12190572" cy="6858000"/>
          </a:xfrm>
        </p:grpSpPr>
        <p:sp>
          <p:nvSpPr>
            <p:cNvPr id="13" name="Rectangle 12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0" y="0"/>
              <a:ext cx="4742741" cy="6858000"/>
              <a:chOff x="0" y="0"/>
              <a:chExt cx="4742741" cy="6858000"/>
            </a:xfrm>
          </p:grpSpPr>
          <p:pic>
            <p:nvPicPr>
              <p:cNvPr id="9" name="Picture 8" descr="Stacked books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0" y="0"/>
                <a:ext cx="4591594" cy="6858000"/>
              </a:xfrm>
              <a:prstGeom prst="rect">
                <a:avLst/>
              </a:prstGeom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4605581" y="0"/>
                <a:ext cx="137160" cy="6858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9346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79346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6A09E-12D5-4B1D-B8BB-C300B1DDD423}" type="datetime1">
              <a:rPr lang="en-US" smtClean="0"/>
              <a:t>8/9/2026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12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377B-053C-438C-8A98-92C419A6701C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9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4" name="Rectangle 3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8818" y="0"/>
              <a:ext cx="4591594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7481252" y="0"/>
              <a:ext cx="137160" cy="6858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>
                <a:solidFill>
                  <a:schemeClr val="tx2"/>
                </a:solidFill>
              </a:endParaRPr>
            </a:p>
          </p:txBody>
        </p:sp>
      </p:grpSp>
      <p:pic>
        <p:nvPicPr>
          <p:cNvPr id="5" name="Picture 4" descr="Stacked book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18" y="0"/>
            <a:ext cx="4591594" cy="685800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237149" y="1498601"/>
            <a:ext cx="7008574" cy="3298825"/>
          </a:xfrm>
        </p:spPr>
        <p:txBody>
          <a:bodyPr>
            <a:normAutofit/>
          </a:bodyPr>
          <a:lstStyle>
            <a:lvl1pPr algn="l">
              <a:lnSpc>
                <a:spcPct val="90000"/>
              </a:lnSpc>
              <a:defRPr sz="5400" b="0" cap="none" spc="0" baseline="0">
                <a:ln w="0"/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237149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 cap="none" spc="0">
                <a:ln w="0"/>
                <a:solidFill>
                  <a:schemeClr val="accent2">
                    <a:lumMod val="50000"/>
                  </a:schemeClr>
                </a:solidFill>
                <a:effectLst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CEF46-0123-4A75-9835-49DC49D53DE2}" type="datetime1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2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buFont typeface="Century Gothic" panose="020B0502020202020204" pitchFamily="34" charset="0"/>
              <a:buChar char="–"/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8"/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78D-18AE-47D1-B10A-42F623B40082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45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297078" indent="-285750">
              <a:buFont typeface="Century Gothic" panose="020B0502020202020204" pitchFamily="34" charset="0"/>
              <a:buChar char="–"/>
              <a:defRPr sz="1800"/>
            </a:lvl6pPr>
            <a:lvl7pPr marL="2568575" indent="-285750">
              <a:defRPr sz="1800"/>
            </a:lvl7pPr>
            <a:lvl8pPr marL="2860675" indent="-285750">
              <a:defRPr sz="1800"/>
            </a:lvl8pPr>
            <a:lvl9pPr marL="3151188" indent="-285750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F6AE8-D704-41F6-B16A-5547B5672AC1}" type="datetime1">
              <a:rPr lang="en-US" smtClean="0"/>
              <a:t>8/9/2026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07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B9538-6F63-4C0B-916D-ED3F4E0A1B28}" type="datetime1">
              <a:rPr lang="en-US" smtClean="0"/>
              <a:t>8/9/2026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84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F15BF-7116-4A9E-8022-5A2DC937F971}" type="datetime1">
              <a:rPr lang="en-US" smtClean="0"/>
              <a:t>8/9/2026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612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418976" indent="-285750">
              <a:buFont typeface="Century Gothic" panose="020B0502020202020204" pitchFamily="34" charset="0"/>
              <a:buChar char="–"/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5612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8DC91-5A3B-40CE-8C1D-279A8EF6E008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10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7C20A-B94A-4E20-B4B2-88A7825AE904}" type="datetime1">
              <a:rPr lang="en-US" smtClean="0"/>
              <a:t>8/9/2026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72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CA53D-4C84-40AA-983E-A1E818A7FEFC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619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>
            <a:lvl5pPr>
              <a:defRPr/>
            </a:lvl5pPr>
            <a:lvl6pPr marL="2418976" indent="-285750">
              <a:buFont typeface="Century Gothic" panose="020B0502020202020204" pitchFamily="34" charset="0"/>
              <a:buChar char="–"/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2FCEE-AE66-4EAB-9C04-97F8A56A6354}" type="datetime1">
              <a:rPr lang="en-US" smtClean="0"/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620" y="0"/>
            <a:ext cx="12188952" cy="6858000"/>
            <a:chOff x="1620" y="0"/>
            <a:chExt cx="12188952" cy="6858000"/>
          </a:xfrm>
        </p:grpSpPr>
        <p:sp>
          <p:nvSpPr>
            <p:cNvPr id="10" name="Rectangle 9"/>
            <p:cNvSpPr/>
            <p:nvPr/>
          </p:nvSpPr>
          <p:spPr>
            <a:xfrm>
              <a:off x="1620" y="0"/>
              <a:ext cx="12188952" cy="6858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5800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5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304721" y="0"/>
              <a:ext cx="11579384" cy="685800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21899" tIns="60949" rIns="121899" bIns="60949"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859468AF-EFCF-4AAD-ACF4-3BA83EC4AF4E}" type="datetime1">
              <a:rPr lang="en-US" smtClean="0"/>
              <a:pPr/>
              <a:t>8/9/2026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7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b="0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Agile Quality Assurance and Testing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9346" y="4941168"/>
            <a:ext cx="7008574" cy="1244600"/>
          </a:xfrm>
        </p:spPr>
        <p:txBody>
          <a:bodyPr/>
          <a:lstStyle/>
          <a:p>
            <a:r>
              <a:rPr lang="en-US" dirty="0"/>
              <a:t>Aruna Kumbhar</a:t>
            </a:r>
          </a:p>
        </p:txBody>
      </p:sp>
    </p:spTree>
    <p:extLst>
      <p:ext uri="{BB962C8B-B14F-4D97-AF65-F5344CB8AC3E}">
        <p14:creationId xmlns:p14="http://schemas.microsoft.com/office/powerpoint/2010/main" val="168988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A3744-82BD-18CD-BD9F-BA4F2D79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IN" dirty="0"/>
              <a:t>Revise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1C79-8EB4-E7B5-84F2-09F2C4AB6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836" y="1193800"/>
            <a:ext cx="10157354" cy="4470400"/>
          </a:xfrm>
        </p:spPr>
        <p:txBody>
          <a:bodyPr>
            <a:normAutofit/>
          </a:bodyPr>
          <a:lstStyle/>
          <a:p>
            <a:r>
              <a:rPr lang="en-IN" dirty="0"/>
              <a:t>Advanced Agile Estimation</a:t>
            </a:r>
          </a:p>
          <a:p>
            <a:r>
              <a:rPr lang="en-IN" dirty="0"/>
              <a:t>Agile Metrics</a:t>
            </a:r>
          </a:p>
          <a:p>
            <a:r>
              <a:rPr lang="en-IN" dirty="0"/>
              <a:t>Agile Quality Assurance</a:t>
            </a:r>
          </a:p>
          <a:p>
            <a:r>
              <a:rPr lang="en-IN" dirty="0"/>
              <a:t>Software Testing – Functional Testing, UI Testing, Performance Testing, Security Testing</a:t>
            </a:r>
          </a:p>
        </p:txBody>
      </p:sp>
    </p:spTree>
    <p:extLst>
      <p:ext uri="{BB962C8B-B14F-4D97-AF65-F5344CB8AC3E}">
        <p14:creationId xmlns:p14="http://schemas.microsoft.com/office/powerpoint/2010/main" val="310294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E79CEB-1724-9739-AF42-B3A4680F0AAC}"/>
              </a:ext>
            </a:extLst>
          </p:cNvPr>
          <p:cNvSpPr txBox="1"/>
          <p:nvPr/>
        </p:nvSpPr>
        <p:spPr>
          <a:xfrm>
            <a:off x="765820" y="404664"/>
            <a:ext cx="203773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E1F6C-FC22-B464-B8D0-70662524F8D8}"/>
              </a:ext>
            </a:extLst>
          </p:cNvPr>
          <p:cNvSpPr txBox="1"/>
          <p:nvPr/>
        </p:nvSpPr>
        <p:spPr>
          <a:xfrm>
            <a:off x="756388" y="980728"/>
            <a:ext cx="10729191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Agile Testing is a software testing approach where testing is performed continuously throughout the development process, instead of waiting until coding is complete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50EEA0-81C0-8DD3-15EE-F0D84598C31C}"/>
              </a:ext>
            </a:extLst>
          </p:cNvPr>
          <p:cNvSpPr txBox="1"/>
          <p:nvPr/>
        </p:nvSpPr>
        <p:spPr>
          <a:xfrm>
            <a:off x="981844" y="2276872"/>
            <a:ext cx="259878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Traditional Testing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3A0AD-5052-A49F-983E-11B179E4A52B}"/>
              </a:ext>
            </a:extLst>
          </p:cNvPr>
          <p:cNvSpPr txBox="1"/>
          <p:nvPr/>
        </p:nvSpPr>
        <p:spPr>
          <a:xfrm>
            <a:off x="7490443" y="2200045"/>
            <a:ext cx="1904689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Agile Testing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E2381E-6483-F884-5411-8231C556C56D}"/>
              </a:ext>
            </a:extLst>
          </p:cNvPr>
          <p:cNvSpPr txBox="1"/>
          <p:nvPr/>
        </p:nvSpPr>
        <p:spPr>
          <a:xfrm>
            <a:off x="1053852" y="2890300"/>
            <a:ext cx="2050561" cy="2986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Requirements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Design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Coding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Testing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Deployment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643B90-4748-5317-4891-41D5860E3308}"/>
              </a:ext>
            </a:extLst>
          </p:cNvPr>
          <p:cNvSpPr txBox="1"/>
          <p:nvPr/>
        </p:nvSpPr>
        <p:spPr>
          <a:xfrm>
            <a:off x="7519349" y="2692656"/>
            <a:ext cx="2140330" cy="3630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Plan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Test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Improve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Develop More</a:t>
            </a:r>
          </a:p>
          <a:p>
            <a:r>
              <a:rPr lang="en-US" dirty="0"/>
              <a:t> ↓</a:t>
            </a:r>
          </a:p>
          <a:p>
            <a:r>
              <a:rPr lang="en-US" dirty="0"/>
              <a:t>Test Again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17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E08547-2BAF-3B7B-124E-8C6B6C51573F}"/>
              </a:ext>
            </a:extLst>
          </p:cNvPr>
          <p:cNvSpPr txBox="1"/>
          <p:nvPr/>
        </p:nvSpPr>
        <p:spPr>
          <a:xfrm>
            <a:off x="1125860" y="332656"/>
            <a:ext cx="358463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Principles of Agile Testers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DB340-8AD1-8B27-F70E-B70D82281055}"/>
              </a:ext>
            </a:extLst>
          </p:cNvPr>
          <p:cNvSpPr txBox="1"/>
          <p:nvPr/>
        </p:nvSpPr>
        <p:spPr>
          <a:xfrm>
            <a:off x="1125860" y="836712"/>
            <a:ext cx="10009112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An Agile Tester is not just someone who finds bugs. They help the team build quality software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65286-B7D8-4DC5-6785-064B94A15DCC}"/>
              </a:ext>
            </a:extLst>
          </p:cNvPr>
          <p:cNvSpPr txBox="1"/>
          <p:nvPr/>
        </p:nvSpPr>
        <p:spPr>
          <a:xfrm>
            <a:off x="1133669" y="1772816"/>
            <a:ext cx="2988319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1: Test Early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60058F-BB13-66B8-E63A-6E8272FC0BDE}"/>
              </a:ext>
            </a:extLst>
          </p:cNvPr>
          <p:cNvSpPr txBox="1"/>
          <p:nvPr/>
        </p:nvSpPr>
        <p:spPr>
          <a:xfrm>
            <a:off x="1137422" y="2367288"/>
            <a:ext cx="4597734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Don't wait until coding is finished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F9E53-E52F-D86C-B037-7E9B5F164A5D}"/>
              </a:ext>
            </a:extLst>
          </p:cNvPr>
          <p:cNvSpPr txBox="1"/>
          <p:nvPr/>
        </p:nvSpPr>
        <p:spPr>
          <a:xfrm>
            <a:off x="2180431" y="2904894"/>
            <a:ext cx="1941557" cy="2343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Requirement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Test Idea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Coding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Testing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FE8A-9880-94FA-4890-2B299D9BEB2A}"/>
              </a:ext>
            </a:extLst>
          </p:cNvPr>
          <p:cNvSpPr txBox="1"/>
          <p:nvPr/>
        </p:nvSpPr>
        <p:spPr>
          <a:xfrm>
            <a:off x="1205677" y="5604895"/>
            <a:ext cx="4942379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Early testing catches bugs cheaply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4DAA5-FFCA-2195-A485-C4FCDF2E6B7F}"/>
              </a:ext>
            </a:extLst>
          </p:cNvPr>
          <p:cNvSpPr txBox="1"/>
          <p:nvPr/>
        </p:nvSpPr>
        <p:spPr>
          <a:xfrm>
            <a:off x="7030516" y="1668869"/>
            <a:ext cx="4104456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2: Test Continuously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3BB055-85DA-7205-4E78-5C9A1425FA65}"/>
              </a:ext>
            </a:extLst>
          </p:cNvPr>
          <p:cNvSpPr txBox="1"/>
          <p:nvPr/>
        </p:nvSpPr>
        <p:spPr>
          <a:xfrm>
            <a:off x="7091665" y="2292459"/>
            <a:ext cx="3959738" cy="413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IN" dirty="0"/>
              <a:t>Every sprint includes testing.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F4EDE-A4B1-E488-E9CD-2087E904A565}"/>
              </a:ext>
            </a:extLst>
          </p:cNvPr>
          <p:cNvSpPr txBox="1"/>
          <p:nvPr/>
        </p:nvSpPr>
        <p:spPr>
          <a:xfrm>
            <a:off x="7822604" y="2916049"/>
            <a:ext cx="1874869" cy="3630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Sprint 1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Test</a:t>
            </a:r>
          </a:p>
          <a:p>
            <a:endParaRPr lang="en-US" dirty="0"/>
          </a:p>
          <a:p>
            <a:r>
              <a:rPr lang="en-US" dirty="0"/>
              <a:t>Sprint 2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Test</a:t>
            </a:r>
          </a:p>
          <a:p>
            <a:endParaRPr lang="en-US" dirty="0"/>
          </a:p>
          <a:p>
            <a:r>
              <a:rPr lang="en-US" dirty="0"/>
              <a:t>Sprint 3</a:t>
            </a:r>
          </a:p>
          <a:p>
            <a:r>
              <a:rPr lang="en-US" dirty="0"/>
              <a:t>Develop</a:t>
            </a:r>
          </a:p>
          <a:p>
            <a:r>
              <a:rPr lang="en-US" dirty="0"/>
              <a:t>Test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249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558CCD-86B0-F0E8-2D7E-A7055DEFCDF0}"/>
              </a:ext>
            </a:extLst>
          </p:cNvPr>
          <p:cNvSpPr txBox="1"/>
          <p:nvPr/>
        </p:nvSpPr>
        <p:spPr>
          <a:xfrm>
            <a:off x="1125860" y="332656"/>
            <a:ext cx="358463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Principles of Agile Testers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739F5-D511-192E-C3CD-72F1649D1293}"/>
              </a:ext>
            </a:extLst>
          </p:cNvPr>
          <p:cNvSpPr txBox="1"/>
          <p:nvPr/>
        </p:nvSpPr>
        <p:spPr>
          <a:xfrm>
            <a:off x="1091073" y="836712"/>
            <a:ext cx="5319085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US" dirty="0"/>
              <a:t>Principle 3: Whole Team Owns Quality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7CDC76-9BD3-1A7A-E0DC-C4DA1D071F92}"/>
              </a:ext>
            </a:extLst>
          </p:cNvPr>
          <p:cNvSpPr txBox="1"/>
          <p:nvPr/>
        </p:nvSpPr>
        <p:spPr>
          <a:xfrm>
            <a:off x="1125860" y="1412776"/>
            <a:ext cx="2332690" cy="105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Not only testers.</a:t>
            </a:r>
          </a:p>
          <a:p>
            <a:r>
              <a:rPr lang="en-US" dirty="0"/>
              <a:t>Everyone tests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12B39D-2840-0E45-F138-65B50DD40EB0}"/>
              </a:ext>
            </a:extLst>
          </p:cNvPr>
          <p:cNvSpPr txBox="1"/>
          <p:nvPr/>
        </p:nvSpPr>
        <p:spPr>
          <a:xfrm>
            <a:off x="1091073" y="2276872"/>
            <a:ext cx="3134191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Developer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Tester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Product Owner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Customer </a:t>
            </a:r>
          </a:p>
          <a:p>
            <a:pPr>
              <a:lnSpc>
                <a:spcPct val="150000"/>
              </a:lnSpc>
            </a:pPr>
            <a:r>
              <a:rPr lang="en-US" dirty="0"/>
              <a:t>Everyone contributes.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B13C2C-4E4C-118B-4A2E-D9DAE98B405E}"/>
              </a:ext>
            </a:extLst>
          </p:cNvPr>
          <p:cNvSpPr txBox="1"/>
          <p:nvPr/>
        </p:nvSpPr>
        <p:spPr>
          <a:xfrm>
            <a:off x="6410158" y="1734402"/>
            <a:ext cx="500810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4: Customer Collaboration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34134-3B24-504C-AD0D-B88A610345DC}"/>
              </a:ext>
            </a:extLst>
          </p:cNvPr>
          <p:cNvSpPr txBox="1"/>
          <p:nvPr/>
        </p:nvSpPr>
        <p:spPr>
          <a:xfrm>
            <a:off x="6410158" y="2204864"/>
            <a:ext cx="5084854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Customer checks whether the software meets expectations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96EBE5-21CB-6FA8-0065-0813F664D803}"/>
              </a:ext>
            </a:extLst>
          </p:cNvPr>
          <p:cNvSpPr txBox="1"/>
          <p:nvPr/>
        </p:nvSpPr>
        <p:spPr>
          <a:xfrm>
            <a:off x="6410158" y="3068960"/>
            <a:ext cx="4543231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/>
            </a:lvl1pPr>
          </a:lstStyle>
          <a:p>
            <a:pPr marL="0" indent="0">
              <a:buNone/>
            </a:pPr>
            <a:r>
              <a:rPr lang="en-US" dirty="0"/>
              <a:t>Instead of</a:t>
            </a:r>
          </a:p>
          <a:p>
            <a:pPr marL="0" indent="0">
              <a:buNone/>
            </a:pPr>
            <a:r>
              <a:rPr lang="en-US" dirty="0"/>
              <a:t>"Did we build it correctly?"</a:t>
            </a:r>
          </a:p>
          <a:p>
            <a:pPr marL="0" indent="0">
              <a:buNone/>
            </a:pPr>
            <a:r>
              <a:rPr lang="en-US" dirty="0"/>
              <a:t>Ask</a:t>
            </a:r>
          </a:p>
          <a:p>
            <a:pPr marL="0" indent="0">
              <a:buNone/>
            </a:pPr>
            <a:r>
              <a:rPr lang="en-US" dirty="0"/>
              <a:t>"Did we build the right thing?"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94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DEC985-14CF-4D02-527A-8265057117FD}"/>
              </a:ext>
            </a:extLst>
          </p:cNvPr>
          <p:cNvSpPr txBox="1"/>
          <p:nvPr/>
        </p:nvSpPr>
        <p:spPr>
          <a:xfrm>
            <a:off x="1125860" y="332656"/>
            <a:ext cx="358463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Principles of Agile Testers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BB58B-B16F-44F8-21CF-A4F58705FAF1}"/>
              </a:ext>
            </a:extLst>
          </p:cNvPr>
          <p:cNvSpPr txBox="1"/>
          <p:nvPr/>
        </p:nvSpPr>
        <p:spPr>
          <a:xfrm>
            <a:off x="1125860" y="980728"/>
            <a:ext cx="3754554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5: Fast Feedback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7D75F5-7926-A287-CFAA-FD3350B4CD9F}"/>
              </a:ext>
            </a:extLst>
          </p:cNvPr>
          <p:cNvSpPr txBox="1"/>
          <p:nvPr/>
        </p:nvSpPr>
        <p:spPr>
          <a:xfrm>
            <a:off x="1184370" y="1628800"/>
            <a:ext cx="3347391" cy="2259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pPr>
              <a:lnSpc>
                <a:spcPct val="150000"/>
              </a:lnSpc>
            </a:pPr>
            <a:r>
              <a:rPr lang="en-US" dirty="0"/>
              <a:t>If a bug is found today,</a:t>
            </a:r>
            <a:br>
              <a:rPr lang="en-US" dirty="0"/>
            </a:br>
            <a:r>
              <a:rPr lang="en-US" dirty="0"/>
              <a:t>fix it today.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r>
              <a:rPr lang="en-US" dirty="0"/>
              <a:t>Not after three months.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D5202C-EDC9-5850-39B2-50DD2841C80E}"/>
              </a:ext>
            </a:extLst>
          </p:cNvPr>
          <p:cNvSpPr txBox="1"/>
          <p:nvPr/>
        </p:nvSpPr>
        <p:spPr>
          <a:xfrm>
            <a:off x="5878388" y="980728"/>
            <a:ext cx="589616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6: Automation Wherever Possible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E861D6-0591-C1E0-EA70-93F1F732FEC0}"/>
              </a:ext>
            </a:extLst>
          </p:cNvPr>
          <p:cNvSpPr txBox="1"/>
          <p:nvPr/>
        </p:nvSpPr>
        <p:spPr>
          <a:xfrm>
            <a:off x="5878388" y="1556792"/>
            <a:ext cx="5976664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Instead of repeating manual tests every sprint, Use automation tools.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Instead of testing login manually 500 times,</a:t>
            </a:r>
          </a:p>
          <a:p>
            <a:r>
              <a:rPr lang="en-US" dirty="0"/>
              <a:t>Run automated script.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AA839-221C-D463-04B8-101727ADD8CC}"/>
              </a:ext>
            </a:extLst>
          </p:cNvPr>
          <p:cNvSpPr txBox="1"/>
          <p:nvPr/>
        </p:nvSpPr>
        <p:spPr>
          <a:xfrm>
            <a:off x="1269876" y="4293096"/>
            <a:ext cx="322876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/>
            </a:lvl1pPr>
          </a:lstStyle>
          <a:p>
            <a:r>
              <a:rPr lang="en-IN" dirty="0"/>
              <a:t>Principle 7: Simplicity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0B30D0-256F-6C6B-E7E9-08AA64BF2104}"/>
              </a:ext>
            </a:extLst>
          </p:cNvPr>
          <p:cNvSpPr txBox="1"/>
          <p:nvPr/>
        </p:nvSpPr>
        <p:spPr>
          <a:xfrm>
            <a:off x="1236509" y="4869160"/>
            <a:ext cx="4172937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Don't write unnecessary tests.</a:t>
            </a:r>
          </a:p>
          <a:p>
            <a:r>
              <a:rPr lang="en-US" dirty="0"/>
              <a:t>Write useful tests.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6457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BA4EEE-74BB-6F4B-314D-364F851C67BD}"/>
              </a:ext>
            </a:extLst>
          </p:cNvPr>
          <p:cNvSpPr txBox="1"/>
          <p:nvPr/>
        </p:nvSpPr>
        <p:spPr>
          <a:xfrm>
            <a:off x="977686" y="116632"/>
            <a:ext cx="341632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Testing Quadrants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8CF4A-DC1E-F9C0-0CF0-346511821912}"/>
              </a:ext>
            </a:extLst>
          </p:cNvPr>
          <p:cNvSpPr txBox="1"/>
          <p:nvPr/>
        </p:nvSpPr>
        <p:spPr>
          <a:xfrm>
            <a:off x="909836" y="558149"/>
            <a:ext cx="10081120" cy="7355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/>
            </a:lvl1pPr>
          </a:lstStyle>
          <a:p>
            <a:r>
              <a:rPr lang="en-US" dirty="0"/>
              <a:t>Created by </a:t>
            </a:r>
            <a:r>
              <a:rPr lang="en-US" b="1" dirty="0"/>
              <a:t>Brian </a:t>
            </a:r>
            <a:r>
              <a:rPr lang="en-US" b="1" dirty="0" err="1"/>
              <a:t>Marick</a:t>
            </a:r>
            <a:r>
              <a:rPr lang="en-US" b="1" dirty="0"/>
              <a:t>. </a:t>
            </a:r>
            <a:r>
              <a:rPr lang="en-US" dirty="0"/>
              <a:t>It divides testing into four categories.</a:t>
            </a:r>
          </a:p>
          <a:p>
            <a:endParaRPr lang="en-IN" dirty="0"/>
          </a:p>
        </p:txBody>
      </p:sp>
      <p:pic>
        <p:nvPicPr>
          <p:cNvPr id="6" name="Picture 2" descr="Agile Testing Best Practices | SmartBear Learn">
            <a:extLst>
              <a:ext uri="{FF2B5EF4-FFF2-40B4-BE49-F238E27FC236}">
                <a16:creationId xmlns:a16="http://schemas.microsoft.com/office/drawing/2014/main" id="{2DFF8D79-B920-496B-CAED-53F4DDB12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719" y="1052736"/>
            <a:ext cx="7964085" cy="568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4122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FEF54D-A96F-7C65-0B1C-F4207AC2CA88}"/>
              </a:ext>
            </a:extLst>
          </p:cNvPr>
          <p:cNvSpPr txBox="1"/>
          <p:nvPr/>
        </p:nvSpPr>
        <p:spPr>
          <a:xfrm>
            <a:off x="977686" y="116632"/>
            <a:ext cx="341632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Testing Quadrants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C47D4A-24E1-6EA1-1C9F-891A5CF6CACC}"/>
              </a:ext>
            </a:extLst>
          </p:cNvPr>
          <p:cNvSpPr txBox="1"/>
          <p:nvPr/>
        </p:nvSpPr>
        <p:spPr>
          <a:xfrm>
            <a:off x="977686" y="563045"/>
            <a:ext cx="4324638" cy="6121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b="1" dirty="0"/>
              <a:t>Quadrant 1 (Q1)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Technology Facing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Supports Developers</a:t>
            </a:r>
          </a:p>
          <a:p>
            <a:r>
              <a:rPr lang="en-US" dirty="0"/>
              <a:t>Purpose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Ensure code works correctly</a:t>
            </a:r>
          </a:p>
          <a:p>
            <a:r>
              <a:rPr lang="en-US" dirty="0"/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Unit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Component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API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Example: If user is able to login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47EFB3-6CE2-12FF-9FAB-82677019D6C2}"/>
              </a:ext>
            </a:extLst>
          </p:cNvPr>
          <p:cNvSpPr txBox="1"/>
          <p:nvPr/>
        </p:nvSpPr>
        <p:spPr>
          <a:xfrm>
            <a:off x="6094412" y="500939"/>
            <a:ext cx="5544616" cy="6628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/>
            </a:lvl1pPr>
          </a:lstStyle>
          <a:p>
            <a:r>
              <a:rPr lang="en-US" dirty="0"/>
              <a:t>Quadrant 2 (Q2)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Business Facing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Supports Team</a:t>
            </a:r>
          </a:p>
          <a:p>
            <a:r>
              <a:rPr lang="en-US" b="0" dirty="0"/>
              <a:t>Checks whether business requirements are met.</a:t>
            </a:r>
          </a:p>
          <a:p>
            <a:r>
              <a:rPr lang="en-US" b="0" dirty="0"/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Acceptance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User Story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Prototype Validation</a:t>
            </a:r>
          </a:p>
          <a:p>
            <a:endParaRPr lang="en-US" b="0" dirty="0"/>
          </a:p>
          <a:p>
            <a:r>
              <a:rPr lang="en-US" b="0" dirty="0"/>
              <a:t>Example: If user is able to login and transfers money to another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794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C82253-8F4A-83ED-080D-764E302C7676}"/>
              </a:ext>
            </a:extLst>
          </p:cNvPr>
          <p:cNvSpPr txBox="1"/>
          <p:nvPr/>
        </p:nvSpPr>
        <p:spPr>
          <a:xfrm>
            <a:off x="981844" y="188640"/>
            <a:ext cx="341632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Testing Quadrants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9098C-5675-054D-C3A3-FD03ECB4BD63}"/>
              </a:ext>
            </a:extLst>
          </p:cNvPr>
          <p:cNvSpPr txBox="1"/>
          <p:nvPr/>
        </p:nvSpPr>
        <p:spPr>
          <a:xfrm>
            <a:off x="981844" y="602599"/>
            <a:ext cx="3966150" cy="612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/>
            </a:lvl1pPr>
          </a:lstStyle>
          <a:p>
            <a:r>
              <a:rPr lang="en-US" dirty="0"/>
              <a:t>Quadrant 3 (Q3)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Business Facing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Critiques Product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Human testing</a:t>
            </a:r>
          </a:p>
          <a:p>
            <a:r>
              <a:rPr lang="en-US" b="0" dirty="0"/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Exploratory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User Acceptance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Usability Testing </a:t>
            </a:r>
          </a:p>
          <a:p>
            <a:r>
              <a:rPr lang="en-US" b="0" dirty="0"/>
              <a:t>Example:</a:t>
            </a:r>
          </a:p>
          <a:p>
            <a:r>
              <a:rPr lang="en-US" b="0" dirty="0"/>
              <a:t>Software works,</a:t>
            </a:r>
          </a:p>
          <a:p>
            <a:r>
              <a:rPr lang="en-US" b="0" dirty="0"/>
              <a:t>But user experience is poor.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D41123-3DC1-1529-1F1F-536AEA96A46E}"/>
              </a:ext>
            </a:extLst>
          </p:cNvPr>
          <p:cNvSpPr txBox="1"/>
          <p:nvPr/>
        </p:nvSpPr>
        <p:spPr>
          <a:xfrm>
            <a:off x="6598468" y="476672"/>
            <a:ext cx="4824536" cy="612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 b="1"/>
            </a:lvl1pPr>
          </a:lstStyle>
          <a:p>
            <a:r>
              <a:rPr lang="en-US" dirty="0"/>
              <a:t>Quadrant 4 (Q4)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Technology Facing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Critiques Product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Checks quality</a:t>
            </a:r>
          </a:p>
          <a:p>
            <a:r>
              <a:rPr lang="en-US" b="0" dirty="0"/>
              <a:t>Examples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Performance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Security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Load Testing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0" dirty="0"/>
              <a:t>Stress Testing </a:t>
            </a:r>
          </a:p>
          <a:p>
            <a:r>
              <a:rPr lang="en-US" b="0" dirty="0"/>
              <a:t>Example:</a:t>
            </a:r>
          </a:p>
          <a:p>
            <a:r>
              <a:rPr lang="en-US" b="0" dirty="0"/>
              <a:t>Can website handle 10000 users?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75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52FB50-C2AE-1F15-D85C-E3C76D86481D}"/>
              </a:ext>
            </a:extLst>
          </p:cNvPr>
          <p:cNvSpPr txBox="1"/>
          <p:nvPr/>
        </p:nvSpPr>
        <p:spPr>
          <a:xfrm>
            <a:off x="765820" y="332656"/>
            <a:ext cx="4807726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Test Driven Development (TDD)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E60A9-146F-565A-6800-5914C1D73E5B}"/>
              </a:ext>
            </a:extLst>
          </p:cNvPr>
          <p:cNvSpPr txBox="1"/>
          <p:nvPr/>
        </p:nvSpPr>
        <p:spPr>
          <a:xfrm>
            <a:off x="765821" y="731604"/>
            <a:ext cx="4752528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Write the test before writing the code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B000A-8884-B7F6-7E97-787DF334B2FA}"/>
              </a:ext>
            </a:extLst>
          </p:cNvPr>
          <p:cNvSpPr txBox="1"/>
          <p:nvPr/>
        </p:nvSpPr>
        <p:spPr>
          <a:xfrm>
            <a:off x="765820" y="1781713"/>
            <a:ext cx="3312368" cy="358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b="1" dirty="0"/>
              <a:t>Benefits of TDD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quality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Fewer bugs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Cleaner code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High confidence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Easier maintenance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3139D1-620D-4D81-DDC4-3D2868AB36A6}"/>
              </a:ext>
            </a:extLst>
          </p:cNvPr>
          <p:cNvSpPr txBox="1"/>
          <p:nvPr/>
        </p:nvSpPr>
        <p:spPr>
          <a:xfrm>
            <a:off x="6454452" y="332656"/>
            <a:ext cx="2635658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Acceptance Tests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7D7161-C611-81F0-99F2-E8F153971D22}"/>
              </a:ext>
            </a:extLst>
          </p:cNvPr>
          <p:cNvSpPr txBox="1"/>
          <p:nvPr/>
        </p:nvSpPr>
        <p:spPr>
          <a:xfrm>
            <a:off x="6437718" y="746615"/>
            <a:ext cx="5201309" cy="358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Acceptance Tests verify: Does the software satisfy customer requirements?</a:t>
            </a:r>
          </a:p>
          <a:p>
            <a:endParaRPr lang="en-US" dirty="0"/>
          </a:p>
          <a:p>
            <a:r>
              <a:rPr lang="en-US" dirty="0"/>
              <a:t>If everything works then the Requirement is accepted.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438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15D8FB-7C2B-386A-6B00-980DF9BB0694}"/>
              </a:ext>
            </a:extLst>
          </p:cNvPr>
          <p:cNvSpPr txBox="1"/>
          <p:nvPr/>
        </p:nvSpPr>
        <p:spPr>
          <a:xfrm>
            <a:off x="909836" y="190340"/>
            <a:ext cx="175400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Refactoring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2D76C5-93DB-0525-E68D-E6C8ED3DE431}"/>
              </a:ext>
            </a:extLst>
          </p:cNvPr>
          <p:cNvSpPr txBox="1"/>
          <p:nvPr/>
        </p:nvSpPr>
        <p:spPr>
          <a:xfrm>
            <a:off x="909836" y="604299"/>
            <a:ext cx="4176464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Refactoring means: Improving code without changing its functionality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713975-A8C4-44C6-8610-84CDC4D30102}"/>
              </a:ext>
            </a:extLst>
          </p:cNvPr>
          <p:cNvSpPr txBox="1"/>
          <p:nvPr/>
        </p:nvSpPr>
        <p:spPr>
          <a:xfrm>
            <a:off x="909836" y="2370073"/>
            <a:ext cx="3562194" cy="4090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Bad Code</a:t>
            </a:r>
          </a:p>
          <a:p>
            <a:r>
              <a:rPr lang="en-US" dirty="0"/>
              <a:t>if(a==true)</a:t>
            </a:r>
          </a:p>
          <a:p>
            <a:endParaRPr lang="en-US" dirty="0"/>
          </a:p>
          <a:p>
            <a:r>
              <a:rPr lang="en-US" dirty="0"/>
              <a:t>Better</a:t>
            </a:r>
          </a:p>
          <a:p>
            <a:r>
              <a:rPr lang="en-US" dirty="0"/>
              <a:t>if(a)</a:t>
            </a:r>
          </a:p>
          <a:p>
            <a:endParaRPr lang="en-US" dirty="0"/>
          </a:p>
          <a:p>
            <a:r>
              <a:rPr lang="en-US" dirty="0"/>
              <a:t>Output remains same.</a:t>
            </a:r>
          </a:p>
          <a:p>
            <a:r>
              <a:rPr lang="en-US" dirty="0"/>
              <a:t>Code becomes cleaner.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31E5CC-4A1E-504B-C2CD-3E8B68FCD343}"/>
              </a:ext>
            </a:extLst>
          </p:cNvPr>
          <p:cNvSpPr txBox="1"/>
          <p:nvPr/>
        </p:nvSpPr>
        <p:spPr>
          <a:xfrm>
            <a:off x="6958508" y="190340"/>
            <a:ext cx="1782860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Automation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0D8B8E-9068-AAEF-418B-54F2954FC7B7}"/>
              </a:ext>
            </a:extLst>
          </p:cNvPr>
          <p:cNvSpPr txBox="1"/>
          <p:nvPr/>
        </p:nvSpPr>
        <p:spPr>
          <a:xfrm>
            <a:off x="6906571" y="604299"/>
            <a:ext cx="3669594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IN" dirty="0"/>
              <a:t>Automate repetitive work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07A90F-6BAD-9AB2-3CA0-FA04EE1B5C55}"/>
              </a:ext>
            </a:extLst>
          </p:cNvPr>
          <p:cNvSpPr txBox="1"/>
          <p:nvPr/>
        </p:nvSpPr>
        <p:spPr>
          <a:xfrm>
            <a:off x="6958508" y="1380024"/>
            <a:ext cx="3919663" cy="510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b="1" dirty="0"/>
              <a:t>Common Automation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Selenium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Cypress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Playwright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JUnit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NUnit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TestNG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PyTest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Postman (API Testing)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044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6645A-8D24-AA37-0ED3-9F43D29AD8B8}"/>
              </a:ext>
            </a:extLst>
          </p:cNvPr>
          <p:cNvSpPr txBox="1"/>
          <p:nvPr/>
        </p:nvSpPr>
        <p:spPr>
          <a:xfrm>
            <a:off x="981844" y="260648"/>
            <a:ext cx="356379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Test Automation Pyramid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1EEE02-3242-A8AA-6C7E-3C68F52BDED4}"/>
              </a:ext>
            </a:extLst>
          </p:cNvPr>
          <p:cNvSpPr txBox="1"/>
          <p:nvPr/>
        </p:nvSpPr>
        <p:spPr>
          <a:xfrm>
            <a:off x="909836" y="764704"/>
            <a:ext cx="10369152" cy="51062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The Test Automation Pyramid is a strategy that recommends having many fast Unit Tests at the bottom, fewer Integration Tests in the middle, and a small number of slower UI/End-to-End Tests at the top</a:t>
            </a:r>
          </a:p>
          <a:p>
            <a:endParaRPr lang="en-US" dirty="0"/>
          </a:p>
          <a:p>
            <a:r>
              <a:rPr lang="en-US" dirty="0"/>
              <a:t>The Test Automation Pyramid tells us:</a:t>
            </a:r>
          </a:p>
          <a:p>
            <a:r>
              <a:rPr lang="en-US" dirty="0"/>
              <a:t>Write lots of small, fast tests and fewer large, slow tests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/>
              <a:t>bottom is large</a:t>
            </a:r>
            <a:r>
              <a:rPr lang="en-US" dirty="0"/>
              <a:t> because we should have </a:t>
            </a:r>
            <a:r>
              <a:rPr lang="en-US" b="1" dirty="0"/>
              <a:t>many Unit Tests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top is small</a:t>
            </a:r>
            <a:r>
              <a:rPr lang="en-US" dirty="0"/>
              <a:t> because we should have </a:t>
            </a:r>
            <a:r>
              <a:rPr lang="en-US" b="1" dirty="0"/>
              <a:t>fewer UI Tests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223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est Automation Pyramid: Guide, Layers &amp; Best Practices">
            <a:extLst>
              <a:ext uri="{FF2B5EF4-FFF2-40B4-BE49-F238E27FC236}">
                <a16:creationId xmlns:a16="http://schemas.microsoft.com/office/drawing/2014/main" id="{A9107959-7742-ABB3-9112-95168316C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40" y="116632"/>
            <a:ext cx="8435170" cy="6408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588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579D0D-692F-50D3-6EE9-5A309B9C5942}"/>
              </a:ext>
            </a:extLst>
          </p:cNvPr>
          <p:cNvSpPr txBox="1"/>
          <p:nvPr/>
        </p:nvSpPr>
        <p:spPr>
          <a:xfrm>
            <a:off x="998985" y="836712"/>
            <a:ext cx="2504212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Level 1: Unit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481D4-D042-38DC-7D29-67C415C607E2}"/>
              </a:ext>
            </a:extLst>
          </p:cNvPr>
          <p:cNvSpPr txBox="1"/>
          <p:nvPr/>
        </p:nvSpPr>
        <p:spPr>
          <a:xfrm>
            <a:off x="981844" y="260648"/>
            <a:ext cx="356379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Test Automation Pyramid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6BDA5-F4B3-6F3D-AE6E-2DFC786DBF0A}"/>
              </a:ext>
            </a:extLst>
          </p:cNvPr>
          <p:cNvSpPr txBox="1"/>
          <p:nvPr/>
        </p:nvSpPr>
        <p:spPr>
          <a:xfrm>
            <a:off x="967544" y="1340768"/>
            <a:ext cx="10576934" cy="1551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Unit testing checks the smallest piece of code, usually a function or method.</a:t>
            </a:r>
          </a:p>
          <a:p>
            <a:r>
              <a:rPr lang="en-US" dirty="0"/>
              <a:t>Imagine you are developing a food-delivery application.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5292B4-CB47-3881-6826-F10DE310C0B8}"/>
              </a:ext>
            </a:extLst>
          </p:cNvPr>
          <p:cNvSpPr txBox="1"/>
          <p:nvPr/>
        </p:nvSpPr>
        <p:spPr>
          <a:xfrm>
            <a:off x="946578" y="2509787"/>
            <a:ext cx="3634328" cy="3582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You have a function:</a:t>
            </a:r>
          </a:p>
          <a:p>
            <a:r>
              <a:rPr lang="en-US" dirty="0" err="1"/>
              <a:t>calculateTotal</a:t>
            </a:r>
            <a:r>
              <a:rPr lang="en-US" dirty="0"/>
              <a:t>(price, tax)</a:t>
            </a:r>
          </a:p>
          <a:p>
            <a:endParaRPr lang="en-US" dirty="0"/>
          </a:p>
          <a:p>
            <a:r>
              <a:rPr lang="en-US" dirty="0"/>
              <a:t>You can test:</a:t>
            </a:r>
          </a:p>
          <a:p>
            <a:r>
              <a:rPr lang="en-US" dirty="0" err="1"/>
              <a:t>calculateTotal</a:t>
            </a:r>
            <a:r>
              <a:rPr lang="en-US" dirty="0"/>
              <a:t>(100, 10)</a:t>
            </a:r>
          </a:p>
          <a:p>
            <a:endParaRPr lang="en-US" dirty="0"/>
          </a:p>
          <a:p>
            <a:r>
              <a:rPr lang="en-US" dirty="0"/>
              <a:t>Expected = 110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5AA0C-D57E-485D-E677-6EB0010C3A86}"/>
              </a:ext>
            </a:extLst>
          </p:cNvPr>
          <p:cNvSpPr txBox="1"/>
          <p:nvPr/>
        </p:nvSpPr>
        <p:spPr>
          <a:xfrm>
            <a:off x="6256011" y="4077072"/>
            <a:ext cx="2659702" cy="8125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b="1" dirty="0"/>
              <a:t>That's a Unit Test.</a:t>
            </a:r>
            <a:endParaRPr lang="en-IN" b="1" dirty="0"/>
          </a:p>
          <a:p>
            <a:pPr>
              <a:lnSpc>
                <a:spcPct val="95000"/>
              </a:lnSpc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78182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6FF3E8-08A7-35EC-3862-48885BD6F089}"/>
              </a:ext>
            </a:extLst>
          </p:cNvPr>
          <p:cNvSpPr txBox="1"/>
          <p:nvPr/>
        </p:nvSpPr>
        <p:spPr>
          <a:xfrm>
            <a:off x="981844" y="836712"/>
            <a:ext cx="3770584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Level 2: Integration Tests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B698BD-3618-D326-96FB-E2E25966244F}"/>
              </a:ext>
            </a:extLst>
          </p:cNvPr>
          <p:cNvSpPr txBox="1"/>
          <p:nvPr/>
        </p:nvSpPr>
        <p:spPr>
          <a:xfrm>
            <a:off x="981844" y="260648"/>
            <a:ext cx="356379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Test Automation Pyramid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D259E7-11CB-0B4B-0EA8-8330327FC75A}"/>
              </a:ext>
            </a:extLst>
          </p:cNvPr>
          <p:cNvSpPr txBox="1"/>
          <p:nvPr/>
        </p:nvSpPr>
        <p:spPr>
          <a:xfrm>
            <a:off x="966327" y="1317824"/>
            <a:ext cx="10009112" cy="1043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Now we know individual components work. But do they work together?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76731-F6AE-73C6-F53A-536B7D361270}"/>
              </a:ext>
            </a:extLst>
          </p:cNvPr>
          <p:cNvSpPr txBox="1"/>
          <p:nvPr/>
        </p:nvSpPr>
        <p:spPr>
          <a:xfrm>
            <a:off x="981844" y="1934585"/>
            <a:ext cx="2824812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A user clicks:</a:t>
            </a:r>
          </a:p>
          <a:p>
            <a:r>
              <a:rPr lang="en-US" dirty="0"/>
              <a:t>"Pay ₹500"</a:t>
            </a:r>
          </a:p>
          <a:p>
            <a:r>
              <a:rPr lang="en-US" dirty="0"/>
              <a:t>We need to check: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B0AF-72F8-E91C-34BC-79594DEBB2BB}"/>
              </a:ext>
            </a:extLst>
          </p:cNvPr>
          <p:cNvSpPr txBox="1"/>
          <p:nvPr/>
        </p:nvSpPr>
        <p:spPr>
          <a:xfrm>
            <a:off x="7822604" y="2060848"/>
            <a:ext cx="2882520" cy="4598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Payment Request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Payment API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Bank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Database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Payment Successful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EEFE8A-6A1F-54D8-D720-CCE7C31F296B}"/>
              </a:ext>
            </a:extLst>
          </p:cNvPr>
          <p:cNvSpPr txBox="1"/>
          <p:nvPr/>
        </p:nvSpPr>
        <p:spPr>
          <a:xfrm>
            <a:off x="981844" y="3573016"/>
            <a:ext cx="5472608" cy="3074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Everything may work individually, but perhaps the API cannot communicate with the database.</a:t>
            </a:r>
          </a:p>
          <a:p>
            <a:r>
              <a:rPr lang="en-US" dirty="0"/>
              <a:t>Integration testing catches such problems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96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784007-D1C8-8853-A3EA-348189272ABF}"/>
              </a:ext>
            </a:extLst>
          </p:cNvPr>
          <p:cNvSpPr txBox="1"/>
          <p:nvPr/>
        </p:nvSpPr>
        <p:spPr>
          <a:xfrm>
            <a:off x="981844" y="764704"/>
            <a:ext cx="4360489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US" dirty="0"/>
              <a:t>Level 3: UI / End-to-End Tests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115EC-2E0F-0749-F2C3-E70745DA17FB}"/>
              </a:ext>
            </a:extLst>
          </p:cNvPr>
          <p:cNvSpPr txBox="1"/>
          <p:nvPr/>
        </p:nvSpPr>
        <p:spPr>
          <a:xfrm>
            <a:off x="981844" y="260648"/>
            <a:ext cx="3563796" cy="4139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Test Automation Pyramid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AA3C7-4694-5FCE-9CB0-62B618F3E27D}"/>
              </a:ext>
            </a:extLst>
          </p:cNvPr>
          <p:cNvSpPr txBox="1"/>
          <p:nvPr/>
        </p:nvSpPr>
        <p:spPr>
          <a:xfrm>
            <a:off x="981845" y="1268760"/>
            <a:ext cx="5723042" cy="2059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This is the top of the pyramid.</a:t>
            </a:r>
          </a:p>
          <a:p>
            <a:r>
              <a:rPr lang="en-US" dirty="0"/>
              <a:t>Here we test the complete application from the user's point of view.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0CAAA0-9B1D-4086-4C8A-49869FC3F080}"/>
              </a:ext>
            </a:extLst>
          </p:cNvPr>
          <p:cNvSpPr txBox="1"/>
          <p:nvPr/>
        </p:nvSpPr>
        <p:spPr>
          <a:xfrm>
            <a:off x="981845" y="3150245"/>
            <a:ext cx="5723042" cy="5357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Imagine an online shopping application.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F39DD3-5480-7FDB-4A1B-AD6C56F2B26E}"/>
              </a:ext>
            </a:extLst>
          </p:cNvPr>
          <p:cNvSpPr txBox="1"/>
          <p:nvPr/>
        </p:nvSpPr>
        <p:spPr>
          <a:xfrm>
            <a:off x="7462564" y="467627"/>
            <a:ext cx="385714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pPr>
              <a:lnSpc>
                <a:spcPct val="100000"/>
              </a:lnSpc>
            </a:pPr>
            <a:r>
              <a:rPr lang="en-IN" dirty="0"/>
              <a:t>Open Browser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Open Amazon-like website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Login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Search "Laptop"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Select Laptop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Add to Cart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Checkout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Make Payment</a:t>
            </a:r>
          </a:p>
          <a:p>
            <a:pPr>
              <a:lnSpc>
                <a:spcPct val="100000"/>
              </a:lnSpc>
            </a:pPr>
            <a:r>
              <a:rPr lang="en-IN" dirty="0"/>
              <a:t>     ↓</a:t>
            </a:r>
          </a:p>
          <a:p>
            <a:pPr>
              <a:lnSpc>
                <a:spcPct val="100000"/>
              </a:lnSpc>
            </a:pPr>
            <a:r>
              <a:rPr lang="en-IN" dirty="0"/>
              <a:t>Verify Order</a:t>
            </a:r>
          </a:p>
        </p:txBody>
      </p:sp>
    </p:spTree>
    <p:extLst>
      <p:ext uri="{BB962C8B-B14F-4D97-AF65-F5344CB8AC3E}">
        <p14:creationId xmlns:p14="http://schemas.microsoft.com/office/powerpoint/2010/main" val="3752505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A2870F-93C8-4C04-844D-6CDF0A9BD8EA}"/>
              </a:ext>
            </a:extLst>
          </p:cNvPr>
          <p:cNvSpPr txBox="1"/>
          <p:nvPr/>
        </p:nvSpPr>
        <p:spPr>
          <a:xfrm>
            <a:off x="1125860" y="188640"/>
            <a:ext cx="6120680" cy="823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Example: Pizza Ordering App </a:t>
            </a:r>
            <a:r>
              <a:rPr lang="en-IN" sz="2800" dirty="0"/>
              <a:t>🍕</a:t>
            </a:r>
          </a:p>
          <a:p>
            <a:endParaRPr lang="en-IN" dirty="0"/>
          </a:p>
        </p:txBody>
      </p:sp>
      <p:sp>
        <p:nvSpPr>
          <p:cNvPr id="6" name="Trapezoid 5">
            <a:extLst>
              <a:ext uri="{FF2B5EF4-FFF2-40B4-BE49-F238E27FC236}">
                <a16:creationId xmlns:a16="http://schemas.microsoft.com/office/drawing/2014/main" id="{0A202AF7-C8D2-7D0A-CAE1-F3A64D467A1D}"/>
              </a:ext>
            </a:extLst>
          </p:cNvPr>
          <p:cNvSpPr/>
          <p:nvPr/>
        </p:nvSpPr>
        <p:spPr>
          <a:xfrm>
            <a:off x="2169976" y="4869160"/>
            <a:ext cx="7596844" cy="1584176"/>
          </a:xfrm>
          <a:prstGeom prst="trapezoid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r>
              <a:rPr lang="en-IN" sz="2000" b="1" dirty="0" err="1"/>
              <a:t>calculatePizzaPrice</a:t>
            </a:r>
            <a:r>
              <a:rPr lang="en-IN" sz="2000" b="1" dirty="0"/>
              <a:t>()</a:t>
            </a:r>
          </a:p>
          <a:p>
            <a:pPr algn="ctr"/>
            <a:r>
              <a:rPr lang="en-IN" sz="2000" b="1" dirty="0" err="1"/>
              <a:t>calculateGST</a:t>
            </a:r>
            <a:r>
              <a:rPr lang="en-IN" sz="2000" b="1" dirty="0"/>
              <a:t>()</a:t>
            </a:r>
          </a:p>
          <a:p>
            <a:pPr algn="ctr"/>
            <a:r>
              <a:rPr lang="en-IN" sz="2000" b="1" dirty="0" err="1"/>
              <a:t>applyCoupon</a:t>
            </a:r>
            <a:r>
              <a:rPr lang="en-IN" sz="2000" b="1" dirty="0"/>
              <a:t>()</a:t>
            </a:r>
          </a:p>
          <a:p>
            <a:pPr algn="ctr"/>
            <a:r>
              <a:rPr lang="en-IN" sz="2000" b="1" dirty="0" err="1"/>
              <a:t>calculateDeliveryCharge</a:t>
            </a:r>
            <a:r>
              <a:rPr lang="en-IN" sz="2000" b="1" dirty="0"/>
              <a:t>()</a:t>
            </a:r>
          </a:p>
          <a:p>
            <a:pPr algn="ctr"/>
            <a:endParaRPr lang="en-IN" dirty="0"/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258BA953-6F98-FCB4-700F-29ED593EA8F9}"/>
              </a:ext>
            </a:extLst>
          </p:cNvPr>
          <p:cNvSpPr/>
          <p:nvPr/>
        </p:nvSpPr>
        <p:spPr>
          <a:xfrm>
            <a:off x="2638028" y="3140968"/>
            <a:ext cx="6696744" cy="1656184"/>
          </a:xfrm>
          <a:prstGeom prst="trapezoid">
            <a:avLst/>
          </a:prstGeom>
          <a:solidFill>
            <a:schemeClr val="accent6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Order System</a:t>
            </a:r>
          </a:p>
          <a:p>
            <a:pPr algn="ctr"/>
            <a:r>
              <a:rPr lang="en-US" sz="2000" b="1" dirty="0"/>
              <a:t> Payment System</a:t>
            </a:r>
          </a:p>
          <a:p>
            <a:pPr algn="ctr"/>
            <a:r>
              <a:rPr lang="en-US" sz="2000" b="1" dirty="0"/>
              <a:t>Database</a:t>
            </a:r>
            <a:endParaRPr lang="en-IN" sz="2000" b="1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9ED009D-C439-9552-20EC-A8D11E1F51F2}"/>
              </a:ext>
            </a:extLst>
          </p:cNvPr>
          <p:cNvSpPr/>
          <p:nvPr/>
        </p:nvSpPr>
        <p:spPr>
          <a:xfrm>
            <a:off x="3070076" y="692696"/>
            <a:ext cx="5832648" cy="2304256"/>
          </a:xfrm>
          <a:prstGeom prst="triangle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Open App -&gt; Login -&gt; Choose Pizza -&gt; Add to Cart -&gt; Apply Coupon-&gt; Pay- &gt; Order Confirmed</a:t>
            </a:r>
            <a:endParaRPr lang="en-IN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C524AC-C937-18EC-1AC0-0D4E1EF71227}"/>
              </a:ext>
            </a:extLst>
          </p:cNvPr>
          <p:cNvSpPr txBox="1"/>
          <p:nvPr/>
        </p:nvSpPr>
        <p:spPr>
          <a:xfrm>
            <a:off x="9694812" y="5373216"/>
            <a:ext cx="2053767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500 unit tests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1FAF7-1F4B-15A3-5954-5E152801B8DD}"/>
              </a:ext>
            </a:extLst>
          </p:cNvPr>
          <p:cNvSpPr txBox="1"/>
          <p:nvPr/>
        </p:nvSpPr>
        <p:spPr>
          <a:xfrm>
            <a:off x="9334773" y="3501008"/>
            <a:ext cx="2232248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50 integration tests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A1735-1A67-CB74-4E37-F14E640C80DC}"/>
              </a:ext>
            </a:extLst>
          </p:cNvPr>
          <p:cNvSpPr txBox="1"/>
          <p:nvPr/>
        </p:nvSpPr>
        <p:spPr>
          <a:xfrm>
            <a:off x="9190756" y="1591808"/>
            <a:ext cx="2808312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b="1" dirty="0"/>
              <a:t>10–20 important UI tests</a:t>
            </a:r>
          </a:p>
        </p:txBody>
      </p:sp>
    </p:spTree>
    <p:extLst>
      <p:ext uri="{BB962C8B-B14F-4D97-AF65-F5344CB8AC3E}">
        <p14:creationId xmlns:p14="http://schemas.microsoft.com/office/powerpoint/2010/main" val="37215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80D9B8-3AA7-55D9-BB7E-0F39FEE0503A}"/>
              </a:ext>
            </a:extLst>
          </p:cNvPr>
          <p:cNvSpPr txBox="1"/>
          <p:nvPr/>
        </p:nvSpPr>
        <p:spPr>
          <a:xfrm>
            <a:off x="621805" y="260648"/>
            <a:ext cx="10369152" cy="5614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2200"/>
            </a:lvl1pPr>
          </a:lstStyle>
          <a:p>
            <a:r>
              <a:rPr lang="en-US" dirty="0"/>
              <a:t>⭐ Golden Rule</a:t>
            </a:r>
          </a:p>
          <a:p>
            <a:r>
              <a:rPr lang="en-US" dirty="0"/>
              <a:t>Remember this:</a:t>
            </a:r>
          </a:p>
          <a:p>
            <a:r>
              <a:rPr lang="en-US" dirty="0"/>
              <a:t>Test as low in the pyramid as possible.</a:t>
            </a:r>
          </a:p>
          <a:p>
            <a:r>
              <a:rPr lang="en-US" dirty="0"/>
              <a:t>If something can be tested using a Unit Test, don't unnecessarily test it through the UI.</a:t>
            </a:r>
          </a:p>
          <a:p>
            <a:endParaRPr lang="en-US" dirty="0"/>
          </a:p>
          <a:p>
            <a:r>
              <a:rPr lang="en-US" dirty="0"/>
              <a:t>For example:</a:t>
            </a:r>
          </a:p>
          <a:p>
            <a:r>
              <a:rPr lang="en-US" dirty="0"/>
              <a:t>❌ Don't open a browser just to check whether:</a:t>
            </a:r>
          </a:p>
          <a:p>
            <a:r>
              <a:rPr lang="en-US" dirty="0"/>
              <a:t>2 + 3 = 5</a:t>
            </a:r>
          </a:p>
          <a:p>
            <a:endParaRPr lang="en-US" dirty="0"/>
          </a:p>
          <a:p>
            <a:r>
              <a:rPr lang="en-US" dirty="0"/>
              <a:t>Use a Unit Test!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98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1270E2-4042-EFF3-0876-9C9EF9338B10}"/>
              </a:ext>
            </a:extLst>
          </p:cNvPr>
          <p:cNvSpPr txBox="1"/>
          <p:nvPr/>
        </p:nvSpPr>
        <p:spPr>
          <a:xfrm>
            <a:off x="909836" y="260648"/>
            <a:ext cx="348204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95000"/>
              </a:lnSpc>
              <a:defRPr sz="2200" b="1">
                <a:solidFill>
                  <a:srgbClr val="FF0000"/>
                </a:solidFill>
              </a:defRPr>
            </a:lvl1pPr>
          </a:lstStyle>
          <a:p>
            <a:r>
              <a:rPr lang="en-IN" dirty="0"/>
              <a:t>Agile Testing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A86348-A6CF-5AA4-7ED1-F84A489A700C}"/>
              </a:ext>
            </a:extLst>
          </p:cNvPr>
          <p:cNvSpPr txBox="1"/>
          <p:nvPr/>
        </p:nvSpPr>
        <p:spPr>
          <a:xfrm>
            <a:off x="4654252" y="908720"/>
            <a:ext cx="3462807" cy="5647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IN" sz="2000" dirty="0"/>
              <a:t>Requirement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Write Acceptance Criteria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Write Unit Tests (TDD)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Develop Feature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Run Unit Tests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Run Integration Tests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Run UI Tests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Acceptance Testing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Refactor Code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      ↓</a:t>
            </a:r>
          </a:p>
          <a:p>
            <a:pPr>
              <a:lnSpc>
                <a:spcPct val="95000"/>
              </a:lnSpc>
            </a:pPr>
            <a:r>
              <a:rPr lang="en-IN" sz="2000" dirty="0"/>
              <a:t>Deploy</a:t>
            </a:r>
          </a:p>
        </p:txBody>
      </p:sp>
    </p:spTree>
    <p:extLst>
      <p:ext uri="{BB962C8B-B14F-4D97-AF65-F5344CB8AC3E}">
        <p14:creationId xmlns:p14="http://schemas.microsoft.com/office/powerpoint/2010/main" val="315746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lass open house presentat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Classroom open house presentation.potx" id="{AB7D8AB0-4323-4322-AB21-8CB398DB9E96}" vid="{5BFEA1FF-C39F-48A2-B239-4B55565FC3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Classroom open house presentation</Template>
  <TotalTime>2155</TotalTime>
  <Words>972</Words>
  <Application>Microsoft Office PowerPoint</Application>
  <PresentationFormat>Custom</PresentationFormat>
  <Paragraphs>267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Century Gothic</vt:lpstr>
      <vt:lpstr>Class open house presentation</vt:lpstr>
      <vt:lpstr>Agile Quality Assurance and Testing</vt:lpstr>
      <vt:lpstr>Revise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Inamdar</dc:creator>
  <cp:lastModifiedBy>Aruna Inamdar</cp:lastModifiedBy>
  <cp:revision>351</cp:revision>
  <dcterms:created xsi:type="dcterms:W3CDTF">2026-07-15T13:08:00Z</dcterms:created>
  <dcterms:modified xsi:type="dcterms:W3CDTF">2026-08-09T15:47:29Z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74062800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