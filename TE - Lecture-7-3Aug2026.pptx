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2" r:id="rId1"/>
  </p:sldMasterIdLst>
  <p:notesMasterIdLst>
    <p:notesMasterId r:id="rId38"/>
  </p:notesMasterIdLst>
  <p:handoutMasterIdLst>
    <p:handoutMasterId r:id="rId39"/>
  </p:handoutMasterIdLst>
  <p:sldIdLst>
    <p:sldId id="257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95" r:id="rId18"/>
    <p:sldId id="296" r:id="rId19"/>
    <p:sldId id="297" r:id="rId20"/>
    <p:sldId id="298" r:id="rId21"/>
    <p:sldId id="299" r:id="rId22"/>
    <p:sldId id="300" r:id="rId23"/>
    <p:sldId id="30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945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2">
          <p15:clr>
            <a:srgbClr val="A4A3A4"/>
          </p15:clr>
        </p15:guide>
        <p15:guide id="5" orient="horz" pos="1072">
          <p15:clr>
            <a:srgbClr val="A4A3A4"/>
          </p15:clr>
        </p15:guide>
        <p15:guide id="6" pos="3839">
          <p15:clr>
            <a:srgbClr val="A4A3A4"/>
          </p15:clr>
        </p15:guide>
        <p15:guide id="7" pos="704">
          <p15:clr>
            <a:srgbClr val="A4A3A4"/>
          </p15:clr>
        </p15:guide>
        <p15:guide id="8" pos="710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DBED569-4797-4DF1-A0F4-6AAB3CD982D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182" autoAdjust="0"/>
  </p:normalViewPr>
  <p:slideViewPr>
    <p:cSldViewPr showGuides="1">
      <p:cViewPr varScale="1">
        <p:scale>
          <a:sx n="82" d="100"/>
          <a:sy n="82" d="100"/>
        </p:scale>
        <p:origin x="720" y="72"/>
      </p:cViewPr>
      <p:guideLst>
        <p:guide orient="horz" pos="2160"/>
        <p:guide orient="horz" pos="945"/>
        <p:guide orient="horz" pos="3888"/>
        <p:guide orient="horz" pos="192"/>
        <p:guide orient="horz" pos="1072"/>
        <p:guide pos="3839"/>
        <p:guide pos="704"/>
        <p:guide pos="7102"/>
      </p:guideLst>
    </p:cSldViewPr>
  </p:slideViewPr>
  <p:outlineViewPr>
    <p:cViewPr>
      <p:scale>
        <a:sx n="33" d="100"/>
        <a:sy n="33" d="100"/>
      </p:scale>
      <p:origin x="0" y="-2886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79" d="100"/>
          <a:sy n="79" d="100"/>
        </p:scale>
        <p:origin x="1644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73C59C-4E16-4A64-A766-34DB213E11B3}" type="datetimeFigureOut">
              <a:rPr lang="en-US">
                <a:solidFill>
                  <a:schemeClr val="tx2"/>
                </a:solidFill>
              </a:rPr>
              <a:t>8/6/2026</a:t>
            </a:fld>
            <a:endParaRPr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D77566-CD65-4859-9FA1-43956DC85B8C}" type="slidenum">
              <a:rPr>
                <a:solidFill>
                  <a:schemeClr val="tx2"/>
                </a:solidFill>
              </a:rPr>
              <a:t>‹#›</a:t>
            </a:fld>
            <a:endParaRPr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798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95CF31C-F757-429C-A789-86504F04C3BE}" type="datetimeFigureOut">
              <a:rPr lang="en-US"/>
              <a:pPr/>
              <a:t>8/6/2026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8796F01-7154-41E0-B48B-A6921757531A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07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705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12190572" cy="6858000"/>
            <a:chOff x="0" y="0"/>
            <a:chExt cx="12190572" cy="6858000"/>
          </a:xfrm>
        </p:grpSpPr>
        <p:sp>
          <p:nvSpPr>
            <p:cNvPr id="13" name="Rectangle 12"/>
            <p:cNvSpPr/>
            <p:nvPr/>
          </p:nvSpPr>
          <p:spPr>
            <a:xfrm>
              <a:off x="1620" y="0"/>
              <a:ext cx="12188952" cy="6858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58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0" y="0"/>
              <a:ext cx="4742741" cy="6858000"/>
              <a:chOff x="0" y="0"/>
              <a:chExt cx="4742741" cy="6858000"/>
            </a:xfrm>
          </p:grpSpPr>
          <p:pic>
            <p:nvPicPr>
              <p:cNvPr id="9" name="Picture 8" descr="Stacked books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4591594" cy="6858000"/>
              </a:xfrm>
              <a:prstGeom prst="rect">
                <a:avLst/>
              </a:prstGeom>
            </p:spPr>
          </p:pic>
          <p:sp>
            <p:nvSpPr>
              <p:cNvPr id="10" name="Rectangle 9"/>
              <p:cNvSpPr/>
              <p:nvPr/>
            </p:nvSpPr>
            <p:spPr>
              <a:xfrm>
                <a:off x="4605581" y="0"/>
                <a:ext cx="137160" cy="68580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79346" y="1498601"/>
            <a:ext cx="7008574" cy="3298825"/>
          </a:xfrm>
        </p:spPr>
        <p:txBody>
          <a:bodyPr>
            <a:normAutofit/>
          </a:bodyPr>
          <a:lstStyle>
            <a:lvl1pPr algn="l">
              <a:lnSpc>
                <a:spcPct val="90000"/>
              </a:lnSpc>
              <a:defRPr sz="5400" b="0" cap="none" spc="0" baseline="0">
                <a:ln w="0"/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79346" y="4927600"/>
            <a:ext cx="7008574" cy="1244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b="0" cap="none" spc="0">
                <a:ln w="0"/>
                <a:solidFill>
                  <a:schemeClr val="accent2">
                    <a:lumMod val="50000"/>
                  </a:schemeClr>
                </a:solidFill>
                <a:effectLst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6A09E-12D5-4B1D-B8BB-C300B1DDD423}" type="datetime1">
              <a:rPr lang="en-US" smtClean="0"/>
              <a:t>8/6/2026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0121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377B-053C-438C-8A98-92C419A6701C}" type="datetime1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359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1620" y="0"/>
            <a:ext cx="12188952" cy="6858000"/>
            <a:chOff x="1620" y="0"/>
            <a:chExt cx="12188952" cy="6858000"/>
          </a:xfrm>
        </p:grpSpPr>
        <p:sp>
          <p:nvSpPr>
            <p:cNvPr id="4" name="Rectangle 3"/>
            <p:cNvSpPr/>
            <p:nvPr/>
          </p:nvSpPr>
          <p:spPr>
            <a:xfrm>
              <a:off x="1620" y="0"/>
              <a:ext cx="12188952" cy="6858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58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98818" y="0"/>
              <a:ext cx="4591594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7481252" y="0"/>
              <a:ext cx="137160" cy="6858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solidFill>
                  <a:schemeClr val="tx2"/>
                </a:solidFill>
              </a:endParaRPr>
            </a:p>
          </p:txBody>
        </p:sp>
      </p:grpSp>
      <p:pic>
        <p:nvPicPr>
          <p:cNvPr id="5" name="Picture 4" descr="Stacked book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8818" y="0"/>
            <a:ext cx="4591594" cy="6858000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237149" y="1498601"/>
            <a:ext cx="7008574" cy="3298825"/>
          </a:xfrm>
        </p:spPr>
        <p:txBody>
          <a:bodyPr>
            <a:normAutofit/>
          </a:bodyPr>
          <a:lstStyle>
            <a:lvl1pPr algn="l">
              <a:lnSpc>
                <a:spcPct val="90000"/>
              </a:lnSpc>
              <a:defRPr sz="5400" b="0" cap="none" spc="0" baseline="0">
                <a:ln w="0"/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237149" y="4927600"/>
            <a:ext cx="7008574" cy="1244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b="0" cap="none" spc="0">
                <a:ln w="0"/>
                <a:solidFill>
                  <a:schemeClr val="accent2">
                    <a:lumMod val="50000"/>
                  </a:schemeClr>
                </a:solidFill>
                <a:effectLst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CEF46-0123-4A75-9835-49DC49D53DE2}" type="datetime1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5827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11730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buFont typeface="Century Gothic" panose="020B0502020202020204" pitchFamily="34" charset="0"/>
              <a:buChar char="–"/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8"/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755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6378D-18AE-47D1-B10A-42F623B40082}" type="datetime1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045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137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11730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0162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29755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F6AE8-D704-41F6-B16A-5547B5672AC1}" type="datetime1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07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B9538-6F63-4C0B-916D-ED3F4E0A1B28}" type="datetime1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845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F15BF-7116-4A9E-8022-5A2DC937F971}" type="datetime1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07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961368" y="0"/>
            <a:ext cx="7922736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612" y="1701800"/>
            <a:ext cx="3351927" cy="2844800"/>
          </a:xfrm>
        </p:spPr>
        <p:txBody>
          <a:bodyPr anchor="b">
            <a:normAutofit/>
          </a:bodyPr>
          <a:lstStyle>
            <a:lvl1pPr algn="l">
              <a:defRPr sz="20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469236" y="482600"/>
            <a:ext cx="6805427" cy="5892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418976" indent="-285750">
              <a:buFont typeface="Century Gothic" panose="020B0502020202020204" pitchFamily="34" charset="0"/>
              <a:buChar char="–"/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5612" y="4648200"/>
            <a:ext cx="3351927" cy="17272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8DC91-5A3B-40CE-8C1D-279A8EF6E008}" type="datetime1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110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082258" y="0"/>
            <a:ext cx="802431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7765" y="4800600"/>
            <a:ext cx="7313295" cy="762000"/>
          </a:xfrm>
        </p:spPr>
        <p:txBody>
          <a:bodyPr anchor="b">
            <a:normAutofit/>
          </a:bodyPr>
          <a:lstStyle>
            <a:lvl1pPr algn="l">
              <a:defRPr sz="20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2437765" y="279401"/>
            <a:ext cx="7313295" cy="444817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37765" y="5562600"/>
            <a:ext cx="7313295" cy="8128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7C20A-B94A-4E20-B4B2-88A7825AE904}" type="datetime1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372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>
            <a:lvl5pPr>
              <a:defRPr/>
            </a:lvl5pPr>
            <a:lvl6pPr marL="2418976" indent="-285750">
              <a:buFont typeface="Century Gothic" panose="020B0502020202020204" pitchFamily="34" charset="0"/>
              <a:buChar char="–"/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CA53D-4C84-40AA-983E-A1E818A7FEFC}" type="datetime1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619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52633" y="274638"/>
            <a:ext cx="1422030" cy="58975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1117309" y="274638"/>
            <a:ext cx="8532178" cy="5897561"/>
          </a:xfrm>
        </p:spPr>
        <p:txBody>
          <a:bodyPr vert="eaVert"/>
          <a:lstStyle>
            <a:lvl5pPr>
              <a:defRPr/>
            </a:lvl5pPr>
            <a:lvl6pPr marL="2418976" indent="-285750">
              <a:buFont typeface="Century Gothic" panose="020B0502020202020204" pitchFamily="34" charset="0"/>
              <a:buChar char="–"/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FCEE-AE66-4EAB-9C04-97F8A56A6354}" type="datetime1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691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620" y="0"/>
            <a:ext cx="12188952" cy="6858000"/>
            <a:chOff x="1620" y="0"/>
            <a:chExt cx="12188952" cy="6858000"/>
          </a:xfrm>
        </p:grpSpPr>
        <p:sp>
          <p:nvSpPr>
            <p:cNvPr id="10" name="Rectangle 9"/>
            <p:cNvSpPr/>
            <p:nvPr/>
          </p:nvSpPr>
          <p:spPr>
            <a:xfrm>
              <a:off x="1620" y="0"/>
              <a:ext cx="12188952" cy="6858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58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304721" y="0"/>
              <a:ext cx="11579384" cy="6858000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13970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309" y="1701800"/>
            <a:ext cx="10157354" cy="44704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309" y="6400801"/>
            <a:ext cx="2742486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l"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859468AF-EFCF-4AAD-ACF4-3BA83EC4AF4E}" type="datetime1">
              <a:rPr lang="en-US" smtClean="0"/>
              <a:pPr/>
              <a:t>8/6/2026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07842" y="6400801"/>
            <a:ext cx="6216301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ctr"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r"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187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1218987" rtl="0" eaLnBrk="1" latinLnBrk="0" hangingPunct="1">
        <a:lnSpc>
          <a:spcPct val="85000"/>
        </a:lnSpc>
        <a:spcBef>
          <a:spcPct val="0"/>
        </a:spcBef>
        <a:buNone/>
        <a:tabLst/>
        <a:defRPr sz="4400" b="0" kern="1200" cap="none" baseline="0">
          <a:solidFill>
            <a:schemeClr val="accent2">
              <a:lumMod val="50000"/>
            </a:schemeClr>
          </a:solidFill>
          <a:effectLst/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5000"/>
        </a:lnSpc>
        <a:spcBef>
          <a:spcPts val="1866"/>
        </a:spcBef>
        <a:buClr>
          <a:schemeClr val="accent6">
            <a:lumMod val="50000"/>
          </a:schemeClr>
        </a:buClr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31392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58037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584683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11328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133226" indent="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None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6pPr>
      <a:lvl7pPr marL="2845622" indent="-28575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Char char="–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7pPr>
      <a:lvl8pPr marL="3272267" indent="-28575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Char char="–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8pPr>
      <a:lvl9pPr marL="3759862" indent="-28575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Char char="–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Agile Estimation &amp; Metrics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4879346" y="4941168"/>
            <a:ext cx="7008574" cy="1244600"/>
          </a:xfrm>
        </p:spPr>
        <p:txBody>
          <a:bodyPr/>
          <a:lstStyle/>
          <a:p>
            <a:r>
              <a:rPr lang="en-US" dirty="0"/>
              <a:t>Aruna Kumbhar</a:t>
            </a:r>
          </a:p>
        </p:txBody>
      </p:sp>
    </p:spTree>
    <p:extLst>
      <p:ext uri="{BB962C8B-B14F-4D97-AF65-F5344CB8AC3E}">
        <p14:creationId xmlns:p14="http://schemas.microsoft.com/office/powerpoint/2010/main" val="168988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A3744-82BD-18CD-BD9F-BA4F2D791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904528"/>
          </a:xfrm>
        </p:spPr>
        <p:txBody>
          <a:bodyPr/>
          <a:lstStyle/>
          <a:p>
            <a:r>
              <a:rPr lang="en-IN" dirty="0"/>
              <a:t>Revise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61C79-8EB4-E7B5-84F2-09F2C4AB6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36" y="1193800"/>
            <a:ext cx="10157354" cy="4470400"/>
          </a:xfrm>
        </p:spPr>
        <p:txBody>
          <a:bodyPr>
            <a:normAutofit/>
          </a:bodyPr>
          <a:lstStyle/>
          <a:p>
            <a:r>
              <a:rPr lang="en-IN" dirty="0"/>
              <a:t>Classification of Agile Methods</a:t>
            </a:r>
          </a:p>
          <a:p>
            <a:r>
              <a:rPr lang="en-IN" dirty="0"/>
              <a:t>Agile Teams</a:t>
            </a:r>
          </a:p>
          <a:p>
            <a:r>
              <a:rPr lang="en-IN" dirty="0"/>
              <a:t>Agile Team Meetings</a:t>
            </a:r>
          </a:p>
          <a:p>
            <a:r>
              <a:rPr lang="en-IN" dirty="0"/>
              <a:t>Agile Methodologies – Scrum, XP, FDD, Crystal, Kanban,  Adaptive Software Development (ASD), Lean</a:t>
            </a:r>
          </a:p>
          <a:p>
            <a:r>
              <a:rPr lang="en-IN" dirty="0"/>
              <a:t>Traditional Agile Estimation Techniques</a:t>
            </a:r>
          </a:p>
          <a:p>
            <a:r>
              <a:rPr lang="en-IN" dirty="0"/>
              <a:t>Agile Reports</a:t>
            </a:r>
          </a:p>
        </p:txBody>
      </p:sp>
    </p:spTree>
    <p:extLst>
      <p:ext uri="{BB962C8B-B14F-4D97-AF65-F5344CB8AC3E}">
        <p14:creationId xmlns:p14="http://schemas.microsoft.com/office/powerpoint/2010/main" val="3102947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5437C3-9A62-EB48-C80C-46F8997C98DF}"/>
              </a:ext>
            </a:extLst>
          </p:cNvPr>
          <p:cNvSpPr txBox="1"/>
          <p:nvPr/>
        </p:nvSpPr>
        <p:spPr>
          <a:xfrm>
            <a:off x="909836" y="404664"/>
            <a:ext cx="5721438" cy="413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IN" sz="2200" b="1" dirty="0">
                <a:solidFill>
                  <a:srgbClr val="FF0000"/>
                </a:solidFill>
              </a:rPr>
              <a:t>Advanced Agile Forecasting Techniques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FA6B76-AA4E-BCD8-C086-43F6B6833B22}"/>
              </a:ext>
            </a:extLst>
          </p:cNvPr>
          <p:cNvSpPr txBox="1"/>
          <p:nvPr/>
        </p:nvSpPr>
        <p:spPr>
          <a:xfrm>
            <a:off x="909836" y="1052736"/>
            <a:ext cx="5867312" cy="413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2200" dirty="0"/>
              <a:t>Why do we need advanced forecasting?</a:t>
            </a:r>
            <a:endParaRPr lang="en-IN" sz="2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E0047E-FF1C-5EAD-B73F-677EBA0072DB}"/>
              </a:ext>
            </a:extLst>
          </p:cNvPr>
          <p:cNvSpPr txBox="1"/>
          <p:nvPr/>
        </p:nvSpPr>
        <p:spPr>
          <a:xfrm>
            <a:off x="972353" y="1628800"/>
            <a:ext cx="5658921" cy="31223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Suppose your team estimated: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Sprint 1 → 20 stories completed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Sprint 2 → 18 stories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Sprint 3 → 24 stories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Sprint 4 → 16 stories </a:t>
            </a:r>
          </a:p>
          <a:p>
            <a:endParaRPr lang="en-US" sz="2200" dirty="0"/>
          </a:p>
          <a:p>
            <a:r>
              <a:rPr lang="en-US" sz="2200" dirty="0"/>
              <a:t>Will Sprint 5 complete exactly </a:t>
            </a:r>
            <a:r>
              <a:rPr lang="en-US" sz="2200" b="1" dirty="0"/>
              <a:t>20 stories?</a:t>
            </a:r>
          </a:p>
          <a:p>
            <a:r>
              <a:rPr lang="en-US" sz="2200" b="1" dirty="0"/>
              <a:t>Probably not!</a:t>
            </a:r>
          </a:p>
          <a:p>
            <a:pPr>
              <a:lnSpc>
                <a:spcPct val="95000"/>
              </a:lnSpc>
            </a:pPr>
            <a:endParaRPr lang="en-IN" sz="2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F2CE7A-6415-F4E4-9D4F-156EC9B85D3A}"/>
              </a:ext>
            </a:extLst>
          </p:cNvPr>
          <p:cNvSpPr txBox="1"/>
          <p:nvPr/>
        </p:nvSpPr>
        <p:spPr>
          <a:xfrm>
            <a:off x="7174532" y="1772816"/>
            <a:ext cx="4269117" cy="21067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Real life always changes.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Bugs appear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Team members take leave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Requirements change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Production issues happen</a:t>
            </a:r>
          </a:p>
          <a:p>
            <a:pPr>
              <a:lnSpc>
                <a:spcPct val="95000"/>
              </a:lnSpc>
            </a:pPr>
            <a:endParaRPr lang="en-IN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C1FC5B-C86C-99EE-C8D0-6A570D775BC5}"/>
              </a:ext>
            </a:extLst>
          </p:cNvPr>
          <p:cNvSpPr txBox="1"/>
          <p:nvPr/>
        </p:nvSpPr>
        <p:spPr>
          <a:xfrm>
            <a:off x="1125860" y="5022220"/>
            <a:ext cx="9568645" cy="413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2200" b="1" dirty="0"/>
              <a:t>Advanced forecasting accepts this uncertainty instead of ignoring it.</a:t>
            </a:r>
            <a:endParaRPr lang="en-IN" sz="2200" b="1" dirty="0"/>
          </a:p>
        </p:txBody>
      </p:sp>
    </p:spTree>
    <p:extLst>
      <p:ext uri="{BB962C8B-B14F-4D97-AF65-F5344CB8AC3E}">
        <p14:creationId xmlns:p14="http://schemas.microsoft.com/office/powerpoint/2010/main" val="184080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B99988E-C3C9-A4F1-4994-25327F7266FC}"/>
              </a:ext>
            </a:extLst>
          </p:cNvPr>
          <p:cNvSpPr txBox="1"/>
          <p:nvPr/>
        </p:nvSpPr>
        <p:spPr>
          <a:xfrm>
            <a:off x="909836" y="332656"/>
            <a:ext cx="3687228" cy="413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IN" sz="2200" b="1" dirty="0">
                <a:solidFill>
                  <a:srgbClr val="FF0000"/>
                </a:solidFill>
              </a:rPr>
              <a:t>1. Monte Carlo Simulation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C7F210-1B5C-7D2D-3B95-EAD8256EBEC8}"/>
              </a:ext>
            </a:extLst>
          </p:cNvPr>
          <p:cNvSpPr txBox="1"/>
          <p:nvPr/>
        </p:nvSpPr>
        <p:spPr>
          <a:xfrm>
            <a:off x="909836" y="801818"/>
            <a:ext cx="10153128" cy="752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Imagine rolling a dice. Will you always get </a:t>
            </a:r>
            <a:r>
              <a:rPr lang="en-US" sz="2200" b="1" dirty="0"/>
              <a:t>6? </a:t>
            </a:r>
            <a:r>
              <a:rPr lang="en-US" sz="2200" dirty="0"/>
              <a:t>No</a:t>
            </a:r>
          </a:p>
          <a:p>
            <a:pPr>
              <a:lnSpc>
                <a:spcPct val="95000"/>
              </a:lnSpc>
            </a:pPr>
            <a:endParaRPr lang="en-IN" sz="2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235C71-2F6A-C818-2917-8DEF83CC5772}"/>
              </a:ext>
            </a:extLst>
          </p:cNvPr>
          <p:cNvSpPr txBox="1"/>
          <p:nvPr/>
        </p:nvSpPr>
        <p:spPr>
          <a:xfrm>
            <a:off x="873832" y="1280074"/>
            <a:ext cx="4939173" cy="413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2200" dirty="0"/>
              <a:t>Now imagine rolling it </a:t>
            </a:r>
            <a:r>
              <a:rPr lang="en-US" sz="2200" b="1" dirty="0"/>
              <a:t>10,000 times</a:t>
            </a:r>
            <a:r>
              <a:rPr lang="en-US" sz="2200" dirty="0"/>
              <a:t>.</a:t>
            </a:r>
            <a:endParaRPr lang="en-IN" sz="2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0F98FE-1D13-861B-FD23-341274C33AEC}"/>
              </a:ext>
            </a:extLst>
          </p:cNvPr>
          <p:cNvSpPr txBox="1"/>
          <p:nvPr/>
        </p:nvSpPr>
        <p:spPr>
          <a:xfrm>
            <a:off x="837829" y="1672361"/>
            <a:ext cx="10441160" cy="17681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After many rolls, you can predict: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Chance of getting 6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Average score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Most likely result</a:t>
            </a:r>
          </a:p>
          <a:p>
            <a:pPr>
              <a:lnSpc>
                <a:spcPct val="95000"/>
              </a:lnSpc>
            </a:pPr>
            <a:endParaRPr lang="en-IN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52AD89-7B4F-1470-3A34-82A6F485A781}"/>
              </a:ext>
            </a:extLst>
          </p:cNvPr>
          <p:cNvSpPr txBox="1"/>
          <p:nvPr/>
        </p:nvSpPr>
        <p:spPr>
          <a:xfrm>
            <a:off x="4843982" y="2118229"/>
            <a:ext cx="6407523" cy="413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2200" b="1" dirty="0"/>
              <a:t>Monte Carlo Simulation works exactly like this</a:t>
            </a:r>
            <a:endParaRPr lang="en-IN" sz="2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957AE9-ABE7-3941-6F1E-57A7AFD43F01}"/>
              </a:ext>
            </a:extLst>
          </p:cNvPr>
          <p:cNvSpPr txBox="1"/>
          <p:nvPr/>
        </p:nvSpPr>
        <p:spPr>
          <a:xfrm>
            <a:off x="884583" y="3254430"/>
            <a:ext cx="3785011" cy="413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IN" sz="2200" dirty="0"/>
              <a:t>Total backlog = </a:t>
            </a:r>
            <a:r>
              <a:rPr lang="en-IN" sz="2200" b="1" dirty="0"/>
              <a:t>100 stories</a:t>
            </a:r>
            <a:endParaRPr lang="en-IN" sz="2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808931-5372-E9B6-9CF0-069B12232B61}"/>
              </a:ext>
            </a:extLst>
          </p:cNvPr>
          <p:cNvSpPr txBox="1"/>
          <p:nvPr/>
        </p:nvSpPr>
        <p:spPr>
          <a:xfrm>
            <a:off x="900506" y="3724792"/>
            <a:ext cx="4032448" cy="7355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2200" dirty="0"/>
              <a:t>The simulation runs thousands of virtual futures</a:t>
            </a:r>
            <a:endParaRPr lang="en-IN" sz="2200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A61C9A2-646D-4B8C-9B2D-A0B8FC4423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3434953"/>
              </p:ext>
            </p:extLst>
          </p:nvPr>
        </p:nvGraphicFramePr>
        <p:xfrm>
          <a:off x="6454452" y="2855214"/>
          <a:ext cx="5544616" cy="3034544"/>
        </p:xfrm>
        <a:graphic>
          <a:graphicData uri="http://schemas.openxmlformats.org/drawingml/2006/table">
            <a:tbl>
              <a:tblPr/>
              <a:tblGrid>
                <a:gridCol w="2772308">
                  <a:extLst>
                    <a:ext uri="{9D8B030D-6E8A-4147-A177-3AD203B41FA5}">
                      <a16:colId xmlns:a16="http://schemas.microsoft.com/office/drawing/2014/main" val="2444096674"/>
                    </a:ext>
                  </a:extLst>
                </a:gridCol>
                <a:gridCol w="2772308">
                  <a:extLst>
                    <a:ext uri="{9D8B030D-6E8A-4147-A177-3AD203B41FA5}">
                      <a16:colId xmlns:a16="http://schemas.microsoft.com/office/drawing/2014/main" val="4129914921"/>
                    </a:ext>
                  </a:extLst>
                </a:gridCol>
              </a:tblGrid>
              <a:tr h="362198">
                <a:tc>
                  <a:txBody>
                    <a:bodyPr/>
                    <a:lstStyle/>
                    <a:p>
                      <a:r>
                        <a:rPr lang="en-IN" sz="2200" b="1"/>
                        <a:t>Result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 b="1" dirty="0"/>
                        <a:t>Probability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1628525"/>
                  </a:ext>
                </a:extLst>
              </a:tr>
              <a:tr h="651956">
                <a:tc>
                  <a:txBody>
                    <a:bodyPr/>
                    <a:lstStyle/>
                    <a:p>
                      <a:r>
                        <a:rPr lang="en-IN" sz="2200"/>
                        <a:t>Finish in 4 sprints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/>
                        <a:t>10%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3325521"/>
                  </a:ext>
                </a:extLst>
              </a:tr>
              <a:tr h="651956">
                <a:tc>
                  <a:txBody>
                    <a:bodyPr/>
                    <a:lstStyle/>
                    <a:p>
                      <a:r>
                        <a:rPr lang="en-IN" sz="2200" dirty="0"/>
                        <a:t>Finish in 5 sprints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/>
                        <a:t>65%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2706898"/>
                  </a:ext>
                </a:extLst>
              </a:tr>
              <a:tr h="651956">
                <a:tc>
                  <a:txBody>
                    <a:bodyPr/>
                    <a:lstStyle/>
                    <a:p>
                      <a:r>
                        <a:rPr lang="en-IN" sz="2200" dirty="0"/>
                        <a:t>Finish in 6 sprints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/>
                        <a:t>22%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6302605"/>
                  </a:ext>
                </a:extLst>
              </a:tr>
              <a:tr h="651956">
                <a:tc>
                  <a:txBody>
                    <a:bodyPr/>
                    <a:lstStyle/>
                    <a:p>
                      <a:r>
                        <a:rPr lang="en-IN" sz="2200"/>
                        <a:t>Finish in 7 sprints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 dirty="0"/>
                        <a:t>3%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133144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2E8F57C3-F431-E3F2-8C56-ECD2102C4E40}"/>
              </a:ext>
            </a:extLst>
          </p:cNvPr>
          <p:cNvSpPr txBox="1"/>
          <p:nvPr/>
        </p:nvSpPr>
        <p:spPr>
          <a:xfrm>
            <a:off x="884583" y="4663554"/>
            <a:ext cx="4599336" cy="413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IN" sz="2200" dirty="0"/>
              <a:t>Think about weather forecasting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30554B-97D8-8B31-57D6-4993F6A9A069}"/>
              </a:ext>
            </a:extLst>
          </p:cNvPr>
          <p:cNvSpPr txBox="1"/>
          <p:nvPr/>
        </p:nvSpPr>
        <p:spPr>
          <a:xfrm>
            <a:off x="901425" y="5228786"/>
            <a:ext cx="5065814" cy="13788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2200" dirty="0"/>
              <a:t>Meteorologists don't say: "Tomorrow it WILL rain."</a:t>
            </a:r>
          </a:p>
          <a:p>
            <a:pPr>
              <a:lnSpc>
                <a:spcPct val="95000"/>
              </a:lnSpc>
            </a:pPr>
            <a:r>
              <a:rPr lang="en-US" sz="2200" dirty="0"/>
              <a:t>Instead they say: "There is an 80% chance of rain."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3697396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FFD0B6-C6D9-A7EB-A550-74154C53C1C5}"/>
              </a:ext>
            </a:extLst>
          </p:cNvPr>
          <p:cNvSpPr txBox="1"/>
          <p:nvPr/>
        </p:nvSpPr>
        <p:spPr>
          <a:xfrm>
            <a:off x="837828" y="332656"/>
            <a:ext cx="3377848" cy="413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IN" sz="2200" b="1" dirty="0">
                <a:solidFill>
                  <a:srgbClr val="FF0000"/>
                </a:solidFill>
              </a:rPr>
              <a:t>2. Probabilistic Planning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BFD3A9-A0A5-FBFC-7BBB-336506C85868}"/>
              </a:ext>
            </a:extLst>
          </p:cNvPr>
          <p:cNvSpPr txBox="1"/>
          <p:nvPr/>
        </p:nvSpPr>
        <p:spPr>
          <a:xfrm>
            <a:off x="837828" y="836712"/>
            <a:ext cx="10369152" cy="2059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/>
              <a:t>Imagine your professor says: "Assignment submission is on Monday." Would you start Sunday night? Probably not. 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You would finish earlier to increase the probability of submitting on time.</a:t>
            </a:r>
          </a:p>
          <a:p>
            <a:pPr>
              <a:lnSpc>
                <a:spcPct val="150000"/>
              </a:lnSpc>
            </a:pPr>
            <a:r>
              <a:rPr lang="en-US" sz="2200" b="1" dirty="0"/>
              <a:t>Probabilistic planning follows the same idea</a:t>
            </a:r>
            <a:endParaRPr lang="en-IN" sz="2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223CD3-65C6-81E9-B4C8-53FF7993C079}"/>
              </a:ext>
            </a:extLst>
          </p:cNvPr>
          <p:cNvSpPr txBox="1"/>
          <p:nvPr/>
        </p:nvSpPr>
        <p:spPr>
          <a:xfrm>
            <a:off x="837828" y="3140968"/>
            <a:ext cx="10585176" cy="10436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/>
              <a:t>Instead of promising a single fixed date, teams state outcomes as percentages, such as a "50% chance in 3 sprints, 85% chance in 4 sprints"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3316021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B9D633-7787-6F98-ECB6-B3DE141DC95D}"/>
              </a:ext>
            </a:extLst>
          </p:cNvPr>
          <p:cNvSpPr txBox="1"/>
          <p:nvPr/>
        </p:nvSpPr>
        <p:spPr>
          <a:xfrm>
            <a:off x="765820" y="260648"/>
            <a:ext cx="4649030" cy="413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IN" sz="2200" b="1" dirty="0">
                <a:solidFill>
                  <a:srgbClr val="FF0000"/>
                </a:solidFill>
              </a:rPr>
              <a:t>3. Throughput-Based Forecasting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75BF57-63EA-29D9-C9F5-E91950CD79E6}"/>
              </a:ext>
            </a:extLst>
          </p:cNvPr>
          <p:cNvSpPr txBox="1"/>
          <p:nvPr/>
        </p:nvSpPr>
        <p:spPr>
          <a:xfrm>
            <a:off x="909836" y="908720"/>
            <a:ext cx="10952037" cy="413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2200" dirty="0"/>
              <a:t>Throughput means: How many work items does the team finish in a given time?</a:t>
            </a:r>
            <a:endParaRPr lang="en-IN" sz="22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57E603A-A23C-1050-AD41-DA007CC1D4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6630743"/>
              </p:ext>
            </p:extLst>
          </p:nvPr>
        </p:nvGraphicFramePr>
        <p:xfrm>
          <a:off x="1048883" y="1647458"/>
          <a:ext cx="4365967" cy="2645640"/>
        </p:xfrm>
        <a:graphic>
          <a:graphicData uri="http://schemas.openxmlformats.org/drawingml/2006/table">
            <a:tbl>
              <a:tblPr/>
              <a:tblGrid>
                <a:gridCol w="1294327">
                  <a:extLst>
                    <a:ext uri="{9D8B030D-6E8A-4147-A177-3AD203B41FA5}">
                      <a16:colId xmlns:a16="http://schemas.microsoft.com/office/drawing/2014/main" val="3002053421"/>
                    </a:ext>
                  </a:extLst>
                </a:gridCol>
                <a:gridCol w="3071640">
                  <a:extLst>
                    <a:ext uri="{9D8B030D-6E8A-4147-A177-3AD203B41FA5}">
                      <a16:colId xmlns:a16="http://schemas.microsoft.com/office/drawing/2014/main" val="1189685561"/>
                    </a:ext>
                  </a:extLst>
                </a:gridCol>
              </a:tblGrid>
              <a:tr h="440940">
                <a:tc>
                  <a:txBody>
                    <a:bodyPr/>
                    <a:lstStyle/>
                    <a:p>
                      <a:r>
                        <a:rPr lang="en-IN" sz="2200" b="1"/>
                        <a:t>Sprint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 b="1" dirty="0"/>
                        <a:t>Stories Finished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5168646"/>
                  </a:ext>
                </a:extLst>
              </a:tr>
              <a:tr h="440940">
                <a:tc>
                  <a:txBody>
                    <a:bodyPr/>
                    <a:lstStyle/>
                    <a:p>
                      <a:r>
                        <a:rPr lang="en-IN" sz="22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022202"/>
                  </a:ext>
                </a:extLst>
              </a:tr>
              <a:tr h="440940">
                <a:tc>
                  <a:txBody>
                    <a:bodyPr/>
                    <a:lstStyle/>
                    <a:p>
                      <a:r>
                        <a:rPr lang="en-IN" sz="22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/>
                        <a:t>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1027171"/>
                  </a:ext>
                </a:extLst>
              </a:tr>
              <a:tr h="440940">
                <a:tc>
                  <a:txBody>
                    <a:bodyPr/>
                    <a:lstStyle/>
                    <a:p>
                      <a:r>
                        <a:rPr lang="en-IN" sz="22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/>
                        <a:t>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488094"/>
                  </a:ext>
                </a:extLst>
              </a:tr>
              <a:tr h="440940">
                <a:tc>
                  <a:txBody>
                    <a:bodyPr/>
                    <a:lstStyle/>
                    <a:p>
                      <a:r>
                        <a:rPr lang="en-IN" sz="220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/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7752516"/>
                  </a:ext>
                </a:extLst>
              </a:tr>
              <a:tr h="440940">
                <a:tc>
                  <a:txBody>
                    <a:bodyPr/>
                    <a:lstStyle/>
                    <a:p>
                      <a:r>
                        <a:rPr lang="en-IN" sz="2200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 dirty="0"/>
                        <a:t>13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155375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1C86AA7-04DA-008F-ECC1-01C929769F72}"/>
              </a:ext>
            </a:extLst>
          </p:cNvPr>
          <p:cNvSpPr txBox="1"/>
          <p:nvPr/>
        </p:nvSpPr>
        <p:spPr>
          <a:xfrm>
            <a:off x="4510236" y="2556319"/>
            <a:ext cx="5860900" cy="413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2200" b="1" dirty="0"/>
              <a:t>Average throughput = 11 stories per sprint</a:t>
            </a:r>
            <a:endParaRPr lang="en-IN" sz="2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8B97F9-EA3E-EB65-7BF0-4BCB9388AE84}"/>
              </a:ext>
            </a:extLst>
          </p:cNvPr>
          <p:cNvSpPr txBox="1"/>
          <p:nvPr/>
        </p:nvSpPr>
        <p:spPr>
          <a:xfrm>
            <a:off x="4484780" y="3237114"/>
            <a:ext cx="3962944" cy="10572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2200" b="1" dirty="0"/>
              <a:t>Remaining stories = 55</a:t>
            </a:r>
          </a:p>
          <a:p>
            <a:pPr>
              <a:lnSpc>
                <a:spcPct val="95000"/>
              </a:lnSpc>
            </a:pPr>
            <a:endParaRPr lang="en-US" sz="2200" b="1" dirty="0"/>
          </a:p>
          <a:p>
            <a:pPr>
              <a:lnSpc>
                <a:spcPct val="95000"/>
              </a:lnSpc>
            </a:pPr>
            <a:r>
              <a:rPr lang="en-US" sz="2200" b="1" dirty="0"/>
              <a:t>Prediction 55 ÷ 11 = 5 sprints</a:t>
            </a:r>
            <a:endParaRPr lang="en-IN" sz="2200" b="1" dirty="0"/>
          </a:p>
        </p:txBody>
      </p:sp>
    </p:spTree>
    <p:extLst>
      <p:ext uri="{BB962C8B-B14F-4D97-AF65-F5344CB8AC3E}">
        <p14:creationId xmlns:p14="http://schemas.microsoft.com/office/powerpoint/2010/main" val="3408791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991E311-639E-204C-61E5-B5DF0F012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852" y="620688"/>
            <a:ext cx="10259839" cy="525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1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736AE0-16BA-91E8-5BCA-B76991F20749}"/>
              </a:ext>
            </a:extLst>
          </p:cNvPr>
          <p:cNvSpPr txBox="1"/>
          <p:nvPr/>
        </p:nvSpPr>
        <p:spPr>
          <a:xfrm>
            <a:off x="981844" y="260648"/>
            <a:ext cx="7718780" cy="413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2200" b="1" dirty="0">
                <a:solidFill>
                  <a:srgbClr val="FF0000"/>
                </a:solidFill>
              </a:rPr>
              <a:t>Agile Metrics and Agile Approach to Quality Assurance</a:t>
            </a:r>
            <a:endParaRPr lang="en-IN" sz="2200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A00597-65F4-CD56-0EBA-0AE70DC1440E}"/>
              </a:ext>
            </a:extLst>
          </p:cNvPr>
          <p:cNvSpPr txBox="1"/>
          <p:nvPr/>
        </p:nvSpPr>
        <p:spPr>
          <a:xfrm>
            <a:off x="990059" y="836712"/>
            <a:ext cx="6420347" cy="5601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2200" dirty="0"/>
              <a:t>Imagine you are playing a cricket match </a:t>
            </a:r>
            <a:r>
              <a:rPr lang="en-US" sz="3200" dirty="0"/>
              <a:t>🏏</a:t>
            </a:r>
            <a:endParaRPr lang="en-IN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D3BB18-243E-DBEB-BD2E-88450EAAA3A2}"/>
              </a:ext>
            </a:extLst>
          </p:cNvPr>
          <p:cNvSpPr txBox="1"/>
          <p:nvPr/>
        </p:nvSpPr>
        <p:spPr>
          <a:xfrm>
            <a:off x="979106" y="1557881"/>
            <a:ext cx="4727576" cy="413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IN" sz="2200" dirty="0"/>
              <a:t>After every match, what you do?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0D87C2-5B22-6999-EEA9-07E0F898A6A7}"/>
              </a:ext>
            </a:extLst>
          </p:cNvPr>
          <p:cNvSpPr txBox="1"/>
          <p:nvPr/>
        </p:nvSpPr>
        <p:spPr>
          <a:xfrm>
            <a:off x="979106" y="2098614"/>
            <a:ext cx="11585073" cy="2059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/>
              <a:t>How many runs did we score?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How many wickets did we lose?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How many catches were dropped?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Who performed consistently?</a:t>
            </a:r>
            <a:endParaRPr lang="en-IN" sz="2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CAF360-7231-14A9-435E-0B98A6545809}"/>
              </a:ext>
            </a:extLst>
          </p:cNvPr>
          <p:cNvSpPr txBox="1"/>
          <p:nvPr/>
        </p:nvSpPr>
        <p:spPr>
          <a:xfrm>
            <a:off x="7606581" y="2348880"/>
            <a:ext cx="3888432" cy="7355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2200" dirty="0"/>
              <a:t>These measurements help improve the team</a:t>
            </a:r>
            <a:endParaRPr lang="en-IN" sz="2200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46047FAE-B4C9-078D-276B-D96C5A90B66F}"/>
              </a:ext>
            </a:extLst>
          </p:cNvPr>
          <p:cNvSpPr/>
          <p:nvPr/>
        </p:nvSpPr>
        <p:spPr>
          <a:xfrm>
            <a:off x="5806380" y="2564904"/>
            <a:ext cx="1656184" cy="360040"/>
          </a:xfrm>
          <a:prstGeom prst="rightArrow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2626DA-56E4-EA80-6F8E-D4632519A5C7}"/>
              </a:ext>
            </a:extLst>
          </p:cNvPr>
          <p:cNvSpPr txBox="1"/>
          <p:nvPr/>
        </p:nvSpPr>
        <p:spPr>
          <a:xfrm>
            <a:off x="956895" y="4408162"/>
            <a:ext cx="10441160" cy="1043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/>
              <a:t>Similarly, in Agile, we use </a:t>
            </a:r>
            <a:r>
              <a:rPr lang="en-US" sz="2200" b="1" dirty="0"/>
              <a:t>Agile Metrics</a:t>
            </a:r>
            <a:r>
              <a:rPr lang="en-US" sz="2200" dirty="0"/>
              <a:t> to measure the team's performance and </a:t>
            </a:r>
            <a:r>
              <a:rPr lang="en-US" sz="2200" b="1" dirty="0"/>
              <a:t>Quality Assurance (QA)</a:t>
            </a:r>
            <a:r>
              <a:rPr lang="en-US" sz="2200" dirty="0"/>
              <a:t> to ensure we deliver a high-quality product.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281108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056DB4C-7AF4-E36E-054F-688869D4EA0A}"/>
              </a:ext>
            </a:extLst>
          </p:cNvPr>
          <p:cNvSpPr txBox="1"/>
          <p:nvPr/>
        </p:nvSpPr>
        <p:spPr>
          <a:xfrm>
            <a:off x="837828" y="260648"/>
            <a:ext cx="1954381" cy="413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IN" sz="2200" b="1" dirty="0">
                <a:solidFill>
                  <a:srgbClr val="FF0000"/>
                </a:solidFill>
              </a:rPr>
              <a:t>Agile Metrics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C18B0B-88FA-0E64-C750-ECD5E4CD2459}"/>
              </a:ext>
            </a:extLst>
          </p:cNvPr>
          <p:cNvSpPr txBox="1"/>
          <p:nvPr/>
        </p:nvSpPr>
        <p:spPr>
          <a:xfrm>
            <a:off x="765820" y="908720"/>
            <a:ext cx="10657184" cy="7355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2200" b="1" dirty="0"/>
              <a:t>Agile Metrics are measurements that help Agile teams understand their progress, productivity, quality, and predictability</a:t>
            </a:r>
            <a:endParaRPr lang="en-IN" sz="2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DF8653-31EA-16A7-D8EA-F20B0D0610D7}"/>
              </a:ext>
            </a:extLst>
          </p:cNvPr>
          <p:cNvSpPr txBox="1"/>
          <p:nvPr/>
        </p:nvSpPr>
        <p:spPr>
          <a:xfrm>
            <a:off x="765820" y="1889169"/>
            <a:ext cx="10089622" cy="413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2200" dirty="0"/>
              <a:t>Imagine driving a car without looking at the speedometer or fuel gauge.</a:t>
            </a:r>
            <a:endParaRPr lang="en-IN" sz="2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94BE43-BFB6-9AC5-682F-7263D006B844}"/>
              </a:ext>
            </a:extLst>
          </p:cNvPr>
          <p:cNvSpPr txBox="1"/>
          <p:nvPr/>
        </p:nvSpPr>
        <p:spPr>
          <a:xfrm>
            <a:off x="765820" y="2420888"/>
            <a:ext cx="5112568" cy="2665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2200" dirty="0"/>
              <a:t>Would you know:</a:t>
            </a:r>
          </a:p>
          <a:p>
            <a:pPr>
              <a:lnSpc>
                <a:spcPct val="95000"/>
              </a:lnSpc>
            </a:pPr>
            <a:endParaRPr lang="en-US" sz="2200" dirty="0"/>
          </a:p>
          <a:p>
            <a:pPr marL="342900" indent="-342900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How fast you're going?</a:t>
            </a:r>
          </a:p>
          <a:p>
            <a:pPr marL="342900" indent="-342900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How much fuel is left?</a:t>
            </a:r>
          </a:p>
          <a:p>
            <a:pPr marL="342900" indent="-342900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Whether you'll reach your destination?</a:t>
            </a:r>
          </a:p>
          <a:p>
            <a:pPr>
              <a:lnSpc>
                <a:spcPct val="95000"/>
              </a:lnSpc>
            </a:pPr>
            <a:endParaRPr lang="en-US" sz="2200" dirty="0"/>
          </a:p>
          <a:p>
            <a:pPr>
              <a:lnSpc>
                <a:spcPct val="95000"/>
              </a:lnSpc>
            </a:pPr>
            <a:r>
              <a:rPr lang="en-US" sz="2200" dirty="0"/>
              <a:t>Probably not.</a:t>
            </a:r>
            <a:endParaRPr lang="en-IN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4BB4BD-B2DE-E715-775D-5DCA1DB08646}"/>
              </a:ext>
            </a:extLst>
          </p:cNvPr>
          <p:cNvSpPr txBox="1"/>
          <p:nvPr/>
        </p:nvSpPr>
        <p:spPr>
          <a:xfrm>
            <a:off x="5950396" y="2636912"/>
            <a:ext cx="5878532" cy="202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2200" dirty="0"/>
              <a:t>Similarly, Agile Metrics help teams answer:</a:t>
            </a:r>
          </a:p>
          <a:p>
            <a:pPr>
              <a:lnSpc>
                <a:spcPct val="95000"/>
              </a:lnSpc>
            </a:pPr>
            <a:endParaRPr lang="en-US" sz="2200" dirty="0"/>
          </a:p>
          <a:p>
            <a:pPr marL="342900" indent="-342900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Are we making progress?</a:t>
            </a:r>
          </a:p>
          <a:p>
            <a:pPr marL="342900" indent="-342900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Are we improving?</a:t>
            </a:r>
          </a:p>
          <a:p>
            <a:pPr marL="342900" indent="-342900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Are we delivering quality?</a:t>
            </a:r>
          </a:p>
          <a:p>
            <a:pPr marL="342900" indent="-342900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Will we finish on time?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123097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B65C089-9D27-2608-0FB1-1C973C84B1E9}"/>
              </a:ext>
            </a:extLst>
          </p:cNvPr>
          <p:cNvSpPr txBox="1"/>
          <p:nvPr/>
        </p:nvSpPr>
        <p:spPr>
          <a:xfrm>
            <a:off x="909836" y="404664"/>
            <a:ext cx="1624163" cy="413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IN" sz="2200" b="1" dirty="0">
                <a:solidFill>
                  <a:srgbClr val="FF0000"/>
                </a:solidFill>
              </a:rPr>
              <a:t>1. Velocity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100563-158C-40A0-1DE1-0930638B0F09}"/>
              </a:ext>
            </a:extLst>
          </p:cNvPr>
          <p:cNvSpPr txBox="1"/>
          <p:nvPr/>
        </p:nvSpPr>
        <p:spPr>
          <a:xfrm>
            <a:off x="1053852" y="1052736"/>
            <a:ext cx="8948283" cy="413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2200" dirty="0"/>
              <a:t>Velocity tells us: How much work a team completes in one Sprint</a:t>
            </a:r>
            <a:endParaRPr lang="en-IN" sz="22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B0FD399-49CF-05C6-43F5-73F8ECC132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150292"/>
              </p:ext>
            </p:extLst>
          </p:nvPr>
        </p:nvGraphicFramePr>
        <p:xfrm>
          <a:off x="1053852" y="1772816"/>
          <a:ext cx="6336704" cy="1944216"/>
        </p:xfrm>
        <a:graphic>
          <a:graphicData uri="http://schemas.openxmlformats.org/drawingml/2006/table">
            <a:tbl>
              <a:tblPr/>
              <a:tblGrid>
                <a:gridCol w="2376264">
                  <a:extLst>
                    <a:ext uri="{9D8B030D-6E8A-4147-A177-3AD203B41FA5}">
                      <a16:colId xmlns:a16="http://schemas.microsoft.com/office/drawing/2014/main" val="788095491"/>
                    </a:ext>
                  </a:extLst>
                </a:gridCol>
                <a:gridCol w="3960440">
                  <a:extLst>
                    <a:ext uri="{9D8B030D-6E8A-4147-A177-3AD203B41FA5}">
                      <a16:colId xmlns:a16="http://schemas.microsoft.com/office/drawing/2014/main" val="605061378"/>
                    </a:ext>
                  </a:extLst>
                </a:gridCol>
              </a:tblGrid>
              <a:tr h="486054">
                <a:tc>
                  <a:txBody>
                    <a:bodyPr/>
                    <a:lstStyle/>
                    <a:p>
                      <a:r>
                        <a:rPr lang="en-IN" sz="2200" b="1"/>
                        <a:t>Sprint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 b="1" dirty="0"/>
                        <a:t>Story Points Completed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9829030"/>
                  </a:ext>
                </a:extLst>
              </a:tr>
              <a:tr h="486054">
                <a:tc>
                  <a:txBody>
                    <a:bodyPr/>
                    <a:lstStyle/>
                    <a:p>
                      <a:r>
                        <a:rPr lang="en-IN" sz="2200"/>
                        <a:t>Sprint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/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7275813"/>
                  </a:ext>
                </a:extLst>
              </a:tr>
              <a:tr h="486054">
                <a:tc>
                  <a:txBody>
                    <a:bodyPr/>
                    <a:lstStyle/>
                    <a:p>
                      <a:r>
                        <a:rPr lang="en-IN" sz="2200"/>
                        <a:t>Sprint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/>
                        <a:t>24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0355002"/>
                  </a:ext>
                </a:extLst>
              </a:tr>
              <a:tr h="486054">
                <a:tc>
                  <a:txBody>
                    <a:bodyPr/>
                    <a:lstStyle/>
                    <a:p>
                      <a:r>
                        <a:rPr lang="en-IN" sz="2200"/>
                        <a:t>Sprint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 dirty="0"/>
                        <a:t>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473271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DF873F3-F27A-0AE0-03F1-361D2EF82C02}"/>
              </a:ext>
            </a:extLst>
          </p:cNvPr>
          <p:cNvSpPr txBox="1"/>
          <p:nvPr/>
        </p:nvSpPr>
        <p:spPr>
          <a:xfrm>
            <a:off x="7318548" y="2276872"/>
            <a:ext cx="2922595" cy="19205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Average Velocity</a:t>
            </a:r>
          </a:p>
          <a:p>
            <a:endParaRPr lang="en-US" dirty="0"/>
          </a:p>
          <a:p>
            <a:r>
              <a:rPr lang="en-US" dirty="0"/>
              <a:t>= (20 + 24 + 22) ÷ 3</a:t>
            </a:r>
          </a:p>
          <a:p>
            <a:r>
              <a:rPr lang="en-US" dirty="0"/>
              <a:t>= </a:t>
            </a:r>
            <a:r>
              <a:rPr lang="en-US" b="1" dirty="0"/>
              <a:t>22 Story Points</a:t>
            </a:r>
            <a:endParaRPr lang="en-US" dirty="0"/>
          </a:p>
          <a:p>
            <a:pPr>
              <a:lnSpc>
                <a:spcPct val="95000"/>
              </a:lnSpc>
            </a:pP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55C139-C7B9-E5C0-3529-10C0E517CFD3}"/>
              </a:ext>
            </a:extLst>
          </p:cNvPr>
          <p:cNvSpPr txBox="1"/>
          <p:nvPr/>
        </p:nvSpPr>
        <p:spPr>
          <a:xfrm>
            <a:off x="1269876" y="4725144"/>
            <a:ext cx="4365298" cy="413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2200" b="1" dirty="0"/>
              <a:t>This helps estimate future work.</a:t>
            </a:r>
            <a:endParaRPr lang="en-IN" sz="2200" b="1" dirty="0"/>
          </a:p>
        </p:txBody>
      </p:sp>
    </p:spTree>
    <p:extLst>
      <p:ext uri="{BB962C8B-B14F-4D97-AF65-F5344CB8AC3E}">
        <p14:creationId xmlns:p14="http://schemas.microsoft.com/office/powerpoint/2010/main" val="2327975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CA90A61-18A2-1861-E071-F2103BC0451C}"/>
              </a:ext>
            </a:extLst>
          </p:cNvPr>
          <p:cNvSpPr txBox="1"/>
          <p:nvPr/>
        </p:nvSpPr>
        <p:spPr>
          <a:xfrm>
            <a:off x="837828" y="332656"/>
            <a:ext cx="2725426" cy="413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IN" sz="2200" b="1" dirty="0">
                <a:solidFill>
                  <a:srgbClr val="FF0000"/>
                </a:solidFill>
              </a:rPr>
              <a:t>2. Burndown Chart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191E84-89E0-19EC-6C23-15E81ABD8495}"/>
              </a:ext>
            </a:extLst>
          </p:cNvPr>
          <p:cNvSpPr txBox="1"/>
          <p:nvPr/>
        </p:nvSpPr>
        <p:spPr>
          <a:xfrm>
            <a:off x="909836" y="908720"/>
            <a:ext cx="8739893" cy="413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2200" dirty="0"/>
              <a:t>A Burndown Chart shows: How much work remains in the Sprint</a:t>
            </a:r>
            <a:endParaRPr lang="en-IN" sz="2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2C2860-A82D-9737-63E0-05AD936EDC87}"/>
              </a:ext>
            </a:extLst>
          </p:cNvPr>
          <p:cNvSpPr txBox="1"/>
          <p:nvPr/>
        </p:nvSpPr>
        <p:spPr>
          <a:xfrm>
            <a:off x="909836" y="1566605"/>
            <a:ext cx="7407797" cy="413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2200" dirty="0"/>
              <a:t>As work gets completed, Remaining work decreases.</a:t>
            </a:r>
            <a:endParaRPr lang="en-IN" sz="2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EAF336-2AED-453F-BD6F-062BB3BAF2FF}"/>
              </a:ext>
            </a:extLst>
          </p:cNvPr>
          <p:cNvSpPr txBox="1"/>
          <p:nvPr/>
        </p:nvSpPr>
        <p:spPr>
          <a:xfrm>
            <a:off x="909836" y="2176788"/>
            <a:ext cx="7903126" cy="752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Goal: Reach </a:t>
            </a:r>
            <a:r>
              <a:rPr lang="en-US" sz="2200" b="1" dirty="0"/>
              <a:t>Zero Remaining Work</a:t>
            </a:r>
            <a:r>
              <a:rPr lang="en-US" sz="2200" dirty="0"/>
              <a:t> on the last Sprint day.</a:t>
            </a:r>
          </a:p>
          <a:p>
            <a:pPr>
              <a:lnSpc>
                <a:spcPct val="95000"/>
              </a:lnSpc>
            </a:pPr>
            <a:endParaRPr lang="en-IN" sz="2200" dirty="0"/>
          </a:p>
        </p:txBody>
      </p:sp>
      <p:pic>
        <p:nvPicPr>
          <p:cNvPr id="6146" name="Picture 2" descr="Burn Down Chart - World Of Agile">
            <a:extLst>
              <a:ext uri="{FF2B5EF4-FFF2-40B4-BE49-F238E27FC236}">
                <a16:creationId xmlns:a16="http://schemas.microsoft.com/office/drawing/2014/main" id="{1E8D789D-4019-FE3A-0CC7-3E15E0A82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1737" y="2834673"/>
            <a:ext cx="6513035" cy="3965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6964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80235CF-DE80-A514-2574-FDE454DC10B7}"/>
              </a:ext>
            </a:extLst>
          </p:cNvPr>
          <p:cNvSpPr txBox="1"/>
          <p:nvPr/>
        </p:nvSpPr>
        <p:spPr>
          <a:xfrm>
            <a:off x="909836" y="260648"/>
            <a:ext cx="2496196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3. Burnup Chart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89EAF6-E1B8-30CE-19C6-A87DA656BAD1}"/>
              </a:ext>
            </a:extLst>
          </p:cNvPr>
          <p:cNvSpPr txBox="1"/>
          <p:nvPr/>
        </p:nvSpPr>
        <p:spPr>
          <a:xfrm>
            <a:off x="1053852" y="836712"/>
            <a:ext cx="2951449" cy="19374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/>
              <a:t>Burnup shows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Work Completed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Total Scope</a:t>
            </a:r>
          </a:p>
          <a:p>
            <a:pPr>
              <a:lnSpc>
                <a:spcPct val="95000"/>
              </a:lnSpc>
            </a:pPr>
            <a:endParaRPr lang="en-IN" sz="2200" dirty="0"/>
          </a:p>
        </p:txBody>
      </p:sp>
      <p:pic>
        <p:nvPicPr>
          <p:cNvPr id="7170" name="Picture 2" descr="What is a Burn-Up Chart? And its importance in Project Management">
            <a:extLst>
              <a:ext uri="{FF2B5EF4-FFF2-40B4-BE49-F238E27FC236}">
                <a16:creationId xmlns:a16="http://schemas.microsoft.com/office/drawing/2014/main" id="{AB2CD91F-6C98-FFD6-2BC9-8B95523787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4212" y="980728"/>
            <a:ext cx="7330664" cy="4032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BC20E8-049A-84CE-16F6-E968DF7738C1}"/>
              </a:ext>
            </a:extLst>
          </p:cNvPr>
          <p:cNvSpPr txBox="1"/>
          <p:nvPr/>
        </p:nvSpPr>
        <p:spPr>
          <a:xfrm>
            <a:off x="1197868" y="5445224"/>
            <a:ext cx="7220246" cy="413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2200" b="1" dirty="0"/>
              <a:t>Very useful when project scope changes frequently</a:t>
            </a:r>
            <a:endParaRPr lang="en-IN" sz="2200" b="1" dirty="0"/>
          </a:p>
        </p:txBody>
      </p:sp>
    </p:spTree>
    <p:extLst>
      <p:ext uri="{BB962C8B-B14F-4D97-AF65-F5344CB8AC3E}">
        <p14:creationId xmlns:p14="http://schemas.microsoft.com/office/powerpoint/2010/main" val="3778799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5350DA-46F4-E08A-97F6-72B0E351F13E}"/>
              </a:ext>
            </a:extLst>
          </p:cNvPr>
          <p:cNvSpPr txBox="1"/>
          <p:nvPr/>
        </p:nvSpPr>
        <p:spPr>
          <a:xfrm>
            <a:off x="693812" y="332656"/>
            <a:ext cx="2023311" cy="413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IN" sz="2200" b="1" dirty="0">
                <a:solidFill>
                  <a:srgbClr val="FF0000"/>
                </a:solidFill>
              </a:rPr>
              <a:t>4. Cycle Time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76E463-93DB-51A9-F356-9EA1DFFC2C79}"/>
              </a:ext>
            </a:extLst>
          </p:cNvPr>
          <p:cNvSpPr txBox="1"/>
          <p:nvPr/>
        </p:nvSpPr>
        <p:spPr>
          <a:xfrm>
            <a:off x="837828" y="908720"/>
            <a:ext cx="6655989" cy="413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2200" dirty="0"/>
              <a:t>Time taken from Starting a task to Completing it</a:t>
            </a:r>
            <a:endParaRPr lang="en-IN" sz="2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CAA8A2-DE3E-FEFA-1E2A-65257D59FB0D}"/>
              </a:ext>
            </a:extLst>
          </p:cNvPr>
          <p:cNvSpPr txBox="1"/>
          <p:nvPr/>
        </p:nvSpPr>
        <p:spPr>
          <a:xfrm>
            <a:off x="847666" y="1471396"/>
            <a:ext cx="6309741" cy="15514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/>
            </a:lvl1pPr>
          </a:lstStyle>
          <a:p>
            <a:pPr>
              <a:lnSpc>
                <a:spcPct val="150000"/>
              </a:lnSpc>
            </a:pPr>
            <a:r>
              <a:rPr lang="en-US" dirty="0"/>
              <a:t>Task started on Monday Finished on Thursday</a:t>
            </a:r>
          </a:p>
          <a:p>
            <a:pPr>
              <a:lnSpc>
                <a:spcPct val="150000"/>
              </a:lnSpc>
            </a:pPr>
            <a:r>
              <a:rPr lang="en-US" dirty="0"/>
              <a:t>Cycle Time = 4 days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AB04A3-45FE-8A5D-6EB9-2EACF7A40A41}"/>
              </a:ext>
            </a:extLst>
          </p:cNvPr>
          <p:cNvSpPr txBox="1"/>
          <p:nvPr/>
        </p:nvSpPr>
        <p:spPr>
          <a:xfrm>
            <a:off x="837828" y="3036639"/>
            <a:ext cx="1887055" cy="413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5. Lead Time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97BF58-20E1-A8CF-99D0-0F54866F2305}"/>
              </a:ext>
            </a:extLst>
          </p:cNvPr>
          <p:cNvSpPr txBox="1"/>
          <p:nvPr/>
        </p:nvSpPr>
        <p:spPr>
          <a:xfrm>
            <a:off x="873832" y="3573016"/>
            <a:ext cx="10441160" cy="7355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/>
            </a:lvl1pPr>
          </a:lstStyle>
          <a:p>
            <a:r>
              <a:rPr lang="en-US" dirty="0"/>
              <a:t>Tracks the complete journey from the initial idea or request to final production deployment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F56A15-CE22-B3DE-B374-F0379BE2CDAF}"/>
              </a:ext>
            </a:extLst>
          </p:cNvPr>
          <p:cNvSpPr txBox="1"/>
          <p:nvPr/>
        </p:nvSpPr>
        <p:spPr>
          <a:xfrm>
            <a:off x="863995" y="4417378"/>
            <a:ext cx="8496944" cy="2567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/>
            </a:lvl1pPr>
          </a:lstStyle>
          <a:p>
            <a:pPr>
              <a:lnSpc>
                <a:spcPct val="150000"/>
              </a:lnSpc>
            </a:pPr>
            <a:r>
              <a:rPr lang="en-US" dirty="0"/>
              <a:t>Customer requests a feature on 1st July</a:t>
            </a:r>
          </a:p>
          <a:p>
            <a:pPr>
              <a:lnSpc>
                <a:spcPct val="150000"/>
              </a:lnSpc>
            </a:pPr>
            <a:r>
              <a:rPr lang="en-US" dirty="0"/>
              <a:t>Development starts on 5th July</a:t>
            </a:r>
          </a:p>
          <a:p>
            <a:pPr>
              <a:lnSpc>
                <a:spcPct val="150000"/>
              </a:lnSpc>
            </a:pPr>
            <a:r>
              <a:rPr lang="en-US" dirty="0"/>
              <a:t>Feature Completed on 15 July</a:t>
            </a:r>
          </a:p>
          <a:p>
            <a:pPr>
              <a:lnSpc>
                <a:spcPct val="150000"/>
              </a:lnSpc>
            </a:pPr>
            <a:r>
              <a:rPr lang="en-US" b="1" dirty="0"/>
              <a:t>Lead Time =15 days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9439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9D243AB-A03D-9E01-55BF-9FF38F59CF81}"/>
              </a:ext>
            </a:extLst>
          </p:cNvPr>
          <p:cNvSpPr txBox="1"/>
          <p:nvPr/>
        </p:nvSpPr>
        <p:spPr>
          <a:xfrm>
            <a:off x="909836" y="332656"/>
            <a:ext cx="2470548" cy="413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6. Defect Density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437816-E75E-A8AE-A6F9-66E0280B4A91}"/>
              </a:ext>
            </a:extLst>
          </p:cNvPr>
          <p:cNvSpPr txBox="1"/>
          <p:nvPr/>
        </p:nvSpPr>
        <p:spPr>
          <a:xfrm>
            <a:off x="899575" y="705781"/>
            <a:ext cx="10009112" cy="1551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Measures Number of bugs per feature/module. Lower defect density means Better quality.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5F4CF8-0075-ED48-7F7C-E018115FB573}"/>
              </a:ext>
            </a:extLst>
          </p:cNvPr>
          <p:cNvSpPr txBox="1"/>
          <p:nvPr/>
        </p:nvSpPr>
        <p:spPr>
          <a:xfrm>
            <a:off x="909836" y="1823295"/>
            <a:ext cx="10225136" cy="2059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Module A has 2 bugs</a:t>
            </a:r>
          </a:p>
          <a:p>
            <a:r>
              <a:rPr lang="en-US" dirty="0"/>
              <a:t>Module B has 20 bugs</a:t>
            </a:r>
          </a:p>
          <a:p>
            <a:r>
              <a:rPr lang="en-US" dirty="0"/>
              <a:t>Clearly, Module A has better quality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216B65-02F9-2191-2CF6-22A375ABE915}"/>
              </a:ext>
            </a:extLst>
          </p:cNvPr>
          <p:cNvSpPr txBox="1"/>
          <p:nvPr/>
        </p:nvSpPr>
        <p:spPr>
          <a:xfrm>
            <a:off x="981844" y="3675597"/>
            <a:ext cx="2797561" cy="413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7. Escaped Defects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F89E66-FF67-4434-734A-418FB93E541A}"/>
              </a:ext>
            </a:extLst>
          </p:cNvPr>
          <p:cNvSpPr txBox="1"/>
          <p:nvPr/>
        </p:nvSpPr>
        <p:spPr>
          <a:xfrm>
            <a:off x="982960" y="4257324"/>
            <a:ext cx="9217024" cy="10436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These are bugs found after the product is released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A4040A-730C-0D3A-CDDE-2BE62B31DE7B}"/>
              </a:ext>
            </a:extLst>
          </p:cNvPr>
          <p:cNvSpPr txBox="1"/>
          <p:nvPr/>
        </p:nvSpPr>
        <p:spPr>
          <a:xfrm>
            <a:off x="1020587" y="4959257"/>
            <a:ext cx="9782827" cy="1551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Testing team missed Login Bug and Customer reported it.</a:t>
            </a:r>
          </a:p>
          <a:p>
            <a:r>
              <a:rPr lang="en-US" dirty="0"/>
              <a:t>That is an Escaped Defect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87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0719EE-245B-67F4-E753-3A02935E78AA}"/>
              </a:ext>
            </a:extLst>
          </p:cNvPr>
          <p:cNvSpPr txBox="1"/>
          <p:nvPr/>
        </p:nvSpPr>
        <p:spPr>
          <a:xfrm>
            <a:off x="981844" y="260648"/>
            <a:ext cx="2744662" cy="413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8. Team Happiness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07AC34-D3D1-4023-7B50-C78289884FB8}"/>
              </a:ext>
            </a:extLst>
          </p:cNvPr>
          <p:cNvSpPr txBox="1"/>
          <p:nvPr/>
        </p:nvSpPr>
        <p:spPr>
          <a:xfrm>
            <a:off x="1053852" y="836712"/>
            <a:ext cx="9289032" cy="1551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Agile also measures People!</a:t>
            </a:r>
          </a:p>
          <a:p>
            <a:r>
              <a:rPr lang="en-US" dirty="0"/>
              <a:t>Because Happy teams build better software.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3588DF-81F3-0EFE-B154-194F62FE4F7E}"/>
              </a:ext>
            </a:extLst>
          </p:cNvPr>
          <p:cNvSpPr txBox="1"/>
          <p:nvPr/>
        </p:nvSpPr>
        <p:spPr>
          <a:xfrm>
            <a:off x="1197868" y="2348880"/>
            <a:ext cx="6840760" cy="2567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Common ways: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Surveys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Sprint Retrospectives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Anonymous feedback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1522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6C471CF-740E-1A71-FCED-88DEEAF7D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21" y="548679"/>
            <a:ext cx="9330179" cy="5442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581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C16191-D3FC-2723-D06B-445C8A525C4A}"/>
              </a:ext>
            </a:extLst>
          </p:cNvPr>
          <p:cNvSpPr txBox="1"/>
          <p:nvPr/>
        </p:nvSpPr>
        <p:spPr>
          <a:xfrm>
            <a:off x="837828" y="980728"/>
            <a:ext cx="2226892" cy="413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Agile Practices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4BBE989-4D19-30FD-1E97-079583E279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4425749"/>
              </p:ext>
            </p:extLst>
          </p:nvPr>
        </p:nvGraphicFramePr>
        <p:xfrm>
          <a:off x="837828" y="1778676"/>
          <a:ext cx="9368980" cy="4470400"/>
        </p:xfrm>
        <a:graphic>
          <a:graphicData uri="http://schemas.openxmlformats.org/drawingml/2006/table">
            <a:tbl>
              <a:tblPr/>
              <a:tblGrid>
                <a:gridCol w="4684490">
                  <a:extLst>
                    <a:ext uri="{9D8B030D-6E8A-4147-A177-3AD203B41FA5}">
                      <a16:colId xmlns:a16="http://schemas.microsoft.com/office/drawing/2014/main" val="1734970684"/>
                    </a:ext>
                  </a:extLst>
                </a:gridCol>
                <a:gridCol w="4684490">
                  <a:extLst>
                    <a:ext uri="{9D8B030D-6E8A-4147-A177-3AD203B41FA5}">
                      <a16:colId xmlns:a16="http://schemas.microsoft.com/office/drawing/2014/main" val="3072591615"/>
                    </a:ext>
                  </a:extLst>
                </a:gridCol>
              </a:tblGrid>
              <a:tr h="421736">
                <a:tc>
                  <a:txBody>
                    <a:bodyPr/>
                    <a:lstStyle/>
                    <a:p>
                      <a:r>
                        <a:rPr lang="en-IN" sz="2200" b="1"/>
                        <a:t>Agile Practice</a:t>
                      </a:r>
                    </a:p>
                  </a:txBody>
                  <a:tcPr marL="84347" marR="84347" marT="42174" marB="42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 b="1" dirty="0"/>
                        <a:t>Meaning</a:t>
                      </a:r>
                    </a:p>
                  </a:txBody>
                  <a:tcPr marL="84347" marR="84347" marT="42174" marB="42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930880"/>
                  </a:ext>
                </a:extLst>
              </a:tr>
              <a:tr h="759124">
                <a:tc>
                  <a:txBody>
                    <a:bodyPr/>
                    <a:lstStyle/>
                    <a:p>
                      <a:r>
                        <a:rPr lang="en-IN" sz="2200" dirty="0"/>
                        <a:t>Small Iterations</a:t>
                      </a:r>
                    </a:p>
                  </a:txBody>
                  <a:tcPr marL="84347" marR="84347" marT="42174" marB="42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Build small pieces every 2–4 weeks</a:t>
                      </a:r>
                    </a:p>
                  </a:txBody>
                  <a:tcPr marL="84347" marR="84347" marT="42174" marB="42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5936010"/>
                  </a:ext>
                </a:extLst>
              </a:tr>
              <a:tr h="421736">
                <a:tc>
                  <a:txBody>
                    <a:bodyPr/>
                    <a:lstStyle/>
                    <a:p>
                      <a:r>
                        <a:rPr lang="en-IN" sz="2200"/>
                        <a:t>Daily Scrum</a:t>
                      </a:r>
                    </a:p>
                  </a:txBody>
                  <a:tcPr marL="84347" marR="84347" marT="42174" marB="42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/>
                        <a:t>15-minute daily meeting</a:t>
                      </a:r>
                    </a:p>
                  </a:txBody>
                  <a:tcPr marL="84347" marR="84347" marT="42174" marB="42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6769434"/>
                  </a:ext>
                </a:extLst>
              </a:tr>
              <a:tr h="421736">
                <a:tc>
                  <a:txBody>
                    <a:bodyPr/>
                    <a:lstStyle/>
                    <a:p>
                      <a:r>
                        <a:rPr lang="en-IN" sz="2200"/>
                        <a:t>Pair Programming</a:t>
                      </a:r>
                    </a:p>
                  </a:txBody>
                  <a:tcPr marL="84347" marR="84347" marT="42174" marB="42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/>
                        <a:t>Two developers work together</a:t>
                      </a:r>
                    </a:p>
                  </a:txBody>
                  <a:tcPr marL="84347" marR="84347" marT="42174" marB="42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2189119"/>
                  </a:ext>
                </a:extLst>
              </a:tr>
              <a:tr h="421736">
                <a:tc>
                  <a:txBody>
                    <a:bodyPr/>
                    <a:lstStyle/>
                    <a:p>
                      <a:r>
                        <a:rPr lang="en-IN" sz="2200"/>
                        <a:t>Continuous Testing</a:t>
                      </a:r>
                    </a:p>
                  </a:txBody>
                  <a:tcPr marL="84347" marR="84347" marT="42174" marB="42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/>
                        <a:t>Testing throughout development</a:t>
                      </a:r>
                    </a:p>
                  </a:txBody>
                  <a:tcPr marL="84347" marR="84347" marT="42174" marB="42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4777204"/>
                  </a:ext>
                </a:extLst>
              </a:tr>
              <a:tr h="421736">
                <a:tc>
                  <a:txBody>
                    <a:bodyPr/>
                    <a:lstStyle/>
                    <a:p>
                      <a:r>
                        <a:rPr lang="en-IN" sz="2200"/>
                        <a:t>Continuous Integration</a:t>
                      </a:r>
                    </a:p>
                  </a:txBody>
                  <a:tcPr marL="84347" marR="84347" marT="42174" marB="42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/>
                        <a:t>Merge code frequently</a:t>
                      </a:r>
                    </a:p>
                  </a:txBody>
                  <a:tcPr marL="84347" marR="84347" marT="42174" marB="42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0435006"/>
                  </a:ext>
                </a:extLst>
              </a:tr>
              <a:tr h="421736">
                <a:tc>
                  <a:txBody>
                    <a:bodyPr/>
                    <a:lstStyle/>
                    <a:p>
                      <a:r>
                        <a:rPr lang="en-IN" sz="2200"/>
                        <a:t>Customer Feedback</a:t>
                      </a:r>
                    </a:p>
                  </a:txBody>
                  <a:tcPr marL="84347" marR="84347" marT="42174" marB="42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/>
                        <a:t>Show working software regularly</a:t>
                      </a:r>
                    </a:p>
                  </a:txBody>
                  <a:tcPr marL="84347" marR="84347" marT="42174" marB="42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3414971"/>
                  </a:ext>
                </a:extLst>
              </a:tr>
              <a:tr h="759124">
                <a:tc>
                  <a:txBody>
                    <a:bodyPr/>
                    <a:lstStyle/>
                    <a:p>
                      <a:r>
                        <a:rPr lang="en-IN" sz="2200"/>
                        <a:t>Refactoring</a:t>
                      </a:r>
                    </a:p>
                  </a:txBody>
                  <a:tcPr marL="84347" marR="84347" marT="42174" marB="42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Improve code without changing functionality</a:t>
                      </a:r>
                    </a:p>
                  </a:txBody>
                  <a:tcPr marL="84347" marR="84347" marT="42174" marB="42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432768"/>
                  </a:ext>
                </a:extLst>
              </a:tr>
              <a:tr h="421736">
                <a:tc>
                  <a:txBody>
                    <a:bodyPr/>
                    <a:lstStyle/>
                    <a:p>
                      <a:r>
                        <a:rPr lang="en-IN" sz="2200"/>
                        <a:t>Retrospective</a:t>
                      </a:r>
                    </a:p>
                  </a:txBody>
                  <a:tcPr marL="84347" marR="84347" marT="42174" marB="42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 dirty="0"/>
                        <a:t>Learn from every sprint</a:t>
                      </a:r>
                    </a:p>
                  </a:txBody>
                  <a:tcPr marL="84347" marR="84347" marT="42174" marB="42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919195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845471C-FF28-68A0-799F-BFF193931AF6}"/>
              </a:ext>
            </a:extLst>
          </p:cNvPr>
          <p:cNvSpPr txBox="1"/>
          <p:nvPr/>
        </p:nvSpPr>
        <p:spPr>
          <a:xfrm>
            <a:off x="837828" y="404664"/>
            <a:ext cx="2218877" cy="3554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en-US" dirty="0"/>
              <a:t>Engineering &amp; Design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5130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571B53-BDF3-F376-C719-DA75051DEB04}"/>
              </a:ext>
            </a:extLst>
          </p:cNvPr>
          <p:cNvSpPr txBox="1"/>
          <p:nvPr/>
        </p:nvSpPr>
        <p:spPr>
          <a:xfrm>
            <a:off x="909836" y="260648"/>
            <a:ext cx="2736647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Variance in Agile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D477D2-ECC3-80BC-1A88-EC35FC8D6526}"/>
              </a:ext>
            </a:extLst>
          </p:cNvPr>
          <p:cNvSpPr txBox="1"/>
          <p:nvPr/>
        </p:nvSpPr>
        <p:spPr>
          <a:xfrm>
            <a:off x="936103" y="716650"/>
            <a:ext cx="10369152" cy="7355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2200" dirty="0"/>
              <a:t>Variance means - Difference between what was planned and what actually happened</a:t>
            </a:r>
            <a:endParaRPr lang="en-IN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200C02-3615-0491-00D7-CCCD2A53E86D}"/>
              </a:ext>
            </a:extLst>
          </p:cNvPr>
          <p:cNvSpPr txBox="1"/>
          <p:nvPr/>
        </p:nvSpPr>
        <p:spPr>
          <a:xfrm>
            <a:off x="926976" y="1525928"/>
            <a:ext cx="3028393" cy="14296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Example</a:t>
            </a:r>
          </a:p>
          <a:p>
            <a:r>
              <a:rPr lang="en-US" sz="2200" dirty="0"/>
              <a:t>Planned: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Finish 10 User Stories </a:t>
            </a:r>
          </a:p>
          <a:p>
            <a:pPr>
              <a:lnSpc>
                <a:spcPct val="95000"/>
              </a:lnSpc>
            </a:pPr>
            <a:endParaRPr lang="en-IN" sz="2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1B691D-15D2-7F78-35E7-E84A37957088}"/>
              </a:ext>
            </a:extLst>
          </p:cNvPr>
          <p:cNvSpPr txBox="1"/>
          <p:nvPr/>
        </p:nvSpPr>
        <p:spPr>
          <a:xfrm>
            <a:off x="3948915" y="1854322"/>
            <a:ext cx="3248005" cy="10910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Actual: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Finished 8 User Stories </a:t>
            </a:r>
          </a:p>
          <a:p>
            <a:pPr>
              <a:lnSpc>
                <a:spcPct val="95000"/>
              </a:lnSpc>
            </a:pPr>
            <a:endParaRPr lang="en-IN" sz="2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942BD4-C89B-19C0-C1F5-32D34E89285C}"/>
              </a:ext>
            </a:extLst>
          </p:cNvPr>
          <p:cNvSpPr txBox="1"/>
          <p:nvPr/>
        </p:nvSpPr>
        <p:spPr>
          <a:xfrm>
            <a:off x="8212238" y="2151156"/>
            <a:ext cx="2832827" cy="7355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2200" dirty="0"/>
              <a:t>Variance = 2 stories</a:t>
            </a:r>
          </a:p>
          <a:p>
            <a:pPr>
              <a:lnSpc>
                <a:spcPct val="95000"/>
              </a:lnSpc>
            </a:pPr>
            <a:endParaRPr lang="en-IN" sz="2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2F4B55-3370-7FAB-4A1D-7658ED32412A}"/>
              </a:ext>
            </a:extLst>
          </p:cNvPr>
          <p:cNvSpPr txBox="1"/>
          <p:nvPr/>
        </p:nvSpPr>
        <p:spPr>
          <a:xfrm>
            <a:off x="916795" y="2760690"/>
            <a:ext cx="3671198" cy="413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IN" sz="2200" dirty="0"/>
              <a:t>Estimated Time = 40 hours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53C8EF-633A-247D-D04D-CBB6054DB4E4}"/>
              </a:ext>
            </a:extLst>
          </p:cNvPr>
          <p:cNvSpPr txBox="1"/>
          <p:nvPr/>
        </p:nvSpPr>
        <p:spPr>
          <a:xfrm>
            <a:off x="4644665" y="2714764"/>
            <a:ext cx="3236784" cy="413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IN" sz="2200" dirty="0"/>
              <a:t>Actual Time = 55 hours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D55FB2C7-3957-1026-7E6D-CC6ADDC3BA6D}"/>
              </a:ext>
            </a:extLst>
          </p:cNvPr>
          <p:cNvSpPr/>
          <p:nvPr/>
        </p:nvSpPr>
        <p:spPr>
          <a:xfrm>
            <a:off x="7271291" y="2264820"/>
            <a:ext cx="837129" cy="223970"/>
          </a:xfrm>
          <a:prstGeom prst="rightArrow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4ACB7B6D-833E-F907-A745-9B4FCBB3B6C9}"/>
              </a:ext>
            </a:extLst>
          </p:cNvPr>
          <p:cNvSpPr/>
          <p:nvPr/>
        </p:nvSpPr>
        <p:spPr>
          <a:xfrm>
            <a:off x="7985267" y="2774757"/>
            <a:ext cx="837129" cy="223970"/>
          </a:xfrm>
          <a:prstGeom prst="rightArrow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11A2ED-30D6-518D-13D9-48A2DC849F18}"/>
              </a:ext>
            </a:extLst>
          </p:cNvPr>
          <p:cNvSpPr txBox="1"/>
          <p:nvPr/>
        </p:nvSpPr>
        <p:spPr>
          <a:xfrm>
            <a:off x="8986208" y="2696533"/>
            <a:ext cx="1946367" cy="413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2200" dirty="0"/>
              <a:t>Variance???</a:t>
            </a:r>
            <a:endParaRPr lang="en-IN" sz="2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443EDC-3DF3-B202-AD0E-E4034F45A924}"/>
              </a:ext>
            </a:extLst>
          </p:cNvPr>
          <p:cNvSpPr txBox="1"/>
          <p:nvPr/>
        </p:nvSpPr>
        <p:spPr>
          <a:xfrm>
            <a:off x="926976" y="3367592"/>
            <a:ext cx="10585176" cy="7355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2200" dirty="0"/>
              <a:t>Agile teams continuously measure variance so future planning becomes more accurate</a:t>
            </a:r>
            <a:endParaRPr lang="en-IN" sz="2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F417A7-8EA6-2F49-B3C0-D607A5F4ECBD}"/>
              </a:ext>
            </a:extLst>
          </p:cNvPr>
          <p:cNvSpPr txBox="1"/>
          <p:nvPr/>
        </p:nvSpPr>
        <p:spPr>
          <a:xfrm>
            <a:off x="946752" y="4293096"/>
            <a:ext cx="3397084" cy="24452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Causes of Variance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Requirement changes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Technical issues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Team member leave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Wrong estimation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Unexpected bugs</a:t>
            </a:r>
          </a:p>
          <a:p>
            <a:pPr>
              <a:lnSpc>
                <a:spcPct val="95000"/>
              </a:lnSpc>
            </a:pP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1260640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3AD181B-D8FC-8179-D5EC-D81CC43DE87F}"/>
              </a:ext>
            </a:extLst>
          </p:cNvPr>
          <p:cNvSpPr txBox="1"/>
          <p:nvPr/>
        </p:nvSpPr>
        <p:spPr>
          <a:xfrm>
            <a:off x="765820" y="332656"/>
            <a:ext cx="5242141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Managing Unstable Requirements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2D7990-C015-A7F2-F066-644C2E40A318}"/>
              </a:ext>
            </a:extLst>
          </p:cNvPr>
          <p:cNvSpPr txBox="1"/>
          <p:nvPr/>
        </p:nvSpPr>
        <p:spPr>
          <a:xfrm>
            <a:off x="693812" y="814888"/>
            <a:ext cx="9238426" cy="535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One of Agile's biggest strengths is handling changing requirements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5EBBBA-EC07-E59D-7FCC-138034CD9181}"/>
              </a:ext>
            </a:extLst>
          </p:cNvPr>
          <p:cNvSpPr txBox="1"/>
          <p:nvPr/>
        </p:nvSpPr>
        <p:spPr>
          <a:xfrm>
            <a:off x="810885" y="1526855"/>
            <a:ext cx="2871299" cy="535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IN" dirty="0"/>
              <a:t>Traditional Software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942B6C-F4A4-6271-7343-282860DCA289}"/>
              </a:ext>
            </a:extLst>
          </p:cNvPr>
          <p:cNvSpPr txBox="1"/>
          <p:nvPr/>
        </p:nvSpPr>
        <p:spPr>
          <a:xfrm>
            <a:off x="4798268" y="1556792"/>
            <a:ext cx="6912768" cy="7355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/>
            </a:lvl1pPr>
          </a:lstStyle>
          <a:p>
            <a:r>
              <a:rPr lang="en-US" dirty="0"/>
              <a:t>Customer changes requirement, Developer says "Too late."</a:t>
            </a:r>
            <a:endParaRPr lang="en-IN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17A06FF2-9272-052D-4FEC-F5502D0D41E7}"/>
              </a:ext>
            </a:extLst>
          </p:cNvPr>
          <p:cNvSpPr/>
          <p:nvPr/>
        </p:nvSpPr>
        <p:spPr>
          <a:xfrm>
            <a:off x="3862164" y="1763771"/>
            <a:ext cx="864096" cy="206980"/>
          </a:xfrm>
          <a:prstGeom prst="rightArrow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167EA8-82AD-B18B-1CE5-C915576D1BE4}"/>
              </a:ext>
            </a:extLst>
          </p:cNvPr>
          <p:cNvSpPr txBox="1"/>
          <p:nvPr/>
        </p:nvSpPr>
        <p:spPr>
          <a:xfrm>
            <a:off x="2805021" y="2512997"/>
            <a:ext cx="877163" cy="413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IN" sz="2200" dirty="0"/>
              <a:t>Agile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D6A2F9BA-6795-53D2-4EC8-E8A58561520D}"/>
              </a:ext>
            </a:extLst>
          </p:cNvPr>
          <p:cNvSpPr/>
          <p:nvPr/>
        </p:nvSpPr>
        <p:spPr>
          <a:xfrm>
            <a:off x="3862164" y="2616487"/>
            <a:ext cx="864096" cy="206980"/>
          </a:xfrm>
          <a:prstGeom prst="rightArrow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A28201-240A-E822-AC81-F803E109CB96}"/>
              </a:ext>
            </a:extLst>
          </p:cNvPr>
          <p:cNvSpPr txBox="1"/>
          <p:nvPr/>
        </p:nvSpPr>
        <p:spPr>
          <a:xfrm>
            <a:off x="4821088" y="2455674"/>
            <a:ext cx="6912769" cy="7355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/>
            </a:lvl1pPr>
          </a:lstStyle>
          <a:p>
            <a:r>
              <a:rPr lang="en-US" dirty="0"/>
              <a:t>Customer changes requirement, Team says "We'll include it in the next sprint."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3A5C9C-4124-76C1-FA12-BD821E276FC5}"/>
              </a:ext>
            </a:extLst>
          </p:cNvPr>
          <p:cNvSpPr txBox="1"/>
          <p:nvPr/>
        </p:nvSpPr>
        <p:spPr>
          <a:xfrm>
            <a:off x="837828" y="3464739"/>
            <a:ext cx="6264696" cy="2567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b="1" dirty="0"/>
              <a:t>Agile Techniques for Managing Changes</a:t>
            </a:r>
          </a:p>
          <a:p>
            <a:r>
              <a:rPr lang="en-US" dirty="0"/>
              <a:t>Product Backlog </a:t>
            </a:r>
          </a:p>
          <a:p>
            <a:r>
              <a:rPr lang="en-US" dirty="0"/>
              <a:t>Sprint Planning </a:t>
            </a:r>
          </a:p>
          <a:p>
            <a:r>
              <a:rPr lang="en-US" dirty="0"/>
              <a:t>Customer feedback </a:t>
            </a:r>
          </a:p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28C5B3-EBC4-3980-954C-88C052BB8508}"/>
              </a:ext>
            </a:extLst>
          </p:cNvPr>
          <p:cNvSpPr txBox="1"/>
          <p:nvPr/>
        </p:nvSpPr>
        <p:spPr>
          <a:xfrm>
            <a:off x="5316069" y="3973660"/>
            <a:ext cx="2961403" cy="2058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 b="1"/>
            </a:lvl1pPr>
          </a:lstStyle>
          <a:p>
            <a:r>
              <a:rPr lang="en-US" b="0" dirty="0"/>
              <a:t>Frequent releases </a:t>
            </a:r>
          </a:p>
          <a:p>
            <a:r>
              <a:rPr lang="en-US" b="0" dirty="0"/>
              <a:t>Prioritization </a:t>
            </a:r>
          </a:p>
          <a:p>
            <a:r>
              <a:rPr lang="en-US" b="0" dirty="0"/>
              <a:t>Small iterations</a:t>
            </a:r>
          </a:p>
          <a:p>
            <a:endParaRPr lang="en-IN" b="0" dirty="0"/>
          </a:p>
        </p:txBody>
      </p:sp>
    </p:spTree>
    <p:extLst>
      <p:ext uri="{BB962C8B-B14F-4D97-AF65-F5344CB8AC3E}">
        <p14:creationId xmlns:p14="http://schemas.microsoft.com/office/powerpoint/2010/main" val="1332491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B52DF52-66FB-7BBD-93B8-E3D1130B7DFC}"/>
              </a:ext>
            </a:extLst>
          </p:cNvPr>
          <p:cNvSpPr txBox="1"/>
          <p:nvPr/>
        </p:nvSpPr>
        <p:spPr>
          <a:xfrm>
            <a:off x="837828" y="188839"/>
            <a:ext cx="3725700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Requirements Elicitation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055AD8-2861-6789-BFEC-0089FBD6D3EF}"/>
              </a:ext>
            </a:extLst>
          </p:cNvPr>
          <p:cNvSpPr txBox="1"/>
          <p:nvPr/>
        </p:nvSpPr>
        <p:spPr>
          <a:xfrm>
            <a:off x="837828" y="586567"/>
            <a:ext cx="10249922" cy="535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Requirements Elicitation means Collecting requirements from stakeholders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1D8BFA-7A98-5143-DEA6-18544F85FCEB}"/>
              </a:ext>
            </a:extLst>
          </p:cNvPr>
          <p:cNvSpPr txBox="1"/>
          <p:nvPr/>
        </p:nvSpPr>
        <p:spPr>
          <a:xfrm>
            <a:off x="873426" y="1114343"/>
            <a:ext cx="7790915" cy="535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Simply, "Understanding what the customer really wants."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432899-6CC7-00CE-31CB-17CB0F03F6FD}"/>
              </a:ext>
            </a:extLst>
          </p:cNvPr>
          <p:cNvSpPr txBox="1"/>
          <p:nvPr/>
        </p:nvSpPr>
        <p:spPr>
          <a:xfrm>
            <a:off x="873426" y="1679741"/>
            <a:ext cx="4104456" cy="535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IN" dirty="0"/>
              <a:t>Common Techniques: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CA6AAB-39C0-F6E9-F7B7-4A43F9422FCE}"/>
              </a:ext>
            </a:extLst>
          </p:cNvPr>
          <p:cNvSpPr txBox="1"/>
          <p:nvPr/>
        </p:nvSpPr>
        <p:spPr>
          <a:xfrm>
            <a:off x="983086" y="2339848"/>
            <a:ext cx="1866217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IN" dirty="0"/>
              <a:t>1. Interview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13C022-5C72-28B8-9F26-F18108DA80E4}"/>
              </a:ext>
            </a:extLst>
          </p:cNvPr>
          <p:cNvSpPr txBox="1"/>
          <p:nvPr/>
        </p:nvSpPr>
        <p:spPr>
          <a:xfrm>
            <a:off x="952762" y="2945173"/>
            <a:ext cx="2515432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IN" dirty="0"/>
              <a:t>2. Brainstorming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831ECE-E10F-B379-E5DE-2F7AE74AFA42}"/>
              </a:ext>
            </a:extLst>
          </p:cNvPr>
          <p:cNvSpPr txBox="1"/>
          <p:nvPr/>
        </p:nvSpPr>
        <p:spPr>
          <a:xfrm>
            <a:off x="983086" y="3555178"/>
            <a:ext cx="2350323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IN" dirty="0"/>
              <a:t>3. Observation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31A432-E650-319A-A87D-CB1813DCE43A}"/>
              </a:ext>
            </a:extLst>
          </p:cNvPr>
          <p:cNvSpPr txBox="1"/>
          <p:nvPr/>
        </p:nvSpPr>
        <p:spPr>
          <a:xfrm>
            <a:off x="952762" y="4144939"/>
            <a:ext cx="2606804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IN" dirty="0"/>
              <a:t>4. Questionnaire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46F144-2D90-C607-6E91-DD88C0CB25FE}"/>
              </a:ext>
            </a:extLst>
          </p:cNvPr>
          <p:cNvSpPr txBox="1"/>
          <p:nvPr/>
        </p:nvSpPr>
        <p:spPr>
          <a:xfrm>
            <a:off x="983086" y="4687907"/>
            <a:ext cx="2108269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IN" dirty="0"/>
              <a:t>5. Workshops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A89CEF-2CFA-4F90-8186-F50CC3F1661F}"/>
              </a:ext>
            </a:extLst>
          </p:cNvPr>
          <p:cNvSpPr txBox="1"/>
          <p:nvPr/>
        </p:nvSpPr>
        <p:spPr>
          <a:xfrm>
            <a:off x="983086" y="5300459"/>
            <a:ext cx="1988045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/>
            </a:lvl1pPr>
          </a:lstStyle>
          <a:p>
            <a:r>
              <a:rPr lang="en-IN" dirty="0"/>
              <a:t>6. Prototype</a:t>
            </a:r>
          </a:p>
        </p:txBody>
      </p:sp>
    </p:spTree>
    <p:extLst>
      <p:ext uri="{BB962C8B-B14F-4D97-AF65-F5344CB8AC3E}">
        <p14:creationId xmlns:p14="http://schemas.microsoft.com/office/powerpoint/2010/main" val="502604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740E664-14FA-E7DA-0A47-DA3D94456E97}"/>
              </a:ext>
            </a:extLst>
          </p:cNvPr>
          <p:cNvSpPr txBox="1"/>
          <p:nvPr/>
        </p:nvSpPr>
        <p:spPr>
          <a:xfrm>
            <a:off x="837828" y="332656"/>
            <a:ext cx="4905510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Agile Requirements Prioritization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B2C151-7AB0-DA64-2128-1AF100FD54EF}"/>
              </a:ext>
            </a:extLst>
          </p:cNvPr>
          <p:cNvSpPr txBox="1"/>
          <p:nvPr/>
        </p:nvSpPr>
        <p:spPr>
          <a:xfrm>
            <a:off x="873426" y="908720"/>
            <a:ext cx="6029215" cy="535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Not all requirements are equally important.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0E2E79-4B49-24E1-4917-689D79DD1A25}"/>
              </a:ext>
            </a:extLst>
          </p:cNvPr>
          <p:cNvSpPr txBox="1"/>
          <p:nvPr/>
        </p:nvSpPr>
        <p:spPr>
          <a:xfrm>
            <a:off x="837828" y="1437814"/>
            <a:ext cx="4540025" cy="3582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Some 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Must Have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Some 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Nice to Have</a:t>
            </a:r>
          </a:p>
          <a:p>
            <a:r>
              <a:rPr lang="en-US" dirty="0"/>
              <a:t>Agile decides what should be built first.</a:t>
            </a:r>
          </a:p>
          <a:p>
            <a:endParaRPr lang="en-IN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0D25AC8-339F-12B3-2072-D0DAF7984A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122782"/>
              </p:ext>
            </p:extLst>
          </p:nvPr>
        </p:nvGraphicFramePr>
        <p:xfrm>
          <a:off x="7060738" y="1772816"/>
          <a:ext cx="5128087" cy="2286000"/>
        </p:xfrm>
        <a:graphic>
          <a:graphicData uri="http://schemas.openxmlformats.org/drawingml/2006/table">
            <a:tbl>
              <a:tblPr/>
              <a:tblGrid>
                <a:gridCol w="2071448">
                  <a:extLst>
                    <a:ext uri="{9D8B030D-6E8A-4147-A177-3AD203B41FA5}">
                      <a16:colId xmlns:a16="http://schemas.microsoft.com/office/drawing/2014/main" val="789342424"/>
                    </a:ext>
                  </a:extLst>
                </a:gridCol>
                <a:gridCol w="3056639">
                  <a:extLst>
                    <a:ext uri="{9D8B030D-6E8A-4147-A177-3AD203B41FA5}">
                      <a16:colId xmlns:a16="http://schemas.microsoft.com/office/drawing/2014/main" val="380324906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IN" sz="2200" b="1" dirty="0"/>
                        <a:t>Priority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 b="1" dirty="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65459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IN" sz="2200"/>
                        <a:t>Must Have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 dirty="0"/>
                        <a:t>Essential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52566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IN" sz="2200"/>
                        <a:t>Should Have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/>
                        <a:t>Important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012454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IN" sz="2200" dirty="0"/>
                        <a:t>Could Have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 dirty="0"/>
                        <a:t>Optional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827786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IN" sz="2200"/>
                        <a:t>Won't Have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 dirty="0"/>
                        <a:t>Not now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34303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8482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B08E214-5D16-6FDD-B0A4-BC66A3465653}"/>
              </a:ext>
            </a:extLst>
          </p:cNvPr>
          <p:cNvSpPr txBox="1"/>
          <p:nvPr/>
        </p:nvSpPr>
        <p:spPr>
          <a:xfrm>
            <a:off x="981844" y="168947"/>
            <a:ext cx="4206601" cy="413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Agile Requirements </a:t>
            </a:r>
            <a:r>
              <a:rPr lang="en-IN" dirty="0" err="1"/>
              <a:t>Modeling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41F765-079B-8940-5405-561C5BF9624E}"/>
              </a:ext>
            </a:extLst>
          </p:cNvPr>
          <p:cNvSpPr txBox="1"/>
          <p:nvPr/>
        </p:nvSpPr>
        <p:spPr>
          <a:xfrm>
            <a:off x="991987" y="507673"/>
            <a:ext cx="10153128" cy="10436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Requirement Modeling means Representing requirements visually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505C73-9E9F-D898-2F1F-84CE27143143}"/>
              </a:ext>
            </a:extLst>
          </p:cNvPr>
          <p:cNvSpPr txBox="1"/>
          <p:nvPr/>
        </p:nvSpPr>
        <p:spPr>
          <a:xfrm>
            <a:off x="981844" y="1014308"/>
            <a:ext cx="2808312" cy="2567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User Stories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Flowcharts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Wireframes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Mock-ups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UML Diagrams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20D9E52-B5B5-0C85-E020-F6A76AC8EC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940" y="3581421"/>
            <a:ext cx="5910153" cy="297360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5BB6AAB-B37E-5D6F-42A3-2B27F67D7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4612" y="1246448"/>
            <a:ext cx="2948418" cy="436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202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C346F4C-1B55-7618-90C7-E5A291D1BF75}"/>
              </a:ext>
            </a:extLst>
          </p:cNvPr>
          <p:cNvSpPr txBox="1"/>
          <p:nvPr/>
        </p:nvSpPr>
        <p:spPr>
          <a:xfrm>
            <a:off x="1125860" y="260648"/>
            <a:ext cx="4463081" cy="413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Agile Requirements Generation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153137-F5E2-7250-FC26-B607B87BFA4C}"/>
              </a:ext>
            </a:extLst>
          </p:cNvPr>
          <p:cNvSpPr txBox="1"/>
          <p:nvPr/>
        </p:nvSpPr>
        <p:spPr>
          <a:xfrm>
            <a:off x="1125860" y="764704"/>
            <a:ext cx="9509334" cy="535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Requirement Generation means Creating requirements continuously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7105DA-9597-03CC-875B-A2D4EB1AD867}"/>
              </a:ext>
            </a:extLst>
          </p:cNvPr>
          <p:cNvSpPr txBox="1"/>
          <p:nvPr/>
        </p:nvSpPr>
        <p:spPr>
          <a:xfrm>
            <a:off x="1125860" y="1300492"/>
            <a:ext cx="9649072" cy="3074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Requirements keep evolving</a:t>
            </a:r>
          </a:p>
          <a:p>
            <a:r>
              <a:rPr lang="en-US" dirty="0"/>
              <a:t>Customer Feedback          New User Stories          Sprint Review      More Feedback          New Stories</a:t>
            </a:r>
          </a:p>
          <a:p>
            <a:endParaRPr lang="en-US" dirty="0"/>
          </a:p>
          <a:p>
            <a:r>
              <a:rPr lang="en-US" dirty="0"/>
              <a:t>Cycle continues.</a:t>
            </a:r>
          </a:p>
          <a:p>
            <a:endParaRPr lang="en-IN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72619B48-A44E-0F04-7DDC-1D4606D6A699}"/>
              </a:ext>
            </a:extLst>
          </p:cNvPr>
          <p:cNvSpPr/>
          <p:nvPr/>
        </p:nvSpPr>
        <p:spPr>
          <a:xfrm>
            <a:off x="4078188" y="1988840"/>
            <a:ext cx="576064" cy="216024"/>
          </a:xfrm>
          <a:prstGeom prst="rightArrow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5BD500DB-CA29-276F-389C-39B53ECC9E13}"/>
              </a:ext>
            </a:extLst>
          </p:cNvPr>
          <p:cNvSpPr/>
          <p:nvPr/>
        </p:nvSpPr>
        <p:spPr>
          <a:xfrm>
            <a:off x="7030516" y="1989043"/>
            <a:ext cx="576064" cy="216024"/>
          </a:xfrm>
          <a:prstGeom prst="rightArrow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02442A5A-B27F-F18E-30EB-9B90D3A10C58}"/>
              </a:ext>
            </a:extLst>
          </p:cNvPr>
          <p:cNvSpPr/>
          <p:nvPr/>
        </p:nvSpPr>
        <p:spPr>
          <a:xfrm>
            <a:off x="9622804" y="1991148"/>
            <a:ext cx="576064" cy="216024"/>
          </a:xfrm>
          <a:prstGeom prst="rightArrow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23F84737-F366-F520-6CC1-4D0E61727B4D}"/>
              </a:ext>
            </a:extLst>
          </p:cNvPr>
          <p:cNvSpPr/>
          <p:nvPr/>
        </p:nvSpPr>
        <p:spPr>
          <a:xfrm>
            <a:off x="3502124" y="2524628"/>
            <a:ext cx="576064" cy="216024"/>
          </a:xfrm>
          <a:prstGeom prst="rightArrow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9984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4DCDC5-AA77-9F51-39A8-2B1568277D07}"/>
              </a:ext>
            </a:extLst>
          </p:cNvPr>
          <p:cNvSpPr txBox="1"/>
          <p:nvPr/>
        </p:nvSpPr>
        <p:spPr>
          <a:xfrm flipH="1">
            <a:off x="955554" y="332656"/>
            <a:ext cx="8307209" cy="413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Quality Assurance (QA) in Agile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778EDB-E420-AB17-277A-58F907BA1179}"/>
              </a:ext>
            </a:extLst>
          </p:cNvPr>
          <p:cNvSpPr txBox="1"/>
          <p:nvPr/>
        </p:nvSpPr>
        <p:spPr>
          <a:xfrm>
            <a:off x="955554" y="908720"/>
            <a:ext cx="10369152" cy="2059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In Traditional Models, Development happens first, Testing happens later. Problem: If bugs are found late, Fixing becomes expensive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91785B-21E0-CFC8-EA7C-B3AB1EBF21F8}"/>
              </a:ext>
            </a:extLst>
          </p:cNvPr>
          <p:cNvSpPr txBox="1"/>
          <p:nvPr/>
        </p:nvSpPr>
        <p:spPr>
          <a:xfrm>
            <a:off x="955554" y="2086488"/>
            <a:ext cx="11449272" cy="1551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IN" dirty="0"/>
              <a:t>In Agile Model, Testing happens throughout development. </a:t>
            </a:r>
            <a:r>
              <a:rPr lang="en-US" dirty="0"/>
              <a:t>Quality is built into every Sprint</a:t>
            </a:r>
            <a:endParaRPr lang="en-IN" dirty="0"/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3C203C-1315-61CB-6380-959F18EE5E7A}"/>
              </a:ext>
            </a:extLst>
          </p:cNvPr>
          <p:cNvSpPr txBox="1"/>
          <p:nvPr/>
        </p:nvSpPr>
        <p:spPr>
          <a:xfrm>
            <a:off x="955554" y="3211250"/>
            <a:ext cx="4713150" cy="535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IN" dirty="0"/>
              <a:t>Quality is everyone's responsibility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FE7151-BE60-93F1-829C-75F939A399CB}"/>
              </a:ext>
            </a:extLst>
          </p:cNvPr>
          <p:cNvSpPr txBox="1"/>
          <p:nvPr/>
        </p:nvSpPr>
        <p:spPr>
          <a:xfrm>
            <a:off x="6886500" y="2767393"/>
            <a:ext cx="3055645" cy="3582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Not only testers, but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Developers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Testers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Scrum Master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Product Owner </a:t>
            </a:r>
          </a:p>
          <a:p>
            <a:r>
              <a:rPr lang="en-US" dirty="0"/>
              <a:t>Everyone contributes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5476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282C12-6D18-A57C-69FA-56E9474EA072}"/>
              </a:ext>
            </a:extLst>
          </p:cNvPr>
          <p:cNvSpPr txBox="1"/>
          <p:nvPr/>
        </p:nvSpPr>
        <p:spPr>
          <a:xfrm>
            <a:off x="909836" y="188640"/>
            <a:ext cx="3536546" cy="44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Agile Quality Practices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629AB1-CAA8-F19D-3F1B-D335985FC078}"/>
              </a:ext>
            </a:extLst>
          </p:cNvPr>
          <p:cNvSpPr txBox="1"/>
          <p:nvPr/>
        </p:nvSpPr>
        <p:spPr>
          <a:xfrm>
            <a:off x="909836" y="836712"/>
            <a:ext cx="3047629" cy="413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1. Continuous Testing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474CF4-FBFC-6AF1-BC74-10EC2D95EE95}"/>
              </a:ext>
            </a:extLst>
          </p:cNvPr>
          <p:cNvSpPr txBox="1"/>
          <p:nvPr/>
        </p:nvSpPr>
        <p:spPr>
          <a:xfrm>
            <a:off x="837828" y="1250671"/>
            <a:ext cx="6552728" cy="2059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Testing begins immediately. Instead of waiting till the end, Every feature is tested during development.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9393DB-18D7-F7DC-88D9-220BF9F5B5EB}"/>
              </a:ext>
            </a:extLst>
          </p:cNvPr>
          <p:cNvSpPr txBox="1"/>
          <p:nvPr/>
        </p:nvSpPr>
        <p:spPr>
          <a:xfrm>
            <a:off x="7843009" y="1043691"/>
            <a:ext cx="326082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pPr>
              <a:lnSpc>
                <a:spcPct val="100000"/>
              </a:lnSpc>
            </a:pPr>
            <a:r>
              <a:rPr lang="en-US" dirty="0"/>
              <a:t>Write Login Page</a:t>
            </a:r>
          </a:p>
          <a:p>
            <a:pPr>
              <a:lnSpc>
                <a:spcPct val="100000"/>
              </a:lnSpc>
            </a:pPr>
            <a:r>
              <a:rPr lang="en-US" dirty="0"/>
              <a:t>↓</a:t>
            </a:r>
          </a:p>
          <a:p>
            <a:pPr>
              <a:lnSpc>
                <a:spcPct val="100000"/>
              </a:lnSpc>
            </a:pPr>
            <a:r>
              <a:rPr lang="en-US" dirty="0"/>
              <a:t>Immediately test Login</a:t>
            </a:r>
          </a:p>
          <a:p>
            <a:pPr>
              <a:lnSpc>
                <a:spcPct val="100000"/>
              </a:lnSpc>
            </a:pPr>
            <a:r>
              <a:rPr lang="en-US" dirty="0"/>
              <a:t>↓</a:t>
            </a:r>
          </a:p>
          <a:p>
            <a:pPr>
              <a:lnSpc>
                <a:spcPct val="100000"/>
              </a:lnSpc>
            </a:pPr>
            <a:r>
              <a:rPr lang="en-US" dirty="0"/>
              <a:t>Fix bugs</a:t>
            </a:r>
          </a:p>
          <a:p>
            <a:pPr>
              <a:lnSpc>
                <a:spcPct val="100000"/>
              </a:lnSpc>
            </a:pPr>
            <a:r>
              <a:rPr lang="en-US" dirty="0"/>
              <a:t>↓</a:t>
            </a:r>
          </a:p>
          <a:p>
            <a:pPr>
              <a:lnSpc>
                <a:spcPct val="100000"/>
              </a:lnSpc>
            </a:pPr>
            <a:r>
              <a:rPr lang="en-US" dirty="0"/>
              <a:t>Move to next feature</a:t>
            </a:r>
          </a:p>
          <a:p>
            <a:pPr>
              <a:lnSpc>
                <a:spcPct val="100000"/>
              </a:lnSpc>
            </a:pP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6CD4BE-8026-FDD9-BD18-923FC568E4F8}"/>
              </a:ext>
            </a:extLst>
          </p:cNvPr>
          <p:cNvSpPr txBox="1"/>
          <p:nvPr/>
        </p:nvSpPr>
        <p:spPr>
          <a:xfrm>
            <a:off x="1053852" y="3749263"/>
            <a:ext cx="2940228" cy="44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2. Test Automation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91EA0C-95DA-6856-2E4A-A1A6824F39D9}"/>
              </a:ext>
            </a:extLst>
          </p:cNvPr>
          <p:cNvSpPr txBox="1"/>
          <p:nvPr/>
        </p:nvSpPr>
        <p:spPr>
          <a:xfrm>
            <a:off x="1053852" y="4258417"/>
            <a:ext cx="10441160" cy="1551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Instead of manually testing 100 times, A testing tool performs repetitive tests automatically</a:t>
            </a:r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68DED7-60B1-CD77-4450-B56E1E874972}"/>
              </a:ext>
            </a:extLst>
          </p:cNvPr>
          <p:cNvSpPr txBox="1"/>
          <p:nvPr/>
        </p:nvSpPr>
        <p:spPr>
          <a:xfrm>
            <a:off x="1064318" y="5448101"/>
            <a:ext cx="10286678" cy="1551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Instead of checking attendance manually, A biometric machine does it automatically.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3974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2E791AB-661A-4A4A-B05E-379EF6D66DFE}"/>
              </a:ext>
            </a:extLst>
          </p:cNvPr>
          <p:cNvSpPr txBox="1"/>
          <p:nvPr/>
        </p:nvSpPr>
        <p:spPr>
          <a:xfrm>
            <a:off x="837828" y="332656"/>
            <a:ext cx="5165197" cy="44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3. Test-Driven Development (TDD)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59605E-E9A5-29AB-8933-D187807584E5}"/>
              </a:ext>
            </a:extLst>
          </p:cNvPr>
          <p:cNvSpPr txBox="1"/>
          <p:nvPr/>
        </p:nvSpPr>
        <p:spPr>
          <a:xfrm>
            <a:off x="889350" y="810322"/>
            <a:ext cx="10585176" cy="10436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Write Test -&gt;  Write Code -&gt; Run Test -&gt; Improve Code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F5F514-5C59-C28A-0AAD-550BA00CB719}"/>
              </a:ext>
            </a:extLst>
          </p:cNvPr>
          <p:cNvSpPr txBox="1"/>
          <p:nvPr/>
        </p:nvSpPr>
        <p:spPr>
          <a:xfrm>
            <a:off x="860242" y="1788979"/>
            <a:ext cx="2924198" cy="413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4. Pair Programming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459456-1E39-89F2-BD72-A3A7EA443A99}"/>
              </a:ext>
            </a:extLst>
          </p:cNvPr>
          <p:cNvSpPr txBox="1"/>
          <p:nvPr/>
        </p:nvSpPr>
        <p:spPr>
          <a:xfrm>
            <a:off x="889350" y="2202938"/>
            <a:ext cx="11328583" cy="1551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Two developers work together. One writes code. One reviews simultaneously.</a:t>
            </a:r>
          </a:p>
          <a:p>
            <a:r>
              <a:rPr lang="en-US" dirty="0"/>
              <a:t>This reduces mistakes.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186809-85EC-44F1-1A27-DFF1F4050AFE}"/>
              </a:ext>
            </a:extLst>
          </p:cNvPr>
          <p:cNvSpPr txBox="1"/>
          <p:nvPr/>
        </p:nvSpPr>
        <p:spPr>
          <a:xfrm>
            <a:off x="889350" y="3689426"/>
            <a:ext cx="4187365" cy="413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5. Continuous Integration (CI)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29D583-DFED-C8DD-70EE-1AC25CC0AB39}"/>
              </a:ext>
            </a:extLst>
          </p:cNvPr>
          <p:cNvSpPr txBox="1"/>
          <p:nvPr/>
        </p:nvSpPr>
        <p:spPr>
          <a:xfrm>
            <a:off x="935597" y="4052401"/>
            <a:ext cx="10492682" cy="3074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Developers merge code several times a day. Every merge automatically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Builds application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Runs tests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Detects bugs </a:t>
            </a:r>
          </a:p>
          <a:p>
            <a:r>
              <a:rPr lang="en-US" dirty="0"/>
              <a:t>before release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2549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2046E1-C567-2F18-9706-DD8E7E8DFE70}"/>
              </a:ext>
            </a:extLst>
          </p:cNvPr>
          <p:cNvSpPr txBox="1"/>
          <p:nvPr/>
        </p:nvSpPr>
        <p:spPr>
          <a:xfrm>
            <a:off x="693812" y="260648"/>
            <a:ext cx="3557384" cy="44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6. Acceptance Testing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E85BDB-14A4-CF39-68AE-B03A0D1A849D}"/>
              </a:ext>
            </a:extLst>
          </p:cNvPr>
          <p:cNvSpPr txBox="1"/>
          <p:nvPr/>
        </p:nvSpPr>
        <p:spPr>
          <a:xfrm>
            <a:off x="721703" y="764704"/>
            <a:ext cx="10153128" cy="10436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Customer verifies whether the feature meets expectations.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0AEC0D-F17F-7CE5-68F1-653C6F49ECA5}"/>
              </a:ext>
            </a:extLst>
          </p:cNvPr>
          <p:cNvSpPr txBox="1"/>
          <p:nvPr/>
        </p:nvSpPr>
        <p:spPr>
          <a:xfrm>
            <a:off x="714300" y="1440127"/>
            <a:ext cx="10873208" cy="2059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Customer requested Online Payment.</a:t>
            </a:r>
          </a:p>
          <a:p>
            <a:r>
              <a:rPr lang="en-US" dirty="0"/>
              <a:t>QA confirms Payment works.</a:t>
            </a:r>
          </a:p>
          <a:p>
            <a:r>
              <a:rPr lang="en-US" dirty="0"/>
              <a:t>Customer also confirms Payment matches business needs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6639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77BDD60-3446-7A7E-2F21-B0A4F2D6E517}"/>
              </a:ext>
            </a:extLst>
          </p:cNvPr>
          <p:cNvSpPr txBox="1"/>
          <p:nvPr/>
        </p:nvSpPr>
        <p:spPr>
          <a:xfrm>
            <a:off x="693812" y="260648"/>
            <a:ext cx="3251211" cy="413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Agile QA Principles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E3E793-8F33-9E09-1B61-76A1B87C8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924" y="980728"/>
            <a:ext cx="8784976" cy="5236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938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FA1E54-4B4E-21E8-E2C8-9B8A75C4BC04}"/>
              </a:ext>
            </a:extLst>
          </p:cNvPr>
          <p:cNvSpPr txBox="1"/>
          <p:nvPr/>
        </p:nvSpPr>
        <p:spPr>
          <a:xfrm>
            <a:off x="765820" y="260648"/>
            <a:ext cx="2597186" cy="44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Software Testing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A264AF-698A-C750-7C14-F6527F54896A}"/>
              </a:ext>
            </a:extLst>
          </p:cNvPr>
          <p:cNvSpPr txBox="1"/>
          <p:nvPr/>
        </p:nvSpPr>
        <p:spPr>
          <a:xfrm>
            <a:off x="765820" y="674607"/>
            <a:ext cx="6942926" cy="536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Imagine you have bought a new smartphone 📱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C7A405-F382-7AD5-E96D-D150AE69DDEF}"/>
              </a:ext>
            </a:extLst>
          </p:cNvPr>
          <p:cNvSpPr txBox="1"/>
          <p:nvPr/>
        </p:nvSpPr>
        <p:spPr>
          <a:xfrm>
            <a:off x="765820" y="1211229"/>
            <a:ext cx="6923690" cy="535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Before using it, you naturally check several things: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1C27B6-6F9A-C4CD-6948-B53B92A7F9C5}"/>
              </a:ext>
            </a:extLst>
          </p:cNvPr>
          <p:cNvSpPr txBox="1"/>
          <p:nvPr/>
        </p:nvSpPr>
        <p:spPr>
          <a:xfrm>
            <a:off x="837828" y="1747017"/>
            <a:ext cx="8640960" cy="2060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Does it make calls? ☎️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Is the screen easy to use? 👆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Does it become slow when many apps are open? 🐢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Is your fingerprint data secure? 🔒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124B0B-0E75-2440-4CD1-D76B2FCFDE0F}"/>
              </a:ext>
            </a:extLst>
          </p:cNvPr>
          <p:cNvSpPr txBox="1"/>
          <p:nvPr/>
        </p:nvSpPr>
        <p:spPr>
          <a:xfrm>
            <a:off x="621804" y="4149080"/>
            <a:ext cx="10585176" cy="10436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Similarly, software applications also undergo different kinds of testing before they are released.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0656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96B039C-C6EF-6589-CF80-6737C4F70D56}"/>
              </a:ext>
            </a:extLst>
          </p:cNvPr>
          <p:cNvSpPr txBox="1"/>
          <p:nvPr/>
        </p:nvSpPr>
        <p:spPr>
          <a:xfrm>
            <a:off x="981844" y="332656"/>
            <a:ext cx="3926075" cy="44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What is Software Testing?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09A29D-C167-769D-8555-B7060E1EC80B}"/>
              </a:ext>
            </a:extLst>
          </p:cNvPr>
          <p:cNvSpPr txBox="1"/>
          <p:nvPr/>
        </p:nvSpPr>
        <p:spPr>
          <a:xfrm>
            <a:off x="981844" y="836712"/>
            <a:ext cx="10513168" cy="1144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Software Testing is the process of checking whether a software application works correctly, meets user requirements, and is free from defects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002E4C-42D8-420B-928A-492898AA9ED2}"/>
              </a:ext>
            </a:extLst>
          </p:cNvPr>
          <p:cNvSpPr txBox="1"/>
          <p:nvPr/>
        </p:nvSpPr>
        <p:spPr>
          <a:xfrm>
            <a:off x="1125860" y="2204864"/>
            <a:ext cx="5960286" cy="2289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Its goal is to ensure that the software is: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Correct ✅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Fast ⚡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Secure 🔒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User-friendly 😊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9598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4BBB98-1725-2A36-BCAC-CAEC1CEB566B}"/>
              </a:ext>
            </a:extLst>
          </p:cNvPr>
          <p:cNvSpPr txBox="1"/>
          <p:nvPr/>
        </p:nvSpPr>
        <p:spPr>
          <a:xfrm>
            <a:off x="1053852" y="332656"/>
            <a:ext cx="3499676" cy="44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1. Functionality Testing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5B81A4-D5BD-54E4-3D1B-E4CD8897E35B}"/>
              </a:ext>
            </a:extLst>
          </p:cNvPr>
          <p:cNvSpPr txBox="1"/>
          <p:nvPr/>
        </p:nvSpPr>
        <p:spPr>
          <a:xfrm>
            <a:off x="1053852" y="836712"/>
            <a:ext cx="8983550" cy="535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It verifies that every feature works according to the requirements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F27282-939B-4BCA-3630-342421E63B16}"/>
              </a:ext>
            </a:extLst>
          </p:cNvPr>
          <p:cNvSpPr txBox="1"/>
          <p:nvPr/>
        </p:nvSpPr>
        <p:spPr>
          <a:xfrm>
            <a:off x="837828" y="1462597"/>
            <a:ext cx="5166799" cy="3074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Imagine buying a washing machine.</a:t>
            </a:r>
          </a:p>
          <a:p>
            <a:r>
              <a:rPr lang="en-US" dirty="0"/>
              <a:t>You check: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Does it wash clothes?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Does the spin mode work?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Does the timer function correctly?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891805-783C-6E8E-288A-D176050329CE}"/>
              </a:ext>
            </a:extLst>
          </p:cNvPr>
          <p:cNvSpPr txBox="1"/>
          <p:nvPr/>
        </p:nvSpPr>
        <p:spPr>
          <a:xfrm>
            <a:off x="837828" y="4359840"/>
            <a:ext cx="4394152" cy="535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You are testing its </a:t>
            </a:r>
            <a:r>
              <a:rPr lang="en-US" b="1" dirty="0"/>
              <a:t>functionality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AE39AA-8996-BD00-C66E-89D6AF2999B1}"/>
              </a:ext>
            </a:extLst>
          </p:cNvPr>
          <p:cNvSpPr txBox="1"/>
          <p:nvPr/>
        </p:nvSpPr>
        <p:spPr>
          <a:xfrm>
            <a:off x="6454452" y="1462597"/>
            <a:ext cx="5424883" cy="4598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Consider an Online Shopping Website.</a:t>
            </a:r>
          </a:p>
          <a:p>
            <a:r>
              <a:rPr lang="en-US" dirty="0"/>
              <a:t>Things to test:</a:t>
            </a:r>
          </a:p>
          <a:p>
            <a:r>
              <a:rPr lang="en-US" dirty="0"/>
              <a:t>✅ Login works</a:t>
            </a:r>
          </a:p>
          <a:p>
            <a:r>
              <a:rPr lang="en-US" dirty="0"/>
              <a:t>✅ Search products</a:t>
            </a:r>
          </a:p>
          <a:p>
            <a:r>
              <a:rPr lang="en-US" dirty="0"/>
              <a:t>✅ Add to Cart</a:t>
            </a:r>
          </a:p>
          <a:p>
            <a:r>
              <a:rPr lang="en-US" dirty="0"/>
              <a:t>✅ Remove from Cart</a:t>
            </a:r>
          </a:p>
          <a:p>
            <a:r>
              <a:rPr lang="en-US" dirty="0"/>
              <a:t>✅ Place Order</a:t>
            </a:r>
          </a:p>
          <a:p>
            <a:r>
              <a:rPr lang="en-US" dirty="0"/>
              <a:t>✅ Payment succeeds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BE90F3-FF15-BDAD-74DE-2F9AB544F183}"/>
              </a:ext>
            </a:extLst>
          </p:cNvPr>
          <p:cNvSpPr txBox="1"/>
          <p:nvPr/>
        </p:nvSpPr>
        <p:spPr>
          <a:xfrm>
            <a:off x="5850439" y="5629322"/>
            <a:ext cx="6335040" cy="10436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If all these features work correctly, the functionality is correct.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2331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298DEE-D799-A2EB-489F-890057344FB5}"/>
              </a:ext>
            </a:extLst>
          </p:cNvPr>
          <p:cNvSpPr txBox="1"/>
          <p:nvPr/>
        </p:nvSpPr>
        <p:spPr>
          <a:xfrm>
            <a:off x="909836" y="332656"/>
            <a:ext cx="5360763" cy="44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2. UI Testing (User Interface Testing)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207364-BF49-42AF-BB54-29E71B57846D}"/>
              </a:ext>
            </a:extLst>
          </p:cNvPr>
          <p:cNvSpPr txBox="1"/>
          <p:nvPr/>
        </p:nvSpPr>
        <p:spPr>
          <a:xfrm>
            <a:off x="981844" y="908720"/>
            <a:ext cx="9243236" cy="44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It checks the appearance and interaction of the application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D84DC3-C453-533D-C55A-0A48B2676AD1}"/>
              </a:ext>
            </a:extLst>
          </p:cNvPr>
          <p:cNvSpPr txBox="1"/>
          <p:nvPr/>
        </p:nvSpPr>
        <p:spPr>
          <a:xfrm>
            <a:off x="974010" y="1444508"/>
            <a:ext cx="6479659" cy="535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Suppose two restaurants serve the same food.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B76303-5F05-FEC5-DFA4-C247E1E6E226}"/>
              </a:ext>
            </a:extLst>
          </p:cNvPr>
          <p:cNvSpPr txBox="1"/>
          <p:nvPr/>
        </p:nvSpPr>
        <p:spPr>
          <a:xfrm>
            <a:off x="837828" y="2129431"/>
            <a:ext cx="3240360" cy="2567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Restaurant 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Clean tables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Nice lighting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Comfortable chairs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6FCA97-4DAE-10AC-8371-1634402F52F5}"/>
              </a:ext>
            </a:extLst>
          </p:cNvPr>
          <p:cNvSpPr txBox="1"/>
          <p:nvPr/>
        </p:nvSpPr>
        <p:spPr>
          <a:xfrm>
            <a:off x="4294212" y="2129431"/>
            <a:ext cx="2808312" cy="2567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Restaurant 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Dirty tables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Broken chairs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Poor lighting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2A1BE3-2A88-A080-4CB4-6EF3DE5A07F9}"/>
              </a:ext>
            </a:extLst>
          </p:cNvPr>
          <p:cNvSpPr txBox="1"/>
          <p:nvPr/>
        </p:nvSpPr>
        <p:spPr>
          <a:xfrm>
            <a:off x="1557908" y="4281502"/>
            <a:ext cx="4219425" cy="535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Which one would you prefer?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2391A5-CE75-D2BD-4AFA-919101E2F934}"/>
              </a:ext>
            </a:extLst>
          </p:cNvPr>
          <p:cNvSpPr txBox="1"/>
          <p:nvPr/>
        </p:nvSpPr>
        <p:spPr>
          <a:xfrm>
            <a:off x="974010" y="4798718"/>
            <a:ext cx="5113099" cy="2059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The food may be the same, but the user experience is completely different</a:t>
            </a:r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1D1E63-1696-748F-EAA4-2E521CFEE4D8}"/>
              </a:ext>
            </a:extLst>
          </p:cNvPr>
          <p:cNvSpPr txBox="1"/>
          <p:nvPr/>
        </p:nvSpPr>
        <p:spPr>
          <a:xfrm>
            <a:off x="7669693" y="1982283"/>
            <a:ext cx="3888432" cy="5106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Things to check: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Buttons visible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Fonts readable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Logo is displayed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Images load correctly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Colors are consistent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Navigation works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Mobile layout looks good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1307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385ABB-4DB2-49DE-3929-1B18CBE0A45B}"/>
              </a:ext>
            </a:extLst>
          </p:cNvPr>
          <p:cNvSpPr txBox="1"/>
          <p:nvPr/>
        </p:nvSpPr>
        <p:spPr>
          <a:xfrm>
            <a:off x="909836" y="332656"/>
            <a:ext cx="3573414" cy="44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3. Performance Testing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C73409-0885-EF8F-BAA8-29E34F01A28C}"/>
              </a:ext>
            </a:extLst>
          </p:cNvPr>
          <p:cNvSpPr txBox="1"/>
          <p:nvPr/>
        </p:nvSpPr>
        <p:spPr>
          <a:xfrm>
            <a:off x="873127" y="836712"/>
            <a:ext cx="6617517" cy="535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It measures speed, stability, and responsiveness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DC326C-FBC1-C8CD-7ABB-7D30A1A080FC}"/>
              </a:ext>
            </a:extLst>
          </p:cNvPr>
          <p:cNvSpPr txBox="1"/>
          <p:nvPr/>
        </p:nvSpPr>
        <p:spPr>
          <a:xfrm>
            <a:off x="882960" y="1371080"/>
            <a:ext cx="10657184" cy="1551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Imagine booking train tickets during a festival. Thousands of users log in at the same time.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CB8D0D-ED9D-05A7-1A89-0150D1375204}"/>
              </a:ext>
            </a:extLst>
          </p:cNvPr>
          <p:cNvSpPr txBox="1"/>
          <p:nvPr/>
        </p:nvSpPr>
        <p:spPr>
          <a:xfrm>
            <a:off x="909836" y="2408362"/>
            <a:ext cx="5616624" cy="1551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Does the website remain fast?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Does it crash?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How quickly does it load?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B4FA42-A76F-5B69-5822-6429C8DF07EF}"/>
              </a:ext>
            </a:extLst>
          </p:cNvPr>
          <p:cNvSpPr txBox="1"/>
          <p:nvPr/>
        </p:nvSpPr>
        <p:spPr>
          <a:xfrm>
            <a:off x="916124" y="4221088"/>
            <a:ext cx="3831498" cy="535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IN" dirty="0"/>
              <a:t>This is Performance Testing.</a:t>
            </a:r>
          </a:p>
        </p:txBody>
      </p:sp>
    </p:spTree>
    <p:extLst>
      <p:ext uri="{BB962C8B-B14F-4D97-AF65-F5344CB8AC3E}">
        <p14:creationId xmlns:p14="http://schemas.microsoft.com/office/powerpoint/2010/main" val="1757275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C375F3-77F9-95B9-4323-C3FE913B5BC8}"/>
              </a:ext>
            </a:extLst>
          </p:cNvPr>
          <p:cNvSpPr txBox="1"/>
          <p:nvPr/>
        </p:nvSpPr>
        <p:spPr>
          <a:xfrm>
            <a:off x="1053852" y="260648"/>
            <a:ext cx="4528804" cy="44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Types of Performance Testing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F0DA4B-95AA-41A3-C3A2-E0B29E20A0D8}"/>
              </a:ext>
            </a:extLst>
          </p:cNvPr>
          <p:cNvSpPr txBox="1"/>
          <p:nvPr/>
        </p:nvSpPr>
        <p:spPr>
          <a:xfrm>
            <a:off x="1028193" y="908720"/>
            <a:ext cx="2236510" cy="413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A. Load Testing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05B30B-D9AD-819C-5DA9-278FFEAABBA7}"/>
              </a:ext>
            </a:extLst>
          </p:cNvPr>
          <p:cNvSpPr txBox="1"/>
          <p:nvPr/>
        </p:nvSpPr>
        <p:spPr>
          <a:xfrm>
            <a:off x="1053853" y="1356736"/>
            <a:ext cx="4680519" cy="2059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Tests software under expected user load. Can the website handle 5,000 users?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6925F0-2E82-7B33-70A6-9011C977CFDF}"/>
              </a:ext>
            </a:extLst>
          </p:cNvPr>
          <p:cNvSpPr txBox="1"/>
          <p:nvPr/>
        </p:nvSpPr>
        <p:spPr>
          <a:xfrm>
            <a:off x="6958508" y="880324"/>
            <a:ext cx="2265364" cy="413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B. Stress Testing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906FEE-A0AF-5DB3-4754-4D2A9996013D}"/>
              </a:ext>
            </a:extLst>
          </p:cNvPr>
          <p:cNvSpPr txBox="1"/>
          <p:nvPr/>
        </p:nvSpPr>
        <p:spPr>
          <a:xfrm>
            <a:off x="6958508" y="1356736"/>
            <a:ext cx="4794902" cy="1551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Pushes the system beyond its limit.</a:t>
            </a:r>
          </a:p>
          <a:p>
            <a:r>
              <a:rPr lang="en-US" dirty="0"/>
              <a:t>Can it survive 100,000 users?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E53777-552C-A5AE-9D81-1B30B3DCB5C7}"/>
              </a:ext>
            </a:extLst>
          </p:cNvPr>
          <p:cNvSpPr txBox="1"/>
          <p:nvPr/>
        </p:nvSpPr>
        <p:spPr>
          <a:xfrm>
            <a:off x="1052534" y="3425350"/>
            <a:ext cx="3052439" cy="413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C. Endurance Testing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0B7895-B505-849E-174A-0F65176F9D58}"/>
              </a:ext>
            </a:extLst>
          </p:cNvPr>
          <p:cNvSpPr txBox="1"/>
          <p:nvPr/>
        </p:nvSpPr>
        <p:spPr>
          <a:xfrm>
            <a:off x="1052535" y="4005064"/>
            <a:ext cx="5401918" cy="2059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Checks whether the software performs well over a long period. Can the server run continuously for 48 hours?</a:t>
            </a:r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32DF39-E138-4D56-E732-1AD5E6728069}"/>
              </a:ext>
            </a:extLst>
          </p:cNvPr>
          <p:cNvSpPr txBox="1"/>
          <p:nvPr/>
        </p:nvSpPr>
        <p:spPr>
          <a:xfrm>
            <a:off x="7093284" y="3425350"/>
            <a:ext cx="2294218" cy="413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D. Spike Testing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67C59C-5B60-D5BE-BE8B-E8C1491A2A37}"/>
              </a:ext>
            </a:extLst>
          </p:cNvPr>
          <p:cNvSpPr txBox="1"/>
          <p:nvPr/>
        </p:nvSpPr>
        <p:spPr>
          <a:xfrm>
            <a:off x="7023008" y="3921612"/>
            <a:ext cx="4401728" cy="2567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Suddenly increases the number of users. Users increase from 500 to 20,000 within one minute.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1628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FCECF7-C368-B968-A0D3-3F7D4B515740}"/>
              </a:ext>
            </a:extLst>
          </p:cNvPr>
          <p:cNvSpPr txBox="1"/>
          <p:nvPr/>
        </p:nvSpPr>
        <p:spPr>
          <a:xfrm>
            <a:off x="981844" y="332656"/>
            <a:ext cx="2784737" cy="44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4. Security Testing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480A38-8C6D-74E9-7B59-3BDB2E30757A}"/>
              </a:ext>
            </a:extLst>
          </p:cNvPr>
          <p:cNvSpPr txBox="1"/>
          <p:nvPr/>
        </p:nvSpPr>
        <p:spPr>
          <a:xfrm>
            <a:off x="981844" y="908720"/>
            <a:ext cx="5319085" cy="535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It ensures that user data remains safe.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A632B9-2924-A92A-9EBA-A69D709422D2}"/>
              </a:ext>
            </a:extLst>
          </p:cNvPr>
          <p:cNvSpPr txBox="1"/>
          <p:nvPr/>
        </p:nvSpPr>
        <p:spPr>
          <a:xfrm>
            <a:off x="981844" y="1556792"/>
            <a:ext cx="3960440" cy="4090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Think about your house.</a:t>
            </a:r>
          </a:p>
          <a:p>
            <a:r>
              <a:rPr lang="en-US" dirty="0"/>
              <a:t>You have: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Strong locks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CCTV cameras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Security guards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Alarm system </a:t>
            </a:r>
          </a:p>
          <a:p>
            <a:r>
              <a:rPr lang="en-US" dirty="0"/>
              <a:t>These protect your house.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42D5BE-41C8-BB2A-2DB1-B2946F62D701}"/>
              </a:ext>
            </a:extLst>
          </p:cNvPr>
          <p:cNvSpPr txBox="1"/>
          <p:nvPr/>
        </p:nvSpPr>
        <p:spPr>
          <a:xfrm>
            <a:off x="981844" y="5223895"/>
            <a:ext cx="5078634" cy="535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IN" dirty="0"/>
              <a:t>Similarly, software needs protection.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1FE9D2-7EF8-933D-B7A6-BA96A85F562F}"/>
              </a:ext>
            </a:extLst>
          </p:cNvPr>
          <p:cNvSpPr txBox="1"/>
          <p:nvPr/>
        </p:nvSpPr>
        <p:spPr>
          <a:xfrm>
            <a:off x="6742484" y="1669076"/>
            <a:ext cx="4896544" cy="4090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For an Online Banking App:</a:t>
            </a:r>
          </a:p>
          <a:p>
            <a:r>
              <a:rPr lang="en-US" dirty="0"/>
              <a:t>Security Testing checks: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Strong passwords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Secure login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Data encryption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Unauthorized access prevention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Safe money transfer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3316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FA16A63-BD98-5CA0-ACDD-0A02A6A7B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36" y="908720"/>
            <a:ext cx="10678856" cy="468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635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lass open house presentat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95000"/>
          </a:lnSpc>
          <a:defRPr/>
        </a:defPPr>
      </a:lstStyle>
    </a:txDef>
  </a:objectDefaults>
  <a:extraClrSchemeLst/>
  <a:extLst>
    <a:ext uri="{05A4C25C-085E-4340-85A3-A5531E510DB2}">
      <thm15:themeFamily xmlns:thm15="http://schemas.microsoft.com/office/thememl/2012/main" name="Classroom open house presentation.potx" id="{AB7D8AB0-4323-4322-AB21-8CB398DB9E96}" vid="{5BFEA1FF-C39F-48A2-B239-4B55565FC3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Classroom open house presentation</Template>
  <TotalTime>2334</TotalTime>
  <Words>1799</Words>
  <Application>Microsoft Office PowerPoint</Application>
  <PresentationFormat>Custom</PresentationFormat>
  <Paragraphs>365</Paragraphs>
  <Slides>36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Century Gothic</vt:lpstr>
      <vt:lpstr>Class open house presentation</vt:lpstr>
      <vt:lpstr>Agile Estimation &amp; Metrics</vt:lpstr>
      <vt:lpstr>Revise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Aruna Inamdar</dc:creator>
  <cp:lastModifiedBy>Aruna Inamdar</cp:lastModifiedBy>
  <cp:revision>327</cp:revision>
  <dcterms:created xsi:type="dcterms:W3CDTF">2026-07-15T13:08:00Z</dcterms:created>
  <dcterms:modified xsi:type="dcterms:W3CDTF">2026-08-06T14:19:04Z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74062800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